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9144000" cy="16256000"/>
  <p:embeddedFontLst>
    <p:embeddedFont>
      <p:font typeface="Inter" panose="02000503000000020004" pitchFamily="2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864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28600" cy="91440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dept"/>
          <p:cNvSpPr/>
          <p:nvPr/>
        </p:nvSpPr>
        <p:spPr>
          <a:xfrm>
            <a:off x="812800" y="1117600"/>
            <a:ext cx="914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BEDFORD HIGH SCHOOL · SCIENCE DEPARTMENT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812800" y="1930400"/>
            <a:ext cx="99060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65"/>
              </a:lnSpc>
              <a:buNone/>
            </a:pPr>
            <a:r>
              <a:rPr lang="en-US" altLang="en-US" sz="4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Rehearse the Feedback Loop</a:t>
            </a:r>
            <a:endParaRPr lang="en-US" sz="4500" dirty="0"/>
          </a:p>
          <a:p>
            <a:pPr marL="0" indent="0" algn="l">
              <a:lnSpc>
                <a:spcPts val="4365"/>
              </a:lnSpc>
              <a:buNone/>
            </a:pPr>
            <a:r>
              <a:rPr lang="en-US" altLang="en-US" sz="4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Set the Next Evidence Check</a:t>
            </a:r>
            <a:endParaRPr lang="en-US" sz="4500" dirty="0"/>
          </a:p>
        </p:txBody>
      </p:sp>
      <p:sp>
        <p:nvSpPr>
          <p:cNvPr id="5" name="subtitle"/>
          <p:cNvSpPr/>
          <p:nvPr/>
        </p:nvSpPr>
        <p:spPr>
          <a:xfrm>
            <a:off x="812800" y="4241800"/>
            <a:ext cx="949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altLang="en-US" sz="2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evidence or anticipated responses to rehearse feedback, name student action, and adjust the next learning experience.</a:t>
            </a:r>
            <a:endParaRPr lang="en-US" sz="2100" dirty="0"/>
          </a:p>
        </p:txBody>
      </p:sp>
      <p:sp>
        <p:nvSpPr>
          <p:cNvPr id="6" name="date"/>
          <p:cNvSpPr/>
          <p:nvPr/>
        </p:nvSpPr>
        <p:spPr>
          <a:xfrm>
            <a:off x="812800" y="5765800"/>
            <a:ext cx="3378200" cy="5334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date-text"/>
          <p:cNvSpPr/>
          <p:nvPr/>
        </p:nvSpPr>
        <p:spPr>
          <a:xfrm>
            <a:off x="812800" y="5918200"/>
            <a:ext cx="337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OCTOBER 9, 2026</a:t>
            </a:r>
            <a:endParaRPr lang="en-US" sz="1400" dirty="0"/>
          </a:p>
        </p:txBody>
      </p:sp>
      <p:sp>
        <p:nvSpPr>
          <p:cNvPr id="8" name="time"/>
          <p:cNvSpPr/>
          <p:nvPr/>
        </p:nvSpPr>
        <p:spPr>
          <a:xfrm>
            <a:off x="4495800" y="5765800"/>
            <a:ext cx="2235200" cy="533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ime-text"/>
          <p:cNvSpPr/>
          <p:nvPr/>
        </p:nvSpPr>
        <p:spPr>
          <a:xfrm>
            <a:off x="4495800" y="5918200"/>
            <a:ext cx="223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MINUTES</a:t>
            </a:r>
            <a:endParaRPr lang="en-US" sz="1400" dirty="0"/>
          </a:p>
        </p:txBody>
      </p:sp>
      <p:sp>
        <p:nvSpPr>
          <p:cNvPr id="10" name="panel"/>
          <p:cNvSpPr/>
          <p:nvPr/>
        </p:nvSpPr>
        <p:spPr>
          <a:xfrm>
            <a:off x="11531600" y="1473200"/>
            <a:ext cx="3733800" cy="4826000"/>
          </a:xfrm>
          <a:prstGeom prst="rect">
            <a:avLst/>
          </a:prstGeom>
          <a:solidFill>
            <a:srgbClr val="3B3B3B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loop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8800" y="1955800"/>
            <a:ext cx="533400" cy="533400"/>
          </a:xfrm>
          <a:prstGeom prst="rect">
            <a:avLst/>
          </a:prstGeom>
        </p:spPr>
      </p:pic>
      <p:sp>
        <p:nvSpPr>
          <p:cNvPr id="12" name="panel-title"/>
          <p:cNvSpPr/>
          <p:nvPr/>
        </p:nvSpPr>
        <p:spPr>
          <a:xfrm>
            <a:off x="11988800" y="28956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altLang="en-US" sz="2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to</a:t>
            </a:r>
            <a:endParaRPr lang="en-US" sz="2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altLang="en-US" sz="2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thinking.</a:t>
            </a:r>
            <a:endParaRPr lang="en-US" sz="2600" dirty="0"/>
          </a:p>
        </p:txBody>
      </p:sp>
      <p:sp>
        <p:nvSpPr>
          <p:cNvPr id="13" name="panel-copy"/>
          <p:cNvSpPr/>
          <p:nvPr/>
        </p:nvSpPr>
        <p:spPr>
          <a:xfrm>
            <a:off x="11988800" y="4165600"/>
            <a:ext cx="266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4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Evidence or anticipated response</a:t>
            </a:r>
            <a:endParaRPr lang="en-US" sz="1900" dirty="0"/>
          </a:p>
          <a:p>
            <a:pPr marL="0" indent="0" algn="l">
              <a:lnSpc>
                <a:spcPts val="2204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Feedback action</a:t>
            </a:r>
            <a:endParaRPr lang="en-US" sz="1900" dirty="0"/>
          </a:p>
          <a:p>
            <a:pPr marL="0" indent="0" algn="l">
              <a:lnSpc>
                <a:spcPts val="2204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Next evidence check</a:t>
            </a:r>
            <a:endParaRPr lang="en-US" sz="1900" dirty="0"/>
          </a:p>
        </p:txBody>
      </p:sp>
      <p:sp>
        <p:nvSpPr>
          <p:cNvPr id="14" name="footer"/>
          <p:cNvSpPr/>
          <p:nvPr/>
        </p:nvSpPr>
        <p:spPr>
          <a:xfrm>
            <a:off x="812800" y="8509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&amp; GOAL SETTING PLC</a:t>
            </a:r>
            <a:endParaRPr lang="en-US" sz="1400" dirty="0"/>
          </a:p>
        </p:txBody>
      </p:sp>
      <p:sp>
        <p:nvSpPr>
          <p:cNvPr id="15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08000" y="381000"/>
            <a:ext cx="1168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the planning cycle</a:t>
            </a:r>
            <a:endParaRPr lang="en-US" sz="3200" dirty="0"/>
          </a:p>
        </p:txBody>
      </p:sp>
      <p:sp>
        <p:nvSpPr>
          <p:cNvPr id="5" name="subtitle"/>
          <p:cNvSpPr/>
          <p:nvPr/>
        </p:nvSpPr>
        <p:spPr>
          <a:xfrm>
            <a:off x="508000" y="16764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forms and the Lesson Internalization Tool now meet in one routine: feedback that prompts action and generates new evidence.</a:t>
            </a:r>
            <a:endParaRPr lang="en-US" sz="2000" dirty="0"/>
          </a:p>
        </p:txBody>
      </p:sp>
      <p:sp>
        <p:nvSpPr>
          <p:cNvPr id="6" name="a"/>
          <p:cNvSpPr/>
          <p:nvPr/>
        </p:nvSpPr>
        <p:spPr>
          <a:xfrm>
            <a:off x="508000" y="3048000"/>
            <a:ext cx="2082800" cy="1676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"/>
          <p:cNvSpPr/>
          <p:nvPr/>
        </p:nvSpPr>
        <p:spPr>
          <a:xfrm>
            <a:off x="2844800" y="3048000"/>
            <a:ext cx="2082800" cy="1676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"/>
          <p:cNvSpPr/>
          <p:nvPr/>
        </p:nvSpPr>
        <p:spPr>
          <a:xfrm>
            <a:off x="5181600" y="3048000"/>
            <a:ext cx="2082800" cy="1676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d"/>
          <p:cNvSpPr/>
          <p:nvPr/>
        </p:nvSpPr>
        <p:spPr>
          <a:xfrm>
            <a:off x="7518400" y="3048000"/>
            <a:ext cx="2082800" cy="1676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"/>
          <p:cNvSpPr/>
          <p:nvPr/>
        </p:nvSpPr>
        <p:spPr>
          <a:xfrm>
            <a:off x="9855200" y="3048000"/>
            <a:ext cx="2082800" cy="1676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f"/>
          <p:cNvSpPr/>
          <p:nvPr/>
        </p:nvSpPr>
        <p:spPr>
          <a:xfrm>
            <a:off x="12192000" y="3048000"/>
            <a:ext cx="3556000" cy="16764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a"/>
          <p:cNvSpPr/>
          <p:nvPr/>
        </p:nvSpPr>
        <p:spPr>
          <a:xfrm>
            <a:off x="762000" y="3403600"/>
            <a:ext cx="15748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alt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900" dirty="0"/>
          </a:p>
          <a:p>
            <a:pPr marL="0" indent="0" algn="ctr">
              <a:lnSpc>
                <a:spcPts val="2052"/>
              </a:lnSpc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students show</a:t>
            </a:r>
            <a:endParaRPr lang="en-US" sz="1900" dirty="0"/>
          </a:p>
        </p:txBody>
      </p:sp>
      <p:sp>
        <p:nvSpPr>
          <p:cNvPr id="13" name="tb"/>
          <p:cNvSpPr/>
          <p:nvPr/>
        </p:nvSpPr>
        <p:spPr>
          <a:xfrm>
            <a:off x="3098800" y="3403600"/>
            <a:ext cx="15748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alt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</a:t>
            </a:r>
            <a:endParaRPr lang="en-US" sz="1900" dirty="0"/>
          </a:p>
          <a:p>
            <a:pPr marL="0" indent="0" algn="ctr">
              <a:lnSpc>
                <a:spcPts val="2052"/>
              </a:lnSpc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matters</a:t>
            </a:r>
            <a:endParaRPr lang="en-US" sz="1900" dirty="0"/>
          </a:p>
        </p:txBody>
      </p:sp>
      <p:sp>
        <p:nvSpPr>
          <p:cNvPr id="14" name="tc"/>
          <p:cNvSpPr/>
          <p:nvPr/>
        </p:nvSpPr>
        <p:spPr>
          <a:xfrm>
            <a:off x="5435600" y="3403600"/>
            <a:ext cx="15748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alt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900" dirty="0"/>
          </a:p>
          <a:p>
            <a:pPr marL="0" indent="0" algn="ctr">
              <a:lnSpc>
                <a:spcPts val="2052"/>
              </a:lnSpc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teachers do</a:t>
            </a:r>
            <a:endParaRPr lang="en-US" sz="1900" dirty="0"/>
          </a:p>
        </p:txBody>
      </p:sp>
      <p:sp>
        <p:nvSpPr>
          <p:cNvPr id="15" name="td"/>
          <p:cNvSpPr/>
          <p:nvPr/>
        </p:nvSpPr>
        <p:spPr>
          <a:xfrm>
            <a:off x="7772400" y="3403600"/>
            <a:ext cx="15748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alt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</a:t>
            </a:r>
            <a:endParaRPr lang="en-US" sz="1900" dirty="0"/>
          </a:p>
          <a:p>
            <a:pPr marL="0" indent="0" algn="ctr">
              <a:lnSpc>
                <a:spcPts val="2052"/>
              </a:lnSpc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students receive</a:t>
            </a:r>
            <a:endParaRPr lang="en-US" sz="1900" dirty="0"/>
          </a:p>
        </p:txBody>
      </p:sp>
      <p:sp>
        <p:nvSpPr>
          <p:cNvPr id="16" name="te"/>
          <p:cNvSpPr/>
          <p:nvPr/>
        </p:nvSpPr>
        <p:spPr>
          <a:xfrm>
            <a:off x="10109200" y="3403600"/>
            <a:ext cx="15748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alt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900" dirty="0"/>
          </a:p>
          <a:p>
            <a:pPr marL="0" indent="0" algn="ctr">
              <a:lnSpc>
                <a:spcPts val="2052"/>
              </a:lnSpc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students do next</a:t>
            </a:r>
            <a:endParaRPr lang="en-US" sz="1900" dirty="0"/>
          </a:p>
        </p:txBody>
      </p:sp>
      <p:sp>
        <p:nvSpPr>
          <p:cNvPr id="17" name="tf"/>
          <p:cNvSpPr/>
          <p:nvPr/>
        </p:nvSpPr>
        <p:spPr>
          <a:xfrm>
            <a:off x="12547600" y="3403600"/>
            <a:ext cx="28448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evidence + adjustment</a:t>
            </a:r>
            <a:endParaRPr lang="en-US" sz="1900" dirty="0"/>
          </a:p>
          <a:p>
            <a:pPr marL="0" indent="0" algn="ctr">
              <a:lnSpc>
                <a:spcPts val="2052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teachers learn next</a:t>
            </a:r>
            <a:endParaRPr lang="en-US" sz="1900" dirty="0"/>
          </a:p>
        </p:txBody>
      </p:sp>
      <p:sp>
        <p:nvSpPr>
          <p:cNvPr id="18" name="note"/>
          <p:cNvSpPr/>
          <p:nvPr/>
        </p:nvSpPr>
        <p:spPr>
          <a:xfrm>
            <a:off x="508000" y="5892800"/>
            <a:ext cx="15240000" cy="12700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note-copy"/>
          <p:cNvSpPr/>
          <p:nvPr/>
        </p:nvSpPr>
        <p:spPr>
          <a:xfrm>
            <a:off x="914400" y="6350000"/>
            <a:ext cx="1442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cycle is complete only when teachers return to student thinking and make a next-lesson decision based on the evidence.</a:t>
            </a:r>
            <a:endParaRPr lang="en-US" sz="2200" dirty="0"/>
          </a:p>
        </p:txBody>
      </p:sp>
      <p:sp>
        <p:nvSpPr>
          <p:cNvPr id="20" name="footer"/>
          <p:cNvSpPr/>
          <p:nvPr/>
        </p:nvSpPr>
        <p:spPr>
          <a:xfrm>
            <a:off x="508000" y="8509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→ GOALS → PLAN → FEEDBACK → ACTION → ADJUSTMENT</a:t>
            </a:r>
            <a:endParaRPr lang="en-US" sz="1400" dirty="0"/>
          </a:p>
        </p:txBody>
      </p:sp>
      <p:sp>
        <p:nvSpPr>
          <p:cNvPr id="21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08000" y="381000"/>
            <a:ext cx="1244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from evidence or anticipated responses</a:t>
            </a:r>
            <a:endParaRPr lang="en-US" sz="3200" dirty="0"/>
          </a:p>
        </p:txBody>
      </p:sp>
      <p:sp>
        <p:nvSpPr>
          <p:cNvPr id="5" name="subtitle"/>
          <p:cNvSpPr/>
          <p:nvPr/>
        </p:nvSpPr>
        <p:spPr>
          <a:xfrm>
            <a:off x="508000" y="16764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paths are valid. Use actual student evidence when available; otherwise rehearse the routine and define what evidence you will collect.</a:t>
            </a:r>
            <a:endParaRPr lang="en-US" sz="2000" dirty="0"/>
          </a:p>
        </p:txBody>
      </p:sp>
      <p:sp>
        <p:nvSpPr>
          <p:cNvPr id="6" name="actual"/>
          <p:cNvSpPr/>
          <p:nvPr/>
        </p:nvSpPr>
        <p:spPr>
          <a:xfrm>
            <a:off x="508000" y="2768600"/>
            <a:ext cx="7213600" cy="3835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nticipate"/>
          <p:cNvSpPr/>
          <p:nvPr/>
        </p:nvSpPr>
        <p:spPr>
          <a:xfrm>
            <a:off x="8534400" y="2768600"/>
            <a:ext cx="7213600" cy="38354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ctual-label"/>
          <p:cNvSpPr/>
          <p:nvPr/>
        </p:nvSpPr>
        <p:spPr>
          <a:xfrm>
            <a:off x="939800" y="32004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IMPLEMENTATION HAS OCCURRED</a:t>
            </a:r>
            <a:endParaRPr lang="en-US" sz="1400" dirty="0"/>
          </a:p>
        </p:txBody>
      </p:sp>
      <p:sp>
        <p:nvSpPr>
          <p:cNvPr id="9" name="actual-copy"/>
          <p:cNvSpPr/>
          <p:nvPr/>
        </p:nvSpPr>
        <p:spPr>
          <a:xfrm>
            <a:off x="939800" y="3886200"/>
            <a:ext cx="58420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a small evidence set:</a:t>
            </a:r>
            <a:endParaRPr lang="en-US" sz="2300" dirty="0"/>
          </a:p>
          <a:p>
            <a:pPr marL="0" indent="0" algn="l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student work or exit response</a:t>
            </a:r>
            <a:endParaRPr lang="en-US" sz="2300" dirty="0"/>
          </a:p>
          <a:p>
            <a:pPr marL="0" indent="0" algn="l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observation notes</a:t>
            </a:r>
            <a:endParaRPr lang="en-US" sz="2300" dirty="0"/>
          </a:p>
          <a:p>
            <a:pPr marL="0" indent="0" algn="l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participation or feedback notes</a:t>
            </a:r>
            <a:endParaRPr lang="en-US" sz="2300" dirty="0"/>
          </a:p>
          <a:p>
            <a:pPr marL="0" indent="0" algn="l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one strength and one next learning need.</a:t>
            </a:r>
            <a:endParaRPr lang="en-US" sz="2300" dirty="0"/>
          </a:p>
        </p:txBody>
      </p:sp>
      <p:sp>
        <p:nvSpPr>
          <p:cNvPr id="10" name="anticipate-label"/>
          <p:cNvSpPr/>
          <p:nvPr/>
        </p:nvSpPr>
        <p:spPr>
          <a:xfrm>
            <a:off x="8966200" y="3200400"/>
            <a:ext cx="533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IMPLEMENTATION HAS NOT OCCURRED</a:t>
            </a:r>
            <a:endParaRPr lang="en-US" sz="1400" dirty="0"/>
          </a:p>
        </p:txBody>
      </p:sp>
      <p:sp>
        <p:nvSpPr>
          <p:cNvPr id="11" name="anticipate-copy"/>
          <p:cNvSpPr/>
          <p:nvPr/>
        </p:nvSpPr>
        <p:spPr>
          <a:xfrm>
            <a:off x="8966200" y="3886200"/>
            <a:ext cx="58420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lesson and rehearse:</a:t>
            </a:r>
            <a:endParaRPr lang="en-US" sz="2300" dirty="0"/>
          </a:p>
          <a:p>
            <a:pPr marL="0" indent="0" algn="l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likely student responses</a:t>
            </a:r>
            <a:endParaRPr lang="en-US" sz="2300" dirty="0"/>
          </a:p>
          <a:p>
            <a:pPr marL="0" indent="0" algn="l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feedback prompt</a:t>
            </a:r>
            <a:endParaRPr lang="en-US" sz="2300" dirty="0"/>
          </a:p>
          <a:p>
            <a:pPr marL="0" indent="0" algn="l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student action</a:t>
            </a:r>
            <a:endParaRPr lang="en-US" sz="2300" dirty="0"/>
          </a:p>
          <a:p>
            <a:pPr marL="0" indent="0" algn="l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specific evidence look-for</a:t>
            </a:r>
            <a:endParaRPr lang="en-US" sz="2300" dirty="0"/>
          </a:p>
        </p:txBody>
      </p:sp>
      <p:sp>
        <p:nvSpPr>
          <p:cNvPr id="12" name="bottom"/>
          <p:cNvSpPr/>
          <p:nvPr/>
        </p:nvSpPr>
        <p:spPr>
          <a:xfrm>
            <a:off x="508000" y="7264400"/>
            <a:ext cx="15240000" cy="45720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bottom-copy"/>
          <p:cNvSpPr/>
          <p:nvPr/>
        </p:nvSpPr>
        <p:spPr>
          <a:xfrm>
            <a:off x="508000" y="7378700"/>
            <a:ext cx="152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claim results when the lesson has not occurred. Leave with a specific evidence plan instead.</a:t>
            </a:r>
            <a:endParaRPr lang="en-US" sz="1400" dirty="0"/>
          </a:p>
        </p:txBody>
      </p:sp>
      <p:sp>
        <p:nvSpPr>
          <p:cNvPr id="14" name="footer"/>
          <p:cNvSpPr/>
          <p:nvPr/>
        </p:nvSpPr>
        <p:spPr>
          <a:xfrm>
            <a:off x="508000" y="8509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OR ANTICIPATED RESPONSE</a:t>
            </a:r>
            <a:endParaRPr lang="en-US" sz="1400" dirty="0"/>
          </a:p>
        </p:txBody>
      </p:sp>
      <p:sp>
        <p:nvSpPr>
          <p:cNvPr id="15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08000" y="381000"/>
            <a:ext cx="12192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Rehearse the feedback-to-action routine</a:t>
            </a:r>
            <a:endParaRPr lang="en-US" sz="3200" dirty="0"/>
          </a:p>
        </p:txBody>
      </p:sp>
      <p:sp>
        <p:nvSpPr>
          <p:cNvPr id="5" name="subtitle"/>
          <p:cNvSpPr/>
          <p:nvPr/>
        </p:nvSpPr>
        <p:spPr>
          <a:xfrm>
            <a:off x="508000" y="1676400"/>
            <a:ext cx="137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short, specific routine that preserves student thinking and makes the next action visible.</a:t>
            </a:r>
            <a:endParaRPr lang="en-US" sz="2000" dirty="0"/>
          </a:p>
        </p:txBody>
      </p:sp>
      <p:sp>
        <p:nvSpPr>
          <p:cNvPr id="6" name="one"/>
          <p:cNvSpPr/>
          <p:nvPr/>
        </p:nvSpPr>
        <p:spPr>
          <a:xfrm>
            <a:off x="508000" y="2946400"/>
            <a:ext cx="4445000" cy="3175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wo"/>
          <p:cNvSpPr/>
          <p:nvPr/>
        </p:nvSpPr>
        <p:spPr>
          <a:xfrm>
            <a:off x="5892800" y="2946400"/>
            <a:ext cx="4445000" cy="3175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hree"/>
          <p:cNvSpPr/>
          <p:nvPr/>
        </p:nvSpPr>
        <p:spPr>
          <a:xfrm>
            <a:off x="11277600" y="2946400"/>
            <a:ext cx="4470400" cy="31750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one-copy"/>
          <p:cNvSpPr/>
          <p:nvPr/>
        </p:nvSpPr>
        <p:spPr>
          <a:xfrm>
            <a:off x="914400" y="3429000"/>
            <a:ext cx="36322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14"/>
              </a:lnSpc>
              <a:buNone/>
            </a:pPr>
            <a:r>
              <a:rPr lang="en-US" altLang="en-US" sz="2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Name the evidence</a:t>
            </a:r>
            <a:endParaRPr lang="en-US" sz="2300" dirty="0"/>
          </a:p>
          <a:p>
            <a:pPr marL="0" indent="0" algn="l">
              <a:lnSpc>
                <a:spcPts val="2714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students say, do, or produce?</a:t>
            </a:r>
            <a:endParaRPr lang="en-US" sz="2300" dirty="0"/>
          </a:p>
          <a:p>
            <a:pPr marL="0" indent="0" algn="l">
              <a:lnSpc>
                <a:spcPts val="2714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learning pattern is visible?</a:t>
            </a:r>
            <a:endParaRPr lang="en-US" sz="2300" dirty="0"/>
          </a:p>
        </p:txBody>
      </p:sp>
      <p:sp>
        <p:nvSpPr>
          <p:cNvPr id="10" name="two-copy"/>
          <p:cNvSpPr/>
          <p:nvPr/>
        </p:nvSpPr>
        <p:spPr>
          <a:xfrm>
            <a:off x="6299200" y="3429000"/>
            <a:ext cx="36322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14"/>
              </a:lnSpc>
              <a:buNone/>
            </a:pPr>
            <a:r>
              <a:rPr lang="en-US" altLang="en-US" sz="2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Rehearse feedback</a:t>
            </a:r>
            <a:endParaRPr lang="en-US" sz="2300" dirty="0"/>
          </a:p>
          <a:p>
            <a:pPr marL="0" indent="0" algn="l">
              <a:lnSpc>
                <a:spcPts val="2714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prompt, question, criteria, or support will help students do the next thinking?</a:t>
            </a:r>
            <a:endParaRPr lang="en-US" sz="2300" dirty="0"/>
          </a:p>
        </p:txBody>
      </p:sp>
      <p:sp>
        <p:nvSpPr>
          <p:cNvPr id="11" name="three-copy"/>
          <p:cNvSpPr/>
          <p:nvPr/>
        </p:nvSpPr>
        <p:spPr>
          <a:xfrm>
            <a:off x="11684000" y="3429000"/>
            <a:ext cx="36576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14"/>
              </a:lnSpc>
              <a:buNone/>
            </a:pPr>
            <a:r>
              <a:rPr lang="en-US" alt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Name student action</a:t>
            </a:r>
            <a:endParaRPr lang="en-US" sz="2300" dirty="0"/>
          </a:p>
          <a:p>
            <a:pPr marL="0" indent="0" algn="l">
              <a:lnSpc>
                <a:spcPts val="2714"/>
              </a:lnSpc>
              <a:buNone/>
            </a:pP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students revise, correct, extend, explain, or apply?</a:t>
            </a:r>
            <a:endParaRPr lang="en-US" sz="2300" dirty="0"/>
          </a:p>
        </p:txBody>
      </p:sp>
      <p:sp>
        <p:nvSpPr>
          <p:cNvPr id="12" name="note"/>
          <p:cNvSpPr/>
          <p:nvPr/>
        </p:nvSpPr>
        <p:spPr>
          <a:xfrm>
            <a:off x="508000" y="6934200"/>
            <a:ext cx="15240000" cy="6350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note-copy"/>
          <p:cNvSpPr/>
          <p:nvPr/>
        </p:nvSpPr>
        <p:spPr>
          <a:xfrm>
            <a:off x="914400" y="7124700"/>
            <a:ext cx="14427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feedback targeted: students should be able to explain what they will do next and why it helps the learning goal.</a:t>
            </a:r>
            <a:endParaRPr lang="en-US" sz="1900" dirty="0"/>
          </a:p>
        </p:txBody>
      </p:sp>
      <p:sp>
        <p:nvSpPr>
          <p:cNvPr id="14" name="footer"/>
          <p:cNvSpPr/>
          <p:nvPr/>
        </p:nvSpPr>
        <p:spPr>
          <a:xfrm>
            <a:off x="508000" y="8509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→ STUDENT ACTION</a:t>
            </a:r>
            <a:endParaRPr lang="en-US" sz="1400" dirty="0"/>
          </a:p>
        </p:txBody>
      </p:sp>
      <p:sp>
        <p:nvSpPr>
          <p:cNvPr id="15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08000" y="381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next evidence check</a:t>
            </a:r>
            <a:endParaRPr lang="en-US" sz="3200" dirty="0"/>
          </a:p>
        </p:txBody>
      </p:sp>
      <p:sp>
        <p:nvSpPr>
          <p:cNvPr id="5" name="subtitle"/>
          <p:cNvSpPr/>
          <p:nvPr/>
        </p:nvSpPr>
        <p:spPr>
          <a:xfrm>
            <a:off x="508000" y="1676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 next lesson task, evidence look-for, review moment, and adjustment to the learning experience.</a:t>
            </a:r>
            <a:endParaRPr lang="en-US" sz="2000" dirty="0"/>
          </a:p>
        </p:txBody>
      </p:sp>
      <p:sp>
        <p:nvSpPr>
          <p:cNvPr id="6" name="q1"/>
          <p:cNvSpPr/>
          <p:nvPr/>
        </p:nvSpPr>
        <p:spPr>
          <a:xfrm>
            <a:off x="508000" y="2667000"/>
            <a:ext cx="7188200" cy="1854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q2"/>
          <p:cNvSpPr/>
          <p:nvPr/>
        </p:nvSpPr>
        <p:spPr>
          <a:xfrm>
            <a:off x="8559800" y="2667000"/>
            <a:ext cx="7188200" cy="1854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q3"/>
          <p:cNvSpPr/>
          <p:nvPr/>
        </p:nvSpPr>
        <p:spPr>
          <a:xfrm>
            <a:off x="508000" y="5207000"/>
            <a:ext cx="7188200" cy="18542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q4"/>
          <p:cNvSpPr/>
          <p:nvPr/>
        </p:nvSpPr>
        <p:spPr>
          <a:xfrm>
            <a:off x="8559800" y="5207000"/>
            <a:ext cx="7188200" cy="18542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1"/>
          <p:cNvSpPr/>
          <p:nvPr/>
        </p:nvSpPr>
        <p:spPr>
          <a:xfrm>
            <a:off x="914400" y="30734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alt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Next lesson/task</a:t>
            </a:r>
            <a:endParaRPr lang="en-US" sz="2200" dirty="0"/>
          </a:p>
          <a:p>
            <a:pPr marL="0" indent="0" algn="l">
              <a:lnSpc>
                <a:spcPts val="2530"/>
              </a:lnSpc>
              <a:buNone/>
            </a:pP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will students have another opportunity to show the learning?</a:t>
            </a:r>
            <a:endParaRPr lang="en-US" sz="2200" dirty="0"/>
          </a:p>
        </p:txBody>
      </p:sp>
      <p:sp>
        <p:nvSpPr>
          <p:cNvPr id="11" name="t2"/>
          <p:cNvSpPr/>
          <p:nvPr/>
        </p:nvSpPr>
        <p:spPr>
          <a:xfrm>
            <a:off x="8966200" y="30734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alt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Evidence look-for</a:t>
            </a:r>
            <a:endParaRPr lang="en-US" sz="2200" dirty="0"/>
          </a:p>
          <a:p>
            <a:pPr marL="0" indent="0" algn="l">
              <a:lnSpc>
                <a:spcPts val="2530"/>
              </a:lnSpc>
              <a:buNone/>
            </a:pP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specific student action or product will you notice or collect?</a:t>
            </a:r>
            <a:endParaRPr lang="en-US" sz="2200" dirty="0"/>
          </a:p>
        </p:txBody>
      </p:sp>
      <p:sp>
        <p:nvSpPr>
          <p:cNvPr id="12" name="t3"/>
          <p:cNvSpPr/>
          <p:nvPr/>
        </p:nvSpPr>
        <p:spPr>
          <a:xfrm>
            <a:off x="914400" y="56134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alt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Review moment</a:t>
            </a:r>
            <a:endParaRPr lang="en-US" sz="2200" dirty="0"/>
          </a:p>
          <a:p>
            <a:pPr marL="0" indent="0" algn="l">
              <a:lnSpc>
                <a:spcPts val="2530"/>
              </a:lnSpc>
              <a:buNone/>
            </a:pP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and with whom will the team revisit the evidence?</a:t>
            </a:r>
            <a:endParaRPr lang="en-US" sz="2200" dirty="0"/>
          </a:p>
        </p:txBody>
      </p:sp>
      <p:sp>
        <p:nvSpPr>
          <p:cNvPr id="13" name="t4"/>
          <p:cNvSpPr/>
          <p:nvPr/>
        </p:nvSpPr>
        <p:spPr>
          <a:xfrm>
            <a:off x="8966200" y="56134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Next adjustment</a:t>
            </a:r>
            <a:endParaRPr lang="en-US" sz="2200" dirty="0"/>
          </a:p>
          <a:p>
            <a:pPr marL="0" indent="0" algn="l">
              <a:lnSpc>
                <a:spcPts val="2530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change in the next learning experience based on what students show?</a:t>
            </a:r>
            <a:endParaRPr lang="en-US" sz="2200" dirty="0"/>
          </a:p>
        </p:txBody>
      </p:sp>
      <p:sp>
        <p:nvSpPr>
          <p:cNvPr id="14" name="footer"/>
          <p:cNvSpPr/>
          <p:nvPr/>
        </p:nvSpPr>
        <p:spPr>
          <a:xfrm>
            <a:off x="508000" y="8509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EVIDENCE CHECK → NEXT-LESSON ADJUSTMENT</a:t>
            </a:r>
            <a:endParaRPr lang="en-US" sz="1400" dirty="0"/>
          </a:p>
        </p:txBody>
      </p:sp>
      <p:sp>
        <p:nvSpPr>
          <p:cNvPr id="15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08000" y="381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Course-alike calibration</a:t>
            </a:r>
            <a:endParaRPr lang="en-US" sz="3200" dirty="0"/>
          </a:p>
        </p:txBody>
      </p:sp>
      <p:sp>
        <p:nvSpPr>
          <p:cNvPr id="5" name="panel"/>
          <p:cNvSpPr/>
          <p:nvPr/>
        </p:nvSpPr>
        <p:spPr>
          <a:xfrm>
            <a:off x="2032000" y="2184400"/>
            <a:ext cx="1219200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label"/>
          <p:cNvSpPr/>
          <p:nvPr/>
        </p:nvSpPr>
        <p:spPr>
          <a:xfrm>
            <a:off x="2616200" y="2717800"/>
            <a:ext cx="660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ONE ROUTINE · ASK THREE QUESTIONS</a:t>
            </a:r>
            <a:endParaRPr lang="en-US" sz="1400" dirty="0"/>
          </a:p>
        </p:txBody>
      </p:sp>
      <p:sp>
        <p:nvSpPr>
          <p:cNvPr id="7" name="copy"/>
          <p:cNvSpPr/>
          <p:nvPr/>
        </p:nvSpPr>
        <p:spPr>
          <a:xfrm>
            <a:off x="2616200" y="3556000"/>
            <a:ext cx="10922000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altLang="en-US" sz="2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Does the feedback routine respond to the student-learning goal?</a:t>
            </a:r>
            <a:endParaRPr lang="en-US" sz="2500" dirty="0"/>
          </a:p>
          <a:p>
            <a:pPr marL="0" indent="0" algn="l">
              <a:lnSpc>
                <a:spcPts val="3200"/>
              </a:lnSpc>
              <a:buNone/>
            </a:pPr>
            <a:r>
              <a:rPr lang="en-US" altLang="en-US" sz="2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Does the student action preserve grade-level cognitive demand?</a:t>
            </a:r>
            <a:endParaRPr lang="en-US" sz="2500" dirty="0"/>
          </a:p>
          <a:p>
            <a:pPr marL="0" indent="0" algn="l">
              <a:lnSpc>
                <a:spcPts val="3200"/>
              </a:lnSpc>
              <a:buNone/>
            </a:pPr>
            <a:r>
              <a:rPr lang="en-US" altLang="en-US" sz="2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Will the evidence look-for show whether the action supported learning?</a:t>
            </a:r>
            <a:endParaRPr lang="en-US" sz="2500" dirty="0"/>
          </a:p>
        </p:txBody>
      </p:sp>
      <p:sp>
        <p:nvSpPr>
          <p:cNvPr id="8" name="bottom"/>
          <p:cNvSpPr/>
          <p:nvPr/>
        </p:nvSpPr>
        <p:spPr>
          <a:xfrm>
            <a:off x="2032000" y="7366000"/>
            <a:ext cx="12192000" cy="4572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bottom-copy"/>
          <p:cNvSpPr/>
          <p:nvPr/>
        </p:nvSpPr>
        <p:spPr>
          <a:xfrm>
            <a:off x="2032000" y="74803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feedback to clarify the next lesson decision; do not turn the discussion into evaluation.</a:t>
            </a:r>
            <a:endParaRPr lang="en-US" sz="1400" dirty="0"/>
          </a:p>
        </p:txBody>
      </p:sp>
      <p:sp>
        <p:nvSpPr>
          <p:cNvPr id="10" name="footer"/>
          <p:cNvSpPr/>
          <p:nvPr/>
        </p:nvSpPr>
        <p:spPr>
          <a:xfrm>
            <a:off x="508000" y="8509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COURSE-ALIKE CALIBRATION</a:t>
            </a:r>
            <a:endParaRPr lang="en-US" sz="1400" dirty="0"/>
          </a:p>
        </p:txBody>
      </p:sp>
      <p:sp>
        <p:nvSpPr>
          <p:cNvPr id="11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-panel"/>
          <p:cNvSpPr/>
          <p:nvPr/>
        </p:nvSpPr>
        <p:spPr>
          <a:xfrm>
            <a:off x="508000" y="1320800"/>
            <a:ext cx="8255000" cy="457200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ccent"/>
          <p:cNvSpPr/>
          <p:nvPr/>
        </p:nvSpPr>
        <p:spPr>
          <a:xfrm>
            <a:off x="508000" y="1320800"/>
            <a:ext cx="177800" cy="45720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label"/>
          <p:cNvSpPr/>
          <p:nvPr/>
        </p:nvSpPr>
        <p:spPr>
          <a:xfrm>
            <a:off x="1041400" y="18288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LEAVE</a:t>
            </a:r>
            <a:endParaRPr lang="en-US" sz="1400" dirty="0"/>
          </a:p>
        </p:txBody>
      </p:sp>
      <p:sp>
        <p:nvSpPr>
          <p:cNvPr id="6" name="title"/>
          <p:cNvSpPr/>
          <p:nvPr/>
        </p:nvSpPr>
        <p:spPr>
          <a:xfrm>
            <a:off x="1041400" y="24892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 next</a:t>
            </a:r>
            <a:endParaRPr lang="en-US" sz="4200" dirty="0"/>
          </a:p>
          <a:p>
            <a:pPr marL="0" indent="0" algn="l">
              <a:lnSpc>
                <a:spcPts val="4200"/>
              </a:lnSpc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decision.</a:t>
            </a:r>
            <a:endParaRPr lang="en-US" sz="4200" dirty="0"/>
          </a:p>
        </p:txBody>
      </p:sp>
      <p:sp>
        <p:nvSpPr>
          <p:cNvPr id="7" name="sub"/>
          <p:cNvSpPr/>
          <p:nvPr/>
        </p:nvSpPr>
        <p:spPr>
          <a:xfrm>
            <a:off x="1041400" y="41910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altLang="en-US" sz="20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student action, evidence look-for, and next adjustment keep the goals and Educator Plan connected to real classroom learning.</a:t>
            </a:r>
            <a:endParaRPr lang="en-US" sz="2000" dirty="0"/>
          </a:p>
        </p:txBody>
      </p:sp>
      <p:sp>
        <p:nvSpPr>
          <p:cNvPr id="8" name="check"/>
          <p:cNvSpPr/>
          <p:nvPr/>
        </p:nvSpPr>
        <p:spPr>
          <a:xfrm>
            <a:off x="9601200" y="1320800"/>
            <a:ext cx="6146800" cy="5892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heck-label"/>
          <p:cNvSpPr/>
          <p:nvPr/>
        </p:nvSpPr>
        <p:spPr>
          <a:xfrm>
            <a:off x="10033000" y="1727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THESE FIVE ITEMS</a:t>
            </a:r>
            <a:endParaRPr lang="en-US" sz="1400" dirty="0"/>
          </a:p>
        </p:txBody>
      </p:sp>
      <p:sp>
        <p:nvSpPr>
          <p:cNvPr id="10" name="checks"/>
          <p:cNvSpPr/>
          <p:nvPr/>
        </p:nvSpPr>
        <p:spPr>
          <a:xfrm>
            <a:off x="10033000" y="2387600"/>
            <a:ext cx="4953000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2"/>
              </a:lnSpc>
              <a:buNone/>
            </a:pP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Feedback routine</a:t>
            </a:r>
            <a:endParaRPr lang="en-US" sz="2100" dirty="0"/>
          </a:p>
          <a:p>
            <a:pPr marL="0" indent="0" algn="l">
              <a:lnSpc>
                <a:spcPts val="2982"/>
              </a:lnSpc>
              <a:buNone/>
            </a:pP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Student action</a:t>
            </a:r>
            <a:endParaRPr lang="en-US" sz="2100" dirty="0"/>
          </a:p>
          <a:p>
            <a:pPr marL="0" indent="0" algn="l">
              <a:lnSpc>
                <a:spcPts val="2982"/>
              </a:lnSpc>
              <a:buNone/>
            </a:pP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Evidence look-for</a:t>
            </a:r>
            <a:endParaRPr lang="en-US" sz="2100" dirty="0"/>
          </a:p>
          <a:p>
            <a:pPr marL="0" indent="0" algn="l">
              <a:lnSpc>
                <a:spcPts val="2982"/>
              </a:lnSpc>
              <a:buNone/>
            </a:pP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Next learning experience adjustment</a:t>
            </a:r>
            <a:endParaRPr lang="en-US" sz="2100" dirty="0"/>
          </a:p>
          <a:p>
            <a:pPr marL="0" indent="0" algn="l">
              <a:lnSpc>
                <a:spcPts val="2982"/>
              </a:lnSpc>
              <a:buNone/>
            </a:pP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Next review point</a:t>
            </a:r>
            <a:endParaRPr lang="en-US" sz="2100" dirty="0"/>
          </a:p>
        </p:txBody>
      </p:sp>
      <p:sp>
        <p:nvSpPr>
          <p:cNvPr id="11" name="reflection"/>
          <p:cNvSpPr/>
          <p:nvPr/>
        </p:nvSpPr>
        <p:spPr>
          <a:xfrm>
            <a:off x="508000" y="6502400"/>
            <a:ext cx="8255000" cy="7112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flection-copy"/>
          <p:cNvSpPr/>
          <p:nvPr/>
        </p:nvSpPr>
        <p:spPr>
          <a:xfrm>
            <a:off x="812800" y="67056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students do next—and what will help you know whether the action supported learning?</a:t>
            </a:r>
            <a:endParaRPr lang="en-US" sz="1800" dirty="0"/>
          </a:p>
        </p:txBody>
      </p:sp>
      <p:sp>
        <p:nvSpPr>
          <p:cNvPr id="13" name="footer"/>
          <p:cNvSpPr/>
          <p:nvPr/>
        </p:nvSpPr>
        <p:spPr>
          <a:xfrm>
            <a:off x="508000" y="8509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→ STUDENT ACTION → NEW EVIDENCE → NEXT-LESSON DECISION</a:t>
            </a:r>
            <a:endParaRPr lang="en-US" sz="1400" dirty="0"/>
          </a:p>
        </p:txBody>
      </p:sp>
      <p:sp>
        <p:nvSpPr>
          <p:cNvPr id="14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629</Words>
  <Application>Microsoft Macintosh PowerPoint</Application>
  <PresentationFormat>Custom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Rehearse the Feedback Loop &amp; Set the Next Evidence Check — October 9, 2026</dc:title>
  <dc:subject>Rehearse the Feedback Loop &amp; Set the Next Evidence Check — October 9, 2026</dc:subject>
  <dc:creator>Manus</dc:creator>
  <cp:lastModifiedBy>Chu Kwen Ho</cp:lastModifiedBy>
  <cp:revision>1</cp:revision>
  <dcterms:created xsi:type="dcterms:W3CDTF">2026-09-28T12:54:08Z</dcterms:created>
  <dcterms:modified xsi:type="dcterms:W3CDTF">2026-09-28T13:05:35Z</dcterms:modified>
</cp:coreProperties>
</file>
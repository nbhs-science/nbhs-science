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9144000" cy="16256000"/>
  <p:embeddedFontLst>
    <p:embeddedFont>
      <p:font typeface="Inter" panose="02000503000000020004" pitchFamily="2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05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-block"/>
          <p:cNvSpPr/>
          <p:nvPr/>
        </p:nvSpPr>
        <p:spPr>
          <a:xfrm>
            <a:off x="508000" y="1320800"/>
            <a:ext cx="10795000" cy="38354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cent-bar"/>
          <p:cNvSpPr/>
          <p:nvPr/>
        </p:nvSpPr>
        <p:spPr>
          <a:xfrm>
            <a:off x="508000" y="1320800"/>
            <a:ext cx="177800" cy="38354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dept-label"/>
          <p:cNvSpPr/>
          <p:nvPr/>
        </p:nvSpPr>
        <p:spPr>
          <a:xfrm>
            <a:off x="1041400" y="1778000"/>
            <a:ext cx="876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BEDFORD HIGH SCHOOL · SCIENCE DEPARTMENT</a:t>
            </a:r>
            <a:endParaRPr lang="en-US" sz="1400" dirty="0"/>
          </a:p>
        </p:txBody>
      </p:sp>
      <p:sp>
        <p:nvSpPr>
          <p:cNvPr id="6" name="cover-title"/>
          <p:cNvSpPr/>
          <p:nvPr/>
        </p:nvSpPr>
        <p:spPr>
          <a:xfrm>
            <a:off x="1041400" y="2362200"/>
            <a:ext cx="9271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10"/>
              </a:lnSpc>
              <a:buNone/>
            </a:pPr>
            <a:r>
              <a:rPr lang="en-US" altLang="en-US" sz="4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Self-Assessment</a:t>
            </a:r>
            <a:endParaRPr lang="en-US" sz="450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altLang="en-US" sz="4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Strengthen the Goals</a:t>
            </a:r>
            <a:endParaRPr lang="en-US" sz="4500" dirty="0"/>
          </a:p>
        </p:txBody>
      </p:sp>
      <p:sp>
        <p:nvSpPr>
          <p:cNvPr id="7" name="cover-subtitle"/>
          <p:cNvSpPr/>
          <p:nvPr/>
        </p:nvSpPr>
        <p:spPr>
          <a:xfrm>
            <a:off x="1041400" y="42164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altLang="en-US" sz="20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Self-Assessment Form and Lesson Internalization Tool to confirm that the goals respond to student learning and a meaningful area of practice.</a:t>
            </a:r>
            <a:endParaRPr lang="en-US" sz="2000" dirty="0"/>
          </a:p>
        </p:txBody>
      </p:sp>
      <p:sp>
        <p:nvSpPr>
          <p:cNvPr id="8" name="date-chip"/>
          <p:cNvSpPr/>
          <p:nvPr/>
        </p:nvSpPr>
        <p:spPr>
          <a:xfrm>
            <a:off x="508000" y="5765800"/>
            <a:ext cx="3098800" cy="5334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date-text"/>
          <p:cNvSpPr/>
          <p:nvPr/>
        </p:nvSpPr>
        <p:spPr>
          <a:xfrm>
            <a:off x="508000" y="5892800"/>
            <a:ext cx="309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OCTOBER 2, 2026</a:t>
            </a:r>
            <a:endParaRPr lang="en-US" sz="1400" dirty="0"/>
          </a:p>
        </p:txBody>
      </p:sp>
      <p:sp>
        <p:nvSpPr>
          <p:cNvPr id="10" name="time-card"/>
          <p:cNvSpPr/>
          <p:nvPr/>
        </p:nvSpPr>
        <p:spPr>
          <a:xfrm>
            <a:off x="4038600" y="5765800"/>
            <a:ext cx="2286000" cy="533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me-text"/>
          <p:cNvSpPr/>
          <p:nvPr/>
        </p:nvSpPr>
        <p:spPr>
          <a:xfrm>
            <a:off x="4038600" y="58928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MINUTES</a:t>
            </a:r>
            <a:endParaRPr lang="en-US" sz="1400" dirty="0"/>
          </a:p>
        </p:txBody>
      </p:sp>
      <p:sp>
        <p:nvSpPr>
          <p:cNvPr id="12" name="right-panel"/>
          <p:cNvSpPr/>
          <p:nvPr/>
        </p:nvSpPr>
        <p:spPr>
          <a:xfrm>
            <a:off x="11887200" y="1320800"/>
            <a:ext cx="3860800" cy="4978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ractic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1828800"/>
            <a:ext cx="533400" cy="533400"/>
          </a:xfrm>
          <a:prstGeom prst="rect">
            <a:avLst/>
          </a:prstGeom>
        </p:spPr>
      </p:pic>
      <p:sp>
        <p:nvSpPr>
          <p:cNvPr id="14" name="right-title"/>
          <p:cNvSpPr/>
          <p:nvPr/>
        </p:nvSpPr>
        <p:spPr>
          <a:xfrm>
            <a:off x="12344400" y="26924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altLang="en-US" sz="2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</a:t>
            </a:r>
            <a:endParaRPr lang="en-US" sz="25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altLang="en-US" sz="2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story.</a:t>
            </a:r>
            <a:endParaRPr lang="en-US" sz="2500" dirty="0"/>
          </a:p>
        </p:txBody>
      </p:sp>
      <p:sp>
        <p:nvSpPr>
          <p:cNvPr id="15" name="right-copy"/>
          <p:cNvSpPr/>
          <p:nvPr/>
        </p:nvSpPr>
        <p:spPr>
          <a:xfrm>
            <a:off x="12344400" y="3733800"/>
            <a:ext cx="2870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8"/>
              </a:lnSpc>
              <a:buNone/>
            </a:pPr>
            <a:r>
              <a:rPr lang="en-US" altLang="en-US" sz="1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Part 1: Student learning evidence</a:t>
            </a:r>
            <a:endParaRPr lang="en-US" sz="1800" dirty="0"/>
          </a:p>
          <a:p>
            <a:pPr marL="0" indent="0" algn="l">
              <a:lnSpc>
                <a:spcPts val="2088"/>
              </a:lnSpc>
              <a:buNone/>
            </a:pPr>
            <a:r>
              <a:rPr lang="en-US" altLang="en-US" sz="1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Part 2: Practice reflection</a:t>
            </a:r>
            <a:endParaRPr lang="en-US" sz="1800" dirty="0"/>
          </a:p>
          <a:p>
            <a:pPr marL="0" indent="0" algn="l">
              <a:lnSpc>
                <a:spcPts val="2088"/>
              </a:lnSpc>
              <a:buNone/>
            </a:pPr>
            <a:r>
              <a:rPr lang="en-US" altLang="en-US" sz="1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Focus 1 + Focus 2</a:t>
            </a:r>
            <a:endParaRPr lang="en-US" sz="1800" dirty="0"/>
          </a:p>
          <a:p>
            <a:pPr marL="0" indent="0" algn="l">
              <a:lnSpc>
                <a:spcPts val="2088"/>
              </a:lnSpc>
              <a:buNone/>
            </a:pPr>
            <a:r>
              <a:rPr lang="en-US" altLang="en-US" sz="18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Goal revisions if needed</a:t>
            </a:r>
            <a:endParaRPr lang="en-US" sz="1800" dirty="0"/>
          </a:p>
        </p:txBody>
      </p:sp>
      <p:sp>
        <p:nvSpPr>
          <p:cNvPr id="16" name="footer-left"/>
          <p:cNvSpPr/>
          <p:nvPr/>
        </p:nvSpPr>
        <p:spPr>
          <a:xfrm>
            <a:off x="508000" y="8509000"/>
            <a:ext cx="825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&amp; GOAL SETTING PLC</a:t>
            </a:r>
            <a:endParaRPr lang="en-US" sz="1400" dirty="0"/>
          </a:p>
        </p:txBody>
      </p:sp>
      <p:sp>
        <p:nvSpPr>
          <p:cNvPr id="17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-band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er-accent"/>
          <p:cNvSpPr/>
          <p:nvPr/>
        </p:nvSpPr>
        <p:spPr>
          <a:xfrm>
            <a:off x="0" y="11684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508000" y="381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Self-Assessment Form helps you do</a:t>
            </a:r>
            <a:endParaRPr lang="en-US" sz="3200" dirty="0"/>
          </a:p>
        </p:txBody>
      </p:sp>
      <p:sp>
        <p:nvSpPr>
          <p:cNvPr id="6" name="intro"/>
          <p:cNvSpPr/>
          <p:nvPr/>
        </p:nvSpPr>
        <p:spPr>
          <a:xfrm>
            <a:off x="508000" y="16764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form to make sure the evidence, proposed goals, and practice focus tell one clear and useful improvement story.</a:t>
            </a:r>
            <a:endParaRPr lang="en-US" sz="2000" dirty="0"/>
          </a:p>
        </p:txBody>
      </p:sp>
      <p:sp>
        <p:nvSpPr>
          <p:cNvPr id="7" name="b1"/>
          <p:cNvSpPr/>
          <p:nvPr/>
        </p:nvSpPr>
        <p:spPr>
          <a:xfrm>
            <a:off x="508000" y="3022600"/>
            <a:ext cx="2870200" cy="1981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2"/>
          <p:cNvSpPr/>
          <p:nvPr/>
        </p:nvSpPr>
        <p:spPr>
          <a:xfrm>
            <a:off x="3733800" y="3022600"/>
            <a:ext cx="2870200" cy="1981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3"/>
          <p:cNvSpPr/>
          <p:nvPr/>
        </p:nvSpPr>
        <p:spPr>
          <a:xfrm>
            <a:off x="6959600" y="3022600"/>
            <a:ext cx="2870200" cy="19812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4"/>
          <p:cNvSpPr/>
          <p:nvPr/>
        </p:nvSpPr>
        <p:spPr>
          <a:xfrm>
            <a:off x="10185400" y="3022600"/>
            <a:ext cx="2870200" cy="1981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5"/>
          <p:cNvSpPr/>
          <p:nvPr/>
        </p:nvSpPr>
        <p:spPr>
          <a:xfrm>
            <a:off x="13411200" y="3022600"/>
            <a:ext cx="2336800" cy="1981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1"/>
          <p:cNvSpPr/>
          <p:nvPr/>
        </p:nvSpPr>
        <p:spPr>
          <a:xfrm>
            <a:off x="812800" y="3403600"/>
            <a:ext cx="2209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Bring forward</a:t>
            </a:r>
            <a:endParaRPr lang="en-US" sz="1900" dirty="0"/>
          </a:p>
          <a:p>
            <a:pPr marL="0" indent="0" algn="l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Goal Setting Form.</a:t>
            </a:r>
            <a:endParaRPr lang="en-US" sz="1900" dirty="0"/>
          </a:p>
        </p:txBody>
      </p:sp>
      <p:sp>
        <p:nvSpPr>
          <p:cNvPr id="13" name="t2"/>
          <p:cNvSpPr/>
          <p:nvPr/>
        </p:nvSpPr>
        <p:spPr>
          <a:xfrm>
            <a:off x="4038600" y="3403600"/>
            <a:ext cx="2209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Complete Part 1</a:t>
            </a:r>
            <a:endParaRPr lang="en-US" sz="1900" dirty="0"/>
          </a:p>
          <a:p>
            <a:pPr marL="0" indent="0" algn="l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student-learning evidence.</a:t>
            </a:r>
            <a:endParaRPr lang="en-US" sz="1900" dirty="0"/>
          </a:p>
        </p:txBody>
      </p:sp>
      <p:sp>
        <p:nvSpPr>
          <p:cNvPr id="14" name="t3"/>
          <p:cNvSpPr/>
          <p:nvPr/>
        </p:nvSpPr>
        <p:spPr>
          <a:xfrm>
            <a:off x="7264400" y="3403600"/>
            <a:ext cx="2209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Use Questions 3–4</a:t>
            </a:r>
            <a:endParaRPr lang="en-US" sz="1900" dirty="0"/>
          </a:p>
          <a:p>
            <a:pPr marL="0" indent="0" algn="l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identify the practice response.</a:t>
            </a:r>
            <a:endParaRPr lang="en-US" sz="1900" dirty="0"/>
          </a:p>
        </p:txBody>
      </p:sp>
      <p:sp>
        <p:nvSpPr>
          <p:cNvPr id="15" name="t4"/>
          <p:cNvSpPr/>
          <p:nvPr/>
        </p:nvSpPr>
        <p:spPr>
          <a:xfrm>
            <a:off x="10490200" y="3403600"/>
            <a:ext cx="2209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Complete Part 2</a:t>
            </a:r>
            <a:endParaRPr lang="en-US" sz="1900" dirty="0"/>
          </a:p>
          <a:p>
            <a:pPr marL="0" indent="0" algn="l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select two focus areas.</a:t>
            </a:r>
            <a:endParaRPr lang="en-US" sz="1900" dirty="0"/>
          </a:p>
        </p:txBody>
      </p:sp>
      <p:sp>
        <p:nvSpPr>
          <p:cNvPr id="16" name="t5"/>
          <p:cNvSpPr/>
          <p:nvPr/>
        </p:nvSpPr>
        <p:spPr>
          <a:xfrm>
            <a:off x="13716000" y="3403600"/>
            <a:ext cx="1727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Refine</a:t>
            </a:r>
            <a:endParaRPr lang="en-US" sz="1900" dirty="0"/>
          </a:p>
          <a:p>
            <a:pPr marL="0" indent="0" algn="l">
              <a:lnSpc>
                <a:spcPts val="2052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goals if needed.</a:t>
            </a:r>
            <a:endParaRPr lang="en-US" sz="1900" dirty="0"/>
          </a:p>
        </p:txBody>
      </p:sp>
      <p:sp>
        <p:nvSpPr>
          <p:cNvPr id="17" name="callout"/>
          <p:cNvSpPr/>
          <p:nvPr/>
        </p:nvSpPr>
        <p:spPr>
          <a:xfrm>
            <a:off x="508000" y="5816600"/>
            <a:ext cx="15240000" cy="13208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allout-label"/>
          <p:cNvSpPr/>
          <p:nvPr/>
        </p:nvSpPr>
        <p:spPr>
          <a:xfrm>
            <a:off x="889000" y="6121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</a:t>
            </a:r>
            <a:endParaRPr lang="en-US" sz="1400" dirty="0"/>
          </a:p>
        </p:txBody>
      </p:sp>
      <p:sp>
        <p:nvSpPr>
          <p:cNvPr id="19" name="callout-copy"/>
          <p:cNvSpPr/>
          <p:nvPr/>
        </p:nvSpPr>
        <p:spPr>
          <a:xfrm>
            <a:off x="889000" y="6235700"/>
            <a:ext cx="142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Self-Assessment helps strengthen and support the proposed goals. </a:t>
            </a:r>
          </a:p>
          <a:p>
            <a:pPr marL="0" indent="0" algn="ctr">
              <a:buNone/>
            </a:pPr>
            <a:r>
              <a:rPr lang="en-US" altLang="en-US" sz="2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not a rating exercise or a reason to start the work over.</a:t>
            </a:r>
            <a:endParaRPr lang="en-US" sz="2400" dirty="0"/>
          </a:p>
        </p:txBody>
      </p:sp>
      <p:sp>
        <p:nvSpPr>
          <p:cNvPr id="20" name="footer-left"/>
          <p:cNvSpPr/>
          <p:nvPr/>
        </p:nvSpPr>
        <p:spPr>
          <a:xfrm>
            <a:off x="508000" y="8509000"/>
            <a:ext cx="812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 → SELF-ASSESSMENT → EDUCATOR PLAN</a:t>
            </a:r>
            <a:endParaRPr lang="en-US" sz="1400" dirty="0"/>
          </a:p>
        </p:txBody>
      </p:sp>
      <p:sp>
        <p:nvSpPr>
          <p:cNvPr id="21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-band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er-accent"/>
          <p:cNvSpPr/>
          <p:nvPr/>
        </p:nvSpPr>
        <p:spPr>
          <a:xfrm>
            <a:off x="0" y="11684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508000" y="381000"/>
            <a:ext cx="1117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Part 1: Student Learning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508000" y="16764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same available evidence that informed the Student Learning Goal: name a strength and a high-priority concern.</a:t>
            </a:r>
            <a:endParaRPr lang="en-US" sz="2000" dirty="0"/>
          </a:p>
        </p:txBody>
      </p:sp>
      <p:sp>
        <p:nvSpPr>
          <p:cNvPr id="7" name="strength"/>
          <p:cNvSpPr/>
          <p:nvPr/>
        </p:nvSpPr>
        <p:spPr>
          <a:xfrm>
            <a:off x="508000" y="2768600"/>
            <a:ext cx="7213600" cy="3352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ncern"/>
          <p:cNvSpPr/>
          <p:nvPr/>
        </p:nvSpPr>
        <p:spPr>
          <a:xfrm>
            <a:off x="8534400" y="2768600"/>
            <a:ext cx="7213600" cy="33528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ength-label"/>
          <p:cNvSpPr/>
          <p:nvPr/>
        </p:nvSpPr>
        <p:spPr>
          <a:xfrm>
            <a:off x="939800" y="32004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LEARNING STRENGTH</a:t>
            </a:r>
            <a:endParaRPr lang="en-US" sz="1400" dirty="0"/>
          </a:p>
        </p:txBody>
      </p:sp>
      <p:sp>
        <p:nvSpPr>
          <p:cNvPr id="10" name="strength-copy"/>
          <p:cNvSpPr/>
          <p:nvPr/>
        </p:nvSpPr>
        <p:spPr>
          <a:xfrm>
            <a:off x="939800" y="3784600"/>
            <a:ext cx="5969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available evidence show students are already doing, understanding, explaining, or applying?</a:t>
            </a:r>
            <a:endParaRPr lang="en-US" sz="2100" dirty="0"/>
          </a:p>
          <a:p>
            <a:pPr marL="0" indent="0" algn="l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the evidence source.</a:t>
            </a:r>
            <a:endParaRPr lang="en-US" sz="2100" dirty="0"/>
          </a:p>
        </p:txBody>
      </p:sp>
      <p:sp>
        <p:nvSpPr>
          <p:cNvPr id="11" name="concern-label"/>
          <p:cNvSpPr/>
          <p:nvPr/>
        </p:nvSpPr>
        <p:spPr>
          <a:xfrm>
            <a:off x="8966200" y="3200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HIGH-PRIORITY CONCERN</a:t>
            </a:r>
            <a:endParaRPr lang="en-US" sz="1400" dirty="0"/>
          </a:p>
        </p:txBody>
      </p:sp>
      <p:sp>
        <p:nvSpPr>
          <p:cNvPr id="12" name="concern-copy"/>
          <p:cNvSpPr/>
          <p:nvPr/>
        </p:nvSpPr>
        <p:spPr>
          <a:xfrm>
            <a:off x="8966200" y="3784600"/>
            <a:ext cx="5969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learning pattern is important enough to monitor and address through the Student Learning Goal?</a:t>
            </a:r>
            <a:endParaRPr lang="en-US" sz="2100" dirty="0"/>
          </a:p>
          <a:p>
            <a:pPr marL="0" indent="0" algn="l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what students still need to do.</a:t>
            </a:r>
            <a:endParaRPr lang="en-US" sz="2100" dirty="0"/>
          </a:p>
        </p:txBody>
      </p:sp>
      <p:sp>
        <p:nvSpPr>
          <p:cNvPr id="13" name="evidence-strip"/>
          <p:cNvSpPr/>
          <p:nvPr/>
        </p:nvSpPr>
        <p:spPr>
          <a:xfrm>
            <a:off x="508000" y="6807200"/>
            <a:ext cx="15240000" cy="7620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evidence-copy"/>
          <p:cNvSpPr/>
          <p:nvPr/>
        </p:nvSpPr>
        <p:spPr>
          <a:xfrm>
            <a:off x="889000" y="7061200"/>
            <a:ext cx="144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 the source: BOY benchmark, common assessment, student work, exit response, participation, feedback, or observation notes.</a:t>
            </a:r>
            <a:endParaRPr lang="en-US" sz="1900" dirty="0"/>
          </a:p>
        </p:txBody>
      </p:sp>
      <p:sp>
        <p:nvSpPr>
          <p:cNvPr id="15" name="footer-left"/>
          <p:cNvSpPr/>
          <p:nvPr/>
        </p:nvSpPr>
        <p:spPr>
          <a:xfrm>
            <a:off x="508000" y="8509000"/>
            <a:ext cx="812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SELF-ASSESSMENT FORM · PART 1</a:t>
            </a:r>
            <a:endParaRPr lang="en-US" sz="1400" dirty="0"/>
          </a:p>
        </p:txBody>
      </p:sp>
      <p:sp>
        <p:nvSpPr>
          <p:cNvPr id="16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-band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er-accent"/>
          <p:cNvSpPr/>
          <p:nvPr/>
        </p:nvSpPr>
        <p:spPr>
          <a:xfrm>
            <a:off x="0" y="11684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508000" y="381000"/>
            <a:ext cx="1117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Questions 3 and 4 to plan the practice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508000" y="16764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the planned educator action to the same student-learning pattern named in the Student Learning Goal.</a:t>
            </a:r>
            <a:endParaRPr lang="en-US" sz="2000" dirty="0"/>
          </a:p>
        </p:txBody>
      </p:sp>
      <p:sp>
        <p:nvSpPr>
          <p:cNvPr id="7" name="q3"/>
          <p:cNvSpPr/>
          <p:nvPr/>
        </p:nvSpPr>
        <p:spPr>
          <a:xfrm>
            <a:off x="508000" y="2667000"/>
            <a:ext cx="7264400" cy="426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q3label"/>
          <p:cNvSpPr/>
          <p:nvPr/>
        </p:nvSpPr>
        <p:spPr>
          <a:xfrm>
            <a:off x="914400" y="3048000"/>
            <a:ext cx="584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3 · FACILITATE FOR DEEPER LEARNING</a:t>
            </a:r>
            <a:endParaRPr lang="en-US" sz="1400" dirty="0"/>
          </a:p>
        </p:txBody>
      </p:sp>
      <p:sp>
        <p:nvSpPr>
          <p:cNvPr id="9" name="q3title"/>
          <p:cNvSpPr/>
          <p:nvPr/>
        </p:nvSpPr>
        <p:spPr>
          <a:xfrm>
            <a:off x="914400" y="3632200"/>
            <a:ext cx="5918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en-US" sz="2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can I facilitate the lesson to increase students’ capacity as independent learners?</a:t>
            </a:r>
            <a:endParaRPr lang="en-US" sz="2700" dirty="0"/>
          </a:p>
        </p:txBody>
      </p:sp>
      <p:sp>
        <p:nvSpPr>
          <p:cNvPr id="10" name="q3copy"/>
          <p:cNvSpPr/>
          <p:nvPr/>
        </p:nvSpPr>
        <p:spPr>
          <a:xfrm>
            <a:off x="914400" y="4749800"/>
            <a:ext cx="6019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altLang="en-US" sz="1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key moment of thinking, likely responses, feedback or facilitation moves, and data-informed supports.</a:t>
            </a:r>
            <a:endParaRPr lang="en-US" sz="1900" dirty="0"/>
          </a:p>
          <a:p>
            <a:pPr marL="0" indent="0" algn="l">
              <a:lnSpc>
                <a:spcPts val="2242"/>
              </a:lnSpc>
              <a:buNone/>
            </a:pPr>
            <a:r>
              <a:rPr lang="en-US" altLang="en-US" sz="1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 What will I say or do that helps students do more of the thinking?</a:t>
            </a:r>
            <a:endParaRPr lang="en-US" sz="1900" dirty="0"/>
          </a:p>
        </p:txBody>
      </p:sp>
      <p:sp>
        <p:nvSpPr>
          <p:cNvPr id="11" name="q4"/>
          <p:cNvSpPr/>
          <p:nvPr/>
        </p:nvSpPr>
        <p:spPr>
          <a:xfrm>
            <a:off x="8483600" y="2667000"/>
            <a:ext cx="7264400" cy="42672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q4label"/>
          <p:cNvSpPr/>
          <p:nvPr/>
        </p:nvSpPr>
        <p:spPr>
          <a:xfrm>
            <a:off x="8890000" y="3048000"/>
            <a:ext cx="584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4 · STUDENT EXPERIENCE</a:t>
            </a:r>
            <a:endParaRPr lang="en-US" sz="1400" dirty="0"/>
          </a:p>
        </p:txBody>
      </p:sp>
      <p:sp>
        <p:nvSpPr>
          <p:cNvPr id="13" name="q4title"/>
          <p:cNvSpPr/>
          <p:nvPr/>
        </p:nvSpPr>
        <p:spPr>
          <a:xfrm>
            <a:off x="8890000" y="3632200"/>
            <a:ext cx="5918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en-US" sz="2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will students experience the lesson?</a:t>
            </a:r>
            <a:endParaRPr lang="en-US" sz="2700" dirty="0"/>
          </a:p>
        </p:txBody>
      </p:sp>
      <p:sp>
        <p:nvSpPr>
          <p:cNvPr id="14" name="q4copy"/>
          <p:cNvSpPr/>
          <p:nvPr/>
        </p:nvSpPr>
        <p:spPr>
          <a:xfrm>
            <a:off x="8890000" y="4749800"/>
            <a:ext cx="6019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2"/>
              </a:lnSpc>
              <a:buNone/>
            </a:pPr>
            <a:r>
              <a:rPr lang="en-US" altLang="en-US" sz="1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sustained time for the important task, materials and setup, access, engagement, pacing, and a way to notice student thinking.</a:t>
            </a:r>
            <a:endParaRPr lang="en-US" sz="1900" dirty="0"/>
          </a:p>
          <a:p>
            <a:pPr marL="0" indent="0" algn="l">
              <a:lnSpc>
                <a:spcPts val="2242"/>
              </a:lnSpc>
              <a:buNone/>
            </a:pPr>
            <a:r>
              <a:rPr lang="en-US" altLang="en-US" sz="1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 What will students experience differently?</a:t>
            </a:r>
            <a:endParaRPr lang="en-US" sz="1900" dirty="0"/>
          </a:p>
        </p:txBody>
      </p:sp>
      <p:sp>
        <p:nvSpPr>
          <p:cNvPr id="15" name="link-strip"/>
          <p:cNvSpPr/>
          <p:nvPr/>
        </p:nvSpPr>
        <p:spPr>
          <a:xfrm>
            <a:off x="508000" y="7442200"/>
            <a:ext cx="15240000" cy="4064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link-copy"/>
          <p:cNvSpPr/>
          <p:nvPr/>
        </p:nvSpPr>
        <p:spPr>
          <a:xfrm>
            <a:off x="508000" y="7531100"/>
            <a:ext cx="152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goal = educator action in Questions 3–4 that is designed to improve the documented student-learning pattern.</a:t>
            </a:r>
            <a:endParaRPr lang="en-US" sz="1400" dirty="0"/>
          </a:p>
        </p:txBody>
      </p:sp>
      <p:sp>
        <p:nvSpPr>
          <p:cNvPr id="17" name="footer-left"/>
          <p:cNvSpPr/>
          <p:nvPr/>
        </p:nvSpPr>
        <p:spPr>
          <a:xfrm>
            <a:off x="508000" y="8509000"/>
            <a:ext cx="762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→ PRACTICE → STUDENT EVIDENCE</a:t>
            </a:r>
            <a:endParaRPr lang="en-US" sz="1400" dirty="0"/>
          </a:p>
        </p:txBody>
      </p:sp>
      <p:sp>
        <p:nvSpPr>
          <p:cNvPr id="18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-band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er-accent"/>
          <p:cNvSpPr/>
          <p:nvPr/>
        </p:nvSpPr>
        <p:spPr>
          <a:xfrm>
            <a:off x="0" y="11684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508000" y="381000"/>
            <a:ext cx="1244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Part 2 and choose two focus areas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508000" y="1676400"/>
            <a:ext cx="143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meaningful areas of professional practice that connect directly to the proposed goals and can be observed in real lessons.</a:t>
            </a:r>
            <a:endParaRPr lang="en-US" sz="2000" dirty="0"/>
          </a:p>
        </p:txBody>
      </p:sp>
      <p:sp>
        <p:nvSpPr>
          <p:cNvPr id="7" name="part2"/>
          <p:cNvSpPr/>
          <p:nvPr/>
        </p:nvSpPr>
        <p:spPr>
          <a:xfrm>
            <a:off x="508000" y="2667000"/>
            <a:ext cx="5588000" cy="38862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rt2-label"/>
          <p:cNvSpPr/>
          <p:nvPr/>
        </p:nvSpPr>
        <p:spPr>
          <a:xfrm>
            <a:off x="914400" y="30734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2: REFLECT ON PRACTICE</a:t>
            </a:r>
            <a:endParaRPr lang="en-US" sz="1400" dirty="0"/>
          </a:p>
        </p:txBody>
      </p:sp>
      <p:sp>
        <p:nvSpPr>
          <p:cNvPr id="9" name="part2-copy"/>
          <p:cNvSpPr/>
          <p:nvPr/>
        </p:nvSpPr>
        <p:spPr>
          <a:xfrm>
            <a:off x="914400" y="37592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2"/>
              </a:lnSpc>
              <a:buNone/>
            </a:pPr>
            <a:r>
              <a:rPr lang="en-US" altLang="en-US" sz="2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educator practice is already a strength?</a:t>
            </a:r>
            <a:endParaRPr lang="en-US" sz="2200" dirty="0"/>
          </a:p>
          <a:p>
            <a:pPr marL="0" indent="0" algn="l">
              <a:lnSpc>
                <a:spcPts val="2552"/>
              </a:lnSpc>
              <a:buNone/>
            </a:pPr>
            <a:r>
              <a:rPr lang="en-US" altLang="en-US" sz="2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high-priority area for growth will best support the student-learning need?</a:t>
            </a:r>
            <a:endParaRPr lang="en-US" sz="2200" dirty="0"/>
          </a:p>
        </p:txBody>
      </p:sp>
      <p:sp>
        <p:nvSpPr>
          <p:cNvPr id="10" name="focus1"/>
          <p:cNvSpPr/>
          <p:nvPr/>
        </p:nvSpPr>
        <p:spPr>
          <a:xfrm>
            <a:off x="6807200" y="2667000"/>
            <a:ext cx="4216400" cy="3886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focus2"/>
          <p:cNvSpPr/>
          <p:nvPr/>
        </p:nvSpPr>
        <p:spPr>
          <a:xfrm>
            <a:off x="11531600" y="2667000"/>
            <a:ext cx="4216400" cy="3886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1-label"/>
          <p:cNvSpPr/>
          <p:nvPr/>
        </p:nvSpPr>
        <p:spPr>
          <a:xfrm>
            <a:off x="7188200" y="30734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1</a:t>
            </a:r>
            <a:endParaRPr lang="en-US" sz="1400" dirty="0"/>
          </a:p>
        </p:txBody>
      </p:sp>
      <p:sp>
        <p:nvSpPr>
          <p:cNvPr id="13" name="f1-copy"/>
          <p:cNvSpPr/>
          <p:nvPr/>
        </p:nvSpPr>
        <p:spPr>
          <a:xfrm>
            <a:off x="7188200" y="3733800"/>
            <a:ext cx="31750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73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an indicator or practice area that is:</a:t>
            </a:r>
            <a:endParaRPr lang="en-US" sz="2100" dirty="0"/>
          </a:p>
          <a:p>
            <a:pPr marL="0" indent="0" algn="l">
              <a:lnSpc>
                <a:spcPts val="2373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meaningful</a:t>
            </a:r>
            <a:endParaRPr lang="en-US" sz="2100" dirty="0"/>
          </a:p>
          <a:p>
            <a:pPr marL="0" indent="0" algn="l">
              <a:lnSpc>
                <a:spcPts val="2373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observable</a:t>
            </a:r>
            <a:endParaRPr lang="en-US" sz="2100" dirty="0"/>
          </a:p>
          <a:p>
            <a:pPr marL="0" indent="0" algn="l">
              <a:lnSpc>
                <a:spcPts val="2373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connected to the goals</a:t>
            </a:r>
            <a:endParaRPr lang="en-US" sz="2100" dirty="0"/>
          </a:p>
        </p:txBody>
      </p:sp>
      <p:sp>
        <p:nvSpPr>
          <p:cNvPr id="14" name="f2-label"/>
          <p:cNvSpPr/>
          <p:nvPr/>
        </p:nvSpPr>
        <p:spPr>
          <a:xfrm>
            <a:off x="11912600" y="30734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2</a:t>
            </a:r>
            <a:endParaRPr lang="en-US" sz="1400" dirty="0"/>
          </a:p>
        </p:txBody>
      </p:sp>
      <p:sp>
        <p:nvSpPr>
          <p:cNvPr id="15" name="f2-copy"/>
          <p:cNvSpPr/>
          <p:nvPr/>
        </p:nvSpPr>
        <p:spPr>
          <a:xfrm>
            <a:off x="11912600" y="3733800"/>
            <a:ext cx="31750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73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complementary focus that:</a:t>
            </a:r>
            <a:endParaRPr lang="en-US" sz="2100" dirty="0"/>
          </a:p>
          <a:p>
            <a:pPr marL="0" indent="0" algn="l">
              <a:lnSpc>
                <a:spcPts val="2373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supports the same goal</a:t>
            </a:r>
            <a:endParaRPr lang="en-US" sz="2100" dirty="0"/>
          </a:p>
          <a:p>
            <a:pPr marL="0" indent="0" algn="l">
              <a:lnSpc>
                <a:spcPts val="2373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strengthens lesson implementation</a:t>
            </a:r>
            <a:endParaRPr lang="en-US" sz="2100" dirty="0"/>
          </a:p>
          <a:p>
            <a:pPr marL="0" indent="0" algn="l">
              <a:lnSpc>
                <a:spcPts val="2373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can be revisited with evidence</a:t>
            </a:r>
            <a:endParaRPr lang="en-US" sz="2100" dirty="0"/>
          </a:p>
        </p:txBody>
      </p:sp>
      <p:sp>
        <p:nvSpPr>
          <p:cNvPr id="16" name="bottom"/>
          <p:cNvSpPr/>
          <p:nvPr/>
        </p:nvSpPr>
        <p:spPr>
          <a:xfrm>
            <a:off x="508000" y="7162800"/>
            <a:ext cx="15240000" cy="711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ottom-copy"/>
          <p:cNvSpPr/>
          <p:nvPr/>
        </p:nvSpPr>
        <p:spPr>
          <a:xfrm>
            <a:off x="889000" y="7391400"/>
            <a:ext cx="144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two areas you can work on deeply; the purpose is a meaningful self-assessment, not a list of every rubric indicator.</a:t>
            </a:r>
            <a:endParaRPr lang="en-US" sz="1900" dirty="0"/>
          </a:p>
        </p:txBody>
      </p:sp>
      <p:sp>
        <p:nvSpPr>
          <p:cNvPr id="18" name="footer-left"/>
          <p:cNvSpPr/>
          <p:nvPr/>
        </p:nvSpPr>
        <p:spPr>
          <a:xfrm>
            <a:off x="508000" y="8509000"/>
            <a:ext cx="812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SELF-ASSESSMENT FORM · PART 2</a:t>
            </a:r>
            <a:endParaRPr lang="en-US" sz="1400" dirty="0"/>
          </a:p>
        </p:txBody>
      </p:sp>
      <p:sp>
        <p:nvSpPr>
          <p:cNvPr id="19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header-band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header-accent"/>
          <p:cNvSpPr/>
          <p:nvPr/>
        </p:nvSpPr>
        <p:spPr>
          <a:xfrm>
            <a:off x="0" y="11684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508000" y="381000"/>
            <a:ext cx="1117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Self-Assessment work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508000" y="16764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form individually first; then use course-alike colleagues to check the alignment across your evidence, goals, and practice focus.</a:t>
            </a:r>
            <a:endParaRPr lang="en-US" sz="2000" dirty="0"/>
          </a:p>
        </p:txBody>
      </p:sp>
      <p:sp>
        <p:nvSpPr>
          <p:cNvPr id="7" name="left"/>
          <p:cNvSpPr/>
          <p:nvPr/>
        </p:nvSpPr>
        <p:spPr>
          <a:xfrm>
            <a:off x="508000" y="2692400"/>
            <a:ext cx="7620000" cy="431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left-label"/>
          <p:cNvSpPr/>
          <p:nvPr/>
        </p:nvSpPr>
        <p:spPr>
          <a:xfrm>
            <a:off x="914400" y="3073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FORM WORK</a:t>
            </a:r>
            <a:endParaRPr lang="en-US" sz="1400" dirty="0"/>
          </a:p>
        </p:txBody>
      </p:sp>
      <p:sp>
        <p:nvSpPr>
          <p:cNvPr id="9" name="left-copy"/>
          <p:cNvSpPr/>
          <p:nvPr/>
        </p:nvSpPr>
        <p:spPr>
          <a:xfrm>
            <a:off x="914400" y="3708400"/>
            <a:ext cx="635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7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Complete Part 1 from student evidence.</a:t>
            </a:r>
            <a:endParaRPr lang="en-US" sz="2100" dirty="0"/>
          </a:p>
          <a:p>
            <a:pPr marL="0" indent="0" algn="l">
              <a:lnSpc>
                <a:spcPts val="277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Use Questions 3–4 to frame Part 2.</a:t>
            </a:r>
            <a:endParaRPr lang="en-US" sz="2100" dirty="0"/>
          </a:p>
          <a:p>
            <a:pPr marL="0" indent="0" algn="l">
              <a:lnSpc>
                <a:spcPts val="277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Identify two meaningful focus areas.</a:t>
            </a:r>
            <a:endParaRPr lang="en-US" sz="2100" dirty="0"/>
          </a:p>
          <a:p>
            <a:pPr marL="0" indent="0" algn="l">
              <a:lnSpc>
                <a:spcPts val="277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Note whether the proposed goals need a clearer evidence, action, or timeline.</a:t>
            </a:r>
            <a:endParaRPr lang="en-US" sz="2100" dirty="0"/>
          </a:p>
        </p:txBody>
      </p:sp>
      <p:sp>
        <p:nvSpPr>
          <p:cNvPr id="10" name="right"/>
          <p:cNvSpPr/>
          <p:nvPr/>
        </p:nvSpPr>
        <p:spPr>
          <a:xfrm>
            <a:off x="8636000" y="2692400"/>
            <a:ext cx="7112000" cy="43180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ight-label"/>
          <p:cNvSpPr/>
          <p:nvPr/>
        </p:nvSpPr>
        <p:spPr>
          <a:xfrm>
            <a:off x="9042400" y="3073400"/>
            <a:ext cx="406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COURSE-ALIKE ALIGNMENT CHECK</a:t>
            </a:r>
            <a:endParaRPr lang="en-US" sz="1400" dirty="0"/>
          </a:p>
        </p:txBody>
      </p:sp>
      <p:sp>
        <p:nvSpPr>
          <p:cNvPr id="12" name="right-copy"/>
          <p:cNvSpPr/>
          <p:nvPr/>
        </p:nvSpPr>
        <p:spPr>
          <a:xfrm>
            <a:off x="9042400" y="3708400"/>
            <a:ext cx="58928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7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Does the evidence describe the learning need?</a:t>
            </a:r>
            <a:endParaRPr lang="en-US" sz="2100" dirty="0"/>
          </a:p>
          <a:p>
            <a:pPr marL="0" indent="0" algn="l">
              <a:lnSpc>
                <a:spcPts val="277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 the focus areas support the goals?</a:t>
            </a:r>
            <a:endParaRPr lang="en-US" sz="2100" dirty="0"/>
          </a:p>
          <a:p>
            <a:pPr marL="0" indent="0" algn="l">
              <a:lnSpc>
                <a:spcPts val="277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Can the practices be seen in an upcoming lesson?</a:t>
            </a:r>
            <a:endParaRPr lang="en-US" sz="2100" dirty="0"/>
          </a:p>
          <a:p>
            <a:pPr marL="0" indent="0" algn="l">
              <a:lnSpc>
                <a:spcPts val="277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Is the work useful rather than evaluation-like?</a:t>
            </a:r>
            <a:endParaRPr lang="en-US" sz="2100" dirty="0"/>
          </a:p>
        </p:txBody>
      </p:sp>
      <p:sp>
        <p:nvSpPr>
          <p:cNvPr id="13" name="next"/>
          <p:cNvSpPr/>
          <p:nvPr/>
        </p:nvSpPr>
        <p:spPr>
          <a:xfrm>
            <a:off x="508000" y="7442200"/>
            <a:ext cx="15240000" cy="431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next-copy"/>
          <p:cNvSpPr/>
          <p:nvPr/>
        </p:nvSpPr>
        <p:spPr>
          <a:xfrm>
            <a:off x="812800" y="7531100"/>
            <a:ext cx="1463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Self-Assessment Form and the proposed Goal Setting Form. Monday: turn the goals into an Educator Plan.</a:t>
            </a:r>
            <a:endParaRPr lang="en-US" sz="1400" dirty="0"/>
          </a:p>
        </p:txBody>
      </p:sp>
      <p:sp>
        <p:nvSpPr>
          <p:cNvPr id="15" name="footer-left"/>
          <p:cNvSpPr/>
          <p:nvPr/>
        </p:nvSpPr>
        <p:spPr>
          <a:xfrm>
            <a:off x="508000" y="8509000"/>
            <a:ext cx="812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INDIVIDUAL WORK WITH COLLEAGUE SUPPORT</a:t>
            </a:r>
            <a:endParaRPr lang="en-US" sz="1400" dirty="0"/>
          </a:p>
        </p:txBody>
      </p:sp>
      <p:sp>
        <p:nvSpPr>
          <p:cNvPr id="16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-block"/>
          <p:cNvSpPr/>
          <p:nvPr/>
        </p:nvSpPr>
        <p:spPr>
          <a:xfrm>
            <a:off x="508000" y="1320800"/>
            <a:ext cx="8255000" cy="45720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ccent-bar"/>
          <p:cNvSpPr/>
          <p:nvPr/>
        </p:nvSpPr>
        <p:spPr>
          <a:xfrm>
            <a:off x="508000" y="1320800"/>
            <a:ext cx="177800" cy="4572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label"/>
          <p:cNvSpPr/>
          <p:nvPr/>
        </p:nvSpPr>
        <p:spPr>
          <a:xfrm>
            <a:off x="1041400" y="18288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1400" dirty="0"/>
          </a:p>
        </p:txBody>
      </p:sp>
      <p:sp>
        <p:nvSpPr>
          <p:cNvPr id="6" name="title"/>
          <p:cNvSpPr/>
          <p:nvPr/>
        </p:nvSpPr>
        <p:spPr>
          <a:xfrm>
            <a:off x="1041400" y="24892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</a:t>
            </a:r>
            <a:endParaRPr lang="en-US" sz="4200" dirty="0"/>
          </a:p>
          <a:p>
            <a:pPr marL="0" indent="0" algn="l">
              <a:lnSpc>
                <a:spcPts val="4200"/>
              </a:lnSpc>
              <a:buNone/>
            </a:pPr>
            <a:r>
              <a:rPr lang="en-US" alt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Self-Assessment Form.</a:t>
            </a:r>
            <a:endParaRPr lang="en-US" sz="4200" dirty="0"/>
          </a:p>
        </p:txBody>
      </p:sp>
      <p:sp>
        <p:nvSpPr>
          <p:cNvPr id="7" name="sub"/>
          <p:cNvSpPr/>
          <p:nvPr/>
        </p:nvSpPr>
        <p:spPr>
          <a:xfrm>
            <a:off x="1041400" y="41910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altLang="en-US" sz="20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Monday, the Goal Setting Form and Self-Assessment will become the foundation for a practical Educator Plan.</a:t>
            </a:r>
            <a:endParaRPr lang="en-US" sz="2000" dirty="0"/>
          </a:p>
        </p:txBody>
      </p:sp>
      <p:sp>
        <p:nvSpPr>
          <p:cNvPr id="8" name="check-panel"/>
          <p:cNvSpPr/>
          <p:nvPr/>
        </p:nvSpPr>
        <p:spPr>
          <a:xfrm>
            <a:off x="9601200" y="1320800"/>
            <a:ext cx="6146800" cy="5892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heck-label"/>
          <p:cNvSpPr/>
          <p:nvPr/>
        </p:nvSpPr>
        <p:spPr>
          <a:xfrm>
            <a:off x="10033000" y="1727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THESE FIVE ITEMS</a:t>
            </a:r>
            <a:endParaRPr lang="en-US" sz="1400" dirty="0"/>
          </a:p>
        </p:txBody>
      </p:sp>
      <p:sp>
        <p:nvSpPr>
          <p:cNvPr id="10" name="checks"/>
          <p:cNvSpPr/>
          <p:nvPr/>
        </p:nvSpPr>
        <p:spPr>
          <a:xfrm>
            <a:off x="10033000" y="2387600"/>
            <a:ext cx="4953000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8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Part 1: student-learning evidence</a:t>
            </a:r>
            <a:endParaRPr lang="en-US" sz="2100" dirty="0"/>
          </a:p>
          <a:p>
            <a:pPr marL="0" indent="0" algn="l">
              <a:lnSpc>
                <a:spcPts val="298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Part 2: practice reflection</a:t>
            </a:r>
            <a:endParaRPr lang="en-US" sz="2100" dirty="0"/>
          </a:p>
          <a:p>
            <a:pPr marL="0" indent="0" algn="l">
              <a:lnSpc>
                <a:spcPts val="298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Focus 1 and Focus 2</a:t>
            </a:r>
            <a:endParaRPr lang="en-US" sz="2100" dirty="0"/>
          </a:p>
          <a:p>
            <a:pPr marL="0" indent="0" algn="l">
              <a:lnSpc>
                <a:spcPts val="298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Proposed Goal Setting Form</a:t>
            </a:r>
            <a:endParaRPr lang="en-US" sz="2100" dirty="0"/>
          </a:p>
          <a:p>
            <a:pPr marL="0" indent="0" algn="l">
              <a:lnSpc>
                <a:spcPts val="2982"/>
              </a:lnSpc>
              <a:buNone/>
            </a:pPr>
            <a:r>
              <a:rPr lang="en-US" altLang="en-US" sz="2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One upcoming lesson to plan Monday</a:t>
            </a:r>
            <a:endParaRPr lang="en-US" sz="2100" dirty="0"/>
          </a:p>
        </p:txBody>
      </p:sp>
      <p:sp>
        <p:nvSpPr>
          <p:cNvPr id="11" name="reflection"/>
          <p:cNvSpPr/>
          <p:nvPr/>
        </p:nvSpPr>
        <p:spPr>
          <a:xfrm>
            <a:off x="508000" y="6502400"/>
            <a:ext cx="8255000" cy="7112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flection-copy"/>
          <p:cNvSpPr/>
          <p:nvPr/>
        </p:nvSpPr>
        <p:spPr>
          <a:xfrm>
            <a:off x="812800" y="67056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evidence supports the goals, and which practice focus will make the difference for students?</a:t>
            </a:r>
            <a:endParaRPr lang="en-US" sz="1800" dirty="0"/>
          </a:p>
        </p:txBody>
      </p:sp>
      <p:sp>
        <p:nvSpPr>
          <p:cNvPr id="13" name="footer-left"/>
          <p:cNvSpPr/>
          <p:nvPr/>
        </p:nvSpPr>
        <p:spPr>
          <a:xfrm>
            <a:off x="508000" y="8509000"/>
            <a:ext cx="825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FROM GOALS TO AN EDUCATOR PLAN · MONDAY, OCTOBER 5</a:t>
            </a:r>
            <a:endParaRPr lang="en-US" sz="1400" dirty="0"/>
          </a:p>
        </p:txBody>
      </p:sp>
      <p:sp>
        <p:nvSpPr>
          <p:cNvPr id="14" name="footer-right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Microsoft Macintosh PowerPoint</Application>
  <PresentationFormat>Custom</PresentationFormat>
  <Paragraphs>108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Self-Assessment to Strengthen the Goals — October 2, 2026</dc:title>
  <dc:subject>Use Self-Assessment to Strengthen the Goals — October 2, 2026</dc:subject>
  <dc:creator>Manus</dc:creator>
  <cp:lastModifiedBy>Chu Kwen Ho</cp:lastModifiedBy>
  <cp:revision>2</cp:revision>
  <dcterms:created xsi:type="dcterms:W3CDTF">2026-09-28T12:57:24Z</dcterms:created>
  <dcterms:modified xsi:type="dcterms:W3CDTF">2026-09-28T13:03:56Z</dcterms:modified>
</cp:coreProperties>
</file>
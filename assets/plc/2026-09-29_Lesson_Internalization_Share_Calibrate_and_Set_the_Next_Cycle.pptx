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6256000" cy="9144000"/>
  <p:notesSz cx="9144000" cy="16256000"/>
  <p:embeddedFontLst>
    <p:embeddedFont>
      <p:font typeface="Inter" charset="-122" pitchFamily="34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29,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763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5"/>
              </a:lnSpc>
              <a:buNone/>
            </a:pPr>
            <a:r>
              <a:rPr lang="en-US" altLang="en-US" sz="4300" dirty="0">
                <a:solidFill>
                  <a:srgbClr val="D32F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Internalization:</a:t>
            </a:r>
            <a:endParaRPr lang="en-US" sz="4300" dirty="0"/>
          </a:p>
          <a:p>
            <a:pPr algn="l" indent="0" marL="0">
              <a:lnSpc>
                <a:spcPts val="4085"/>
              </a:lnSpc>
              <a:buNone/>
            </a:pPr>
            <a:r>
              <a:rPr lang="en-US" altLang="en-US" sz="4300" dirty="0">
                <a:solidFill>
                  <a:srgbClr val="D32F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43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2004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full evidence-to-action cycle to strengthen the next team decision.</a:t>
            </a:r>
            <a:endParaRPr lang="en-US" sz="21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D3136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20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20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21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1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plan · learning pattern · feedback plan · anticipated response · revised lesson · Lesson Internalization Tool</a:t>
            </a:r>
            <a:endParaRPr lang="en-US" sz="18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PLC SEQUENCE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Evidence, Feedback &amp; Forward Planning</a:t>
            </a:r>
            <a:endParaRPr lang="en-US" sz="2700" dirty="0"/>
          </a:p>
        </p:txBody>
      </p:sp>
      <p:sp>
        <p:nvSpPr>
          <p:cNvPr id="22" name="arc-line"/>
          <p:cNvSpPr/>
          <p:nvPr/>
        </p:nvSpPr>
        <p:spPr>
          <a:xfrm>
            <a:off x="10210800" y="3479800"/>
            <a:ext cx="5080000" cy="9144"/>
          </a:xfrm>
          <a:prstGeom prst="line">
            <a:avLst/>
          </a:prstGeom>
          <a:ln w="50800">
            <a:solidFill>
              <a:srgbClr val="E0E3E8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033000" y="3124200"/>
            <a:ext cx="8128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083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000" dirty="0"/>
          </a:p>
        </p:txBody>
      </p:sp>
      <p:sp>
        <p:nvSpPr>
          <p:cNvPr id="25" name="arc2"/>
          <p:cNvSpPr/>
          <p:nvPr/>
        </p:nvSpPr>
        <p:spPr>
          <a:xfrm>
            <a:off x="10922000" y="3124200"/>
            <a:ext cx="8128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6" name="arc2-text"/>
          <p:cNvSpPr/>
          <p:nvPr/>
        </p:nvSpPr>
        <p:spPr>
          <a:xfrm>
            <a:off x="10972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000" dirty="0"/>
          </a:p>
        </p:txBody>
      </p:sp>
      <p:sp>
        <p:nvSpPr>
          <p:cNvPr id="27" name="arc3"/>
          <p:cNvSpPr/>
          <p:nvPr/>
        </p:nvSpPr>
        <p:spPr>
          <a:xfrm>
            <a:off x="11811000" y="3124200"/>
            <a:ext cx="8128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8" name="arc3-text"/>
          <p:cNvSpPr/>
          <p:nvPr/>
        </p:nvSpPr>
        <p:spPr>
          <a:xfrm>
            <a:off x="11861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000" dirty="0"/>
          </a:p>
        </p:txBody>
      </p:sp>
      <p:sp>
        <p:nvSpPr>
          <p:cNvPr id="29" name="arc4"/>
          <p:cNvSpPr/>
          <p:nvPr/>
        </p:nvSpPr>
        <p:spPr>
          <a:xfrm>
            <a:off x="12700000" y="3124200"/>
            <a:ext cx="8128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0" name="arc4-text"/>
          <p:cNvSpPr/>
          <p:nvPr/>
        </p:nvSpPr>
        <p:spPr>
          <a:xfrm>
            <a:off x="12750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1000" dirty="0"/>
          </a:p>
        </p:txBody>
      </p:sp>
      <p:sp>
        <p:nvSpPr>
          <p:cNvPr id="31" name="arc5"/>
          <p:cNvSpPr/>
          <p:nvPr/>
        </p:nvSpPr>
        <p:spPr>
          <a:xfrm>
            <a:off x="13589000" y="3124200"/>
            <a:ext cx="8128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2" name="arc5-text"/>
          <p:cNvSpPr/>
          <p:nvPr/>
        </p:nvSpPr>
        <p:spPr>
          <a:xfrm>
            <a:off x="13639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000" dirty="0"/>
          </a:p>
        </p:txBody>
      </p:sp>
      <p:sp>
        <p:nvSpPr>
          <p:cNvPr id="33" name="arc6"/>
          <p:cNvSpPr/>
          <p:nvPr/>
        </p:nvSpPr>
        <p:spPr>
          <a:xfrm>
            <a:off x="14478000" y="3124200"/>
            <a:ext cx="812800" cy="736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4" name="arc6-text"/>
          <p:cNvSpPr/>
          <p:nvPr/>
        </p:nvSpPr>
        <p:spPr>
          <a:xfrm>
            <a:off x="14528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9/29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000" dirty="0"/>
          </a:p>
        </p:txBody>
      </p:sp>
      <p:sp>
        <p:nvSpPr>
          <p:cNvPr id="35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altLang="en-US" sz="18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capture what they learned from the full cycle and select one focused priority to carry into the next lesson.</a:t>
            </a:r>
            <a:endParaRPr lang="en-US" sz="1800" dirty="0"/>
          </a:p>
        </p:txBody>
      </p:sp>
      <p:sp>
        <p:nvSpPr>
          <p:cNvPr id="36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7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8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&amp; Forward Planning</a:t>
            </a:r>
            <a:endParaRPr lang="en-US" sz="1600" dirty="0"/>
          </a:p>
        </p:txBody>
      </p:sp>
      <p:sp>
        <p:nvSpPr>
          <p:cNvPr id="39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0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9/29</a:t>
            </a:r>
            <a:endParaRPr lang="en-US" sz="1200" dirty="0"/>
          </a:p>
        </p:txBody>
      </p:sp>
      <p:sp>
        <p:nvSpPr>
          <p:cNvPr id="41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58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41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D32F2F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495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Review the cycle: plan, notice, feedback, replan, and carry learning forward.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2512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39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251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the Learning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Share what evidence was planned, what pattern appeared, what feedback was selected, and what changed next.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3688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08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10:00–30:00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368800"/>
            <a:ext cx="495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Select a useful evidence or feedback routine and one shared learning priority to carry forward.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30:00–37:00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the Next Cycle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Choose an upcoming lesson and the first protocol question the team will revisit.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4544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5941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4544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practice will our team carry into the next Lesson Internalization cycle?</a:t>
            </a:r>
            <a:endParaRPr lang="en-US" sz="2000" dirty="0"/>
          </a:p>
        </p:txBody>
      </p:sp>
      <p:sp>
        <p:nvSpPr>
          <p:cNvPr id="21" name="outcome-card"/>
          <p:cNvSpPr/>
          <p:nvPr/>
        </p:nvSpPr>
        <p:spPr>
          <a:xfrm>
            <a:off x="8458200" y="4724400"/>
            <a:ext cx="6578600" cy="1193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outcome-label"/>
          <p:cNvSpPr/>
          <p:nvPr/>
        </p:nvSpPr>
        <p:spPr>
          <a:xfrm>
            <a:off x="8788400" y="49784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outcome-copy"/>
          <p:cNvSpPr/>
          <p:nvPr/>
        </p:nvSpPr>
        <p:spPr>
          <a:xfrm>
            <a:off x="8788400" y="5346700"/>
            <a:ext cx="5905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focused team priority and a selected lesson for the next cycle.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29, 2026 · SET THE NEXT CYCLE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FULL-CYCLE FOCUS · 6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the Full Cycle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8" name="intro"/>
          <p:cNvSpPr/>
          <p:nvPr/>
        </p:nvSpPr>
        <p:spPr>
          <a:xfrm>
            <a:off x="762000" y="2057400"/>
            <a:ext cx="139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sustainable PLC cycle connects planning, student evidence, feedback students can use, and forward planning — then carries what works into the next lesson.</a:t>
            </a:r>
            <a:endParaRPr lang="en-US" sz="2000" dirty="0"/>
          </a:p>
        </p:txBody>
      </p:sp>
      <p:sp>
        <p:nvSpPr>
          <p:cNvPr id="9" name="line"/>
          <p:cNvSpPr/>
          <p:nvPr/>
        </p:nvSpPr>
        <p:spPr>
          <a:xfrm>
            <a:off x="1460500" y="4495800"/>
            <a:ext cx="13335000" cy="9144"/>
          </a:xfrm>
          <a:prstGeom prst="line">
            <a:avLst/>
          </a:prstGeom>
          <a:ln w="63500">
            <a:solidFill>
              <a:srgbClr val="E0E3E8"/>
            </a:solidFill>
            <a:prstDash val="solid"/>
          </a:ln>
        </p:spPr>
      </p:sp>
      <p:sp>
        <p:nvSpPr>
          <p:cNvPr id="10" name="stage1"/>
          <p:cNvSpPr/>
          <p:nvPr/>
        </p:nvSpPr>
        <p:spPr>
          <a:xfrm>
            <a:off x="762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1" name="s1n"/>
          <p:cNvSpPr/>
          <p:nvPr/>
        </p:nvSpPr>
        <p:spPr>
          <a:xfrm>
            <a:off x="1041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s1nt"/>
          <p:cNvSpPr/>
          <p:nvPr/>
        </p:nvSpPr>
        <p:spPr>
          <a:xfrm>
            <a:off x="1041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s1t"/>
          <p:cNvSpPr/>
          <p:nvPr/>
        </p:nvSpPr>
        <p:spPr>
          <a:xfrm>
            <a:off x="1041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to Notice</a:t>
            </a:r>
            <a:endParaRPr lang="en-US" sz="1900" dirty="0"/>
          </a:p>
        </p:txBody>
      </p:sp>
      <p:sp>
        <p:nvSpPr>
          <p:cNvPr id="14" name="s1b"/>
          <p:cNvSpPr/>
          <p:nvPr/>
        </p:nvSpPr>
        <p:spPr>
          <a:xfrm>
            <a:off x="1041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key thinking and the evidence that will matter.</a:t>
            </a:r>
            <a:endParaRPr lang="en-US" sz="1400" dirty="0"/>
          </a:p>
        </p:txBody>
      </p:sp>
      <p:sp>
        <p:nvSpPr>
          <p:cNvPr id="15" name="stage2"/>
          <p:cNvSpPr/>
          <p:nvPr/>
        </p:nvSpPr>
        <p:spPr>
          <a:xfrm>
            <a:off x="3556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6" name="s2n"/>
          <p:cNvSpPr/>
          <p:nvPr/>
        </p:nvSpPr>
        <p:spPr>
          <a:xfrm>
            <a:off x="3835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s2nt"/>
          <p:cNvSpPr/>
          <p:nvPr/>
        </p:nvSpPr>
        <p:spPr>
          <a:xfrm>
            <a:off x="3835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s2t"/>
          <p:cNvSpPr/>
          <p:nvPr/>
        </p:nvSpPr>
        <p:spPr>
          <a:xfrm>
            <a:off x="3835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Evidence</a:t>
            </a:r>
            <a:endParaRPr lang="en-US" sz="1900" dirty="0"/>
          </a:p>
        </p:txBody>
      </p:sp>
      <p:sp>
        <p:nvSpPr>
          <p:cNvPr id="19" name="s2b"/>
          <p:cNvSpPr/>
          <p:nvPr/>
        </p:nvSpPr>
        <p:spPr>
          <a:xfrm>
            <a:off x="3835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 shared learning pattern supported by the evidence.</a:t>
            </a:r>
            <a:endParaRPr lang="en-US" sz="1400" dirty="0"/>
          </a:p>
        </p:txBody>
      </p:sp>
      <p:sp>
        <p:nvSpPr>
          <p:cNvPr id="20" name="stage3"/>
          <p:cNvSpPr/>
          <p:nvPr/>
        </p:nvSpPr>
        <p:spPr>
          <a:xfrm>
            <a:off x="6350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1" name="s3n"/>
          <p:cNvSpPr/>
          <p:nvPr/>
        </p:nvSpPr>
        <p:spPr>
          <a:xfrm>
            <a:off x="6629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2" name="s3nt"/>
          <p:cNvSpPr/>
          <p:nvPr/>
        </p:nvSpPr>
        <p:spPr>
          <a:xfrm>
            <a:off x="6629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3t"/>
          <p:cNvSpPr/>
          <p:nvPr/>
        </p:nvSpPr>
        <p:spPr>
          <a:xfrm>
            <a:off x="6629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Feedback</a:t>
            </a:r>
            <a:endParaRPr lang="en-US" sz="1900" dirty="0"/>
          </a:p>
        </p:txBody>
      </p:sp>
      <p:sp>
        <p:nvSpPr>
          <p:cNvPr id="24" name="s3b"/>
          <p:cNvSpPr/>
          <p:nvPr/>
        </p:nvSpPr>
        <p:spPr>
          <a:xfrm>
            <a:off x="6629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students feedback that prompts a clear next action.</a:t>
            </a:r>
            <a:endParaRPr lang="en-US" sz="1400" dirty="0"/>
          </a:p>
        </p:txBody>
      </p:sp>
      <p:sp>
        <p:nvSpPr>
          <p:cNvPr id="25" name="stage4"/>
          <p:cNvSpPr/>
          <p:nvPr/>
        </p:nvSpPr>
        <p:spPr>
          <a:xfrm>
            <a:off x="9144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6" name="s4n"/>
          <p:cNvSpPr/>
          <p:nvPr/>
        </p:nvSpPr>
        <p:spPr>
          <a:xfrm>
            <a:off x="9423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7" name="s4nt"/>
          <p:cNvSpPr/>
          <p:nvPr/>
        </p:nvSpPr>
        <p:spPr>
          <a:xfrm>
            <a:off x="9423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s4t"/>
          <p:cNvSpPr/>
          <p:nvPr/>
        </p:nvSpPr>
        <p:spPr>
          <a:xfrm>
            <a:off x="9423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900" dirty="0"/>
          </a:p>
        </p:txBody>
      </p:sp>
      <p:sp>
        <p:nvSpPr>
          <p:cNvPr id="29" name="s4b"/>
          <p:cNvSpPr/>
          <p:nvPr/>
        </p:nvSpPr>
        <p:spPr>
          <a:xfrm>
            <a:off x="9423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one visible revision to the next learning experience.</a:t>
            </a:r>
            <a:endParaRPr lang="en-US" sz="1400" dirty="0"/>
          </a:p>
        </p:txBody>
      </p:sp>
      <p:sp>
        <p:nvSpPr>
          <p:cNvPr id="30" name="stage5"/>
          <p:cNvSpPr/>
          <p:nvPr/>
        </p:nvSpPr>
        <p:spPr>
          <a:xfrm>
            <a:off x="11938000" y="3175000"/>
            <a:ext cx="3556000" cy="26670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1" name="s5n"/>
          <p:cNvSpPr/>
          <p:nvPr/>
        </p:nvSpPr>
        <p:spPr>
          <a:xfrm>
            <a:off x="12217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2" name="s5nt"/>
          <p:cNvSpPr/>
          <p:nvPr/>
        </p:nvSpPr>
        <p:spPr>
          <a:xfrm>
            <a:off x="12217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s5t"/>
          <p:cNvSpPr/>
          <p:nvPr/>
        </p:nvSpPr>
        <p:spPr>
          <a:xfrm>
            <a:off x="12217400" y="42164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&amp; Carry Forward</a:t>
            </a:r>
            <a:endParaRPr lang="en-US" sz="1900" dirty="0"/>
          </a:p>
        </p:txBody>
      </p:sp>
      <p:sp>
        <p:nvSpPr>
          <p:cNvPr id="34" name="s5b"/>
          <p:cNvSpPr/>
          <p:nvPr/>
        </p:nvSpPr>
        <p:spPr>
          <a:xfrm>
            <a:off x="12217400" y="4749800"/>
            <a:ext cx="279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useful practice and focused priority for the next cycle.</a:t>
            </a:r>
            <a:endParaRPr lang="en-US" sz="1400" dirty="0"/>
          </a:p>
        </p:txBody>
      </p:sp>
      <p:sp>
        <p:nvSpPr>
          <p:cNvPr id="3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6" name="takeaway-label"/>
          <p:cNvSpPr/>
          <p:nvPr/>
        </p:nvSpPr>
        <p:spPr>
          <a:xfrm>
            <a:off x="1092200" y="71755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TARGET</a:t>
            </a:r>
            <a:endParaRPr lang="en-US" sz="1200" dirty="0"/>
          </a:p>
        </p:txBody>
      </p:sp>
      <p:sp>
        <p:nvSpPr>
          <p:cNvPr id="3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forward the practices that make student thinking visible and help the team make the next instructional decision together.</a:t>
            </a:r>
            <a:endParaRPr lang="en-US" sz="1800" dirty="0"/>
          </a:p>
        </p:txBody>
      </p:sp>
      <p:sp>
        <p:nvSpPr>
          <p:cNvPr id="3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9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9/29</a:t>
            </a:r>
            <a:endParaRPr lang="en-US" sz="1200" dirty="0"/>
          </a:p>
        </p:txBody>
      </p:sp>
      <p:sp>
        <p:nvSpPr>
          <p:cNvPr id="4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FULL-CYCLE FOCUS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71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SYNTHESIS · 20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41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10:00–30:00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evidence plan, learning pattern, feedback decision, and revised lesson to decide what the team will retain and revisit next.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learning cycle.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Briefly name the evidence planned, pattern noticed, feedback selected, and revision made.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the practice.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planning, feedback, or facilitation move that best helped the team understand student learning.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one shared priority.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manageable focus for the next cycle, connected to student evidence and the next lesson.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first step.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next upcoming lesson and the Lesson Internalization Tool question the team will begin with.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focused team priority, a useful evidence or feedback practice, and one selected lesson for the next Lesson Internalization cycle.</a:t>
            </a:r>
            <a:endParaRPr lang="en-US" sz="18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9/29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NEXT CYCLE · 4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the Next Cycle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85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altLang="en-US" sz="35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practice will our team carry into the next Lesson Internalization cycle?</a:t>
            </a:r>
            <a:endParaRPr lang="en-US" sz="35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7752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routine, the shared focus, and how it will support the next lesson.</a:t>
            </a:r>
            <a:endParaRPr lang="en-US" sz="1900" dirty="0"/>
          </a:p>
        </p:txBody>
      </p:sp>
      <p:sp>
        <p:nvSpPr>
          <p:cNvPr id="11" name="next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2" name="next-label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THE NEXT CYCLE WITH</a:t>
            </a:r>
            <a:endParaRPr lang="en-US" sz="1300" dirty="0"/>
          </a:p>
        </p:txBody>
      </p:sp>
      <p:sp>
        <p:nvSpPr>
          <p:cNvPr id="13" name="next-one"/>
          <p:cNvSpPr/>
          <p:nvPr/>
        </p:nvSpPr>
        <p:spPr>
          <a:xfrm>
            <a:off x="9677400" y="3352800"/>
            <a:ext cx="457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One upcoming lesson</a:t>
            </a:r>
            <a:endParaRPr lang="en-US" sz="2000" dirty="0"/>
          </a:p>
        </p:txBody>
      </p:sp>
      <p:sp>
        <p:nvSpPr>
          <p:cNvPr id="14" name="next-two"/>
          <p:cNvSpPr/>
          <p:nvPr/>
        </p:nvSpPr>
        <p:spPr>
          <a:xfrm>
            <a:off x="9677400" y="3987800"/>
            <a:ext cx="457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One evidence look-for</a:t>
            </a:r>
            <a:endParaRPr lang="en-US" sz="2000" dirty="0"/>
          </a:p>
        </p:txBody>
      </p:sp>
      <p:sp>
        <p:nvSpPr>
          <p:cNvPr id="15" name="next-three"/>
          <p:cNvSpPr/>
          <p:nvPr/>
        </p:nvSpPr>
        <p:spPr>
          <a:xfrm>
            <a:off x="9677400" y="4622800"/>
            <a:ext cx="457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One shared learning priority</a:t>
            </a:r>
            <a:endParaRPr lang="en-US" sz="2000" dirty="0"/>
          </a:p>
        </p:txBody>
      </p:sp>
      <p:sp>
        <p:nvSpPr>
          <p:cNvPr id="16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8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strong PLC routine connects planning, evidence, feedback, and forward planning — then begins again with the next lesson.</a:t>
            </a:r>
            <a:endParaRPr lang="en-US" sz="1800" dirty="0"/>
          </a:p>
        </p:txBody>
      </p:sp>
      <p:sp>
        <p:nvSpPr>
          <p:cNvPr id="19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0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9/29</a:t>
            </a:r>
            <a:endParaRPr lang="en-US" sz="1200" dirty="0"/>
          </a:p>
        </p:txBody>
      </p:sp>
      <p:sp>
        <p:nvSpPr>
          <p:cNvPr id="21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Share, Calibrate &amp; Set the Next Cycle — September 29, 2026</dc:title>
  <dc:subject>Lesson Internalization: Share, Calibrate &amp; Set the Next Cycle — September 29, 2026</dc:subject>
  <dc:creator>Manus</dc:creator>
  <cp:lastModifiedBy>Manus</cp:lastModifiedBy>
  <cp:revision>1</cp:revision>
  <dcterms:created xsi:type="dcterms:W3CDTF">2026-09-21T20:33:19Z</dcterms:created>
  <dcterms:modified xsi:type="dcterms:W3CDTF">2026-09-21T20:33:19Z</dcterms:modified>
</cp:coreProperties>
</file>
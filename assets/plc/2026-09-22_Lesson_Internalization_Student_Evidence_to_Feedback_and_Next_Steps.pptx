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Inter" charset="-122" pitchFamily="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31496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895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22,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676400"/>
            <a:ext cx="838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altLang="en-US" sz="4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</a:t>
            </a:r>
            <a:endParaRPr lang="en-US" sz="450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altLang="en-US" sz="4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&amp; Next Steps</a:t>
            </a:r>
            <a:endParaRPr lang="en-US" sz="45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6576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 students can use and prepare for the action they will take next.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648200"/>
            <a:ext cx="8255000" cy="9144"/>
          </a:xfrm>
          <a:prstGeom prst="line">
            <a:avLst/>
          </a:prstGeom>
          <a:ln w="25400">
            <a:solidFill>
              <a:srgbClr val="2D2D2D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5003800"/>
            <a:ext cx="2413000" cy="1168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52197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55245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19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1900" dirty="0"/>
          </a:p>
        </p:txBody>
      </p:sp>
      <p:sp>
        <p:nvSpPr>
          <p:cNvPr id="11" name="time-card"/>
          <p:cNvSpPr/>
          <p:nvPr/>
        </p:nvSpPr>
        <p:spPr>
          <a:xfrm>
            <a:off x="3098800" y="5003800"/>
            <a:ext cx="2413000" cy="1168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302000" y="52197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302000" y="55753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89600" y="5003800"/>
            <a:ext cx="3073400" cy="1168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92800" y="52197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92800" y="55753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0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7564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7137400"/>
            <a:ext cx="8064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or student work to analyze · related lesson materials · Lesson Internalization Tool</a:t>
            </a:r>
            <a:endParaRPr lang="en-US" sz="1800" dirty="0"/>
          </a:p>
        </p:txBody>
      </p:sp>
      <p:sp>
        <p:nvSpPr>
          <p:cNvPr id="19" name="tracker-panel"/>
          <p:cNvSpPr/>
          <p:nvPr/>
        </p:nvSpPr>
        <p:spPr>
          <a:xfrm>
            <a:off x="9588500" y="1168400"/>
            <a:ext cx="6159500" cy="67310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racker-kicker"/>
          <p:cNvSpPr/>
          <p:nvPr/>
        </p:nvSpPr>
        <p:spPr>
          <a:xfrm>
            <a:off x="9969500" y="1574800"/>
            <a:ext cx="539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PLC SEQUENCE</a:t>
            </a:r>
            <a:endParaRPr lang="en-US" sz="1300" dirty="0"/>
          </a:p>
        </p:txBody>
      </p:sp>
      <p:sp>
        <p:nvSpPr>
          <p:cNvPr id="21" name="tracker-title"/>
          <p:cNvSpPr/>
          <p:nvPr/>
        </p:nvSpPr>
        <p:spPr>
          <a:xfrm>
            <a:off x="9969500" y="2057400"/>
            <a:ext cx="539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altLang="en-US" sz="2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Evidence to</a:t>
            </a:r>
            <a:endParaRPr lang="en-US" sz="2900" dirty="0"/>
          </a:p>
          <a:p>
            <a:pPr algn="ctr" indent="0" marL="0">
              <a:lnSpc>
                <a:spcPts val="2900"/>
              </a:lnSpc>
              <a:buNone/>
            </a:pPr>
            <a:r>
              <a:rPr lang="en-US" altLang="en-US" sz="2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Feedback, Replanning &amp; Action</a:t>
            </a:r>
            <a:endParaRPr lang="en-US" sz="2900" dirty="0"/>
          </a:p>
        </p:txBody>
      </p:sp>
      <p:sp>
        <p:nvSpPr>
          <p:cNvPr id="22" name="tracker-line"/>
          <p:cNvSpPr/>
          <p:nvPr/>
        </p:nvSpPr>
        <p:spPr>
          <a:xfrm>
            <a:off x="10185400" y="3987800"/>
            <a:ext cx="4978400" cy="9144"/>
          </a:xfrm>
          <a:prstGeom prst="line">
            <a:avLst/>
          </a:prstGeom>
          <a:ln w="50800">
            <a:solidFill>
              <a:srgbClr val="E5E5E5"/>
            </a:solidFill>
            <a:prstDash val="solid"/>
          </a:ln>
        </p:spPr>
      </p:sp>
      <p:sp>
        <p:nvSpPr>
          <p:cNvPr id="23" name="step1"/>
          <p:cNvSpPr/>
          <p:nvPr/>
        </p:nvSpPr>
        <p:spPr>
          <a:xfrm>
            <a:off x="9880600" y="3581400"/>
            <a:ext cx="812800" cy="8128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4" name="step1-text"/>
          <p:cNvSpPr/>
          <p:nvPr/>
        </p:nvSpPr>
        <p:spPr>
          <a:xfrm>
            <a:off x="9931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00" dirty="0"/>
          </a:p>
        </p:txBody>
      </p:sp>
      <p:sp>
        <p:nvSpPr>
          <p:cNvPr id="25" name="step2"/>
          <p:cNvSpPr/>
          <p:nvPr/>
        </p:nvSpPr>
        <p:spPr>
          <a:xfrm>
            <a:off x="10769600" y="3581400"/>
            <a:ext cx="812800" cy="8128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6" name="step2-text"/>
          <p:cNvSpPr/>
          <p:nvPr/>
        </p:nvSpPr>
        <p:spPr>
          <a:xfrm>
            <a:off x="10820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000" dirty="0"/>
          </a:p>
        </p:txBody>
      </p:sp>
      <p:sp>
        <p:nvSpPr>
          <p:cNvPr id="27" name="step3"/>
          <p:cNvSpPr/>
          <p:nvPr/>
        </p:nvSpPr>
        <p:spPr>
          <a:xfrm>
            <a:off x="11658600" y="3581400"/>
            <a:ext cx="812800" cy="8128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8" name="step3-text"/>
          <p:cNvSpPr/>
          <p:nvPr/>
        </p:nvSpPr>
        <p:spPr>
          <a:xfrm>
            <a:off x="11709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step4"/>
          <p:cNvSpPr/>
          <p:nvPr/>
        </p:nvSpPr>
        <p:spPr>
          <a:xfrm>
            <a:off x="12547600" y="3581400"/>
            <a:ext cx="812800" cy="812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tep4-text"/>
          <p:cNvSpPr/>
          <p:nvPr/>
        </p:nvSpPr>
        <p:spPr>
          <a:xfrm>
            <a:off x="12598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000" dirty="0"/>
          </a:p>
        </p:txBody>
      </p:sp>
      <p:sp>
        <p:nvSpPr>
          <p:cNvPr id="31" name="step5"/>
          <p:cNvSpPr/>
          <p:nvPr/>
        </p:nvSpPr>
        <p:spPr>
          <a:xfrm>
            <a:off x="13436600" y="3581400"/>
            <a:ext cx="812800" cy="8128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32" name="step5-text"/>
          <p:cNvSpPr/>
          <p:nvPr/>
        </p:nvSpPr>
        <p:spPr>
          <a:xfrm>
            <a:off x="13487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000" dirty="0"/>
          </a:p>
        </p:txBody>
      </p:sp>
      <p:sp>
        <p:nvSpPr>
          <p:cNvPr id="33" name="step6"/>
          <p:cNvSpPr/>
          <p:nvPr/>
        </p:nvSpPr>
        <p:spPr>
          <a:xfrm>
            <a:off x="14325600" y="3581400"/>
            <a:ext cx="812800" cy="8128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34" name="step6-text"/>
          <p:cNvSpPr/>
          <p:nvPr/>
        </p:nvSpPr>
        <p:spPr>
          <a:xfrm>
            <a:off x="14376400" y="3708400"/>
            <a:ext cx="71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9/28</a:t>
            </a:r>
            <a:endParaRPr lang="en-US" sz="10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000" dirty="0"/>
          </a:p>
        </p:txBody>
      </p:sp>
      <p:sp>
        <p:nvSpPr>
          <p:cNvPr id="35" name="tracker-copy"/>
          <p:cNvSpPr/>
          <p:nvPr/>
        </p:nvSpPr>
        <p:spPr>
          <a:xfrm>
            <a:off x="10160000" y="4902200"/>
            <a:ext cx="502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plan what students need to hear, how feedback will reach them, and how students may respond.</a:t>
            </a:r>
            <a:endParaRPr lang="en-US" sz="1800" dirty="0"/>
          </a:p>
        </p:txBody>
      </p:sp>
      <p:sp>
        <p:nvSpPr>
          <p:cNvPr id="36" name="protocol-panel"/>
          <p:cNvSpPr/>
          <p:nvPr/>
        </p:nvSpPr>
        <p:spPr>
          <a:xfrm>
            <a:off x="10033000" y="6197600"/>
            <a:ext cx="5283200" cy="1193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7" name="protocol-label"/>
          <p:cNvSpPr/>
          <p:nvPr/>
        </p:nvSpPr>
        <p:spPr>
          <a:xfrm>
            <a:off x="10312400" y="6413500"/>
            <a:ext cx="472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8" name="protocol-copy"/>
          <p:cNvSpPr/>
          <p:nvPr/>
        </p:nvSpPr>
        <p:spPr>
          <a:xfrm>
            <a:off x="10312400" y="67945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600" dirty="0"/>
          </a:p>
        </p:txBody>
      </p:sp>
      <p:sp>
        <p:nvSpPr>
          <p:cNvPr id="3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 · 9/22</a:t>
            </a:r>
            <a:endParaRPr lang="en-US" sz="1200" dirty="0"/>
          </a:p>
        </p:txBody>
      </p:sp>
      <p:sp>
        <p:nvSpPr>
          <p:cNvPr id="4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41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8102E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413000" y="2235200"/>
            <a:ext cx="533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What to Analyze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Identify the assessment or student work the team will analyze. Restate the learning goal.</a:t>
            </a:r>
            <a:endParaRPr lang="en-US" sz="1900" dirty="0"/>
          </a:p>
        </p:txBody>
      </p:sp>
      <p:sp>
        <p:nvSpPr>
          <p:cNvPr id="9" name="t2"/>
          <p:cNvSpPr/>
          <p:nvPr/>
        </p:nvSpPr>
        <p:spPr>
          <a:xfrm>
            <a:off x="762000" y="33020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4417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4:00–12:00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413000" y="3302000"/>
            <a:ext cx="533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What Feedback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Write feedback that points students toward one clear next action.</a:t>
            </a:r>
            <a:endParaRPr lang="en-US" sz="1900" dirty="0"/>
          </a:p>
        </p:txBody>
      </p:sp>
      <p:sp>
        <p:nvSpPr>
          <p:cNvPr id="12" name="t3"/>
          <p:cNvSpPr/>
          <p:nvPr/>
        </p:nvSpPr>
        <p:spPr>
          <a:xfrm>
            <a:off x="762000" y="44450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847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12:00–20:00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413000" y="4445000"/>
            <a:ext cx="533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How Feedback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Choose how and when students will receive and use it.</a:t>
            </a:r>
            <a:endParaRPr lang="en-US" sz="1900" dirty="0"/>
          </a:p>
        </p:txBody>
      </p:sp>
      <p:sp>
        <p:nvSpPr>
          <p:cNvPr id="15" name="t4"/>
          <p:cNvSpPr/>
          <p:nvPr/>
        </p:nvSpPr>
        <p:spPr>
          <a:xfrm>
            <a:off x="8509000" y="22352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4-text"/>
          <p:cNvSpPr/>
          <p:nvPr/>
        </p:nvSpPr>
        <p:spPr>
          <a:xfrm>
            <a:off x="8509000" y="23749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20:00–33:00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160000" y="22352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Response &amp; Support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Plan the revision, intervention, extension, or next step students may need.</a:t>
            </a:r>
            <a:endParaRPr lang="en-US" sz="1900" dirty="0"/>
          </a:p>
        </p:txBody>
      </p:sp>
      <p:sp>
        <p:nvSpPr>
          <p:cNvPr id="18" name="t5"/>
          <p:cNvSpPr/>
          <p:nvPr/>
        </p:nvSpPr>
        <p:spPr>
          <a:xfrm>
            <a:off x="8509000" y="35560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5-text"/>
          <p:cNvSpPr/>
          <p:nvPr/>
        </p:nvSpPr>
        <p:spPr>
          <a:xfrm>
            <a:off x="8509000" y="36957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33:00–38:00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160000" y="35560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Share-Out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Share one feedback decision and one anticipated need.</a:t>
            </a:r>
            <a:endParaRPr lang="en-US" sz="1900" dirty="0"/>
          </a:p>
        </p:txBody>
      </p:sp>
      <p:sp>
        <p:nvSpPr>
          <p:cNvPr id="21" name="t6"/>
          <p:cNvSpPr/>
          <p:nvPr/>
        </p:nvSpPr>
        <p:spPr>
          <a:xfrm>
            <a:off x="8509000" y="4699000"/>
            <a:ext cx="1397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6-text"/>
          <p:cNvSpPr/>
          <p:nvPr/>
        </p:nvSpPr>
        <p:spPr>
          <a:xfrm>
            <a:off x="8509000" y="48387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38:00–41:00</a:t>
            </a:r>
            <a:endParaRPr lang="en-US" sz="1200" dirty="0"/>
          </a:p>
        </p:txBody>
      </p:sp>
      <p:sp>
        <p:nvSpPr>
          <p:cNvPr id="23" name="a6"/>
          <p:cNvSpPr/>
          <p:nvPr/>
        </p:nvSpPr>
        <p:spPr>
          <a:xfrm>
            <a:off x="10160000" y="46990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student action will show that feedback helped learning move forward?</a:t>
            </a:r>
            <a:endParaRPr lang="en-US" sz="1900" dirty="0"/>
          </a:p>
        </p:txBody>
      </p:sp>
      <p:sp>
        <p:nvSpPr>
          <p:cNvPr id="24" name="outcome-card"/>
          <p:cNvSpPr/>
          <p:nvPr/>
        </p:nvSpPr>
        <p:spPr>
          <a:xfrm>
            <a:off x="8509000" y="5969000"/>
            <a:ext cx="6604000" cy="13970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5" name="outcome-label"/>
          <p:cNvSpPr/>
          <p:nvPr/>
        </p:nvSpPr>
        <p:spPr>
          <a:xfrm>
            <a:off x="8839200" y="6235700"/>
            <a:ext cx="591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6" name="outcome-copy"/>
          <p:cNvSpPr/>
          <p:nvPr/>
        </p:nvSpPr>
        <p:spPr>
          <a:xfrm>
            <a:off x="8839200" y="6629400"/>
            <a:ext cx="5918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feedback plan, delivery method, anticipated student response, and support or next action.</a:t>
            </a:r>
            <a:endParaRPr lang="en-US" sz="1800" dirty="0"/>
          </a:p>
        </p:txBody>
      </p:sp>
      <p:sp>
        <p:nvSpPr>
          <p:cNvPr id="2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22, 2026 · PLAN ACTIONABLE FEEDBACK</a:t>
            </a:r>
            <a:endParaRPr lang="en-US" sz="1200" dirty="0"/>
          </a:p>
        </p:txBody>
      </p:sp>
      <p:sp>
        <p:nvSpPr>
          <p:cNvPr id="29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ection-label"/>
          <p:cNvSpPr/>
          <p:nvPr/>
        </p:nvSpPr>
        <p:spPr>
          <a:xfrm>
            <a:off x="508000" y="736600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THE WORK · 4:00–12:00</a:t>
            </a:r>
            <a:endParaRPr lang="en-US" sz="1300" dirty="0"/>
          </a:p>
        </p:txBody>
      </p:sp>
      <p:sp>
        <p:nvSpPr>
          <p:cNvPr id="4" name="title"/>
          <p:cNvSpPr/>
          <p:nvPr/>
        </p:nvSpPr>
        <p:spPr>
          <a:xfrm>
            <a:off x="508000" y="1117600"/>
            <a:ext cx="901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4"/>
              </a:lnSpc>
              <a:buNone/>
            </a:pPr>
            <a:r>
              <a:rPr lang="en-US" altLang="en-US" sz="3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prompts students to take an action.</a:t>
            </a:r>
            <a:endParaRPr lang="en-US" sz="3800" dirty="0"/>
          </a:p>
        </p:txBody>
      </p:sp>
      <p:sp>
        <p:nvSpPr>
          <p:cNvPr id="5" name="intro"/>
          <p:cNvSpPr/>
          <p:nvPr/>
        </p:nvSpPr>
        <p:spPr>
          <a:xfrm>
            <a:off x="508000" y="2336800"/>
            <a:ext cx="876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First, select the assessment or student work the team will analyze. Then decide what students need to do next because of what it shows.</a:t>
            </a:r>
            <a:endParaRPr lang="en-US" sz="2000" dirty="0"/>
          </a:p>
        </p:txBody>
      </p:sp>
      <p:sp>
        <p:nvSpPr>
          <p:cNvPr id="6" name="evidence-panel"/>
          <p:cNvSpPr/>
          <p:nvPr/>
        </p:nvSpPr>
        <p:spPr>
          <a:xfrm>
            <a:off x="508000" y="3606800"/>
            <a:ext cx="4318000" cy="2971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evidence-number"/>
          <p:cNvSpPr/>
          <p:nvPr/>
        </p:nvSpPr>
        <p:spPr>
          <a:xfrm>
            <a:off x="838200" y="3937000"/>
            <a:ext cx="68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evidence-title"/>
          <p:cNvSpPr/>
          <p:nvPr/>
        </p:nvSpPr>
        <p:spPr>
          <a:xfrm>
            <a:off x="838200" y="47498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what to analyze</a:t>
            </a:r>
            <a:endParaRPr lang="en-US" sz="2200" dirty="0"/>
          </a:p>
        </p:txBody>
      </p:sp>
      <p:sp>
        <p:nvSpPr>
          <p:cNvPr id="9" name="evidence-copy"/>
          <p:cNvSpPr/>
          <p:nvPr/>
        </p:nvSpPr>
        <p:spPr>
          <a:xfrm>
            <a:off x="838200" y="5283200"/>
            <a:ext cx="3505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en-US" alt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assessment or student work. Connect it to the learning goal before identifying a pattern.</a:t>
            </a:r>
            <a:endParaRPr lang="en-US" sz="1700" dirty="0"/>
          </a:p>
        </p:txBody>
      </p:sp>
      <p:sp>
        <p:nvSpPr>
          <p:cNvPr id="10" name="feedback-panel"/>
          <p:cNvSpPr/>
          <p:nvPr/>
        </p:nvSpPr>
        <p:spPr>
          <a:xfrm>
            <a:off x="5130800" y="3606800"/>
            <a:ext cx="4318000" cy="2971800"/>
          </a:xfrm>
          <a:prstGeom prst="rect">
            <a:avLst/>
          </a:prstGeom>
          <a:solidFill>
            <a:srgbClr val="FCE9EC"/>
          </a:solidFill>
          <a:ln w="12700">
            <a:solidFill>
              <a:srgbClr val="F1C5CE"/>
            </a:solidFill>
            <a:prstDash val="solid"/>
          </a:ln>
        </p:spPr>
      </p:sp>
      <p:sp>
        <p:nvSpPr>
          <p:cNvPr id="11" name="feedback-number"/>
          <p:cNvSpPr/>
          <p:nvPr/>
        </p:nvSpPr>
        <p:spPr>
          <a:xfrm>
            <a:off x="5461000" y="3937000"/>
            <a:ext cx="68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feedback-title"/>
          <p:cNvSpPr/>
          <p:nvPr/>
        </p:nvSpPr>
        <p:spPr>
          <a:xfrm>
            <a:off x="5461000" y="47498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feedback</a:t>
            </a:r>
            <a:endParaRPr lang="en-US" sz="2200" dirty="0"/>
          </a:p>
        </p:txBody>
      </p:sp>
      <p:sp>
        <p:nvSpPr>
          <p:cNvPr id="13" name="feedback-copy"/>
          <p:cNvSpPr/>
          <p:nvPr/>
        </p:nvSpPr>
        <p:spPr>
          <a:xfrm>
            <a:off x="5461000" y="5283200"/>
            <a:ext cx="3505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en-US" alt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 students need to hear so they understand the next step in their learning?</a:t>
            </a:r>
            <a:endParaRPr lang="en-US" sz="1700" dirty="0"/>
          </a:p>
        </p:txBody>
      </p:sp>
      <p:sp>
        <p:nvSpPr>
          <p:cNvPr id="14" name="action-panel"/>
          <p:cNvSpPr/>
          <p:nvPr/>
        </p:nvSpPr>
        <p:spPr>
          <a:xfrm>
            <a:off x="9753600" y="3606800"/>
            <a:ext cx="5486400" cy="2971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action-number"/>
          <p:cNvSpPr/>
          <p:nvPr/>
        </p:nvSpPr>
        <p:spPr>
          <a:xfrm>
            <a:off x="10109200" y="3937000"/>
            <a:ext cx="68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action-title"/>
          <p:cNvSpPr/>
          <p:nvPr/>
        </p:nvSpPr>
        <p:spPr>
          <a:xfrm>
            <a:off x="10109200" y="47498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student action</a:t>
            </a:r>
            <a:endParaRPr lang="en-US" sz="2200" dirty="0"/>
          </a:p>
        </p:txBody>
      </p:sp>
      <p:sp>
        <p:nvSpPr>
          <p:cNvPr id="17" name="action-copy"/>
          <p:cNvSpPr/>
          <p:nvPr/>
        </p:nvSpPr>
        <p:spPr>
          <a:xfrm>
            <a:off x="10109200" y="5283200"/>
            <a:ext cx="4572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might revise, reflect, correct, extend, or apply feedback to a new task.</a:t>
            </a:r>
            <a:endParaRPr lang="en-US" sz="1700" dirty="0"/>
          </a:p>
        </p:txBody>
      </p:sp>
      <p:sp>
        <p:nvSpPr>
          <p:cNvPr id="18" name="guardrail"/>
          <p:cNvSpPr/>
          <p:nvPr/>
        </p:nvSpPr>
        <p:spPr>
          <a:xfrm>
            <a:off x="508000" y="7162800"/>
            <a:ext cx="147320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guardrail-label"/>
          <p:cNvSpPr/>
          <p:nvPr/>
        </p:nvSpPr>
        <p:spPr>
          <a:xfrm>
            <a:off x="812800" y="7327900"/>
            <a:ext cx="228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THINKING WITH STUDENTS</a:t>
            </a:r>
            <a:endParaRPr lang="en-US" sz="1200" dirty="0"/>
          </a:p>
        </p:txBody>
      </p:sp>
      <p:sp>
        <p:nvSpPr>
          <p:cNvPr id="20" name="guardrail-copy"/>
          <p:cNvSpPr/>
          <p:nvPr/>
        </p:nvSpPr>
        <p:spPr>
          <a:xfrm>
            <a:off x="3860800" y="7302500"/>
            <a:ext cx="1092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should guide students toward the next action—not complete the thinking for them.</a:t>
            </a:r>
            <a:endParaRPr lang="en-US" sz="1800" dirty="0"/>
          </a:p>
        </p:txBody>
      </p:sp>
      <p:sp>
        <p:nvSpPr>
          <p:cNvPr id="21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footer-left"/>
          <p:cNvSpPr/>
          <p:nvPr/>
        </p:nvSpPr>
        <p:spPr>
          <a:xfrm>
            <a:off x="508000" y="87122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 · 9/22</a:t>
            </a:r>
            <a:endParaRPr lang="en-US" sz="1200" dirty="0"/>
          </a:p>
        </p:txBody>
      </p:sp>
      <p:sp>
        <p:nvSpPr>
          <p:cNvPr id="23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ection-label"/>
          <p:cNvSpPr/>
          <p:nvPr/>
        </p:nvSpPr>
        <p:spPr>
          <a:xfrm>
            <a:off x="508000" y="736600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ROUTINE · 12:00–20:00</a:t>
            </a:r>
            <a:endParaRPr lang="en-US" sz="1300" dirty="0"/>
          </a:p>
        </p:txBody>
      </p:sp>
      <p:sp>
        <p:nvSpPr>
          <p:cNvPr id="4" name="title"/>
          <p:cNvSpPr/>
          <p:nvPr/>
        </p:nvSpPr>
        <p:spPr>
          <a:xfrm>
            <a:off x="508000" y="11176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how feedback will reach students.</a:t>
            </a:r>
            <a:endParaRPr lang="en-US" sz="3600" dirty="0"/>
          </a:p>
        </p:txBody>
      </p:sp>
      <p:sp>
        <p:nvSpPr>
          <p:cNvPr id="5" name="intro"/>
          <p:cNvSpPr/>
          <p:nvPr/>
        </p:nvSpPr>
        <p:spPr>
          <a:xfrm>
            <a:off x="508000" y="1905000"/>
            <a:ext cx="1168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routine that makes feedback visible, understandable, and usable by students.</a:t>
            </a:r>
            <a:endParaRPr lang="en-US" sz="2000" dirty="0"/>
          </a:p>
        </p:txBody>
      </p:sp>
      <p:sp>
        <p:nvSpPr>
          <p:cNvPr id="6" name="option1"/>
          <p:cNvSpPr/>
          <p:nvPr/>
        </p:nvSpPr>
        <p:spPr>
          <a:xfrm>
            <a:off x="508000" y="2946400"/>
            <a:ext cx="3505200" cy="3073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o1-chip"/>
          <p:cNvSpPr/>
          <p:nvPr/>
        </p:nvSpPr>
        <p:spPr>
          <a:xfrm>
            <a:off x="508000" y="2946400"/>
            <a:ext cx="3505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o1-label"/>
          <p:cNvSpPr/>
          <p:nvPr/>
        </p:nvSpPr>
        <p:spPr>
          <a:xfrm>
            <a:off x="736600" y="3073400"/>
            <a:ext cx="3022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WHOLE-CLASS FEEDBACK</a:t>
            </a:r>
            <a:endParaRPr lang="en-US" sz="1200" dirty="0"/>
          </a:p>
        </p:txBody>
      </p:sp>
      <p:sp>
        <p:nvSpPr>
          <p:cNvPr id="9" name="o1-title"/>
          <p:cNvSpPr/>
          <p:nvPr/>
        </p:nvSpPr>
        <p:spPr>
          <a:xfrm>
            <a:off x="736600" y="3733800"/>
            <a:ext cx="289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pattern.</a:t>
            </a:r>
            <a:endParaRPr lang="en-US" sz="21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students to act.</a:t>
            </a:r>
            <a:endParaRPr lang="en-US" sz="2100" dirty="0"/>
          </a:p>
        </p:txBody>
      </p:sp>
      <p:sp>
        <p:nvSpPr>
          <p:cNvPr id="10" name="o1-copy"/>
          <p:cNvSpPr/>
          <p:nvPr/>
        </p:nvSpPr>
        <p:spPr>
          <a:xfrm>
            <a:off x="736600" y="4699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alt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a common strength or need. Give students a prompt and time to revise, explain, or try again.</a:t>
            </a:r>
            <a:endParaRPr lang="en-US" sz="1600" dirty="0"/>
          </a:p>
        </p:txBody>
      </p:sp>
      <p:sp>
        <p:nvSpPr>
          <p:cNvPr id="11" name="option2"/>
          <p:cNvSpPr/>
          <p:nvPr/>
        </p:nvSpPr>
        <p:spPr>
          <a:xfrm>
            <a:off x="4267200" y="2946400"/>
            <a:ext cx="3505200" cy="3073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o2-chip"/>
          <p:cNvSpPr/>
          <p:nvPr/>
        </p:nvSpPr>
        <p:spPr>
          <a:xfrm>
            <a:off x="4267200" y="2946400"/>
            <a:ext cx="35052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o2-label"/>
          <p:cNvSpPr/>
          <p:nvPr/>
        </p:nvSpPr>
        <p:spPr>
          <a:xfrm>
            <a:off x="4495800" y="3073400"/>
            <a:ext cx="3022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FEEDBACK + REVISION</a:t>
            </a:r>
            <a:endParaRPr lang="en-US" sz="1200" dirty="0"/>
          </a:p>
        </p:txBody>
      </p:sp>
      <p:sp>
        <p:nvSpPr>
          <p:cNvPr id="14" name="o2-title"/>
          <p:cNvSpPr/>
          <p:nvPr/>
        </p:nvSpPr>
        <p:spPr>
          <a:xfrm>
            <a:off x="4495800" y="3733800"/>
            <a:ext cx="289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short note.</a:t>
            </a:r>
            <a:endParaRPr lang="en-US" sz="21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 response time.</a:t>
            </a:r>
            <a:endParaRPr lang="en-US" sz="2100" dirty="0"/>
          </a:p>
        </p:txBody>
      </p:sp>
      <p:sp>
        <p:nvSpPr>
          <p:cNvPr id="15" name="o2-copy"/>
          <p:cNvSpPr/>
          <p:nvPr/>
        </p:nvSpPr>
        <p:spPr>
          <a:xfrm>
            <a:off x="4495800" y="4699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alt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quick annotation, checklist, or prompt. Decide when students will read it and use it.</a:t>
            </a:r>
            <a:endParaRPr lang="en-US" sz="1600" dirty="0"/>
          </a:p>
        </p:txBody>
      </p:sp>
      <p:sp>
        <p:nvSpPr>
          <p:cNvPr id="16" name="option3"/>
          <p:cNvSpPr/>
          <p:nvPr/>
        </p:nvSpPr>
        <p:spPr>
          <a:xfrm>
            <a:off x="8026400" y="2946400"/>
            <a:ext cx="3505200" cy="3073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o3-chip"/>
          <p:cNvSpPr/>
          <p:nvPr/>
        </p:nvSpPr>
        <p:spPr>
          <a:xfrm>
            <a:off x="8026400" y="2946400"/>
            <a:ext cx="3505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o3-label"/>
          <p:cNvSpPr/>
          <p:nvPr/>
        </p:nvSpPr>
        <p:spPr>
          <a:xfrm>
            <a:off x="8255000" y="3073400"/>
            <a:ext cx="3022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CONFERENCE</a:t>
            </a:r>
            <a:endParaRPr lang="en-US" sz="1200" dirty="0"/>
          </a:p>
        </p:txBody>
      </p:sp>
      <p:sp>
        <p:nvSpPr>
          <p:cNvPr id="19" name="o3-title"/>
          <p:cNvSpPr/>
          <p:nvPr/>
        </p:nvSpPr>
        <p:spPr>
          <a:xfrm>
            <a:off x="8255000" y="3733800"/>
            <a:ext cx="289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question.</a:t>
            </a:r>
            <a:endParaRPr lang="en-US" sz="21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altLang="en-US" sz="2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for the next step.</a:t>
            </a:r>
            <a:endParaRPr lang="en-US" sz="2100" dirty="0"/>
          </a:p>
        </p:txBody>
      </p:sp>
      <p:sp>
        <p:nvSpPr>
          <p:cNvPr id="20" name="o3-copy"/>
          <p:cNvSpPr/>
          <p:nvPr/>
        </p:nvSpPr>
        <p:spPr>
          <a:xfrm>
            <a:off x="8255000" y="4699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alt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short conference to name what is working, ask about the need, and agree on a next action.</a:t>
            </a:r>
            <a:endParaRPr lang="en-US" sz="1600" dirty="0"/>
          </a:p>
        </p:txBody>
      </p:sp>
      <p:sp>
        <p:nvSpPr>
          <p:cNvPr id="21" name="option4"/>
          <p:cNvSpPr/>
          <p:nvPr/>
        </p:nvSpPr>
        <p:spPr>
          <a:xfrm>
            <a:off x="11785600" y="2946400"/>
            <a:ext cx="3454400" cy="3073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o4-chip"/>
          <p:cNvSpPr/>
          <p:nvPr/>
        </p:nvSpPr>
        <p:spPr>
          <a:xfrm>
            <a:off x="11785600" y="2946400"/>
            <a:ext cx="34544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3" name="o4-label"/>
          <p:cNvSpPr/>
          <p:nvPr/>
        </p:nvSpPr>
        <p:spPr>
          <a:xfrm>
            <a:off x="12014200" y="3073400"/>
            <a:ext cx="299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+ APPLY</a:t>
            </a:r>
            <a:endParaRPr lang="en-US" sz="1200" dirty="0"/>
          </a:p>
        </p:txBody>
      </p:sp>
      <p:sp>
        <p:nvSpPr>
          <p:cNvPr id="24" name="o4-title"/>
          <p:cNvSpPr/>
          <p:nvPr/>
        </p:nvSpPr>
        <p:spPr>
          <a:xfrm>
            <a:off x="12014200" y="3733800"/>
            <a:ext cx="2870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Discuss. Apply.</a:t>
            </a:r>
            <a:endParaRPr lang="en-US" sz="2000" dirty="0"/>
          </a:p>
        </p:txBody>
      </p:sp>
      <p:sp>
        <p:nvSpPr>
          <p:cNvPr id="25" name="o4-copy"/>
          <p:cNvSpPr/>
          <p:nvPr/>
        </p:nvSpPr>
        <p:spPr>
          <a:xfrm>
            <a:off x="12014200" y="4445000"/>
            <a:ext cx="2870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alt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partner talk, discussion, or an exemplar. Make time for students to apply feedback before continuing.</a:t>
            </a:r>
            <a:endParaRPr lang="en-US" sz="1600" dirty="0"/>
          </a:p>
        </p:txBody>
      </p:sp>
      <p:sp>
        <p:nvSpPr>
          <p:cNvPr id="26" name="decision-rule"/>
          <p:cNvSpPr/>
          <p:nvPr/>
        </p:nvSpPr>
        <p:spPr>
          <a:xfrm>
            <a:off x="508000" y="6781800"/>
            <a:ext cx="14732000" cy="990600"/>
          </a:xfrm>
          <a:prstGeom prst="rect">
            <a:avLst/>
          </a:prstGeom>
          <a:solidFill>
            <a:srgbClr val="FCE9EC"/>
          </a:solidFill>
          <a:ln w="12700">
            <a:solidFill>
              <a:srgbClr val="F1C5CE"/>
            </a:solidFill>
            <a:prstDash val="solid"/>
          </a:ln>
        </p:spPr>
      </p:sp>
      <p:sp>
        <p:nvSpPr>
          <p:cNvPr id="27" name="decision-label"/>
          <p:cNvSpPr/>
          <p:nvPr/>
        </p:nvSpPr>
        <p:spPr>
          <a:xfrm>
            <a:off x="838200" y="7010400"/>
            <a:ext cx="254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DECISION</a:t>
            </a:r>
            <a:endParaRPr lang="en-US" sz="1200" dirty="0"/>
          </a:p>
        </p:txBody>
      </p:sp>
      <p:sp>
        <p:nvSpPr>
          <p:cNvPr id="28" name="decision-copy"/>
          <p:cNvSpPr/>
          <p:nvPr/>
        </p:nvSpPr>
        <p:spPr>
          <a:xfrm>
            <a:off x="838200" y="7353300"/>
            <a:ext cx="138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method and name when students will have protected time to use the feedback.</a:t>
            </a:r>
            <a:endParaRPr lang="en-US" sz="1900" dirty="0"/>
          </a:p>
        </p:txBody>
      </p:sp>
      <p:sp>
        <p:nvSpPr>
          <p:cNvPr id="2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footer-left"/>
          <p:cNvSpPr/>
          <p:nvPr/>
        </p:nvSpPr>
        <p:spPr>
          <a:xfrm>
            <a:off x="508000" y="87122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 · 9/22</a:t>
            </a:r>
            <a:endParaRPr lang="en-US" sz="1200" dirty="0"/>
          </a:p>
        </p:txBody>
      </p:sp>
      <p:sp>
        <p:nvSpPr>
          <p:cNvPr id="3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COLLABORATIVE WORK · 20:00–33:00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16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Feedback, Anticipate Response &amp; Support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741400" y="787400"/>
            <a:ext cx="14986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741400" y="889000"/>
            <a:ext cx="1498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MINUTES</a:t>
            </a:r>
            <a:endParaRPr lang="en-US" sz="1200" dirty="0"/>
          </a:p>
        </p:txBody>
      </p:sp>
      <p:sp>
        <p:nvSpPr>
          <p:cNvPr id="8" name="work-prompt"/>
          <p:cNvSpPr/>
          <p:nvPr/>
        </p:nvSpPr>
        <p:spPr>
          <a:xfrm>
            <a:off x="762000" y="2108200"/>
            <a:ext cx="1397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 a course-alike team or co-teaching partner. Build one usable feedback routine from the assessment or student work you selected.</a:t>
            </a:r>
            <a:endParaRPr lang="en-US" sz="2000" dirty="0"/>
          </a:p>
        </p:txBody>
      </p:sp>
      <p:sp>
        <p:nvSpPr>
          <p:cNvPr id="9" name="card1"/>
          <p:cNvSpPr/>
          <p:nvPr/>
        </p:nvSpPr>
        <p:spPr>
          <a:xfrm>
            <a:off x="762000" y="3073400"/>
            <a:ext cx="6858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ile1"/>
          <p:cNvSpPr/>
          <p:nvPr/>
        </p:nvSpPr>
        <p:spPr>
          <a:xfrm>
            <a:off x="1016000" y="33782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ile1-text"/>
          <p:cNvSpPr/>
          <p:nvPr/>
        </p:nvSpPr>
        <p:spPr>
          <a:xfrm>
            <a:off x="1016000" y="35052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ard1-title"/>
          <p:cNvSpPr/>
          <p:nvPr/>
        </p:nvSpPr>
        <p:spPr>
          <a:xfrm>
            <a:off x="1778000" y="3276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work to analyze.</a:t>
            </a:r>
            <a:endParaRPr lang="en-US" sz="2000" dirty="0"/>
          </a:p>
        </p:txBody>
      </p:sp>
      <p:sp>
        <p:nvSpPr>
          <p:cNvPr id="13" name="card1-copy"/>
          <p:cNvSpPr/>
          <p:nvPr/>
        </p:nvSpPr>
        <p:spPr>
          <a:xfrm>
            <a:off x="1778000" y="3759200"/>
            <a:ext cx="533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assessment or student work and connect it to the learning goal before identifying a pattern.</a:t>
            </a:r>
            <a:endParaRPr lang="en-US" sz="1500" dirty="0"/>
          </a:p>
        </p:txBody>
      </p:sp>
      <p:sp>
        <p:nvSpPr>
          <p:cNvPr id="14" name="card2"/>
          <p:cNvSpPr/>
          <p:nvPr/>
        </p:nvSpPr>
        <p:spPr>
          <a:xfrm>
            <a:off x="7874000" y="3073400"/>
            <a:ext cx="7620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ile2"/>
          <p:cNvSpPr/>
          <p:nvPr/>
        </p:nvSpPr>
        <p:spPr>
          <a:xfrm>
            <a:off x="8128000" y="33782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ile2-text"/>
          <p:cNvSpPr/>
          <p:nvPr/>
        </p:nvSpPr>
        <p:spPr>
          <a:xfrm>
            <a:off x="8128000" y="35052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card2-title"/>
          <p:cNvSpPr/>
          <p:nvPr/>
        </p:nvSpPr>
        <p:spPr>
          <a:xfrm>
            <a:off x="8890000" y="32766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what students need to hear.</a:t>
            </a:r>
            <a:endParaRPr lang="en-US" sz="2000" dirty="0"/>
          </a:p>
        </p:txBody>
      </p:sp>
      <p:sp>
        <p:nvSpPr>
          <p:cNvPr id="18" name="card2-copy"/>
          <p:cNvSpPr/>
          <p:nvPr/>
        </p:nvSpPr>
        <p:spPr>
          <a:xfrm>
            <a:off x="8890000" y="3759200"/>
            <a:ext cx="609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feedback that directs students toward a clear next action without taking over the thinking.</a:t>
            </a:r>
            <a:endParaRPr lang="en-US" sz="1500" dirty="0"/>
          </a:p>
        </p:txBody>
      </p:sp>
      <p:sp>
        <p:nvSpPr>
          <p:cNvPr id="19" name="card3"/>
          <p:cNvSpPr/>
          <p:nvPr/>
        </p:nvSpPr>
        <p:spPr>
          <a:xfrm>
            <a:off x="762000" y="4876800"/>
            <a:ext cx="6858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ile3"/>
          <p:cNvSpPr/>
          <p:nvPr/>
        </p:nvSpPr>
        <p:spPr>
          <a:xfrm>
            <a:off x="1016000" y="51816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ile3-text"/>
          <p:cNvSpPr/>
          <p:nvPr/>
        </p:nvSpPr>
        <p:spPr>
          <a:xfrm>
            <a:off x="1016000" y="53086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card3-title"/>
          <p:cNvSpPr/>
          <p:nvPr/>
        </p:nvSpPr>
        <p:spPr>
          <a:xfrm>
            <a:off x="1778000" y="50800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how feedback will be used.</a:t>
            </a:r>
            <a:endParaRPr lang="en-US" sz="2000" dirty="0"/>
          </a:p>
        </p:txBody>
      </p:sp>
      <p:sp>
        <p:nvSpPr>
          <p:cNvPr id="23" name="card3-copy"/>
          <p:cNvSpPr/>
          <p:nvPr/>
        </p:nvSpPr>
        <p:spPr>
          <a:xfrm>
            <a:off x="1778000" y="5562600"/>
            <a:ext cx="533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delivery method and when students will read, discuss, revise, or apply the feedback.</a:t>
            </a:r>
            <a:endParaRPr lang="en-US" sz="1500" dirty="0"/>
          </a:p>
        </p:txBody>
      </p:sp>
      <p:sp>
        <p:nvSpPr>
          <p:cNvPr id="24" name="card4"/>
          <p:cNvSpPr/>
          <p:nvPr/>
        </p:nvSpPr>
        <p:spPr>
          <a:xfrm>
            <a:off x="7874000" y="4876800"/>
            <a:ext cx="7620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tile4"/>
          <p:cNvSpPr/>
          <p:nvPr/>
        </p:nvSpPr>
        <p:spPr>
          <a:xfrm>
            <a:off x="8128000" y="51816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ile4-text"/>
          <p:cNvSpPr/>
          <p:nvPr/>
        </p:nvSpPr>
        <p:spPr>
          <a:xfrm>
            <a:off x="8128000" y="53086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card4-title"/>
          <p:cNvSpPr/>
          <p:nvPr/>
        </p:nvSpPr>
        <p:spPr>
          <a:xfrm>
            <a:off x="8890000" y="50800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response and plan support.</a:t>
            </a:r>
            <a:endParaRPr lang="en-US" sz="2000" dirty="0"/>
          </a:p>
        </p:txBody>
      </p:sp>
      <p:sp>
        <p:nvSpPr>
          <p:cNvPr id="28" name="card4-copy"/>
          <p:cNvSpPr/>
          <p:nvPr/>
        </p:nvSpPr>
        <p:spPr>
          <a:xfrm>
            <a:off x="8890000" y="5562600"/>
            <a:ext cx="609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a likely response and plan the intervention, revision opportunity, extension, or next action students may need.</a:t>
            </a:r>
            <a:endParaRPr lang="en-US" sz="1500" dirty="0"/>
          </a:p>
        </p:txBody>
      </p:sp>
      <p:sp>
        <p:nvSpPr>
          <p:cNvPr id="29" name="share-panel"/>
          <p:cNvSpPr/>
          <p:nvPr/>
        </p:nvSpPr>
        <p:spPr>
          <a:xfrm>
            <a:off x="762000" y="6908800"/>
            <a:ext cx="14732000" cy="939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hare-label"/>
          <p:cNvSpPr/>
          <p:nvPr/>
        </p:nvSpPr>
        <p:spPr>
          <a:xfrm>
            <a:off x="1092200" y="7099300"/>
            <a:ext cx="2616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SHARE-OUT · 33:00–38:00</a:t>
            </a:r>
            <a:endParaRPr lang="en-US" sz="1200" dirty="0"/>
          </a:p>
        </p:txBody>
      </p:sp>
      <p:sp>
        <p:nvSpPr>
          <p:cNvPr id="31" name="share-copy"/>
          <p:cNvSpPr/>
          <p:nvPr/>
        </p:nvSpPr>
        <p:spPr>
          <a:xfrm>
            <a:off x="1092200" y="7429500"/>
            <a:ext cx="13893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one feedback decision • how students will act on it • one anticipated need or support</a:t>
            </a:r>
            <a:endParaRPr lang="en-US" sz="1800" dirty="0"/>
          </a:p>
        </p:txBody>
      </p:sp>
      <p:sp>
        <p:nvSpPr>
          <p:cNvPr id="32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footer-left"/>
          <p:cNvSpPr/>
          <p:nvPr/>
        </p:nvSpPr>
        <p:spPr>
          <a:xfrm>
            <a:off x="508000" y="87122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 · 9/22</a:t>
            </a:r>
            <a:endParaRPr lang="en-US" sz="1200" dirty="0"/>
          </a:p>
        </p:txBody>
      </p:sp>
      <p:sp>
        <p:nvSpPr>
          <p:cNvPr id="34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3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 and Carry the Feedback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38:00–41:00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9596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altLang="en-US" sz="34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 action will show that the feedback helped learning move forward?</a:t>
            </a:r>
            <a:endParaRPr lang="en-US" sz="34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927600"/>
            <a:ext cx="635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action students will take and the evidence that will show the action helped.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81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· SEPTEMBER 25 · 46 MINUTES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445000"/>
            <a:ext cx="4775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later lesson, the evidence pattern, feedback plan, and anticipated student response. Make one visible revision to the next learning experience.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04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matters when it gives students a clear next action and time to use it.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TO FEEDBACK &amp; NEXT STEPS · 9/22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Student Evidence to Feedback &amp; Next Steps</dc:title>
  <dc:subject>Lesson Internalization: Student Evidence to Feedback &amp; Next Steps</dc:subject>
  <dc:creator>Manus</dc:creator>
  <cp:lastModifiedBy>Manus</cp:lastModifiedBy>
  <cp:revision>1</cp:revision>
  <dcterms:created xsi:type="dcterms:W3CDTF">2026-09-21T20:08:11Z</dcterms:created>
  <dcterms:modified xsi:type="dcterms:W3CDTF">2026-09-21T20:08:11Z</dcterms:modified>
</cp:coreProperties>
</file>
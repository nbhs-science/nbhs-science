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381000"/>
            <a:ext cx="1346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 •  SCIENCE DEPARTMENT PD  •  WEDNESDAY, OCTOBER 28, 2026  •  2:30–3:30 P.M.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739900"/>
            <a:ext cx="109855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Strengthening Science Literacy:</a:t>
            </a:r>
            <a:endParaRPr lang="en-US" sz="3900" dirty="0"/>
          </a:p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Calibrating Writing Benchmarks,</a:t>
            </a:r>
            <a:endParaRPr lang="en-US" sz="3900" dirty="0"/>
          </a:p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Feedback, and Revision</a:t>
            </a:r>
            <a:endParaRPr lang="en-US" sz="3900" dirty="0"/>
          </a:p>
        </p:txBody>
      </p:sp>
      <p:sp>
        <p:nvSpPr>
          <p:cNvPr id="6" name="subtitle"/>
          <p:cNvSpPr/>
          <p:nvPr/>
        </p:nvSpPr>
        <p:spPr>
          <a:xfrm>
            <a:off x="736600" y="3848100"/>
            <a:ext cx="109220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 Focus: Teaching Students to Analyze Science Sources With CUBS + CER.</a:t>
            </a:r>
            <a:endParaRPr lang="en-US" sz="220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adaptable student-facing routines to help students notice, explain, and revise their thinking from a text, data display, diagram, model, investigation result, or other course source.</a:t>
            </a:r>
            <a:endParaRPr lang="en-US" sz="2200" dirty="0"/>
          </a:p>
        </p:txBody>
      </p:sp>
      <p:sp>
        <p:nvSpPr>
          <p:cNvPr id="7" name="cover-shape-6"/>
          <p:cNvSpPr/>
          <p:nvPr/>
        </p:nvSpPr>
        <p:spPr>
          <a:xfrm>
            <a:off x="12242800" y="2057400"/>
            <a:ext cx="3200400" cy="3073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focus-label"/>
          <p:cNvSpPr/>
          <p:nvPr/>
        </p:nvSpPr>
        <p:spPr>
          <a:xfrm>
            <a:off x="12573000" y="2438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SESSION OUTCOME</a:t>
            </a:r>
            <a:endParaRPr lang="en-US" sz="1400" dirty="0"/>
          </a:p>
        </p:txBody>
      </p:sp>
      <p:sp>
        <p:nvSpPr>
          <p:cNvPr id="9" name="focus-copy"/>
          <p:cNvSpPr/>
          <p:nvPr/>
        </p:nvSpPr>
        <p:spPr>
          <a:xfrm>
            <a:off x="12547600" y="2933700"/>
            <a:ext cx="25908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course-ready CUBS/CER routine with clear student directions, a feedback and revision action, an evidence check, and a recorded next step.</a:t>
            </a:r>
            <a:endParaRPr lang="en-US" sz="19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994400"/>
            <a:ext cx="14706600" cy="1295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anchor"/>
          <p:cNvSpPr/>
          <p:nvPr/>
        </p:nvSpPr>
        <p:spPr>
          <a:xfrm>
            <a:off x="1117600" y="6248400"/>
            <a:ext cx="13919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an authentic course source/task and 1–2 de-identified writing samples.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Biology benchmark is optional; each teacher will adapt the routine and use samples to calibrate student thinking, feedback, and revision.</a:t>
            </a:r>
            <a:endParaRPr lang="en-US" sz="2000" dirty="0"/>
          </a:p>
        </p:txBody>
      </p:sp>
      <p:sp>
        <p:nvSpPr>
          <p:cNvPr id="12" name="footer"/>
          <p:cNvSpPr/>
          <p:nvPr/>
        </p:nvSpPr>
        <p:spPr>
          <a:xfrm>
            <a:off x="736600" y="7975600"/>
            <a:ext cx="13208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2–4.</a:t>
            </a:r>
            <a:endParaRPr lang="en-US" sz="21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cover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a Transferable Science Literacy Routine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2:30–2:35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an authentic course source, response task, and de-identified writing samples to align what students notice, explain, revise, and show as evidence of standards-aligned science learning.</a:t>
            </a:r>
            <a:endParaRPr lang="en-US" sz="2300" dirty="0"/>
          </a:p>
        </p:txBody>
      </p:sp>
      <p:sp>
        <p:nvSpPr>
          <p:cNvPr id="6" name="outcome-shape-5"/>
          <p:cNvSpPr/>
          <p:nvPr/>
        </p:nvSpPr>
        <p:spPr>
          <a:xfrm>
            <a:off x="508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outcome-shape-6"/>
          <p:cNvSpPr/>
          <p:nvPr/>
        </p:nvSpPr>
        <p:spPr>
          <a:xfrm>
            <a:off x="3556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outcome-shape-7"/>
          <p:cNvSpPr/>
          <p:nvPr/>
        </p:nvSpPr>
        <p:spPr>
          <a:xfrm>
            <a:off x="6604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outcome-shape-8"/>
          <p:cNvSpPr/>
          <p:nvPr/>
        </p:nvSpPr>
        <p:spPr>
          <a:xfrm>
            <a:off x="9652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outcome-shape-9"/>
          <p:cNvSpPr/>
          <p:nvPr/>
        </p:nvSpPr>
        <p:spPr>
          <a:xfrm>
            <a:off x="12700000" y="2857500"/>
            <a:ext cx="3048000" cy="3149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1" name="c1"/>
          <p:cNvSpPr/>
          <p:nvPr/>
        </p:nvSpPr>
        <p:spPr>
          <a:xfrm>
            <a:off x="812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source +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text, graph, data set, diagram, model, lab result, or scenario.</a:t>
            </a:r>
            <a:endParaRPr lang="en-US" sz="2000" dirty="0"/>
          </a:p>
        </p:txBody>
      </p:sp>
      <p:sp>
        <p:nvSpPr>
          <p:cNvPr id="12" name="c2"/>
          <p:cNvSpPr/>
          <p:nvPr/>
        </p:nvSpPr>
        <p:spPr>
          <a:xfrm>
            <a:off x="3860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noticing visible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Rehearse CUBS or another access routine before students write.</a:t>
            </a:r>
            <a:endParaRPr lang="en-US" sz="2000" dirty="0"/>
          </a:p>
        </p:txBody>
      </p:sp>
      <p:sp>
        <p:nvSpPr>
          <p:cNvPr id="13" name="c3"/>
          <p:cNvSpPr/>
          <p:nvPr/>
        </p:nvSpPr>
        <p:spPr>
          <a:xfrm>
            <a:off x="6908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CER quality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Clarify claim, evidence, reasoning, and links to the science idea.</a:t>
            </a:r>
            <a:endParaRPr lang="en-US" sz="2000" dirty="0"/>
          </a:p>
        </p:txBody>
      </p:sp>
      <p:sp>
        <p:nvSpPr>
          <p:cNvPr id="14" name="c4"/>
          <p:cNvSpPr/>
          <p:nvPr/>
        </p:nvSpPr>
        <p:spPr>
          <a:xfrm>
            <a:off x="9956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feedback + revision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prompt and a specific action students will take.</a:t>
            </a:r>
            <a:endParaRPr lang="en-US" sz="2000" dirty="0"/>
          </a:p>
        </p:txBody>
      </p:sp>
      <p:sp>
        <p:nvSpPr>
          <p:cNvPr id="15" name="c5"/>
          <p:cNvSpPr/>
          <p:nvPr/>
        </p:nvSpPr>
        <p:spPr>
          <a:xfrm>
            <a:off x="13004800" y="3200400"/>
            <a:ext cx="2438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Plan, reflect + adjust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priority need, feedback action, and next evidence check.</a:t>
            </a:r>
            <a:endParaRPr lang="en-US" sz="2000" dirty="0"/>
          </a:p>
        </p:txBody>
      </p:sp>
      <p:sp>
        <p:nvSpPr>
          <p:cNvPr id="16" name="outcome-shape-15"/>
          <p:cNvSpPr/>
          <p:nvPr/>
        </p:nvSpPr>
        <p:spPr>
          <a:xfrm>
            <a:off x="508000" y="6921500"/>
            <a:ext cx="15240000" cy="939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7" name="note"/>
          <p:cNvSpPr/>
          <p:nvPr/>
        </p:nvSpPr>
        <p:spPr>
          <a:xfrm>
            <a:off x="838200" y="7150100"/>
            <a:ext cx="1454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8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a student-thinking routine.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Adapt the source and product; keep students responsible for the science reasoning.</a:t>
            </a:r>
            <a:endParaRPr lang="en-US" sz="21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outcome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Evidence-to-Action Cycle, Multiple Science Contexts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2:35–2:41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Biology benchmark was a shared learning model. Today, every teacher applies the same source-analysis, explanation, feedback, and revision cycle to an authentic task in the course they teach.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monday"/>
          <p:cNvSpPr/>
          <p:nvPr/>
        </p:nvSpPr>
        <p:spPr>
          <a:xfrm>
            <a:off x="800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Experience a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common benchmark model to see the learner demand.</a:t>
            </a:r>
            <a:endParaRPr lang="en-US" sz="2000" dirty="0"/>
          </a:p>
        </p:txBody>
      </p:sp>
      <p:sp>
        <p:nvSpPr>
          <p:cNvPr id="8" name="arrow1"/>
          <p:cNvSpPr/>
          <p:nvPr/>
        </p:nvSpPr>
        <p:spPr>
          <a:xfrm>
            <a:off x="3378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cycle-shape-8"/>
          <p:cNvSpPr/>
          <p:nvPr/>
        </p:nvSpPr>
        <p:spPr>
          <a:xfrm>
            <a:off x="4064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uesday"/>
          <p:cNvSpPr/>
          <p:nvPr/>
        </p:nvSpPr>
        <p:spPr>
          <a:xfrm>
            <a:off x="4356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for learning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access, facilitation, feedback, and revision for your course.</a:t>
            </a:r>
            <a:endParaRPr lang="en-US" sz="2000" dirty="0"/>
          </a:p>
        </p:txBody>
      </p:sp>
      <p:sp>
        <p:nvSpPr>
          <p:cNvPr id="11" name="arrow2"/>
          <p:cNvSpPr/>
          <p:nvPr/>
        </p:nvSpPr>
        <p:spPr>
          <a:xfrm>
            <a:off x="6934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cycle-shape-11"/>
          <p:cNvSpPr/>
          <p:nvPr/>
        </p:nvSpPr>
        <p:spPr>
          <a:xfrm>
            <a:off x="7620000" y="2794000"/>
            <a:ext cx="2794000" cy="304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wednesday"/>
          <p:cNvSpPr/>
          <p:nvPr/>
        </p:nvSpPr>
        <p:spPr>
          <a:xfrm>
            <a:off x="7912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PD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CUBS + CER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students how to analyze sources and explain evidence.</a:t>
            </a:r>
            <a:endParaRPr lang="en-US" sz="2000" dirty="0"/>
          </a:p>
        </p:txBody>
      </p:sp>
      <p:sp>
        <p:nvSpPr>
          <p:cNvPr id="14" name="arrow3"/>
          <p:cNvSpPr/>
          <p:nvPr/>
        </p:nvSpPr>
        <p:spPr>
          <a:xfrm>
            <a:off x="10490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cycle-shape-14"/>
          <p:cNvSpPr/>
          <p:nvPr/>
        </p:nvSpPr>
        <p:spPr>
          <a:xfrm>
            <a:off x="11176000" y="2794000"/>
            <a:ext cx="4572000" cy="3048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friday"/>
          <p:cNvSpPr/>
          <p:nvPr/>
        </p:nvSpPr>
        <p:spPr>
          <a:xfrm>
            <a:off x="11531600" y="3175000"/>
            <a:ext cx="3860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writing + respond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completed course-specific work to provide feedback and plan a precise mastery next step.</a:t>
            </a:r>
            <a:endParaRPr lang="en-US" sz="2000" dirty="0"/>
          </a:p>
        </p:txBody>
      </p:sp>
      <p:sp>
        <p:nvSpPr>
          <p:cNvPr id="17" name="cycle-shape-16"/>
          <p:cNvSpPr/>
          <p:nvPr/>
        </p:nvSpPr>
        <p:spPr>
          <a:xfrm>
            <a:off x="508000" y="6794500"/>
            <a:ext cx="15240000" cy="105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anchor"/>
          <p:cNvSpPr/>
          <p:nvPr/>
        </p:nvSpPr>
        <p:spPr>
          <a:xfrm>
            <a:off x="838200" y="7035800"/>
            <a:ext cx="14351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process common and the science authentic: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routine can support Biology, Chemistry, Physics, Environmental Science, and every other science course.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cycle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a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CUBS: Analyze a Science Source Before Writing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2:41–2:50  •  9 MIN</a:t>
            </a:r>
            <a:endParaRPr lang="en-US" sz="1600" dirty="0"/>
          </a:p>
        </p:txBody>
      </p:sp>
      <p:sp>
        <p:nvSpPr>
          <p:cNvPr id="5" name="criteria-shape-4"/>
          <p:cNvSpPr/>
          <p:nvPr/>
        </p:nvSpPr>
        <p:spPr>
          <a:xfrm>
            <a:off x="508000" y="1397000"/>
            <a:ext cx="15240000" cy="7366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6" name="prompt"/>
          <p:cNvSpPr/>
          <p:nvPr/>
        </p:nvSpPr>
        <p:spPr>
          <a:xfrm>
            <a:off x="825500" y="1600200"/>
            <a:ext cx="146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Think aloud: make the reading, visual-analysis, vocabulary, and question-asking moves visible before students explain.</a:t>
            </a:r>
            <a:endParaRPr lang="en-US" sz="2000" dirty="0"/>
          </a:p>
        </p:txBody>
      </p:sp>
      <p:sp>
        <p:nvSpPr>
          <p:cNvPr id="7" name="criteria-shape-6"/>
          <p:cNvSpPr/>
          <p:nvPr/>
        </p:nvSpPr>
        <p:spPr>
          <a:xfrm>
            <a:off x="508000" y="2794000"/>
            <a:ext cx="3556000" cy="3810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8" name="card1"/>
          <p:cNvSpPr/>
          <p:nvPr/>
        </p:nvSpPr>
        <p:spPr>
          <a:xfrm>
            <a:off x="825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 — CIRCLE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 the central question, phenomenon, pattern, relationship, or claim the source helps students investigate.</a:t>
            </a:r>
            <a:endParaRPr lang="en-US" sz="2100" dirty="0"/>
          </a:p>
        </p:txBody>
      </p:sp>
      <p:sp>
        <p:nvSpPr>
          <p:cNvPr id="9" name="criteria-shape-8"/>
          <p:cNvSpPr/>
          <p:nvPr/>
        </p:nvSpPr>
        <p:spPr>
          <a:xfrm>
            <a:off x="4445000" y="2794000"/>
            <a:ext cx="3556000" cy="38100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10" name="card2"/>
          <p:cNvSpPr/>
          <p:nvPr/>
        </p:nvSpPr>
        <p:spPr>
          <a:xfrm>
            <a:off x="4762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 — UNDERLINE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observations, data, labels, details, or relationships students may use as evidence.</a:t>
            </a:r>
            <a:endParaRPr lang="en-US" sz="2100" dirty="0"/>
          </a:p>
        </p:txBody>
      </p:sp>
      <p:sp>
        <p:nvSpPr>
          <p:cNvPr id="11" name="criteria-shape-10"/>
          <p:cNvSpPr/>
          <p:nvPr/>
        </p:nvSpPr>
        <p:spPr>
          <a:xfrm>
            <a:off x="8382000" y="2794000"/>
            <a:ext cx="3556000" cy="38100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2" name="card3"/>
          <p:cNvSpPr/>
          <p:nvPr/>
        </p:nvSpPr>
        <p:spPr>
          <a:xfrm>
            <a:off x="8699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 — BOX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unfamiliar or high-leverage words, symbols, units, or labels that students must interpret accurately.</a:t>
            </a:r>
            <a:endParaRPr lang="en-US" sz="2100" dirty="0"/>
          </a:p>
        </p:txBody>
      </p:sp>
      <p:sp>
        <p:nvSpPr>
          <p:cNvPr id="13" name="criteria-shape-12"/>
          <p:cNvSpPr/>
          <p:nvPr/>
        </p:nvSpPr>
        <p:spPr>
          <a:xfrm>
            <a:off x="12319000" y="2794000"/>
            <a:ext cx="3429000" cy="38100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4" name="card4"/>
          <p:cNvSpPr/>
          <p:nvPr/>
        </p:nvSpPr>
        <p:spPr>
          <a:xfrm>
            <a:off x="12636500" y="3149600"/>
            <a:ext cx="279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— SUMMARIZE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Summarize what the source shows, the question it raises, or the explanation students will need to construct.</a:t>
            </a:r>
            <a:endParaRPr lang="en-US" sz="2100" dirty="0"/>
          </a:p>
        </p:txBody>
      </p:sp>
      <p:sp>
        <p:nvSpPr>
          <p:cNvPr id="15" name="criteria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directions: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“Annotate today’s source. Record what you notice, what it may mean, and a question you still have.”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criteria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libratio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CUBS, Then Read a Student Writing Sample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2:50–3:00  •  10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a course-relevant source and 1–2 de-identified writing samples. The Biology benchmark is optional; use the routine and samples from your own science classroom.</a:t>
            </a:r>
            <a:endParaRPr lang="en-US" sz="2300" dirty="0"/>
          </a:p>
        </p:txBody>
      </p:sp>
      <p:sp>
        <p:nvSpPr>
          <p:cNvPr id="6" name="calibration-shape-5"/>
          <p:cNvSpPr/>
          <p:nvPr/>
        </p:nvSpPr>
        <p:spPr>
          <a:xfrm>
            <a:off x="508000" y="2413000"/>
            <a:ext cx="6731000" cy="49530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source-title"/>
          <p:cNvSpPr/>
          <p:nvPr/>
        </p:nvSpPr>
        <p:spPr>
          <a:xfrm>
            <a:off x="889000" y="2781300"/>
            <a:ext cx="596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A SOURCE + WRITING SAMPLE</a:t>
            </a:r>
            <a:endParaRPr lang="en-US" sz="2500" dirty="0"/>
          </a:p>
        </p:txBody>
      </p:sp>
      <p:sp>
        <p:nvSpPr>
          <p:cNvPr id="8" name="calibration-shape-7"/>
          <p:cNvSpPr/>
          <p:nvPr/>
        </p:nvSpPr>
        <p:spPr>
          <a:xfrm>
            <a:off x="889000" y="34798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calibration-shape-8"/>
          <p:cNvSpPr/>
          <p:nvPr/>
        </p:nvSpPr>
        <p:spPr>
          <a:xfrm>
            <a:off x="4064000" y="34798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calibration-shape-9"/>
          <p:cNvSpPr/>
          <p:nvPr/>
        </p:nvSpPr>
        <p:spPr>
          <a:xfrm>
            <a:off x="889000" y="52070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calibration-shape-10"/>
          <p:cNvSpPr/>
          <p:nvPr/>
        </p:nvSpPr>
        <p:spPr>
          <a:xfrm>
            <a:off x="4064000" y="5207000"/>
            <a:ext cx="2667000" cy="127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source1"/>
          <p:cNvSpPr/>
          <p:nvPr/>
        </p:nvSpPr>
        <p:spPr>
          <a:xfrm>
            <a:off x="1117600" y="37338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ARTICLE OR TEXT SET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explanation, scenario, procedure</a:t>
            </a:r>
            <a:endParaRPr lang="en-US" sz="1900" dirty="0"/>
          </a:p>
        </p:txBody>
      </p:sp>
      <p:sp>
        <p:nvSpPr>
          <p:cNvPr id="13" name="source2"/>
          <p:cNvSpPr/>
          <p:nvPr/>
        </p:nvSpPr>
        <p:spPr>
          <a:xfrm>
            <a:off x="4292600" y="37338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OR GRAPH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table, graph, calculation, pattern</a:t>
            </a:r>
            <a:endParaRPr lang="en-US" sz="1900" dirty="0"/>
          </a:p>
        </p:txBody>
      </p:sp>
      <p:sp>
        <p:nvSpPr>
          <p:cNvPr id="14" name="source3"/>
          <p:cNvSpPr/>
          <p:nvPr/>
        </p:nvSpPr>
        <p:spPr>
          <a:xfrm>
            <a:off x="1117600" y="54610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DIAGRAM OR MODEL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system, process, particle model</a:t>
            </a:r>
            <a:endParaRPr lang="en-US" sz="1900" dirty="0"/>
          </a:p>
        </p:txBody>
      </p:sp>
      <p:sp>
        <p:nvSpPr>
          <p:cNvPr id="15" name="source4"/>
          <p:cNvSpPr/>
          <p:nvPr/>
        </p:nvSpPr>
        <p:spPr>
          <a:xfrm>
            <a:off x="4292600" y="5461000"/>
            <a:ext cx="2209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INVESTIGATION RESULT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observation, evidence, conclusion</a:t>
            </a:r>
            <a:endParaRPr lang="en-US" sz="1900" dirty="0"/>
          </a:p>
        </p:txBody>
      </p:sp>
      <p:sp>
        <p:nvSpPr>
          <p:cNvPr id="16" name="calibration-shape-15"/>
          <p:cNvSpPr/>
          <p:nvPr/>
        </p:nvSpPr>
        <p:spPr>
          <a:xfrm>
            <a:off x="7620000" y="2413000"/>
            <a:ext cx="8128000" cy="4953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protocol-title"/>
          <p:cNvSpPr/>
          <p:nvPr/>
        </p:nvSpPr>
        <p:spPr>
          <a:xfrm>
            <a:off x="8001000" y="27813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PRACTICE: WHAT MUST STUDENTS NOTICE?</a:t>
            </a:r>
            <a:endParaRPr lang="en-US" sz="2500" dirty="0"/>
          </a:p>
        </p:txBody>
      </p:sp>
      <p:sp>
        <p:nvSpPr>
          <p:cNvPr id="18" name="protocol"/>
          <p:cNvSpPr/>
          <p:nvPr/>
        </p:nvSpPr>
        <p:spPr>
          <a:xfrm>
            <a:off x="8001000" y="3467100"/>
            <a:ext cx="71120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Circle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question, phenomenon, pattern, or relationship students must address.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Underline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details, observations, data, or labels that can serve as evidence.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Box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vocabulary, symbols, units, or representations that could limit access.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Summarize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science explanation, prediction, or conclusion students will need to construct.</a:t>
            </a:r>
            <a:endParaRPr lang="en-US" sz="2100" dirty="0"/>
          </a:p>
        </p:txBody>
      </p:sp>
      <p:sp>
        <p:nvSpPr>
          <p:cNvPr id="19" name="calibration-shape-18"/>
          <p:cNvSpPr/>
          <p:nvPr/>
        </p:nvSpPr>
        <p:spPr>
          <a:xfrm>
            <a:off x="508000" y="7747000"/>
            <a:ext cx="15240000" cy="546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0" name="transfer"/>
          <p:cNvSpPr/>
          <p:nvPr/>
        </p:nvSpPr>
        <p:spPr>
          <a:xfrm>
            <a:off x="825500" y="7874000"/>
            <a:ext cx="143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Debrief:</a:t>
            </a: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will you model, what will students annotate, and what does the writing sample show students need next?</a:t>
            </a:r>
            <a:endParaRPr lang="en-US" sz="18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calibration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terac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684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Color-Coded CER: Make Explanations Visible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3:00–3:08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de-identified writing sample to color-code what is visible. The routine helps students identify what each sentence is doing and check whether an evidence-based explanation includes the thinking the task requires.</a:t>
            </a:r>
            <a:endParaRPr lang="en-US" sz="2300" dirty="0"/>
          </a:p>
        </p:txBody>
      </p:sp>
      <p:sp>
        <p:nvSpPr>
          <p:cNvPr id="6" name="literacy-shape-5"/>
          <p:cNvSpPr/>
          <p:nvPr/>
        </p:nvSpPr>
        <p:spPr>
          <a:xfrm>
            <a:off x="508000" y="2730500"/>
            <a:ext cx="3530600" cy="3962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claim"/>
          <p:cNvSpPr/>
          <p:nvPr/>
        </p:nvSpPr>
        <p:spPr>
          <a:xfrm>
            <a:off x="8382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answer, prediction, conclusion, or explanation that directly responds to the science question.</a:t>
            </a:r>
            <a:endParaRPr lang="en-US" sz="2100" dirty="0"/>
          </a:p>
        </p:txBody>
      </p:sp>
      <p:sp>
        <p:nvSpPr>
          <p:cNvPr id="8" name="literacy-shape-7"/>
          <p:cNvSpPr/>
          <p:nvPr/>
        </p:nvSpPr>
        <p:spPr>
          <a:xfrm>
            <a:off x="4292600" y="2730500"/>
            <a:ext cx="3530600" cy="39624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9" name="evidence"/>
          <p:cNvSpPr/>
          <p:nvPr/>
        </p:nvSpPr>
        <p:spPr>
          <a:xfrm>
            <a:off x="46228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Accurate, relevant details from a text, graph, data set, observation, diagram, model, or investigation.</a:t>
            </a:r>
            <a:endParaRPr lang="en-US" sz="2100" dirty="0"/>
          </a:p>
        </p:txBody>
      </p:sp>
      <p:sp>
        <p:nvSpPr>
          <p:cNvPr id="10" name="literacy-shape-9"/>
          <p:cNvSpPr/>
          <p:nvPr/>
        </p:nvSpPr>
        <p:spPr>
          <a:xfrm>
            <a:off x="8077200" y="2730500"/>
            <a:ext cx="3530600" cy="39624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1" name="reasoning"/>
          <p:cNvSpPr/>
          <p:nvPr/>
        </p:nvSpPr>
        <p:spPr>
          <a:xfrm>
            <a:off x="84074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scientific explanation of why the evidence supports the claim, using the relevant science idea.</a:t>
            </a:r>
            <a:endParaRPr lang="en-US" sz="2100" dirty="0"/>
          </a:p>
        </p:txBody>
      </p:sp>
      <p:sp>
        <p:nvSpPr>
          <p:cNvPr id="12" name="literacy-shape-11"/>
          <p:cNvSpPr/>
          <p:nvPr/>
        </p:nvSpPr>
        <p:spPr>
          <a:xfrm>
            <a:off x="11861800" y="2730500"/>
            <a:ext cx="3886200" cy="39624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3" name="links"/>
          <p:cNvSpPr/>
          <p:nvPr/>
        </p:nvSpPr>
        <p:spPr>
          <a:xfrm>
            <a:off x="12192000" y="3111500"/>
            <a:ext cx="32766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+ TRANSITIONS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Words and sentences that make the logic clear: therefore, because, this shows, as a result.</a:t>
            </a:r>
            <a:endParaRPr lang="en-US" sz="2100" dirty="0"/>
          </a:p>
        </p:txBody>
      </p:sp>
      <p:sp>
        <p:nvSpPr>
          <p:cNvPr id="14" name="literacy-shape-13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“Highlight or label each part. Which part is missing, weak, or not yet connected to the science idea?”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7" name="literacy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192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Feedback That Prompts Revision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3:08–3:15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writing sample to agree on one student action after feedback. Model the routine, then use a prompt that sends students back to the source and their own explanation without completing the thinking.</a:t>
            </a:r>
            <a:endParaRPr lang="en-US" sz="2300" dirty="0"/>
          </a:p>
        </p:txBody>
      </p:sp>
      <p:sp>
        <p:nvSpPr>
          <p:cNvPr id="6" name="feedback-shape-5"/>
          <p:cNvSpPr/>
          <p:nvPr/>
        </p:nvSpPr>
        <p:spPr>
          <a:xfrm>
            <a:off x="635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feedback-shape-6"/>
          <p:cNvSpPr/>
          <p:nvPr/>
        </p:nvSpPr>
        <p:spPr>
          <a:xfrm>
            <a:off x="46355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feedback-shape-7"/>
          <p:cNvSpPr/>
          <p:nvPr/>
        </p:nvSpPr>
        <p:spPr>
          <a:xfrm>
            <a:off x="8636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feedback-shape-8"/>
          <p:cNvSpPr/>
          <p:nvPr/>
        </p:nvSpPr>
        <p:spPr>
          <a:xfrm>
            <a:off x="12636500" y="2984500"/>
            <a:ext cx="2984500" cy="190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s1"/>
          <p:cNvSpPr/>
          <p:nvPr/>
        </p:nvSpPr>
        <p:spPr>
          <a:xfrm>
            <a:off x="914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THINK ALOUD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how to interpret a source or identify a CER part.</a:t>
            </a:r>
            <a:endParaRPr lang="en-US" sz="2000" dirty="0"/>
          </a:p>
        </p:txBody>
      </p:sp>
      <p:sp>
        <p:nvSpPr>
          <p:cNvPr id="11" name="s2"/>
          <p:cNvSpPr/>
          <p:nvPr/>
        </p:nvSpPr>
        <p:spPr>
          <a:xfrm>
            <a:off x="49149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PROMPT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what the source shows, means, or supports.</a:t>
            </a:r>
            <a:endParaRPr lang="en-US" sz="2000" dirty="0"/>
          </a:p>
        </p:txBody>
      </p:sp>
      <p:sp>
        <p:nvSpPr>
          <p:cNvPr id="12" name="s3"/>
          <p:cNvSpPr/>
          <p:nvPr/>
        </p:nvSpPr>
        <p:spPr>
          <a:xfrm>
            <a:off x="8915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WRITE + CODE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construct and label an evidence-based explanation.</a:t>
            </a:r>
            <a:endParaRPr lang="en-US" sz="2000" dirty="0"/>
          </a:p>
        </p:txBody>
      </p:sp>
      <p:sp>
        <p:nvSpPr>
          <p:cNvPr id="13" name="s4"/>
          <p:cNvSpPr/>
          <p:nvPr/>
        </p:nvSpPr>
        <p:spPr>
          <a:xfrm>
            <a:off x="12915900" y="3340100"/>
            <a:ext cx="24257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REVISE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act on one calibrated, criterion-based feedback prompt.</a:t>
            </a:r>
            <a:endParaRPr lang="en-US" sz="2000" dirty="0"/>
          </a:p>
        </p:txBody>
      </p:sp>
      <p:sp>
        <p:nvSpPr>
          <p:cNvPr id="14" name="a1"/>
          <p:cNvSpPr/>
          <p:nvPr/>
        </p:nvSpPr>
        <p:spPr>
          <a:xfrm>
            <a:off x="3683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a2"/>
          <p:cNvSpPr/>
          <p:nvPr/>
        </p:nvSpPr>
        <p:spPr>
          <a:xfrm>
            <a:off x="76835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6" name="a3"/>
          <p:cNvSpPr/>
          <p:nvPr/>
        </p:nvSpPr>
        <p:spPr>
          <a:xfrm>
            <a:off x="11684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7" name="feedback-shape-16"/>
          <p:cNvSpPr/>
          <p:nvPr/>
        </p:nvSpPr>
        <p:spPr>
          <a:xfrm>
            <a:off x="635000" y="5778500"/>
            <a:ext cx="14986000" cy="17526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prompt-title"/>
          <p:cNvSpPr/>
          <p:nvPr/>
        </p:nvSpPr>
        <p:spPr>
          <a:xfrm>
            <a:off x="990600" y="6070600"/>
            <a:ext cx="711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THAT PRESERVES THE THINKING</a:t>
            </a:r>
            <a:endParaRPr lang="en-US" sz="2200" dirty="0"/>
          </a:p>
        </p:txBody>
      </p:sp>
      <p:sp>
        <p:nvSpPr>
          <p:cNvPr id="19" name="prompt-copy"/>
          <p:cNvSpPr/>
          <p:nvPr/>
        </p:nvSpPr>
        <p:spPr>
          <a:xfrm>
            <a:off x="990600" y="6629400"/>
            <a:ext cx="1371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“Underline the evidence you selected. Then add or revise a reasoning sentence that explains how this evidence supports your claim or conclusion.”</a:t>
            </a:r>
            <a:endParaRPr lang="en-US" sz="21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21" name="feedback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811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Course-Alike Lesson Planning + Reflection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3:15–3:28  •  13 MIN</a:t>
            </a:r>
            <a:endParaRPr lang="en-US" sz="1600" dirty="0"/>
          </a:p>
        </p:txBody>
      </p:sp>
      <p:sp>
        <p:nvSpPr>
          <p:cNvPr id="5" name="timer-panel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timer-sub"/>
          <p:cNvSpPr/>
          <p:nvPr/>
        </p:nvSpPr>
        <p:spPr>
          <a:xfrm>
            <a:off x="850900" y="5384800"/>
            <a:ext cx="3149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the student strategy, priority need, feedback, and next evidence check.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do1"/>
          <p:cNvSpPr/>
          <p:nvPr/>
        </p:nvSpPr>
        <p:spPr>
          <a:xfrm>
            <a:off x="5181600" y="18542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Name the data-based priority.</a:t>
            </a: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student work, assessment data, or observation to name where students struggle most: source analysis, claim, evidence, reasoning, vocabulary, clarity, or another need.</a:t>
            </a:r>
            <a:endParaRPr lang="en-US" sz="1800" dirty="0"/>
          </a:p>
        </p:txBody>
      </p:sp>
      <p:sp>
        <p:nvSpPr>
          <p:cNvPr id="12" name="worktime-shape-11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do2"/>
          <p:cNvSpPr/>
          <p:nvPr/>
        </p:nvSpPr>
        <p:spPr>
          <a:xfrm>
            <a:off x="5181600" y="36830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Plan the student experience.</a:t>
            </a: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Record the source/task, the strategy students will use to analyze it, what a complete CER response must show, and the feedback/revision action students will take.</a:t>
            </a:r>
            <a:endParaRPr lang="en-US" sz="1900" dirty="0"/>
          </a:p>
        </p:txBody>
      </p:sp>
      <p:sp>
        <p:nvSpPr>
          <p:cNvPr id="14" name="worktime-shape-13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do3"/>
          <p:cNvSpPr/>
          <p:nvPr/>
        </p:nvSpPr>
        <p:spPr>
          <a:xfrm>
            <a:off x="5181600" y="5537200"/>
            <a:ext cx="98425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Complete the Lesson Planning &amp; Reflection Sheet.</a:t>
            </a: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During PD, plan the lesson and feedback. After the lesson, record what the evidence shows, what to keep or adjust, one colleague idea, and the evidence you will bring Friday.</a:t>
            </a:r>
            <a:endParaRPr lang="en-US" sz="18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7" name="workti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eyebrow"/>
          <p:cNvSpPr/>
          <p:nvPr/>
        </p:nvSpPr>
        <p:spPr>
          <a:xfrm>
            <a:off x="736600" y="3429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PREPARE FOR STUDENT WORK REVIEW  •  3:28–3:30 P.M.  •  2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89100"/>
            <a:ext cx="1384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 the routine. Capture the next step. Revisit student evidence Friday.</a:t>
            </a:r>
            <a:endParaRPr lang="en-US" sz="3900" dirty="0"/>
          </a:p>
        </p:txBody>
      </p:sp>
      <p:sp>
        <p:nvSpPr>
          <p:cNvPr id="5" name="close-shape-4"/>
          <p:cNvSpPr/>
          <p:nvPr/>
        </p:nvSpPr>
        <p:spPr>
          <a:xfrm>
            <a:off x="736600" y="3136900"/>
            <a:ext cx="14706600" cy="3505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092200" y="3543300"/>
            <a:ext cx="4292600" cy="23241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5981700" y="3543300"/>
            <a:ext cx="42926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0871200" y="3543300"/>
            <a:ext cx="42164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use"/>
          <p:cNvSpPr/>
          <p:nvPr/>
        </p:nvSpPr>
        <p:spPr>
          <a:xfrm>
            <a:off x="13462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CUBS/CER routine with an appropriate course source and response task.</a:t>
            </a:r>
            <a:endParaRPr lang="en-US" sz="2000" dirty="0"/>
          </a:p>
        </p:txBody>
      </p:sp>
      <p:sp>
        <p:nvSpPr>
          <p:cNvPr id="10" name="collect"/>
          <p:cNvSpPr/>
          <p:nvPr/>
        </p:nvSpPr>
        <p:spPr>
          <a:xfrm>
            <a:off x="62357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+ REFLECT</a:t>
            </a:r>
            <a:endParaRPr lang="en-US" sz="1900" dirty="0"/>
          </a:p>
          <a:p>
            <a:pPr algn="l" indent="0" marL="0">
              <a:lnSpc>
                <a:spcPts val="2242"/>
              </a:lnSpc>
              <a:spcBef>
                <a:spcPts val="900"/>
              </a:spcBef>
              <a:buNone/>
            </a:pPr>
            <a:r>
              <a:rPr lang="en-US" altLang="en-US" sz="19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Lesson Planning &amp; Reflection Sheet to record the student strategy, data-based need, feedback/revision action, colleague idea, and evidence you will collect.</a:t>
            </a:r>
            <a:endParaRPr lang="en-US" sz="1900" dirty="0"/>
          </a:p>
        </p:txBody>
      </p:sp>
      <p:sp>
        <p:nvSpPr>
          <p:cNvPr id="11" name="revisit"/>
          <p:cNvSpPr/>
          <p:nvPr/>
        </p:nvSpPr>
        <p:spPr>
          <a:xfrm>
            <a:off x="11125200" y="3835400"/>
            <a:ext cx="37084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 FRIDAY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completed writing and feedback evidence to plan a precise, standard-focused next step.</a:t>
            </a:r>
            <a:endParaRPr lang="en-US" sz="2000" dirty="0"/>
          </a:p>
        </p:txBody>
      </p:sp>
      <p:sp>
        <p:nvSpPr>
          <p:cNvPr id="12" name="bottom"/>
          <p:cNvSpPr/>
          <p:nvPr/>
        </p:nvSpPr>
        <p:spPr>
          <a:xfrm>
            <a:off x="736600" y="7289800"/>
            <a:ext cx="1419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Remember: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routine supports students’ own analysis and explanation; it does not provide the answer.</a:t>
            </a:r>
            <a:endParaRPr lang="en-US" sz="22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Strengthening Science Literacy: Calibrating Writing Benchmarks, Feedback, and Revision</dc:title>
  <dc:subject>Strengthening Science Literacy: Calibrating Writing Benchmarks, Feedback, and Revision</dc:subject>
  <dc:creator>Manus</dc:creator>
  <cp:lastModifiedBy>Manus</cp:lastModifiedBy>
  <cp:revision>1</cp:revision>
  <dcterms:created xsi:type="dcterms:W3CDTF">2026-10-27T22:47:46Z</dcterms:created>
  <dcterms:modified xsi:type="dcterms:W3CDTF">2026-10-27T22:47:46Z</dcterms:modified>
</cp:coreProperties>
</file>
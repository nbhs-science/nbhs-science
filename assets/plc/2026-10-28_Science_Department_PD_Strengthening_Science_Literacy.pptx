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image" descr="preencoded.png">    </p:cNvPr>
          <p:cNvPicPr>
            <a:picLocks noChangeAspect="1"/>
          </p:cNvPicPr>
          <p:nvPr/>
        </p:nvPicPr>
        <p:blipFill>
          <a:blip r:embed="rId1"/>
          <a:srcRect l="0" r="0" t="7827" b="7827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background-mask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222222">
              <a:alpha val="7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op-rule"/>
          <p:cNvSpPr/>
          <p:nvPr/>
        </p:nvSpPr>
        <p:spPr>
          <a:xfrm>
            <a:off x="0" y="0"/>
            <a:ext cx="16256000" cy="1016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left-accent"/>
          <p:cNvSpPr/>
          <p:nvPr/>
        </p:nvSpPr>
        <p:spPr>
          <a:xfrm>
            <a:off x="609600" y="1676400"/>
            <a:ext cx="152400" cy="49784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6" name="eyebrow"/>
          <p:cNvSpPr/>
          <p:nvPr/>
        </p:nvSpPr>
        <p:spPr>
          <a:xfrm>
            <a:off x="1092200" y="1524000"/>
            <a:ext cx="1016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· SCIENCE DEPARTMENT · DEPARTMENT PD</a:t>
            </a:r>
            <a:endParaRPr lang="en-US" sz="1500" dirty="0"/>
          </a:p>
        </p:txBody>
      </p:sp>
      <p:sp>
        <p:nvSpPr>
          <p:cNvPr id="7" name="title"/>
          <p:cNvSpPr/>
          <p:nvPr/>
        </p:nvSpPr>
        <p:spPr>
          <a:xfrm>
            <a:off x="1092200" y="2222500"/>
            <a:ext cx="10414000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50"/>
              </a:lnSpc>
              <a:buNone/>
            </a:pPr>
            <a:r>
              <a:rPr lang="en-US" altLang="en-US" sz="5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</a:t>
            </a:r>
            <a:endParaRPr lang="en-US" sz="5000" dirty="0"/>
          </a:p>
          <a:p>
            <a:pPr algn="l" indent="0" marL="0">
              <a:lnSpc>
                <a:spcPts val="5250"/>
              </a:lnSpc>
              <a:buNone/>
            </a:pPr>
            <a:r>
              <a:rPr lang="en-US" altLang="en-US" sz="5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 Feedback, and Revision</a:t>
            </a:r>
            <a:endParaRPr lang="en-US" sz="5000" dirty="0"/>
          </a:p>
        </p:txBody>
      </p:sp>
      <p:sp>
        <p:nvSpPr>
          <p:cNvPr id="8" name="title-rule"/>
          <p:cNvSpPr/>
          <p:nvPr/>
        </p:nvSpPr>
        <p:spPr>
          <a:xfrm>
            <a:off x="1092200" y="4343400"/>
            <a:ext cx="88265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9" name="session"/>
          <p:cNvSpPr/>
          <p:nvPr/>
        </p:nvSpPr>
        <p:spPr>
          <a:xfrm>
            <a:off x="1092200" y="4800600"/>
            <a:ext cx="9652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Wednesday, October 28, 2026 · 2:30–3:30 p.m.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standards-aligned task · one clear student action · one next evidence look-for</a:t>
            </a:r>
            <a:endParaRPr lang="en-US" sz="2400" dirty="0"/>
          </a:p>
        </p:txBody>
      </p:sp>
      <p:sp>
        <p:nvSpPr>
          <p:cNvPr id="10" name="focus-panel"/>
          <p:cNvSpPr/>
          <p:nvPr/>
        </p:nvSpPr>
        <p:spPr>
          <a:xfrm>
            <a:off x="11684000" y="1701800"/>
            <a:ext cx="3911600" cy="4953000"/>
          </a:xfrm>
          <a:prstGeom prst="rect">
            <a:avLst/>
          </a:prstGeom>
          <a:solidFill>
            <a:srgbClr val="FFFFFF">
              <a:alpha val="91000"/>
            </a:srgbClr>
          </a:solidFill>
          <a:ln/>
        </p:spPr>
      </p:sp>
      <p:sp>
        <p:nvSpPr>
          <p:cNvPr id="11" name="focus-label"/>
          <p:cNvSpPr/>
          <p:nvPr/>
        </p:nvSpPr>
        <p:spPr>
          <a:xfrm>
            <a:off x="12039600" y="2133600"/>
            <a:ext cx="3175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SESSION FOCUS</a:t>
            </a:r>
            <a:endParaRPr lang="en-US" sz="1400" dirty="0"/>
          </a:p>
        </p:txBody>
      </p:sp>
      <p:sp>
        <p:nvSpPr>
          <p:cNvPr id="12" name="focus-copy"/>
          <p:cNvSpPr/>
          <p:nvPr/>
        </p:nvSpPr>
        <p:spPr>
          <a:xfrm>
            <a:off x="12039600" y="2794000"/>
            <a:ext cx="3073400" cy="298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quality visible.</a:t>
            </a:r>
            <a:endParaRPr lang="en-US" sz="2200" dirty="0"/>
          </a:p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what a standards-aligned response should show.</a:t>
            </a:r>
            <a:endParaRPr lang="en-US" sz="2200" dirty="0"/>
          </a:p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feedback that results in a revision, explanation, comparison, or application.</a:t>
            </a:r>
            <a:endParaRPr lang="en-US" sz="2200" dirty="0"/>
          </a:p>
        </p:txBody>
      </p:sp>
      <p:sp>
        <p:nvSpPr>
          <p:cNvPr id="13" name="footer"/>
          <p:cNvSpPr/>
          <p:nvPr/>
        </p:nvSpPr>
        <p:spPr>
          <a:xfrm>
            <a:off x="609600" y="8534400"/>
            <a:ext cx="142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LITERACY &amp; LESSON INTERNALIZATION · 2026–27</a:t>
            </a:r>
            <a:endParaRPr lang="en-US" sz="1200" dirty="0"/>
          </a:p>
        </p:txBody>
      </p:sp>
      <p:sp>
        <p:nvSpPr>
          <p:cNvPr id="14" name="page"/>
          <p:cNvSpPr/>
          <p:nvPr/>
        </p:nvSpPr>
        <p:spPr>
          <a:xfrm>
            <a:off x="14986000" y="8534400"/>
            <a:ext cx="660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header"/>
          <p:cNvSpPr/>
          <p:nvPr/>
        </p:nvSpPr>
        <p:spPr>
          <a:xfrm>
            <a:off x="0" y="76200"/>
            <a:ext cx="16256000" cy="1193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header-title"/>
          <p:cNvSpPr/>
          <p:nvPr/>
        </p:nvSpPr>
        <p:spPr>
          <a:xfrm>
            <a:off x="609600" y="393700"/>
            <a:ext cx="11176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Practical Outcome for Today</a:t>
            </a:r>
            <a:endParaRPr lang="en-US" sz="3200" dirty="0"/>
          </a:p>
        </p:txBody>
      </p:sp>
      <p:sp>
        <p:nvSpPr>
          <p:cNvPr id="5" name="header-meta"/>
          <p:cNvSpPr/>
          <p:nvPr/>
        </p:nvSpPr>
        <p:spPr>
          <a:xfrm>
            <a:off x="12369800" y="495300"/>
            <a:ext cx="32766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60-MINUTE WORKING SESSION</a:t>
            </a:r>
            <a:endParaRPr lang="en-US" sz="1300" dirty="0"/>
          </a:p>
        </p:txBody>
      </p:sp>
      <p:sp>
        <p:nvSpPr>
          <p:cNvPr id="6" name="intro"/>
          <p:cNvSpPr/>
          <p:nvPr/>
        </p:nvSpPr>
        <p:spPr>
          <a:xfrm>
            <a:off x="609600" y="1676400"/>
            <a:ext cx="1435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altLang="en-US" sz="2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with one course-specific evidence task and a clear path from </a:t>
            </a:r>
            <a:r>
              <a:rPr lang="en-US" altLang="en-US" sz="21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criteria</a:t>
            </a:r>
            <a:r>
              <a:rPr lang="en-US" altLang="en-US" sz="2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</a:t>
            </a:r>
            <a:r>
              <a:rPr lang="en-US" altLang="en-US" sz="21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action</a:t>
            </a:r>
            <a:r>
              <a:rPr lang="en-US" altLang="en-US" sz="2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</a:t>
            </a:r>
            <a:r>
              <a:rPr lang="en-US" altLang="en-US" sz="21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evidence</a:t>
            </a:r>
            <a:r>
              <a:rPr lang="en-US" altLang="en-US" sz="2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100" dirty="0"/>
          </a:p>
        </p:txBody>
      </p:sp>
      <p:sp>
        <p:nvSpPr>
          <p:cNvPr id="7" name="card1"/>
          <p:cNvSpPr/>
          <p:nvPr/>
        </p:nvSpPr>
        <p:spPr>
          <a:xfrm>
            <a:off x="609600" y="30480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card2"/>
          <p:cNvSpPr/>
          <p:nvPr/>
        </p:nvSpPr>
        <p:spPr>
          <a:xfrm>
            <a:off x="3581400" y="30480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card3"/>
          <p:cNvSpPr/>
          <p:nvPr/>
        </p:nvSpPr>
        <p:spPr>
          <a:xfrm>
            <a:off x="6553200" y="30480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card4"/>
          <p:cNvSpPr/>
          <p:nvPr/>
        </p:nvSpPr>
        <p:spPr>
          <a:xfrm>
            <a:off x="9525000" y="30480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card5"/>
          <p:cNvSpPr/>
          <p:nvPr/>
        </p:nvSpPr>
        <p:spPr>
          <a:xfrm>
            <a:off x="12496800" y="3048000"/>
            <a:ext cx="2794000" cy="314960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n1"/>
          <p:cNvSpPr/>
          <p:nvPr/>
        </p:nvSpPr>
        <p:spPr>
          <a:xfrm>
            <a:off x="889000" y="3302000"/>
            <a:ext cx="76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800" dirty="0"/>
          </a:p>
        </p:txBody>
      </p:sp>
      <p:sp>
        <p:nvSpPr>
          <p:cNvPr id="13" name="n2"/>
          <p:cNvSpPr/>
          <p:nvPr/>
        </p:nvSpPr>
        <p:spPr>
          <a:xfrm>
            <a:off x="3860800" y="3302000"/>
            <a:ext cx="76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n3"/>
          <p:cNvSpPr/>
          <p:nvPr/>
        </p:nvSpPr>
        <p:spPr>
          <a:xfrm>
            <a:off x="6832600" y="3302000"/>
            <a:ext cx="76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800" dirty="0"/>
          </a:p>
        </p:txBody>
      </p:sp>
      <p:sp>
        <p:nvSpPr>
          <p:cNvPr id="15" name="n4"/>
          <p:cNvSpPr/>
          <p:nvPr/>
        </p:nvSpPr>
        <p:spPr>
          <a:xfrm>
            <a:off x="9804400" y="3302000"/>
            <a:ext cx="76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3800" dirty="0"/>
          </a:p>
        </p:txBody>
      </p:sp>
      <p:sp>
        <p:nvSpPr>
          <p:cNvPr id="16" name="n5"/>
          <p:cNvSpPr/>
          <p:nvPr/>
        </p:nvSpPr>
        <p:spPr>
          <a:xfrm>
            <a:off x="12776200" y="3302000"/>
            <a:ext cx="76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38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3800" dirty="0"/>
          </a:p>
        </p:txBody>
      </p:sp>
      <p:sp>
        <p:nvSpPr>
          <p:cNvPr id="17" name="c1"/>
          <p:cNvSpPr/>
          <p:nvPr/>
        </p:nvSpPr>
        <p:spPr>
          <a:xfrm>
            <a:off x="889000" y="4089400"/>
            <a:ext cx="2159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the task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one writing, model, data-analysis, investigation, or explanation task.</a:t>
            </a:r>
            <a:endParaRPr lang="en-US" sz="1900" dirty="0"/>
          </a:p>
        </p:txBody>
      </p:sp>
      <p:sp>
        <p:nvSpPr>
          <p:cNvPr id="18" name="c2"/>
          <p:cNvSpPr/>
          <p:nvPr/>
        </p:nvSpPr>
        <p:spPr>
          <a:xfrm>
            <a:off x="3860800" y="4089400"/>
            <a:ext cx="2159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criteria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Clarify what quality content, evidence, reasoning, language, or representation looks like.</a:t>
            </a:r>
            <a:endParaRPr lang="en-US" sz="1900" dirty="0"/>
          </a:p>
        </p:txBody>
      </p:sp>
      <p:sp>
        <p:nvSpPr>
          <p:cNvPr id="19" name="c3"/>
          <p:cNvSpPr/>
          <p:nvPr/>
        </p:nvSpPr>
        <p:spPr>
          <a:xfrm>
            <a:off x="6832600" y="4089400"/>
            <a:ext cx="2159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evidence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small sample set to locate strengths and a shared need by criterion.</a:t>
            </a:r>
            <a:endParaRPr lang="en-US" sz="1900" dirty="0"/>
          </a:p>
        </p:txBody>
      </p:sp>
      <p:sp>
        <p:nvSpPr>
          <p:cNvPr id="20" name="c4"/>
          <p:cNvSpPr/>
          <p:nvPr/>
        </p:nvSpPr>
        <p:spPr>
          <a:xfrm>
            <a:off x="9804400" y="4089400"/>
            <a:ext cx="2159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feedback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one prompt that tells students what to strengthen without doing the thinking for them.</a:t>
            </a:r>
            <a:endParaRPr lang="en-US" sz="1900" dirty="0"/>
          </a:p>
        </p:txBody>
      </p:sp>
      <p:sp>
        <p:nvSpPr>
          <p:cNvPr id="21" name="c5"/>
          <p:cNvSpPr/>
          <p:nvPr/>
        </p:nvSpPr>
        <p:spPr>
          <a:xfrm>
            <a:off x="12776200" y="4089400"/>
            <a:ext cx="2159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the next look-for</a:t>
            </a:r>
            <a:endParaRPr lang="en-US" sz="1900" dirty="0"/>
          </a:p>
          <a:p>
            <a:pPr algn="l" indent="0" marL="0">
              <a:lnSpc>
                <a:spcPts val="2280"/>
              </a:lnSpc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what student evidence will show whether the move worked.</a:t>
            </a:r>
            <a:endParaRPr lang="en-US" sz="1900" dirty="0"/>
          </a:p>
        </p:txBody>
      </p:sp>
      <p:sp>
        <p:nvSpPr>
          <p:cNvPr id="22" name="note"/>
          <p:cNvSpPr/>
          <p:nvPr/>
        </p:nvSpPr>
        <p:spPr>
          <a:xfrm>
            <a:off x="609600" y="6858000"/>
            <a:ext cx="14681200" cy="812800"/>
          </a:xfrm>
          <a:prstGeom prst="rect">
            <a:avLst/>
          </a:prstGeom>
          <a:solidFill>
            <a:srgbClr val="FCE9EC"/>
          </a:solidFill>
          <a:ln/>
        </p:spPr>
      </p:sp>
      <p:sp>
        <p:nvSpPr>
          <p:cNvPr id="23" name="note-copy"/>
          <p:cNvSpPr/>
          <p:nvPr/>
        </p:nvSpPr>
        <p:spPr>
          <a:xfrm>
            <a:off x="914400" y="7086600"/>
            <a:ext cx="1397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not a separate assessment initiative.</a:t>
            </a: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continues the same benchmark, lesson-internalization, CUBS, CER, feedback, and revision cycle.</a:t>
            </a:r>
            <a:endParaRPr lang="en-US" sz="1800" dirty="0"/>
          </a:p>
        </p:txBody>
      </p:sp>
      <p:sp>
        <p:nvSpPr>
          <p:cNvPr id="24" name="footer"/>
          <p:cNvSpPr/>
          <p:nvPr/>
        </p:nvSpPr>
        <p:spPr>
          <a:xfrm>
            <a:off x="609600" y="8559800"/>
            <a:ext cx="133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28, 2026 · SCIENCE LITERACY DEPARTMENT PD</a:t>
            </a:r>
            <a:endParaRPr lang="en-US" sz="1200" dirty="0"/>
          </a:p>
        </p:txBody>
      </p:sp>
      <p:sp>
        <p:nvSpPr>
          <p:cNvPr id="25" name="page"/>
          <p:cNvSpPr/>
          <p:nvPr/>
        </p:nvSpPr>
        <p:spPr>
          <a:xfrm>
            <a:off x="14833600" y="8559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header"/>
          <p:cNvSpPr/>
          <p:nvPr/>
        </p:nvSpPr>
        <p:spPr>
          <a:xfrm>
            <a:off x="0" y="76200"/>
            <a:ext cx="16256000" cy="1193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header-title"/>
          <p:cNvSpPr/>
          <p:nvPr/>
        </p:nvSpPr>
        <p:spPr>
          <a:xfrm>
            <a:off x="609600" y="393700"/>
            <a:ext cx="11938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Evidence-to-Action Cycle</a:t>
            </a:r>
            <a:endParaRPr lang="en-US" sz="3200" dirty="0"/>
          </a:p>
        </p:txBody>
      </p:sp>
      <p:sp>
        <p:nvSpPr>
          <p:cNvPr id="5" name="header-meta"/>
          <p:cNvSpPr/>
          <p:nvPr/>
        </p:nvSpPr>
        <p:spPr>
          <a:xfrm>
            <a:off x="12700000" y="495300"/>
            <a:ext cx="294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ONE STORY</a:t>
            </a:r>
            <a:endParaRPr lang="en-US" sz="1300" dirty="0"/>
          </a:p>
        </p:txBody>
      </p:sp>
      <p:sp>
        <p:nvSpPr>
          <p:cNvPr id="6" name="intro"/>
          <p:cNvSpPr/>
          <p:nvPr/>
        </p:nvSpPr>
        <p:spPr>
          <a:xfrm>
            <a:off x="609600" y="1600200"/>
            <a:ext cx="1473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PD keeps one instructional story visible from a benchmark priority through student response and the next learning experience.</a:t>
            </a:r>
            <a:endParaRPr lang="en-US" sz="2000" dirty="0"/>
          </a:p>
        </p:txBody>
      </p:sp>
      <p:sp>
        <p:nvSpPr>
          <p:cNvPr id="7" name="a1"/>
          <p:cNvSpPr/>
          <p:nvPr/>
        </p:nvSpPr>
        <p:spPr>
          <a:xfrm>
            <a:off x="762000" y="2489200"/>
            <a:ext cx="2921000" cy="12065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8" name="a2"/>
          <p:cNvSpPr/>
          <p:nvPr/>
        </p:nvSpPr>
        <p:spPr>
          <a:xfrm>
            <a:off x="5397500" y="1803400"/>
            <a:ext cx="2921000" cy="12065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9" name="a3"/>
          <p:cNvSpPr/>
          <p:nvPr/>
        </p:nvSpPr>
        <p:spPr>
          <a:xfrm>
            <a:off x="10287000" y="2489200"/>
            <a:ext cx="2921000" cy="12065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10" name="a4"/>
          <p:cNvSpPr/>
          <p:nvPr/>
        </p:nvSpPr>
        <p:spPr>
          <a:xfrm>
            <a:off x="11049000" y="5283200"/>
            <a:ext cx="2921000" cy="12065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11" name="a5"/>
          <p:cNvSpPr/>
          <p:nvPr/>
        </p:nvSpPr>
        <p:spPr>
          <a:xfrm>
            <a:off x="5397500" y="6350000"/>
            <a:ext cx="2921000" cy="12065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12" name="a6"/>
          <p:cNvSpPr/>
          <p:nvPr/>
        </p:nvSpPr>
        <p:spPr>
          <a:xfrm>
            <a:off x="762000" y="5283200"/>
            <a:ext cx="2921000" cy="12065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13" name="line1"/>
          <p:cNvSpPr/>
          <p:nvPr/>
        </p:nvSpPr>
        <p:spPr>
          <a:xfrm flipV="1">
            <a:off x="3683000" y="2413000"/>
            <a:ext cx="1714500" cy="685800"/>
          </a:xfrm>
          <a:prstGeom prst="line">
            <a:avLst/>
          </a:prstGeom>
          <a:ln w="508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4" name="line2"/>
          <p:cNvSpPr/>
          <p:nvPr/>
        </p:nvSpPr>
        <p:spPr>
          <a:xfrm>
            <a:off x="8318500" y="2413000"/>
            <a:ext cx="1968500" cy="685800"/>
          </a:xfrm>
          <a:prstGeom prst="line">
            <a:avLst/>
          </a:prstGeom>
          <a:ln w="508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5" name="line3"/>
          <p:cNvSpPr/>
          <p:nvPr/>
        </p:nvSpPr>
        <p:spPr>
          <a:xfrm>
            <a:off x="13208000" y="3695700"/>
            <a:ext cx="762000" cy="1587500"/>
          </a:xfrm>
          <a:prstGeom prst="line">
            <a:avLst/>
          </a:prstGeom>
          <a:ln w="508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6" name="line4"/>
          <p:cNvSpPr/>
          <p:nvPr/>
        </p:nvSpPr>
        <p:spPr>
          <a:xfrm flipH="1">
            <a:off x="8318500" y="6489700"/>
            <a:ext cx="2730500" cy="457200"/>
          </a:xfrm>
          <a:prstGeom prst="line">
            <a:avLst/>
          </a:prstGeom>
          <a:ln w="508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7" name="line5"/>
          <p:cNvSpPr/>
          <p:nvPr/>
        </p:nvSpPr>
        <p:spPr>
          <a:xfrm flipH="1" flipV="1">
            <a:off x="3683000" y="6489700"/>
            <a:ext cx="1714500" cy="457200"/>
          </a:xfrm>
          <a:prstGeom prst="line">
            <a:avLst/>
          </a:prstGeom>
          <a:ln w="508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8" name="line6"/>
          <p:cNvSpPr/>
          <p:nvPr/>
        </p:nvSpPr>
        <p:spPr>
          <a:xfrm flipV="1">
            <a:off x="762000" y="3695700"/>
            <a:ext cx="9144" cy="1587500"/>
          </a:xfrm>
          <a:prstGeom prst="line">
            <a:avLst/>
          </a:prstGeom>
          <a:ln w="508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9" name="center"/>
          <p:cNvSpPr/>
          <p:nvPr/>
        </p:nvSpPr>
        <p:spPr>
          <a:xfrm>
            <a:off x="5842000" y="3505200"/>
            <a:ext cx="4445000" cy="203200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20" name="t1"/>
          <p:cNvSpPr/>
          <p:nvPr/>
        </p:nvSpPr>
        <p:spPr>
          <a:xfrm>
            <a:off x="1016000" y="2730500"/>
            <a:ext cx="241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standard + skill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evidence</a:t>
            </a:r>
            <a:endParaRPr lang="en-US" sz="1900" dirty="0"/>
          </a:p>
        </p:txBody>
      </p:sp>
      <p:sp>
        <p:nvSpPr>
          <p:cNvPr id="21" name="t2"/>
          <p:cNvSpPr/>
          <p:nvPr/>
        </p:nvSpPr>
        <p:spPr>
          <a:xfrm>
            <a:off x="5651500" y="2032000"/>
            <a:ext cx="241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closely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CUBS or an equivalent routine</a:t>
            </a:r>
            <a:endParaRPr lang="en-US" sz="1900" dirty="0"/>
          </a:p>
        </p:txBody>
      </p:sp>
      <p:sp>
        <p:nvSpPr>
          <p:cNvPr id="22" name="t3"/>
          <p:cNvSpPr/>
          <p:nvPr/>
        </p:nvSpPr>
        <p:spPr>
          <a:xfrm>
            <a:off x="10541000" y="2730500"/>
            <a:ext cx="241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thinking visible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CER, model, data, or explanation</a:t>
            </a:r>
            <a:endParaRPr lang="en-US" sz="1900" dirty="0"/>
          </a:p>
        </p:txBody>
      </p:sp>
      <p:sp>
        <p:nvSpPr>
          <p:cNvPr id="23" name="t4"/>
          <p:cNvSpPr/>
          <p:nvPr/>
        </p:nvSpPr>
        <p:spPr>
          <a:xfrm>
            <a:off x="11303000" y="5524500"/>
            <a:ext cx="241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criterion + one next move</a:t>
            </a:r>
            <a:endParaRPr lang="en-US" sz="1900" dirty="0"/>
          </a:p>
        </p:txBody>
      </p:sp>
      <p:sp>
        <p:nvSpPr>
          <p:cNvPr id="24" name="t5"/>
          <p:cNvSpPr/>
          <p:nvPr/>
        </p:nvSpPr>
        <p:spPr>
          <a:xfrm>
            <a:off x="5651500" y="6578600"/>
            <a:ext cx="241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action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Revise, explain, compare, or apply</a:t>
            </a:r>
            <a:endParaRPr lang="en-US" sz="1900" dirty="0"/>
          </a:p>
        </p:txBody>
      </p:sp>
      <p:sp>
        <p:nvSpPr>
          <p:cNvPr id="25" name="t6"/>
          <p:cNvSpPr/>
          <p:nvPr/>
        </p:nvSpPr>
        <p:spPr>
          <a:xfrm>
            <a:off x="1016000" y="5524500"/>
            <a:ext cx="241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evidence</a:t>
            </a:r>
            <a:endParaRPr lang="en-US" sz="1900" dirty="0"/>
          </a:p>
          <a:p>
            <a:pPr algn="ctr" indent="0" marL="0">
              <a:buNone/>
            </a:pP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to adjust the next lesson</a:t>
            </a:r>
            <a:endParaRPr lang="en-US" sz="1900" dirty="0"/>
          </a:p>
        </p:txBody>
      </p:sp>
      <p:sp>
        <p:nvSpPr>
          <p:cNvPr id="26" name="center-copy"/>
          <p:cNvSpPr/>
          <p:nvPr/>
        </p:nvSpPr>
        <p:spPr>
          <a:xfrm>
            <a:off x="6286500" y="3937000"/>
            <a:ext cx="355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80"/>
              </a:lnSpc>
              <a:buNone/>
            </a:pPr>
            <a:r>
              <a:rPr lang="en-US" alt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SCIENCE THINKING</a:t>
            </a:r>
            <a:endParaRPr lang="en-US" sz="2400" dirty="0"/>
          </a:p>
          <a:p>
            <a:pPr algn="ctr" indent="0" marL="0">
              <a:lnSpc>
                <a:spcPts val="2880"/>
              </a:lnSpc>
              <a:buNone/>
            </a:pPr>
            <a:r>
              <a:rPr lang="en-US" altLang="en-US" sz="2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made visible, acted on, and revisited</a:t>
            </a:r>
            <a:endParaRPr lang="en-US" sz="2400" dirty="0"/>
          </a:p>
        </p:txBody>
      </p:sp>
      <p:sp>
        <p:nvSpPr>
          <p:cNvPr id="27" name="footer"/>
          <p:cNvSpPr/>
          <p:nvPr/>
        </p:nvSpPr>
        <p:spPr>
          <a:xfrm>
            <a:off x="609600" y="8559800"/>
            <a:ext cx="133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28, 2026 · SCIENCE LITERACY DEPARTMENT PD</a:t>
            </a:r>
            <a:endParaRPr lang="en-US" sz="1200" dirty="0"/>
          </a:p>
        </p:txBody>
      </p:sp>
      <p:sp>
        <p:nvSpPr>
          <p:cNvPr id="28" name="page"/>
          <p:cNvSpPr/>
          <p:nvPr/>
        </p:nvSpPr>
        <p:spPr>
          <a:xfrm>
            <a:off x="14833600" y="8559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header"/>
          <p:cNvSpPr/>
          <p:nvPr/>
        </p:nvSpPr>
        <p:spPr>
          <a:xfrm>
            <a:off x="0" y="76200"/>
            <a:ext cx="16256000" cy="1193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header-title"/>
          <p:cNvSpPr/>
          <p:nvPr/>
        </p:nvSpPr>
        <p:spPr>
          <a:xfrm>
            <a:off x="609600" y="393700"/>
            <a:ext cx="11430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What Quality Looks Like</a:t>
            </a:r>
            <a:endParaRPr lang="en-US" sz="3200" dirty="0"/>
          </a:p>
        </p:txBody>
      </p:sp>
      <p:sp>
        <p:nvSpPr>
          <p:cNvPr id="5" name="header-meta"/>
          <p:cNvSpPr/>
          <p:nvPr/>
        </p:nvSpPr>
        <p:spPr>
          <a:xfrm>
            <a:off x="12217400" y="4953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· EVERY DAY QUESTION 1</a:t>
            </a:r>
            <a:endParaRPr lang="en-US" sz="1300" dirty="0"/>
          </a:p>
        </p:txBody>
      </p:sp>
      <p:sp>
        <p:nvSpPr>
          <p:cNvPr id="6" name="prompt"/>
          <p:cNvSpPr/>
          <p:nvPr/>
        </p:nvSpPr>
        <p:spPr>
          <a:xfrm>
            <a:off x="609600" y="1600200"/>
            <a:ext cx="15036800" cy="787400"/>
          </a:xfrm>
          <a:prstGeom prst="rect">
            <a:avLst/>
          </a:prstGeom>
          <a:solidFill>
            <a:srgbClr val="FCE9EC"/>
          </a:solidFill>
          <a:ln/>
        </p:spPr>
      </p:sp>
      <p:sp>
        <p:nvSpPr>
          <p:cNvPr id="7" name="prompt-copy"/>
          <p:cNvSpPr/>
          <p:nvPr/>
        </p:nvSpPr>
        <p:spPr>
          <a:xfrm>
            <a:off x="914400" y="1803400"/>
            <a:ext cx="1442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9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reviewing responses, name the content objective, language objective, product, exemplar, and criteria for success.</a:t>
            </a:r>
            <a:endParaRPr lang="en-US" sz="1900" dirty="0"/>
          </a:p>
        </p:txBody>
      </p:sp>
      <p:sp>
        <p:nvSpPr>
          <p:cNvPr id="8" name="left-card"/>
          <p:cNvSpPr/>
          <p:nvPr/>
        </p:nvSpPr>
        <p:spPr>
          <a:xfrm>
            <a:off x="609600" y="2768600"/>
            <a:ext cx="7048500" cy="4470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right-card"/>
          <p:cNvSpPr/>
          <p:nvPr/>
        </p:nvSpPr>
        <p:spPr>
          <a:xfrm>
            <a:off x="7937500" y="2768600"/>
            <a:ext cx="7708900" cy="4470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0" name="left-title"/>
          <p:cNvSpPr/>
          <p:nvPr/>
        </p:nvSpPr>
        <p:spPr>
          <a:xfrm>
            <a:off x="965200" y="3124200"/>
            <a:ext cx="6223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be visible in the response?</a:t>
            </a:r>
            <a:endParaRPr lang="en-US" sz="2200" dirty="0"/>
          </a:p>
        </p:txBody>
      </p:sp>
      <p:graphicFrame>
        <p:nvGraphicFramePr>
          <p:cNvPr id="11" name="criteri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5200" y="3810000"/>
          <a:ext cx="6350000" cy="2984500"/>
        </p:xfrm>
        <a:graphic>
          <a:graphicData uri="http://schemas.openxmlformats.org/drawingml/2006/table">
            <a:tbl>
              <a:tblPr/>
              <a:tblGrid>
                <a:gridCol w="1814284"/>
                <a:gridCol w="4535716"/>
              </a:tblGrid>
              <a:tr h="596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LOOK-FOR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254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QUALITY MEANS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54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222"/>
                    </a:solidFill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Content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Accurate science idea or principle matches the intended standard and skill.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25400" cap="flat" cmpd="sng" algn="ctr">
                      <a:solidFill>
                        <a:srgbClr val="22222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Relevant data, observation, text detail, model feature, or representation is used accurately.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Reasoning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response explains how the evidence supports the claim, conclusion, or explanation.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6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Language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6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Vocabulary, transitions, labels, and sentence structures make the science thinking understandable.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" name="right-title"/>
          <p:cNvSpPr/>
          <p:nvPr/>
        </p:nvSpPr>
        <p:spPr>
          <a:xfrm>
            <a:off x="8293100" y="3124200"/>
            <a:ext cx="6604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criteria usable by students</a:t>
            </a:r>
            <a:endParaRPr lang="en-US" sz="2200" dirty="0"/>
          </a:p>
        </p:txBody>
      </p:sp>
      <p:sp>
        <p:nvSpPr>
          <p:cNvPr id="13" name="right-copy"/>
          <p:cNvSpPr/>
          <p:nvPr/>
        </p:nvSpPr>
        <p:spPr>
          <a:xfrm>
            <a:off x="8293100" y="3810000"/>
            <a:ext cx="67564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Student-friendly criteria should answer: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am I trying to explain, model, or conclude?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evidence or representation must I use?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will I connect the evidence to the science idea?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words, labels, or transitions will make my thinking clear?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an exemplar or a jointly annotated sample to show the criteria in action.</a:t>
            </a:r>
            <a:endParaRPr lang="en-US" sz="1800" dirty="0"/>
          </a:p>
        </p:txBody>
      </p:sp>
      <p:sp>
        <p:nvSpPr>
          <p:cNvPr id="14" name="note"/>
          <p:cNvSpPr/>
          <p:nvPr/>
        </p:nvSpPr>
        <p:spPr>
          <a:xfrm>
            <a:off x="609600" y="7594600"/>
            <a:ext cx="15036800" cy="5080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5" name="note-copy"/>
          <p:cNvSpPr/>
          <p:nvPr/>
        </p:nvSpPr>
        <p:spPr>
          <a:xfrm>
            <a:off x="863600" y="7734300"/>
            <a:ext cx="145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CALIBRATION BEGINS WITH THE TASK AND CRITERIA—NOT WITH A SCORE, A PERSON, OR A COMPARISON ACROSS CLASSROOMS.</a:t>
            </a:r>
            <a:endParaRPr lang="en-US" sz="1400" dirty="0"/>
          </a:p>
        </p:txBody>
      </p:sp>
      <p:sp>
        <p:nvSpPr>
          <p:cNvPr id="16" name="footer"/>
          <p:cNvSpPr/>
          <p:nvPr/>
        </p:nvSpPr>
        <p:spPr>
          <a:xfrm>
            <a:off x="609600" y="8559800"/>
            <a:ext cx="133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28, 2026 · SCIENCE LITERACY DEPARTMENT PD</a:t>
            </a:r>
            <a:endParaRPr lang="en-US" sz="1200" dirty="0"/>
          </a:p>
        </p:txBody>
      </p:sp>
      <p:sp>
        <p:nvSpPr>
          <p:cNvPr id="17" name="page"/>
          <p:cNvSpPr/>
          <p:nvPr/>
        </p:nvSpPr>
        <p:spPr>
          <a:xfrm>
            <a:off x="14833600" y="8559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header"/>
          <p:cNvSpPr/>
          <p:nvPr/>
        </p:nvSpPr>
        <p:spPr>
          <a:xfrm>
            <a:off x="0" y="76200"/>
            <a:ext cx="16256000" cy="1193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header-title"/>
          <p:cNvSpPr/>
          <p:nvPr/>
        </p:nvSpPr>
        <p:spPr>
          <a:xfrm>
            <a:off x="609600" y="393700"/>
            <a:ext cx="11430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a Small Set of Student Responses</a:t>
            </a:r>
            <a:endParaRPr lang="en-US" sz="3200" dirty="0"/>
          </a:p>
        </p:txBody>
      </p:sp>
      <p:sp>
        <p:nvSpPr>
          <p:cNvPr id="5" name="header-meta"/>
          <p:cNvSpPr/>
          <p:nvPr/>
        </p:nvSpPr>
        <p:spPr>
          <a:xfrm>
            <a:off x="12890500" y="495300"/>
            <a:ext cx="2755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MINUTES</a:t>
            </a:r>
            <a:endParaRPr lang="en-US" sz="1300" dirty="0"/>
          </a:p>
        </p:txBody>
      </p:sp>
      <p:sp>
        <p:nvSpPr>
          <p:cNvPr id="6" name="intro"/>
          <p:cNvSpPr/>
          <p:nvPr/>
        </p:nvSpPr>
        <p:spPr>
          <a:xfrm>
            <a:off x="609600" y="1625600"/>
            <a:ext cx="1485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responses through the same criteria. The labels describe </a:t>
            </a:r>
            <a:r>
              <a:rPr lang="en-US" altLang="en-US" sz="20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in a response</a:t>
            </a: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a student or a teacher.</a:t>
            </a:r>
            <a:endParaRPr lang="en-US" sz="2000" dirty="0"/>
          </a:p>
        </p:txBody>
      </p:sp>
      <p:sp>
        <p:nvSpPr>
          <p:cNvPr id="7" name="strong"/>
          <p:cNvSpPr/>
          <p:nvPr/>
        </p:nvSpPr>
        <p:spPr>
          <a:xfrm>
            <a:off x="609600" y="2667000"/>
            <a:ext cx="4572000" cy="37084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8" name="partial"/>
          <p:cNvSpPr/>
          <p:nvPr/>
        </p:nvSpPr>
        <p:spPr>
          <a:xfrm>
            <a:off x="5842000" y="2667000"/>
            <a:ext cx="4572000" cy="37084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9" name="developing"/>
          <p:cNvSpPr/>
          <p:nvPr/>
        </p:nvSpPr>
        <p:spPr>
          <a:xfrm>
            <a:off x="11074400" y="2667000"/>
            <a:ext cx="4572000" cy="37084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10" name="bar1"/>
          <p:cNvSpPr/>
          <p:nvPr/>
        </p:nvSpPr>
        <p:spPr>
          <a:xfrm>
            <a:off x="609600" y="2667000"/>
            <a:ext cx="4572000" cy="558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bar2"/>
          <p:cNvSpPr/>
          <p:nvPr/>
        </p:nvSpPr>
        <p:spPr>
          <a:xfrm>
            <a:off x="5842000" y="2667000"/>
            <a:ext cx="4572000" cy="5588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2" name="bar3"/>
          <p:cNvSpPr/>
          <p:nvPr/>
        </p:nvSpPr>
        <p:spPr>
          <a:xfrm>
            <a:off x="11074400" y="2667000"/>
            <a:ext cx="4572000" cy="5588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13" name="strong-title"/>
          <p:cNvSpPr/>
          <p:nvPr/>
        </p:nvSpPr>
        <p:spPr>
          <a:xfrm>
            <a:off x="914400" y="2794000"/>
            <a:ext cx="393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 EVIDENCE</a:t>
            </a:r>
            <a:endParaRPr lang="en-US" sz="2000" dirty="0"/>
          </a:p>
        </p:txBody>
      </p:sp>
      <p:sp>
        <p:nvSpPr>
          <p:cNvPr id="14" name="partial-title"/>
          <p:cNvSpPr/>
          <p:nvPr/>
        </p:nvSpPr>
        <p:spPr>
          <a:xfrm>
            <a:off x="6146800" y="2794000"/>
            <a:ext cx="393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PARTIAL EVIDENCE</a:t>
            </a:r>
            <a:endParaRPr lang="en-US" sz="2000" dirty="0"/>
          </a:p>
        </p:txBody>
      </p:sp>
      <p:sp>
        <p:nvSpPr>
          <p:cNvPr id="15" name="developing-title"/>
          <p:cNvSpPr/>
          <p:nvPr/>
        </p:nvSpPr>
        <p:spPr>
          <a:xfrm>
            <a:off x="11379200" y="2794000"/>
            <a:ext cx="3937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DEVELOPING EVIDENCE</a:t>
            </a:r>
            <a:endParaRPr lang="en-US" sz="2000" dirty="0"/>
          </a:p>
        </p:txBody>
      </p:sp>
      <p:sp>
        <p:nvSpPr>
          <p:cNvPr id="16" name="strong-copy"/>
          <p:cNvSpPr/>
          <p:nvPr/>
        </p:nvSpPr>
        <p:spPr>
          <a:xfrm>
            <a:off x="965200" y="3530600"/>
            <a:ext cx="38100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Notice: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response meets the targeted criteria.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is accurate and relevant.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 makes the scientific connection clear.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</a:t>
            </a: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makes this response a useful exemplar?</a:t>
            </a:r>
            <a:endParaRPr lang="en-US" sz="1800" dirty="0"/>
          </a:p>
        </p:txBody>
      </p:sp>
      <p:sp>
        <p:nvSpPr>
          <p:cNvPr id="17" name="partial-copy"/>
          <p:cNvSpPr/>
          <p:nvPr/>
        </p:nvSpPr>
        <p:spPr>
          <a:xfrm>
            <a:off x="6197600" y="3530600"/>
            <a:ext cx="38100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Notice: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criterion is present but incomplete.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may be named without being explained.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 or representation may obscure the thinking.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</a:t>
            </a: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one next move would strengthen it?</a:t>
            </a:r>
            <a:endParaRPr lang="en-US" sz="1800" dirty="0"/>
          </a:p>
        </p:txBody>
      </p:sp>
      <p:sp>
        <p:nvSpPr>
          <p:cNvPr id="18" name="developing-copy"/>
          <p:cNvSpPr/>
          <p:nvPr/>
        </p:nvSpPr>
        <p:spPr>
          <a:xfrm>
            <a:off x="11430000" y="3530600"/>
            <a:ext cx="381000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Notice: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response does not yet show the needed content, evidence, or reasoning.</a:t>
            </a:r>
            <a:endParaRPr lang="en-US" sz="1800" dirty="0"/>
          </a:p>
          <a:p>
            <a:pPr algn="l" marL="285750" indent="-285750">
              <a:lnSpc>
                <a:spcPts val="225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Information may be copied, disconnected, or missing.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</a:t>
            </a: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access support is needed before revision?</a:t>
            </a:r>
            <a:endParaRPr lang="en-US" sz="1800" dirty="0"/>
          </a:p>
        </p:txBody>
      </p:sp>
      <p:sp>
        <p:nvSpPr>
          <p:cNvPr id="19" name="protocol"/>
          <p:cNvSpPr/>
          <p:nvPr/>
        </p:nvSpPr>
        <p:spPr>
          <a:xfrm>
            <a:off x="609600" y="6883400"/>
            <a:ext cx="15036800" cy="863600"/>
          </a:xfrm>
          <a:prstGeom prst="rect">
            <a:avLst/>
          </a:prstGeom>
          <a:solidFill>
            <a:srgbClr val="FCE9EC"/>
          </a:solidFill>
          <a:ln/>
        </p:spPr>
      </p:sp>
      <p:sp>
        <p:nvSpPr>
          <p:cNvPr id="20" name="protocol-copy"/>
          <p:cNvSpPr/>
          <p:nvPr/>
        </p:nvSpPr>
        <p:spPr>
          <a:xfrm>
            <a:off x="914400" y="7035800"/>
            <a:ext cx="144272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altLang="en-US" sz="18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PROTOCOL:</a:t>
            </a: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Read independently → mark evidence by criterion → compare observations → agree on one student-facing feedback move → name the evidence to collect next.</a:t>
            </a:r>
            <a:endParaRPr lang="en-US" sz="1800" dirty="0"/>
          </a:p>
        </p:txBody>
      </p:sp>
      <p:sp>
        <p:nvSpPr>
          <p:cNvPr id="21" name="footer"/>
          <p:cNvSpPr/>
          <p:nvPr/>
        </p:nvSpPr>
        <p:spPr>
          <a:xfrm>
            <a:off x="609600" y="8559800"/>
            <a:ext cx="133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28, 2026 · SCIENCE LITERACY DEPARTMENT PD</a:t>
            </a:r>
            <a:endParaRPr lang="en-US" sz="1200" dirty="0"/>
          </a:p>
        </p:txBody>
      </p:sp>
      <p:sp>
        <p:nvSpPr>
          <p:cNvPr id="22" name="page"/>
          <p:cNvSpPr/>
          <p:nvPr/>
        </p:nvSpPr>
        <p:spPr>
          <a:xfrm>
            <a:off x="14833600" y="8559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header"/>
          <p:cNvSpPr/>
          <p:nvPr/>
        </p:nvSpPr>
        <p:spPr>
          <a:xfrm>
            <a:off x="0" y="76200"/>
            <a:ext cx="16256000" cy="1193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header-title"/>
          <p:cNvSpPr/>
          <p:nvPr/>
        </p:nvSpPr>
        <p:spPr>
          <a:xfrm>
            <a:off x="609600" y="393700"/>
            <a:ext cx="10795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Student Thinking Visible</a:t>
            </a:r>
            <a:endParaRPr lang="en-US" sz="3200" dirty="0"/>
          </a:p>
        </p:txBody>
      </p:sp>
      <p:sp>
        <p:nvSpPr>
          <p:cNvPr id="5" name="header-meta"/>
          <p:cNvSpPr/>
          <p:nvPr/>
        </p:nvSpPr>
        <p:spPr>
          <a:xfrm>
            <a:off x="12382500" y="495300"/>
            <a:ext cx="3263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ROUTINES, NOT REQUIREMENTS</a:t>
            </a:r>
            <a:endParaRPr lang="en-US" sz="1300" dirty="0"/>
          </a:p>
        </p:txBody>
      </p:sp>
      <p:sp>
        <p:nvSpPr>
          <p:cNvPr id="6" name="intro"/>
          <p:cNvSpPr/>
          <p:nvPr/>
        </p:nvSpPr>
        <p:spPr>
          <a:xfrm>
            <a:off x="609600" y="1625600"/>
            <a:ext cx="1473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routine when it clarifies the task for students. Use an equivalent course-appropriate structure when the task is a model, data analysis, investigation response, or explanation.</a:t>
            </a:r>
            <a:endParaRPr lang="en-US" sz="2000" dirty="0"/>
          </a:p>
        </p:txBody>
      </p:sp>
      <p:sp>
        <p:nvSpPr>
          <p:cNvPr id="7" name="left"/>
          <p:cNvSpPr/>
          <p:nvPr/>
        </p:nvSpPr>
        <p:spPr>
          <a:xfrm>
            <a:off x="609600" y="2667000"/>
            <a:ext cx="6959600" cy="46228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right"/>
          <p:cNvSpPr/>
          <p:nvPr/>
        </p:nvSpPr>
        <p:spPr>
          <a:xfrm>
            <a:off x="8026400" y="2667000"/>
            <a:ext cx="7620000" cy="46228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left-title"/>
          <p:cNvSpPr/>
          <p:nvPr/>
        </p:nvSpPr>
        <p:spPr>
          <a:xfrm>
            <a:off x="990600" y="3022600"/>
            <a:ext cx="5715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CUBS: READ LIKE A SCIENTIST</a:t>
            </a:r>
            <a:endParaRPr lang="en-US" sz="2400" dirty="0"/>
          </a:p>
        </p:txBody>
      </p:sp>
      <p:sp>
        <p:nvSpPr>
          <p:cNvPr id="10" name="left-copy"/>
          <p:cNvSpPr/>
          <p:nvPr/>
        </p:nvSpPr>
        <p:spPr>
          <a:xfrm>
            <a:off x="990600" y="3810000"/>
            <a:ext cx="5867400" cy="276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altLang="en-US" sz="21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r>
              <a:rPr lang="en-US" altLang="en-US" sz="2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ircle the main idea.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altLang="en-US" sz="21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</a:t>
            </a:r>
            <a:r>
              <a:rPr lang="en-US" altLang="en-US" sz="2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nderline supporting details.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altLang="en-US" sz="21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r>
              <a:rPr lang="en-US" altLang="en-US" sz="2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ox unfamiliar words.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altLang="en-US" sz="21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r>
              <a:rPr lang="en-US" altLang="en-US" sz="21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ummarize or record questions.</a:t>
            </a:r>
            <a:endParaRPr lang="en-US" sz="2100" dirty="0"/>
          </a:p>
          <a:p>
            <a:pPr algn="l" indent="0" marL="0">
              <a:lnSpc>
                <a:spcPts val="2295"/>
              </a:lnSpc>
              <a:buNone/>
            </a:pPr>
            <a:r>
              <a:rPr lang="en-US" altLang="en-US" sz="1700" i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annotations to help students locate information before they must explain it.</a:t>
            </a:r>
            <a:endParaRPr lang="en-US" sz="2100" dirty="0"/>
          </a:p>
        </p:txBody>
      </p:sp>
      <p:sp>
        <p:nvSpPr>
          <p:cNvPr id="11" name="right-title"/>
          <p:cNvSpPr/>
          <p:nvPr/>
        </p:nvSpPr>
        <p:spPr>
          <a:xfrm>
            <a:off x="8407400" y="3022600"/>
            <a:ext cx="635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COLOR-CODED CER</a:t>
            </a:r>
            <a:endParaRPr lang="en-US" sz="2400" dirty="0"/>
          </a:p>
        </p:txBody>
      </p:sp>
      <p:sp>
        <p:nvSpPr>
          <p:cNvPr id="12" name="pink-chip"/>
          <p:cNvSpPr/>
          <p:nvPr/>
        </p:nvSpPr>
        <p:spPr>
          <a:xfrm>
            <a:off x="8432800" y="3835400"/>
            <a:ext cx="431800" cy="431800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3" name="green-chip"/>
          <p:cNvSpPr/>
          <p:nvPr/>
        </p:nvSpPr>
        <p:spPr>
          <a:xfrm>
            <a:off x="8432800" y="4533900"/>
            <a:ext cx="431800" cy="431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4" name="blue-chip"/>
          <p:cNvSpPr/>
          <p:nvPr/>
        </p:nvSpPr>
        <p:spPr>
          <a:xfrm>
            <a:off x="8432800" y="5232400"/>
            <a:ext cx="431800" cy="4318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orange-chip"/>
          <p:cNvSpPr/>
          <p:nvPr/>
        </p:nvSpPr>
        <p:spPr>
          <a:xfrm>
            <a:off x="8432800" y="5930900"/>
            <a:ext cx="431800" cy="4318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6" name="right-copy"/>
          <p:cNvSpPr/>
          <p:nvPr/>
        </p:nvSpPr>
        <p:spPr>
          <a:xfrm>
            <a:off x="9093200" y="3708400"/>
            <a:ext cx="5588000" cy="298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5"/>
              </a:lnSpc>
              <a:buNone/>
            </a:pPr>
            <a:r>
              <a:rPr lang="en-US" altLang="en-US" sz="1900" b="1" dirty="0">
                <a:solidFill>
                  <a:srgbClr val="C218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· Claim</a:t>
            </a: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answers the question or explains the phenomenon.</a:t>
            </a:r>
            <a:endParaRPr lang="en-US" sz="1900" dirty="0"/>
          </a:p>
          <a:p>
            <a:pPr algn="l" indent="0" marL="0">
              <a:lnSpc>
                <a:spcPts val="2375"/>
              </a:lnSpc>
              <a:buNone/>
            </a:pPr>
            <a:r>
              <a:rPr lang="en-US" altLang="en-US" sz="19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GREEN · Evidence</a:t>
            </a: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data, observations, measurements, or facts that support the claim.</a:t>
            </a:r>
            <a:endParaRPr lang="en-US" sz="1900" dirty="0"/>
          </a:p>
          <a:p>
            <a:pPr algn="l" indent="0" marL="0">
              <a:lnSpc>
                <a:spcPts val="2375"/>
              </a:lnSpc>
              <a:buNone/>
            </a:pPr>
            <a:r>
              <a:rPr lang="en-US" altLang="en-US" sz="1900" b="1" dirty="0">
                <a:solidFill>
                  <a:srgbClr val="1565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 · Reasoning</a:t>
            </a: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explains how the evidence connects to the science idea.</a:t>
            </a:r>
            <a:endParaRPr lang="en-US" sz="1900" dirty="0"/>
          </a:p>
          <a:p>
            <a:pPr algn="l" indent="0" marL="0">
              <a:lnSpc>
                <a:spcPts val="2375"/>
              </a:lnSpc>
              <a:buNone/>
            </a:pPr>
            <a:r>
              <a:rPr lang="en-US" altLang="en-US" sz="1900" b="1" dirty="0">
                <a:solidFill>
                  <a:srgbClr val="E67E2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ORANGE · Transitions</a:t>
            </a:r>
            <a:r>
              <a:rPr lang="en-US" altLang="en-US" sz="19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links ideas so the argument is coherent.</a:t>
            </a:r>
            <a:endParaRPr lang="en-US" sz="1900" dirty="0"/>
          </a:p>
        </p:txBody>
      </p:sp>
      <p:sp>
        <p:nvSpPr>
          <p:cNvPr id="17" name="note"/>
          <p:cNvSpPr/>
          <p:nvPr/>
        </p:nvSpPr>
        <p:spPr>
          <a:xfrm>
            <a:off x="609600" y="7670800"/>
            <a:ext cx="15036800" cy="431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18" name="note-copy"/>
          <p:cNvSpPr/>
          <p:nvPr/>
        </p:nvSpPr>
        <p:spPr>
          <a:xfrm>
            <a:off x="863600" y="7772400"/>
            <a:ext cx="14528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ROUTINE SHOULD HELP STUDENTS SEE WHAT THEY ARE DOING—NOT BECOME AN ADDITIONAL TASK TO COMPLETE.</a:t>
            </a:r>
            <a:endParaRPr lang="en-US" sz="1300" dirty="0"/>
          </a:p>
        </p:txBody>
      </p:sp>
      <p:sp>
        <p:nvSpPr>
          <p:cNvPr id="19" name="footer"/>
          <p:cNvSpPr/>
          <p:nvPr/>
        </p:nvSpPr>
        <p:spPr>
          <a:xfrm>
            <a:off x="609600" y="8559800"/>
            <a:ext cx="133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28, 2026 · SCIENCE LITERACY DEPARTMENT PD</a:t>
            </a:r>
            <a:endParaRPr lang="en-US" sz="1200" dirty="0"/>
          </a:p>
        </p:txBody>
      </p:sp>
      <p:sp>
        <p:nvSpPr>
          <p:cNvPr id="20" name="page"/>
          <p:cNvSpPr/>
          <p:nvPr/>
        </p:nvSpPr>
        <p:spPr>
          <a:xfrm>
            <a:off x="14833600" y="8559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header"/>
          <p:cNvSpPr/>
          <p:nvPr/>
        </p:nvSpPr>
        <p:spPr>
          <a:xfrm>
            <a:off x="0" y="76200"/>
            <a:ext cx="16256000" cy="1193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header-title"/>
          <p:cNvSpPr/>
          <p:nvPr/>
        </p:nvSpPr>
        <p:spPr>
          <a:xfrm>
            <a:off x="609600" y="393700"/>
            <a:ext cx="12192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Must Cause a Next Student Move</a:t>
            </a:r>
            <a:endParaRPr lang="en-US" sz="3200" dirty="0"/>
          </a:p>
        </p:txBody>
      </p:sp>
      <p:sp>
        <p:nvSpPr>
          <p:cNvPr id="5" name="header-meta"/>
          <p:cNvSpPr/>
          <p:nvPr/>
        </p:nvSpPr>
        <p:spPr>
          <a:xfrm>
            <a:off x="13233400" y="495300"/>
            <a:ext cx="241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Q3–Q4 · STEP 4</a:t>
            </a:r>
            <a:endParaRPr lang="en-US" sz="1300" dirty="0"/>
          </a:p>
        </p:txBody>
      </p:sp>
      <p:sp>
        <p:nvSpPr>
          <p:cNvPr id="6" name="intro"/>
          <p:cNvSpPr/>
          <p:nvPr/>
        </p:nvSpPr>
        <p:spPr>
          <a:xfrm>
            <a:off x="609600" y="16256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is actionable when it names a criterion, points to the student work, and results in something the student will do next.</a:t>
            </a:r>
            <a:endParaRPr lang="en-US" sz="2000" dirty="0"/>
          </a:p>
        </p:txBody>
      </p:sp>
      <p:sp>
        <p:nvSpPr>
          <p:cNvPr id="7" name="step1"/>
          <p:cNvSpPr/>
          <p:nvPr/>
        </p:nvSpPr>
        <p:spPr>
          <a:xfrm>
            <a:off x="685800" y="2984500"/>
            <a:ext cx="3048000" cy="17780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8" name="step2"/>
          <p:cNvSpPr/>
          <p:nvPr/>
        </p:nvSpPr>
        <p:spPr>
          <a:xfrm>
            <a:off x="4699000" y="2984500"/>
            <a:ext cx="3048000" cy="17780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9" name="step3"/>
          <p:cNvSpPr/>
          <p:nvPr/>
        </p:nvSpPr>
        <p:spPr>
          <a:xfrm>
            <a:off x="8712200" y="2984500"/>
            <a:ext cx="3048000" cy="17780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10" name="step4"/>
          <p:cNvSpPr/>
          <p:nvPr/>
        </p:nvSpPr>
        <p:spPr>
          <a:xfrm>
            <a:off x="12725400" y="2984500"/>
            <a:ext cx="2794000" cy="1778000"/>
          </a:xfrm>
          <a:prstGeom prst="rect">
            <a:avLst/>
          </a:prstGeom>
          <a:solidFill>
            <a:srgbClr val="F3F4F6"/>
          </a:solidFill>
          <a:ln w="25400">
            <a:solidFill>
              <a:srgbClr val="222222"/>
            </a:solidFill>
            <a:prstDash val="solid"/>
          </a:ln>
        </p:spPr>
      </p:sp>
      <p:sp>
        <p:nvSpPr>
          <p:cNvPr id="11" name="arrow1"/>
          <p:cNvSpPr/>
          <p:nvPr/>
        </p:nvSpPr>
        <p:spPr>
          <a:xfrm>
            <a:off x="3733800" y="3873500"/>
            <a:ext cx="965200" cy="9144"/>
          </a:xfrm>
          <a:prstGeom prst="line">
            <a:avLst/>
          </a:prstGeom>
          <a:ln w="635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2" name="arrow2"/>
          <p:cNvSpPr/>
          <p:nvPr/>
        </p:nvSpPr>
        <p:spPr>
          <a:xfrm>
            <a:off x="7747000" y="3873500"/>
            <a:ext cx="965200" cy="9144"/>
          </a:xfrm>
          <a:prstGeom prst="line">
            <a:avLst/>
          </a:prstGeom>
          <a:ln w="635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3" name="arrow3"/>
          <p:cNvSpPr/>
          <p:nvPr/>
        </p:nvSpPr>
        <p:spPr>
          <a:xfrm>
            <a:off x="11760200" y="3873500"/>
            <a:ext cx="965200" cy="9144"/>
          </a:xfrm>
          <a:prstGeom prst="line">
            <a:avLst/>
          </a:prstGeom>
          <a:ln w="635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4" name="s1"/>
          <p:cNvSpPr/>
          <p:nvPr/>
        </p:nvSpPr>
        <p:spPr>
          <a:xfrm>
            <a:off x="965200" y="32385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Criterion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the one quality feature that matters most now.</a:t>
            </a:r>
            <a:endParaRPr lang="en-US" sz="2000" dirty="0"/>
          </a:p>
        </p:txBody>
      </p:sp>
      <p:sp>
        <p:nvSpPr>
          <p:cNvPr id="15" name="s2"/>
          <p:cNvSpPr/>
          <p:nvPr/>
        </p:nvSpPr>
        <p:spPr>
          <a:xfrm>
            <a:off x="4978400" y="32385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Feedback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to evidence in the response and name what needs strengthening.</a:t>
            </a:r>
            <a:endParaRPr lang="en-US" sz="2000" dirty="0"/>
          </a:p>
        </p:txBody>
      </p:sp>
      <p:sp>
        <p:nvSpPr>
          <p:cNvPr id="16" name="s3"/>
          <p:cNvSpPr/>
          <p:nvPr/>
        </p:nvSpPr>
        <p:spPr>
          <a:xfrm>
            <a:off x="8991600" y="3238500"/>
            <a:ext cx="2489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Student Action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Revise, explain, compare, label, or apply the science idea.</a:t>
            </a:r>
            <a:endParaRPr lang="en-US" sz="2000" dirty="0"/>
          </a:p>
        </p:txBody>
      </p:sp>
      <p:sp>
        <p:nvSpPr>
          <p:cNvPr id="17" name="s4"/>
          <p:cNvSpPr/>
          <p:nvPr/>
        </p:nvSpPr>
        <p:spPr>
          <a:xfrm>
            <a:off x="13004800" y="3238500"/>
            <a:ext cx="22352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New Evidence</a:t>
            </a:r>
            <a:endParaRPr lang="en-US" sz="2000" dirty="0"/>
          </a:p>
          <a:p>
            <a:pPr algn="ctr" indent="0" marL="0">
              <a:buNone/>
            </a:pPr>
            <a:r>
              <a:rPr lang="en-US" altLang="en-US" sz="20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for the changed thinking in the next product.</a:t>
            </a:r>
            <a:endParaRPr lang="en-US" sz="2000" dirty="0"/>
          </a:p>
        </p:txBody>
      </p:sp>
      <p:sp>
        <p:nvSpPr>
          <p:cNvPr id="18" name="prompt-panel"/>
          <p:cNvSpPr/>
          <p:nvPr/>
        </p:nvSpPr>
        <p:spPr>
          <a:xfrm>
            <a:off x="685800" y="5588000"/>
            <a:ext cx="14833600" cy="1905000"/>
          </a:xfrm>
          <a:prstGeom prst="rect">
            <a:avLst/>
          </a:prstGeom>
          <a:solidFill>
            <a:srgbClr val="FCE9EC"/>
          </a:solidFill>
          <a:ln/>
        </p:spPr>
      </p:sp>
      <p:sp>
        <p:nvSpPr>
          <p:cNvPr id="19" name="prompt-title"/>
          <p:cNvSpPr/>
          <p:nvPr/>
        </p:nvSpPr>
        <p:spPr>
          <a:xfrm>
            <a:off x="1041400" y="5816600"/>
            <a:ext cx="635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2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PROMPTS THAT PRESERVE THE THINKING</a:t>
            </a:r>
            <a:endParaRPr lang="en-US" sz="2200" dirty="0"/>
          </a:p>
        </p:txBody>
      </p:sp>
      <p:sp>
        <p:nvSpPr>
          <p:cNvPr id="20" name="prompts"/>
          <p:cNvSpPr/>
          <p:nvPr/>
        </p:nvSpPr>
        <p:spPr>
          <a:xfrm>
            <a:off x="1041400" y="6324600"/>
            <a:ext cx="1397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altLang="en-US" sz="18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“Name the relevant data, observation, or text detail that supports your claim.”   “Explain how that evidence supports your claim using the science idea.”   “Revise your response so a reader can see the connection between your evidence and reasoning.”</a:t>
            </a:r>
            <a:endParaRPr lang="en-US" sz="1800" dirty="0"/>
          </a:p>
        </p:txBody>
      </p:sp>
      <p:sp>
        <p:nvSpPr>
          <p:cNvPr id="21" name="footer"/>
          <p:cNvSpPr/>
          <p:nvPr/>
        </p:nvSpPr>
        <p:spPr>
          <a:xfrm>
            <a:off x="609600" y="8559800"/>
            <a:ext cx="133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28, 2026 · SCIENCE LITERACY DEPARTMENT PD</a:t>
            </a:r>
            <a:endParaRPr lang="en-US" sz="1200" dirty="0"/>
          </a:p>
        </p:txBody>
      </p:sp>
      <p:sp>
        <p:nvSpPr>
          <p:cNvPr id="22" name="page"/>
          <p:cNvSpPr/>
          <p:nvPr/>
        </p:nvSpPr>
        <p:spPr>
          <a:xfrm>
            <a:off x="14833600" y="8559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header"/>
          <p:cNvSpPr/>
          <p:nvPr/>
        </p:nvSpPr>
        <p:spPr>
          <a:xfrm>
            <a:off x="0" y="76200"/>
            <a:ext cx="16256000" cy="1193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4" name="header-title"/>
          <p:cNvSpPr/>
          <p:nvPr/>
        </p:nvSpPr>
        <p:spPr>
          <a:xfrm>
            <a:off x="609600" y="393700"/>
            <a:ext cx="10795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Course-Alike Refinement</a:t>
            </a:r>
            <a:endParaRPr lang="en-US" sz="3200" dirty="0"/>
          </a:p>
        </p:txBody>
      </p:sp>
      <p:sp>
        <p:nvSpPr>
          <p:cNvPr id="5" name="header-meta"/>
          <p:cNvSpPr/>
          <p:nvPr/>
        </p:nvSpPr>
        <p:spPr>
          <a:xfrm>
            <a:off x="12954000" y="495300"/>
            <a:ext cx="2692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MINUTES PROTECTED</a:t>
            </a:r>
            <a:endParaRPr lang="en-US" sz="1300" dirty="0"/>
          </a:p>
        </p:txBody>
      </p:sp>
      <p:sp>
        <p:nvSpPr>
          <p:cNvPr id="6" name="timer-panel"/>
          <p:cNvSpPr/>
          <p:nvPr/>
        </p:nvSpPr>
        <p:spPr>
          <a:xfrm>
            <a:off x="609600" y="1854200"/>
            <a:ext cx="3581400" cy="5689600"/>
          </a:xfrm>
          <a:prstGeom prst="rect">
            <a:avLst/>
          </a:prstGeom>
          <a:solidFill>
            <a:srgbClr val="222222"/>
          </a:solidFill>
          <a:ln/>
        </p:spPr>
      </p:sp>
      <p:pic>
        <p:nvPicPr>
          <p:cNvPr id="7" name="c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8600" y="2641600"/>
            <a:ext cx="1778000" cy="1778000"/>
          </a:xfrm>
          <a:prstGeom prst="rect">
            <a:avLst/>
          </a:prstGeom>
        </p:spPr>
      </p:pic>
      <p:sp>
        <p:nvSpPr>
          <p:cNvPr id="8" name="timer"/>
          <p:cNvSpPr/>
          <p:nvPr/>
        </p:nvSpPr>
        <p:spPr>
          <a:xfrm>
            <a:off x="914400" y="47498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5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13:00</a:t>
            </a:r>
            <a:endParaRPr lang="en-US" sz="5200" dirty="0"/>
          </a:p>
        </p:txBody>
      </p:sp>
      <p:sp>
        <p:nvSpPr>
          <p:cNvPr id="9" name="timer-label"/>
          <p:cNvSpPr/>
          <p:nvPr/>
        </p:nvSpPr>
        <p:spPr>
          <a:xfrm>
            <a:off x="939800" y="6019800"/>
            <a:ext cx="29210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most of the session to make one decision ready for instruction.</a:t>
            </a:r>
            <a:endParaRPr lang="en-US" sz="1800" dirty="0"/>
          </a:p>
        </p:txBody>
      </p:sp>
      <p:sp>
        <p:nvSpPr>
          <p:cNvPr id="10" name="check-panel"/>
          <p:cNvSpPr/>
          <p:nvPr/>
        </p:nvSpPr>
        <p:spPr>
          <a:xfrm>
            <a:off x="4597400" y="1854200"/>
            <a:ext cx="11049000" cy="5689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1" name="check-title"/>
          <p:cNvSpPr/>
          <p:nvPr/>
        </p:nvSpPr>
        <p:spPr>
          <a:xfrm>
            <a:off x="5003800" y="2209800"/>
            <a:ext cx="965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C810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REFINE ONE TASK AND ITS NEXT STUDENT MOVE</a:t>
            </a:r>
            <a:endParaRPr lang="en-US" sz="2400" dirty="0"/>
          </a:p>
        </p:txBody>
      </p:sp>
      <p:graphicFrame>
        <p:nvGraphicFramePr>
          <p:cNvPr id="12" name="checkli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03800" y="2895600"/>
          <a:ext cx="10185400" cy="3810000"/>
        </p:xfrm>
        <a:graphic>
          <a:graphicData uri="http://schemas.openxmlformats.org/drawingml/2006/table">
            <a:tbl>
              <a:tblPr/>
              <a:tblGrid>
                <a:gridCol w="1131710"/>
                <a:gridCol w="9053690"/>
              </a:tblGrid>
              <a:tr h="635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C810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Select</a:t>
                      </a:r>
                      <a:r>
                        <a:rPr lang="en-US" altLang="en-US" sz="18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one task or student product tied to the priority standard and skill.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C810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Clarify</a:t>
                      </a:r>
                      <a:r>
                        <a:rPr lang="en-US" altLang="en-US" sz="18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the content, evidence, reasoning, language, or representation look-for.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C810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Choose</a:t>
                      </a:r>
                      <a:r>
                        <a:rPr lang="en-US" altLang="en-US" sz="18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the access support that helps students read, annotate, discuss, or begin the task.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C810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Write</a:t>
                      </a:r>
                      <a:r>
                        <a:rPr lang="en-US" altLang="en-US" sz="18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one feedback prompt that points students to a criterion without giving the answer.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C810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</a:t>
                      </a:r>
                      <a:r>
                        <a:rPr lang="en-US" altLang="en-US" sz="18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the student revision, explanation, comparison, or application that will follow.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C810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altLang="en-US" sz="1800" b="1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</a:t>
                      </a:r>
                      <a:r>
                        <a:rPr lang="en-US" altLang="en-US" sz="1800" dirty="0">
                          <a:solidFill>
                            <a:srgbClr val="3333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the next evidence look-for and the date or lesson when the team will revisit it.</a:t>
                      </a:r>
                      <a:endParaRPr lang="en-US" sz="1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reminder"/>
          <p:cNvSpPr/>
          <p:nvPr/>
        </p:nvSpPr>
        <p:spPr>
          <a:xfrm>
            <a:off x="5003800" y="6959600"/>
            <a:ext cx="10185400" cy="355600"/>
          </a:xfrm>
          <a:prstGeom prst="rect">
            <a:avLst/>
          </a:prstGeom>
          <a:solidFill>
            <a:srgbClr val="FCE9EC"/>
          </a:solidFill>
          <a:ln/>
        </p:spPr>
      </p:sp>
      <p:sp>
        <p:nvSpPr>
          <p:cNvPr id="14" name="reminder-copy"/>
          <p:cNvSpPr/>
          <p:nvPr/>
        </p:nvSpPr>
        <p:spPr>
          <a:xfrm>
            <a:off x="5232400" y="7035800"/>
            <a:ext cx="9728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 IS A FOCUSED, READY-TO-USE DECISION—NOT A BROAD RETEACH PLAN.</a:t>
            </a:r>
            <a:endParaRPr lang="en-US" sz="1200" dirty="0"/>
          </a:p>
        </p:txBody>
      </p:sp>
      <p:sp>
        <p:nvSpPr>
          <p:cNvPr id="15" name="footer"/>
          <p:cNvSpPr/>
          <p:nvPr/>
        </p:nvSpPr>
        <p:spPr>
          <a:xfrm>
            <a:off x="609600" y="8559800"/>
            <a:ext cx="133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28, 2026 · SCIENCE LITERACY DEPARTMENT PD</a:t>
            </a:r>
            <a:endParaRPr lang="en-US" sz="1200" dirty="0"/>
          </a:p>
        </p:txBody>
      </p:sp>
      <p:sp>
        <p:nvSpPr>
          <p:cNvPr id="16" name="page"/>
          <p:cNvSpPr/>
          <p:nvPr/>
        </p:nvSpPr>
        <p:spPr>
          <a:xfrm>
            <a:off x="14833600" y="8559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-rule"/>
          <p:cNvSpPr/>
          <p:nvPr/>
        </p:nvSpPr>
        <p:spPr>
          <a:xfrm>
            <a:off x="0" y="0"/>
            <a:ext cx="16256000" cy="1016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eyebrow"/>
          <p:cNvSpPr/>
          <p:nvPr/>
        </p:nvSpPr>
        <p:spPr>
          <a:xfrm>
            <a:off x="609600" y="914400"/>
            <a:ext cx="1016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28 SCIENCE LITERACY DEPARTMENT PD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609600" y="1549400"/>
            <a:ext cx="1143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alt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Commit, Collect, and Revisit Evidence</a:t>
            </a:r>
            <a:endParaRPr lang="en-US" sz="4800" dirty="0"/>
          </a:p>
        </p:txBody>
      </p:sp>
      <p:sp>
        <p:nvSpPr>
          <p:cNvPr id="5" name="line"/>
          <p:cNvSpPr/>
          <p:nvPr/>
        </p:nvSpPr>
        <p:spPr>
          <a:xfrm>
            <a:off x="609600" y="2768600"/>
            <a:ext cx="15036800" cy="7620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6" name="col1"/>
          <p:cNvSpPr/>
          <p:nvPr/>
        </p:nvSpPr>
        <p:spPr>
          <a:xfrm>
            <a:off x="609600" y="3530600"/>
            <a:ext cx="4572000" cy="3276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3000"/>
              </a:srgbClr>
            </a:solidFill>
            <a:prstDash val="solid"/>
          </a:ln>
        </p:spPr>
      </p:sp>
      <p:sp>
        <p:nvSpPr>
          <p:cNvPr id="7" name="col2"/>
          <p:cNvSpPr/>
          <p:nvPr/>
        </p:nvSpPr>
        <p:spPr>
          <a:xfrm>
            <a:off x="5842000" y="3530600"/>
            <a:ext cx="4572000" cy="3276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3000"/>
              </a:srgbClr>
            </a:solidFill>
            <a:prstDash val="solid"/>
          </a:ln>
        </p:spPr>
      </p:sp>
      <p:sp>
        <p:nvSpPr>
          <p:cNvPr id="8" name="col3"/>
          <p:cNvSpPr/>
          <p:nvPr/>
        </p:nvSpPr>
        <p:spPr>
          <a:xfrm>
            <a:off x="11074400" y="3530600"/>
            <a:ext cx="4572000" cy="3276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3000"/>
              </a:srgbClr>
            </a:solidFill>
            <a:prstDash val="solid"/>
          </a:ln>
        </p:spPr>
      </p:sp>
      <p:pic>
        <p:nvPicPr>
          <p:cNvPr id="9" name="us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" y="3873500"/>
            <a:ext cx="558800" cy="558800"/>
          </a:xfrm>
          <a:prstGeom prst="rect">
            <a:avLst/>
          </a:prstGeom>
        </p:spPr>
      </p:pic>
      <p:pic>
        <p:nvPicPr>
          <p:cNvPr id="10" name="collec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873500"/>
            <a:ext cx="558800" cy="558800"/>
          </a:xfrm>
          <a:prstGeom prst="rect">
            <a:avLst/>
          </a:prstGeom>
        </p:spPr>
      </p:pic>
      <p:pic>
        <p:nvPicPr>
          <p:cNvPr id="11" name="revisit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4600" y="3873500"/>
            <a:ext cx="558800" cy="558800"/>
          </a:xfrm>
          <a:prstGeom prst="rect">
            <a:avLst/>
          </a:prstGeom>
        </p:spPr>
      </p:pic>
      <p:sp>
        <p:nvSpPr>
          <p:cNvPr id="12" name="use"/>
          <p:cNvSpPr/>
          <p:nvPr/>
        </p:nvSpPr>
        <p:spPr>
          <a:xfrm>
            <a:off x="939800" y="46990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</a:t>
            </a:r>
            <a:endParaRPr lang="en-US" sz="2200" dirty="0"/>
          </a:p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refined task, criteria, feedback prompt, and student action into an upcoming lesson.</a:t>
            </a:r>
            <a:endParaRPr lang="en-US" sz="2200" dirty="0"/>
          </a:p>
        </p:txBody>
      </p:sp>
      <p:sp>
        <p:nvSpPr>
          <p:cNvPr id="13" name="collect"/>
          <p:cNvSpPr/>
          <p:nvPr/>
        </p:nvSpPr>
        <p:spPr>
          <a:xfrm>
            <a:off x="6172200" y="46990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</a:t>
            </a:r>
            <a:endParaRPr lang="en-US" sz="2200" dirty="0"/>
          </a:p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a small set of student responses that will show the effect of the support, feedback, and revision move.</a:t>
            </a:r>
            <a:endParaRPr lang="en-US" sz="2200" dirty="0"/>
          </a:p>
        </p:txBody>
      </p:sp>
      <p:sp>
        <p:nvSpPr>
          <p:cNvPr id="14" name="revisit"/>
          <p:cNvSpPr/>
          <p:nvPr/>
        </p:nvSpPr>
        <p:spPr>
          <a:xfrm>
            <a:off x="11404600" y="46990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</a:t>
            </a:r>
            <a:endParaRPr lang="en-US" sz="2200" dirty="0"/>
          </a:p>
          <a:p>
            <a:pPr algn="l" indent="0" marL="0">
              <a:lnSpc>
                <a:spcPts val="2750"/>
              </a:lnSpc>
              <a:buNone/>
            </a:pPr>
            <a:r>
              <a:rPr lang="en-US" alt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evidence to the October 30 PLC to adjust the next learning experience together.</a:t>
            </a:r>
            <a:endParaRPr lang="en-US" sz="2200" dirty="0"/>
          </a:p>
        </p:txBody>
      </p:sp>
      <p:sp>
        <p:nvSpPr>
          <p:cNvPr id="15" name="bottom"/>
          <p:cNvSpPr/>
          <p:nvPr/>
        </p:nvSpPr>
        <p:spPr>
          <a:xfrm>
            <a:off x="609600" y="7442200"/>
            <a:ext cx="1503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expectation visible. Give feedback that prompts action. Use the next evidence to strengthen the next lesson.</a:t>
            </a:r>
            <a:endParaRPr lang="en-US" sz="2200" dirty="0"/>
          </a:p>
        </p:txBody>
      </p:sp>
      <p:sp>
        <p:nvSpPr>
          <p:cNvPr id="16" name="footer"/>
          <p:cNvSpPr/>
          <p:nvPr/>
        </p:nvSpPr>
        <p:spPr>
          <a:xfrm>
            <a:off x="609600" y="8559800"/>
            <a:ext cx="133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LITERACY &amp; LESSON INTERNALIZATION · 2026–27</a:t>
            </a:r>
            <a:endParaRPr lang="en-US" sz="1200" dirty="0"/>
          </a:p>
        </p:txBody>
      </p:sp>
      <p:sp>
        <p:nvSpPr>
          <p:cNvPr id="17" name="page"/>
          <p:cNvSpPr/>
          <p:nvPr/>
        </p:nvSpPr>
        <p:spPr>
          <a:xfrm>
            <a:off x="14833600" y="85598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200" dirty="0">
                <a:solidFill>
                  <a:srgbClr val="FFFFFF">
                    <a:alpha val="8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Science Literacy: Calibrating Writing Benchmarks, Feedback, and Revision</dc:title>
  <dc:subject>Strengthening Science Literacy: Calibrating Writing Benchmarks, Feedback, and Revision</dc:subject>
  <dc:creator>Manus</dc:creator>
  <cp:lastModifiedBy>Manus</cp:lastModifiedBy>
  <cp:revision>1</cp:revision>
  <dcterms:created xsi:type="dcterms:W3CDTF">2026-10-22T18:55:23Z</dcterms:created>
  <dcterms:modified xsi:type="dcterms:W3CDTF">2026-10-22T18:55:23Z</dcterms:modified>
</cp:coreProperties>
</file>
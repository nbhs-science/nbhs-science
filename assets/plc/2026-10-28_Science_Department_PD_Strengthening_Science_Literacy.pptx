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34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739900"/>
            <a:ext cx="109855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Literacy: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Feedback, and Revision</a:t>
            </a:r>
            <a:endParaRPr lang="en-US" sz="3900" dirty="0"/>
          </a:p>
        </p:txBody>
      </p:sp>
      <p:sp>
        <p:nvSpPr>
          <p:cNvPr id="6" name="subtitle"/>
          <p:cNvSpPr/>
          <p:nvPr/>
        </p:nvSpPr>
        <p:spPr>
          <a:xfrm>
            <a:off x="736600" y="3848100"/>
            <a:ext cx="109220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 Focus: Teaching Students to Analyze Science Sources With CUBS + CER.</a:t>
            </a:r>
            <a:endParaRPr lang="en-US" sz="220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adaptable student-facing routines to help students notice, explain, and revise their thinking from a text, data display, diagram, model, investigation result, or other course source.</a:t>
            </a:r>
            <a:endParaRPr lang="en-US" sz="22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3073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933700"/>
            <a:ext cx="2590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course-ready CUBS/CER routine with clear student directions, a feedback and revision action, an evidence check, and a recorded next step.</a:t>
            </a:r>
            <a:endParaRPr lang="en-US" sz="19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994400"/>
            <a:ext cx="14706600" cy="1295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248400"/>
            <a:ext cx="13919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an authentic course source/task and 1–2 de-identified writing samples.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Biology benchmark is optional; each teacher will adapt the routine and use samples to calibrate student thinking, feedback, and revision.</a:t>
            </a:r>
            <a:endParaRPr lang="en-US" sz="20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320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Transferable Science Literacy Routine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authentic course source, response task, and de-identified writing samples to align what students notice, explain, revise, and show as evidence of standards-aligned science learning.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source +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text, graph, data set, diagram, model, lab result, or scenario.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noticing visible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Rehearse CUBS or another access routine before students write.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CER quality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claim, evidence, reasoning, and links to the science idea.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 + revision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prompt and a specific action students will take.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Share, reflect + commit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from colleague strategies, read samples, and record a feedback-informed next move.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student-thinking routine.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Adapt the source and product; keep students responsible for the science reasoning.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Evidence-to-Action Cycle, Multiple Science Contexts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Biology benchmark was a shared learning model. Today, every teacher applies the same source-analysis, explanation, feedback, and revision cycle to an authentic task in the course they teach.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a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common benchmark model to see the learner demand.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access, facilitation, feedback, and revision for your course.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CUBS + CER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students how to analyze sources and explain evidence.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writing + respond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course-specific work to provide feedback and plan a precise mastery next step.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process common and the science authentic: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can support Biology, Chemistry, Physics, Environmental Science, and every other science course.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CUBS: Analyze a Science Source Before Writing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Think aloud: make the reading, visual-analysis, vocabulary, and question-asking moves visible before students explain.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central question, phenomenon, pattern, relationship, or claim the source helps students investigate.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observations, data, labels, details, or relationships students may use as evidence.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unfamiliar or high-leverage words, symbols, units, or labels that students must interpret accurately.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 what the source shows, the question it raises, or the explanation students will need to construct.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directions: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“Annotate today’s source. Record what you notice, what it may mean, and a question you still have.”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CUBS, Then Read a Student Writing Sample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a course-relevant source and 1–2 de-identified writing samples. The Biology benchmark is optional; use the routine and samples from your own science classroom.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413000"/>
            <a:ext cx="6731000" cy="49530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ource-title"/>
          <p:cNvSpPr/>
          <p:nvPr/>
        </p:nvSpPr>
        <p:spPr>
          <a:xfrm>
            <a:off x="889000" y="2781300"/>
            <a:ext cx="596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A SOURCE + WRITING SAMPLE</a:t>
            </a:r>
            <a:endParaRPr lang="en-US" sz="2500" dirty="0"/>
          </a:p>
        </p:txBody>
      </p:sp>
      <p:sp>
        <p:nvSpPr>
          <p:cNvPr id="8" name="calibration-shape-7"/>
          <p:cNvSpPr/>
          <p:nvPr/>
        </p:nvSpPr>
        <p:spPr>
          <a:xfrm>
            <a:off x="889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alibration-shape-8"/>
          <p:cNvSpPr/>
          <p:nvPr/>
        </p:nvSpPr>
        <p:spPr>
          <a:xfrm>
            <a:off x="4064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calibration-shape-9"/>
          <p:cNvSpPr/>
          <p:nvPr/>
        </p:nvSpPr>
        <p:spPr>
          <a:xfrm>
            <a:off x="889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alibration-shape-10"/>
          <p:cNvSpPr/>
          <p:nvPr/>
        </p:nvSpPr>
        <p:spPr>
          <a:xfrm>
            <a:off x="4064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ource1"/>
          <p:cNvSpPr/>
          <p:nvPr/>
        </p:nvSpPr>
        <p:spPr>
          <a:xfrm>
            <a:off x="1117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 OR TEXT SET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explanation, scenario, procedure</a:t>
            </a:r>
            <a:endParaRPr lang="en-US" sz="1900" dirty="0"/>
          </a:p>
        </p:txBody>
      </p:sp>
      <p:sp>
        <p:nvSpPr>
          <p:cNvPr id="13" name="source2"/>
          <p:cNvSpPr/>
          <p:nvPr/>
        </p:nvSpPr>
        <p:spPr>
          <a:xfrm>
            <a:off x="4292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OR GRAPH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table, graph, calculation, pattern</a:t>
            </a:r>
            <a:endParaRPr lang="en-US" sz="1900" dirty="0"/>
          </a:p>
        </p:txBody>
      </p:sp>
      <p:sp>
        <p:nvSpPr>
          <p:cNvPr id="14" name="source3"/>
          <p:cNvSpPr/>
          <p:nvPr/>
        </p:nvSpPr>
        <p:spPr>
          <a:xfrm>
            <a:off x="1117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DIAGRAM OR MODEL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system, process, particle model</a:t>
            </a:r>
            <a:endParaRPr lang="en-US" sz="1900" dirty="0"/>
          </a:p>
        </p:txBody>
      </p:sp>
      <p:sp>
        <p:nvSpPr>
          <p:cNvPr id="15" name="source4"/>
          <p:cNvSpPr/>
          <p:nvPr/>
        </p:nvSpPr>
        <p:spPr>
          <a:xfrm>
            <a:off x="4292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RESULT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observation, evidence, conclusion</a:t>
            </a:r>
            <a:endParaRPr lang="en-US" sz="1900" dirty="0"/>
          </a:p>
        </p:txBody>
      </p:sp>
      <p:sp>
        <p:nvSpPr>
          <p:cNvPr id="16" name="calibration-shape-15"/>
          <p:cNvSpPr/>
          <p:nvPr/>
        </p:nvSpPr>
        <p:spPr>
          <a:xfrm>
            <a:off x="7620000" y="2413000"/>
            <a:ext cx="8128000" cy="4953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protocol-title"/>
          <p:cNvSpPr/>
          <p:nvPr/>
        </p:nvSpPr>
        <p:spPr>
          <a:xfrm>
            <a:off x="8001000" y="27813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PRACTICE: WHAT MUST STUDENTS NOTICE?</a:t>
            </a:r>
            <a:endParaRPr lang="en-US" sz="2500" dirty="0"/>
          </a:p>
        </p:txBody>
      </p:sp>
      <p:sp>
        <p:nvSpPr>
          <p:cNvPr id="18" name="protocol"/>
          <p:cNvSpPr/>
          <p:nvPr/>
        </p:nvSpPr>
        <p:spPr>
          <a:xfrm>
            <a:off x="8001000" y="34671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question, phenomenon, pattern, or relationship students must address.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details, observations, data, or labels that can serve as evidence.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vocabulary, symbols, units, or representations that could limit access.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science explanation, prediction, or conclusion students will need to construct.</a:t>
            </a:r>
            <a:endParaRPr lang="en-US" sz="2100" dirty="0"/>
          </a:p>
        </p:txBody>
      </p:sp>
      <p:sp>
        <p:nvSpPr>
          <p:cNvPr id="19" name="calibration-shape-18"/>
          <p:cNvSpPr/>
          <p:nvPr/>
        </p:nvSpPr>
        <p:spPr>
          <a:xfrm>
            <a:off x="508000" y="7747000"/>
            <a:ext cx="15240000" cy="546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transfer"/>
          <p:cNvSpPr/>
          <p:nvPr/>
        </p:nvSpPr>
        <p:spPr>
          <a:xfrm>
            <a:off x="825500" y="7874000"/>
            <a:ext cx="143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Debrief:</a:t>
            </a: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will you model, what will students annotate, and what does the writing sample show students need next?</a:t>
            </a:r>
            <a:endParaRPr lang="en-US" sz="18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calibration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Color-Coded CER: Make Explanations Visible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de-identified writing sample to color-code what is visible. The routine helps students identify what each sentence is doing and check whether an evidence-based explanation includes the thinking the task requires.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3530600" cy="3962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"/>
          <p:cNvSpPr/>
          <p:nvPr/>
        </p:nvSpPr>
        <p:spPr>
          <a:xfrm>
            <a:off x="8382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prediction, conclusion, or explanation that directly responds to the science question.</a:t>
            </a:r>
            <a:endParaRPr lang="en-US" sz="2100" dirty="0"/>
          </a:p>
        </p:txBody>
      </p:sp>
      <p:sp>
        <p:nvSpPr>
          <p:cNvPr id="8" name="literacy-shape-7"/>
          <p:cNvSpPr/>
          <p:nvPr/>
        </p:nvSpPr>
        <p:spPr>
          <a:xfrm>
            <a:off x="4292600" y="2730500"/>
            <a:ext cx="3530600" cy="39624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evidence"/>
          <p:cNvSpPr/>
          <p:nvPr/>
        </p:nvSpPr>
        <p:spPr>
          <a:xfrm>
            <a:off x="46228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Accurate, relevant details from a text, graph, data set, observation, diagram, model, or investigation.</a:t>
            </a:r>
            <a:endParaRPr lang="en-US" sz="2100" dirty="0"/>
          </a:p>
        </p:txBody>
      </p:sp>
      <p:sp>
        <p:nvSpPr>
          <p:cNvPr id="10" name="literacy-shape-9"/>
          <p:cNvSpPr/>
          <p:nvPr/>
        </p:nvSpPr>
        <p:spPr>
          <a:xfrm>
            <a:off x="8077200" y="2730500"/>
            <a:ext cx="3530600" cy="39624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1" name="reasoning"/>
          <p:cNvSpPr/>
          <p:nvPr/>
        </p:nvSpPr>
        <p:spPr>
          <a:xfrm>
            <a:off x="84074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scientific explanation of why the evidence supports the claim, using the relevant science idea.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11861800" y="2730500"/>
            <a:ext cx="3886200" cy="39624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3" name="links"/>
          <p:cNvSpPr/>
          <p:nvPr/>
        </p:nvSpPr>
        <p:spPr>
          <a:xfrm>
            <a:off x="12192000" y="3111500"/>
            <a:ext cx="32766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+ TRANSITIONS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and sentences that make the logic clear: therefore, because, this shows, as a result.</a:t>
            </a:r>
            <a:endParaRPr lang="en-US" sz="2100" dirty="0"/>
          </a:p>
        </p:txBody>
      </p:sp>
      <p:sp>
        <p:nvSpPr>
          <p:cNvPr id="14" name="literacy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“Highlight or label each part. Which part is missing, weak, or not yet connected to the science idea?”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literacy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Feedback That Prompts Revision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writing sample to agree on one student action after feedback. Model the routine, then use a prompt that sends students back to the source and their own explanation without completing the thinking.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THINK ALOUD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interpret a source or identify a CER part.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source shows, means, or supports.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+ CODE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construct and label an evidence-based explanation.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REVISE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act on one calibrated, criterion-based feedback prompt.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711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evidence you selected. Then add or revise a reasoning sentence that explains how this evidence supports your claim or conclusion.”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Strategy Share + Course-Alike Reflection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2–3 teacher strategy shares first. Then complete the reflection and use colleagues to test clarity, rigor, access, and next steps.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Hear 2–3 teacher strategy shares.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Listen for a concrete CUBS/CER routine, student direction, access support, or feedback move you can adapt to your own source/task.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Read samples against the student routine.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Specify what students will CUBS, what is visible or missing in CER, and what the response must show to meet the mastery bar.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Complete the reflection sheet during and after PD.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Record the LIT-aligned task, anticipated thinking, sample-based feedback prompt, colleague strategy, student revision action, and next evidence check.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STUDENT WORK REVIEW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the routine. Capture the next step. Revisit student evidence Friday.</a:t>
            </a:r>
            <a:endParaRPr lang="en-US" sz="39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CUBS/CER routine with an appropriate course source and response task.</a:t>
            </a:r>
            <a:endParaRPr lang="en-US" sz="2000" dirty="0"/>
          </a:p>
        </p:txBody>
      </p:sp>
      <p:sp>
        <p:nvSpPr>
          <p:cNvPr id="10" name="collect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 + SHARE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the sheet during and after PD: name a sample-based feedback move, one colleague strategy, and the evidence you will collect.</a:t>
            </a:r>
            <a:endParaRPr lang="en-US" sz="20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 FRIDAY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writing and feedback evidence to plan a precise, standard-focused next step.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students’ own analysis and explanation; it does not provide the answer.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2026-10-27T21:05:18Z</dcterms:created>
  <dcterms:modified xsi:type="dcterms:W3CDTF">2026-10-27T21:05:18Z</dcterms:modified>
</cp:coreProperties>
</file>
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270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917700"/>
            <a:ext cx="1193800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44"/>
              </a:lnSpc>
              <a:buNone/>
            </a:pPr>
            <a:r>
              <a:rPr lang="en-US" altLang="en-US" sz="43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Teaching Students to Analyze</a:t>
            </a:r>
            <a:endParaRPr lang="en-US" sz="4300" dirty="0"/>
          </a:p>
          <a:p>
            <a:pPr algn="l" indent="0" marL="0">
              <a:lnSpc>
                <a:spcPts val="4644"/>
              </a:lnSpc>
              <a:buNone/>
            </a:pPr>
            <a:r>
              <a:rPr lang="en-US" altLang="en-US" sz="43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Texts With CUBS + CER</a:t>
            </a:r>
            <a:endParaRPr lang="en-US" sz="4300" dirty="0"/>
          </a:p>
        </p:txBody>
      </p:sp>
      <p:sp>
        <p:nvSpPr>
          <p:cNvPr id="6" name="subtitle"/>
          <p:cNvSpPr/>
          <p:nvPr/>
        </p:nvSpPr>
        <p:spPr>
          <a:xfrm>
            <a:off x="736600" y="3797300"/>
            <a:ext cx="108204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50"/>
              </a:lnSpc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and rehearse student-facing routines that help students analyze a science article, visual, data display, or text before constructing an evidence-based explanation.</a:t>
            </a:r>
            <a:endParaRPr lang="en-US" sz="25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2057400"/>
            <a:ext cx="3200400" cy="2984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73000" y="2438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SESSION OUTCOME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3035300"/>
            <a:ext cx="2590800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ready-to-teach CUBS/CER routine, student directions, and a check for understanding.</a:t>
            </a:r>
            <a:endParaRPr lang="en-US" sz="20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842000"/>
            <a:ext cx="14706600" cy="1422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anchor"/>
          <p:cNvSpPr/>
          <p:nvPr/>
        </p:nvSpPr>
        <p:spPr>
          <a:xfrm>
            <a:off x="1117600" y="6172200"/>
            <a:ext cx="13919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4"/>
              </a:lnSpc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shared model is Biology Benchmark #1.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Each science team will adapt the strategy to an appropriate article, text, data display, model, investigation prompt, or constructed-response task.</a:t>
            </a:r>
            <a:endParaRPr lang="en-US" sz="2200" dirty="0"/>
          </a:p>
        </p:txBody>
      </p:sp>
      <p:sp>
        <p:nvSpPr>
          <p:cNvPr id="12" name="footer"/>
          <p:cNvSpPr/>
          <p:nvPr/>
        </p:nvSpPr>
        <p:spPr>
          <a:xfrm>
            <a:off x="736600" y="7975600"/>
            <a:ext cx="1282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</a:t>
            </a:r>
            <a:endParaRPr lang="en-US" sz="21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cover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Practical Outcome for Today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2:30–2:35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with a clear, student-facing way to move from reading/analyzing a source to constructing, color-coding, and revising a science Claim–Evidence–Reasoning response.</a:t>
            </a:r>
            <a:endParaRPr lang="en-US" sz="2300" dirty="0"/>
          </a:p>
        </p:txBody>
      </p:sp>
      <p:sp>
        <p:nvSpPr>
          <p:cNvPr id="6" name="outcome-shape-5"/>
          <p:cNvSpPr/>
          <p:nvPr/>
        </p:nvSpPr>
        <p:spPr>
          <a:xfrm>
            <a:off x="508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3556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6604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9652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outcome-shape-9"/>
          <p:cNvSpPr/>
          <p:nvPr/>
        </p:nvSpPr>
        <p:spPr>
          <a:xfrm>
            <a:off x="12700000" y="2857500"/>
            <a:ext cx="3048000" cy="3149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c1"/>
          <p:cNvSpPr/>
          <p:nvPr/>
        </p:nvSpPr>
        <p:spPr>
          <a:xfrm>
            <a:off x="812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CUBS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source-analysis moves visible.</a:t>
            </a:r>
            <a:endParaRPr lang="en-US" sz="2000" dirty="0"/>
          </a:p>
        </p:txBody>
      </p:sp>
      <p:sp>
        <p:nvSpPr>
          <p:cNvPr id="12" name="c2"/>
          <p:cNvSpPr/>
          <p:nvPr/>
        </p:nvSpPr>
        <p:spPr>
          <a:xfrm>
            <a:off x="3860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on a source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 a science text, visual, or data display.</a:t>
            </a:r>
            <a:endParaRPr lang="en-US" sz="2000" dirty="0"/>
          </a:p>
        </p:txBody>
      </p:sp>
      <p:sp>
        <p:nvSpPr>
          <p:cNvPr id="13" name="c3"/>
          <p:cNvSpPr/>
          <p:nvPr/>
        </p:nvSpPr>
        <p:spPr>
          <a:xfrm>
            <a:off x="6908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CER colors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claim, evidence, reasoning, and transitions.</a:t>
            </a:r>
            <a:endParaRPr lang="en-US" sz="2000" dirty="0"/>
          </a:p>
        </p:txBody>
      </p:sp>
      <p:sp>
        <p:nvSpPr>
          <p:cNvPr id="14" name="c4"/>
          <p:cNvSpPr/>
          <p:nvPr/>
        </p:nvSpPr>
        <p:spPr>
          <a:xfrm>
            <a:off x="9956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the routine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student directions and a check for understanding.</a:t>
            </a:r>
            <a:endParaRPr lang="en-US" sz="2000" dirty="0"/>
          </a:p>
        </p:txBody>
      </p:sp>
      <p:sp>
        <p:nvSpPr>
          <p:cNvPr id="15" name="c5"/>
          <p:cNvSpPr/>
          <p:nvPr/>
        </p:nvSpPr>
        <p:spPr>
          <a:xfrm>
            <a:off x="13004800" y="3200400"/>
            <a:ext cx="2438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evidence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completed writing for Friday’s feedback and next-step work.</a:t>
            </a:r>
            <a:endParaRPr lang="en-US" sz="2000" dirty="0"/>
          </a:p>
        </p:txBody>
      </p:sp>
      <p:sp>
        <p:nvSpPr>
          <p:cNvPr id="16" name="outcome-shape-15"/>
          <p:cNvSpPr/>
          <p:nvPr/>
        </p:nvSpPr>
        <p:spPr>
          <a:xfrm>
            <a:off x="508000" y="69215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7" name="note"/>
          <p:cNvSpPr/>
          <p:nvPr/>
        </p:nvSpPr>
        <p:spPr>
          <a:xfrm>
            <a:off x="838200" y="7150100"/>
            <a:ext cx="1454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8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a student-thinking routine.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it to help students do the task; do not turn it into a separate graded assignment.</a:t>
            </a:r>
            <a:endParaRPr lang="en-US" sz="21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outcome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Benchmark, Now With a Teachable Routine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2:35–2:41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strategy is not an add-on: it helps students do the same source analysis and evidence-based writing teachers rehearsed Monday and planned Tuesday.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monday"/>
          <p:cNvSpPr/>
          <p:nvPr/>
        </p:nvSpPr>
        <p:spPr>
          <a:xfrm>
            <a:off x="800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 the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completed and analyzed the benchmark as students.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378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cycle-shape-8"/>
          <p:cNvSpPr/>
          <p:nvPr/>
        </p:nvSpPr>
        <p:spPr>
          <a:xfrm>
            <a:off x="4064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uesday"/>
          <p:cNvSpPr/>
          <p:nvPr/>
        </p:nvSpPr>
        <p:spPr>
          <a:xfrm>
            <a:off x="4356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for learning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planned access, facilitation, feedback, and revision.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6934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cycle-shape-11"/>
          <p:cNvSpPr/>
          <p:nvPr/>
        </p:nvSpPr>
        <p:spPr>
          <a:xfrm>
            <a:off x="7620000" y="2794000"/>
            <a:ext cx="2794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wednesday"/>
          <p:cNvSpPr/>
          <p:nvPr/>
        </p:nvSpPr>
        <p:spPr>
          <a:xfrm>
            <a:off x="7912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CUBS + CER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and adapt the student routine for an authentic science source/task.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0490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cycle-shape-14"/>
          <p:cNvSpPr/>
          <p:nvPr/>
        </p:nvSpPr>
        <p:spPr>
          <a:xfrm>
            <a:off x="11176000" y="2794000"/>
            <a:ext cx="4572000" cy="3048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friday"/>
          <p:cNvSpPr/>
          <p:nvPr/>
        </p:nvSpPr>
        <p:spPr>
          <a:xfrm>
            <a:off x="11531600" y="3175000"/>
            <a:ext cx="3860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writing + respond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 completed student work, provide written feedback, and plan a precise mastery next step.</a:t>
            </a:r>
            <a:endParaRPr lang="en-US" sz="2000" dirty="0"/>
          </a:p>
        </p:txBody>
      </p:sp>
      <p:sp>
        <p:nvSpPr>
          <p:cNvPr id="17" name="cycle-shape-16"/>
          <p:cNvSpPr/>
          <p:nvPr/>
        </p:nvSpPr>
        <p:spPr>
          <a:xfrm>
            <a:off x="508000" y="6794500"/>
            <a:ext cx="15240000" cy="105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anchor"/>
          <p:cNvSpPr/>
          <p:nvPr/>
        </p:nvSpPr>
        <p:spPr>
          <a:xfrm>
            <a:off x="838200" y="7035800"/>
            <a:ext cx="14351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work transferable: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all high-school science teachers adapt the routine to their own course task while holding the same expectations for evidence-based thinking.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cycl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CUBS: Analyze the Source Before Writing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criteria-shape-4"/>
          <p:cNvSpPr/>
          <p:nvPr/>
        </p:nvSpPr>
        <p:spPr>
          <a:xfrm>
            <a:off x="508000" y="1397000"/>
            <a:ext cx="15240000" cy="7366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6" name="prompt"/>
          <p:cNvSpPr/>
          <p:nvPr/>
        </p:nvSpPr>
        <p:spPr>
          <a:xfrm>
            <a:off x="825500" y="1600200"/>
            <a:ext cx="146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Think aloud: make the reading, visual-analysis, vocabulary, and question-asking moves visible before asking students to write.</a:t>
            </a:r>
            <a:endParaRPr lang="en-US" sz="2000" dirty="0"/>
          </a:p>
        </p:txBody>
      </p:sp>
      <p:sp>
        <p:nvSpPr>
          <p:cNvPr id="7" name="criteria-shape-6"/>
          <p:cNvSpPr/>
          <p:nvPr/>
        </p:nvSpPr>
        <p:spPr>
          <a:xfrm>
            <a:off x="508000" y="2794000"/>
            <a:ext cx="3556000" cy="3810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8" name="card1"/>
          <p:cNvSpPr/>
          <p:nvPr/>
        </p:nvSpPr>
        <p:spPr>
          <a:xfrm>
            <a:off x="825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 — CIRCLE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 the main idea or the part of the source that names the central question, claim, or phenomenon.</a:t>
            </a:r>
            <a:endParaRPr lang="en-US" sz="2100" dirty="0"/>
          </a:p>
        </p:txBody>
      </p:sp>
      <p:sp>
        <p:nvSpPr>
          <p:cNvPr id="9" name="criteria-shape-8"/>
          <p:cNvSpPr/>
          <p:nvPr/>
        </p:nvSpPr>
        <p:spPr>
          <a:xfrm>
            <a:off x="4445000" y="2794000"/>
            <a:ext cx="3556000" cy="38100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10" name="card2"/>
          <p:cNvSpPr/>
          <p:nvPr/>
        </p:nvSpPr>
        <p:spPr>
          <a:xfrm>
            <a:off x="4762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 — UNDERLINE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supporting details, observations, data, or relationships students may use as evidence.</a:t>
            </a:r>
            <a:endParaRPr lang="en-US" sz="2100" dirty="0"/>
          </a:p>
        </p:txBody>
      </p:sp>
      <p:sp>
        <p:nvSpPr>
          <p:cNvPr id="11" name="criteria-shape-10"/>
          <p:cNvSpPr/>
          <p:nvPr/>
        </p:nvSpPr>
        <p:spPr>
          <a:xfrm>
            <a:off x="8382000" y="2794000"/>
            <a:ext cx="3556000" cy="38100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2" name="card3"/>
          <p:cNvSpPr/>
          <p:nvPr/>
        </p:nvSpPr>
        <p:spPr>
          <a:xfrm>
            <a:off x="8699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— BOX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unfamiliar or high-leverage words. Ask: what does this term mean here and why does it matter?</a:t>
            </a:r>
            <a:endParaRPr lang="en-US" sz="2100" dirty="0"/>
          </a:p>
        </p:txBody>
      </p:sp>
      <p:sp>
        <p:nvSpPr>
          <p:cNvPr id="13" name="criteria-shape-12"/>
          <p:cNvSpPr/>
          <p:nvPr/>
        </p:nvSpPr>
        <p:spPr>
          <a:xfrm>
            <a:off x="12319000" y="2794000"/>
            <a:ext cx="3429000" cy="38100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card4"/>
          <p:cNvSpPr/>
          <p:nvPr/>
        </p:nvSpPr>
        <p:spPr>
          <a:xfrm>
            <a:off x="12636500" y="3149600"/>
            <a:ext cx="279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— SUMMARIZE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Summarize the science idea or record the question the source helps answer.</a:t>
            </a:r>
            <a:endParaRPr lang="en-US" sz="2100" dirty="0"/>
          </a:p>
        </p:txBody>
      </p:sp>
      <p:sp>
        <p:nvSpPr>
          <p:cNvPr id="15" name="criteria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directions: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“Read and annotate today’s source. Record any questions you still have on your paper.”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criteria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811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CUBS Before Constructing the CER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food web and Question 5 from the benchmark as a shared visual/text example. The exact same routine can be used with a science article, data display, model, or investigation result.</a:t>
            </a:r>
            <a:endParaRPr lang="en-US" sz="2300" dirty="0"/>
          </a:p>
        </p:txBody>
      </p:sp>
      <p:sp>
        <p:nvSpPr>
          <p:cNvPr id="6" name="calibration-shape-5"/>
          <p:cNvSpPr/>
          <p:nvPr/>
        </p:nvSpPr>
        <p:spPr>
          <a:xfrm>
            <a:off x="508000" y="2413000"/>
            <a:ext cx="6604000" cy="49530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7" name="benchmark-practice" descr="preencoded.png">    </p:cNvPr>
          <p:cNvPicPr>
            <a:picLocks noChangeAspect="1"/>
          </p:cNvPicPr>
          <p:nvPr/>
        </p:nvPicPr>
        <p:blipFill>
          <a:blip r:embed="rId1"/>
          <a:srcRect l="-38072" r="-38072" t="0" b="0"/>
          <a:stretch/>
        </p:blipFill>
        <p:spPr>
          <a:xfrm>
            <a:off x="698500" y="2603500"/>
            <a:ext cx="6223000" cy="4572000"/>
          </a:xfrm>
          <a:prstGeom prst="rect">
            <a:avLst/>
          </a:prstGeom>
        </p:spPr>
      </p:pic>
      <p:sp>
        <p:nvSpPr>
          <p:cNvPr id="8" name="calibration-shape-7"/>
          <p:cNvSpPr/>
          <p:nvPr/>
        </p:nvSpPr>
        <p:spPr>
          <a:xfrm>
            <a:off x="7493000" y="2413000"/>
            <a:ext cx="8255000" cy="4953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protocol-title"/>
          <p:cNvSpPr/>
          <p:nvPr/>
        </p:nvSpPr>
        <p:spPr>
          <a:xfrm>
            <a:off x="7874000" y="27813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PRACTICE: WHAT WILL STUDENTS NEED TO NOTICE?</a:t>
            </a:r>
            <a:endParaRPr lang="en-US" sz="2500" dirty="0"/>
          </a:p>
        </p:txBody>
      </p:sp>
      <p:sp>
        <p:nvSpPr>
          <p:cNvPr id="10" name="protocol"/>
          <p:cNvSpPr/>
          <p:nvPr/>
        </p:nvSpPr>
        <p:spPr>
          <a:xfrm>
            <a:off x="7874000" y="3467100"/>
            <a:ext cx="7112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Circle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prediction question and central relationship.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Underline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graph and food-web details a student could use as evidence.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Box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terms that could prevent access to the task.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Summarize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explanation a student will need to construct.</a:t>
            </a:r>
            <a:endParaRPr lang="en-US" sz="2100" dirty="0"/>
          </a:p>
        </p:txBody>
      </p:sp>
      <p:sp>
        <p:nvSpPr>
          <p:cNvPr id="11" name="calibration-shape-10"/>
          <p:cNvSpPr/>
          <p:nvPr/>
        </p:nvSpPr>
        <p:spPr>
          <a:xfrm>
            <a:off x="508000" y="7747000"/>
            <a:ext cx="15240000" cy="546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2" name="transfer"/>
          <p:cNvSpPr/>
          <p:nvPr/>
        </p:nvSpPr>
        <p:spPr>
          <a:xfrm>
            <a:off x="825500" y="7874000"/>
            <a:ext cx="143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Debrief:</a:t>
            </a: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Which annotation decision will make a stronger student CER more likely? Which question will you ask before students write?</a:t>
            </a:r>
            <a:endParaRPr lang="en-US" sz="1800" dirty="0"/>
          </a:p>
        </p:txBody>
      </p:sp>
      <p:sp>
        <p:nvSpPr>
          <p:cNvPr id="13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4" name="calibration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Color-Coded CER: See the Response Structure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3:00–3:08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coding is a visibility routine. It helps students identify what each sentence is doing and check whether the explanation includes all of the thinking the task requires.</a:t>
            </a:r>
            <a:endParaRPr lang="en-US" sz="2300" dirty="0"/>
          </a:p>
        </p:txBody>
      </p:sp>
      <p:sp>
        <p:nvSpPr>
          <p:cNvPr id="6" name="literacy-shape-5"/>
          <p:cNvSpPr/>
          <p:nvPr/>
        </p:nvSpPr>
        <p:spPr>
          <a:xfrm>
            <a:off x="508000" y="2730500"/>
            <a:ext cx="3530600" cy="3962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claim"/>
          <p:cNvSpPr/>
          <p:nvPr/>
        </p:nvSpPr>
        <p:spPr>
          <a:xfrm>
            <a:off x="8382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answer, prediction, conclusion, or explanation that responds to the question.</a:t>
            </a:r>
            <a:endParaRPr lang="en-US" sz="2100" dirty="0"/>
          </a:p>
        </p:txBody>
      </p:sp>
      <p:sp>
        <p:nvSpPr>
          <p:cNvPr id="8" name="literacy-shape-7"/>
          <p:cNvSpPr/>
          <p:nvPr/>
        </p:nvSpPr>
        <p:spPr>
          <a:xfrm>
            <a:off x="4292600" y="2730500"/>
            <a:ext cx="3530600" cy="39624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9" name="evidence"/>
          <p:cNvSpPr/>
          <p:nvPr/>
        </p:nvSpPr>
        <p:spPr>
          <a:xfrm>
            <a:off x="46228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Accurate, relevant details from a text, graph, data set, observation, model, or investigation.</a:t>
            </a:r>
            <a:endParaRPr lang="en-US" sz="2100" dirty="0"/>
          </a:p>
        </p:txBody>
      </p:sp>
      <p:sp>
        <p:nvSpPr>
          <p:cNvPr id="10" name="literacy-shape-9"/>
          <p:cNvSpPr/>
          <p:nvPr/>
        </p:nvSpPr>
        <p:spPr>
          <a:xfrm>
            <a:off x="8077200" y="2730500"/>
            <a:ext cx="3530600" cy="39624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1" name="reasoning"/>
          <p:cNvSpPr/>
          <p:nvPr/>
        </p:nvSpPr>
        <p:spPr>
          <a:xfrm>
            <a:off x="84074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scientific explanation of why the evidence supports the claim.</a:t>
            </a:r>
            <a:endParaRPr lang="en-US" sz="2100" dirty="0"/>
          </a:p>
        </p:txBody>
      </p:sp>
      <p:sp>
        <p:nvSpPr>
          <p:cNvPr id="12" name="literacy-shape-11"/>
          <p:cNvSpPr/>
          <p:nvPr/>
        </p:nvSpPr>
        <p:spPr>
          <a:xfrm>
            <a:off x="11861800" y="2730500"/>
            <a:ext cx="3886200" cy="39624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3" name="links"/>
          <p:cNvSpPr/>
          <p:nvPr/>
        </p:nvSpPr>
        <p:spPr>
          <a:xfrm>
            <a:off x="12192000" y="3111500"/>
            <a:ext cx="32766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+ TRANSITIONS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Words and sentences that make the logic clear: therefore, because, this shows, as a result.</a:t>
            </a:r>
            <a:endParaRPr lang="en-US" sz="2100" dirty="0"/>
          </a:p>
        </p:txBody>
      </p:sp>
      <p:sp>
        <p:nvSpPr>
          <p:cNvPr id="14" name="literacy-shape-13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“Highlight or label each part. Which part is missing, weak, or not yet connected to the science idea?”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literacy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Routine—Do Not Complete the Thinking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explicit modeling, student practice, and feedback that sends students back to the source and their own response. The routine should increase—not replace—student analysis.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635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46355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8636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feedback-shape-8"/>
          <p:cNvSpPr/>
          <p:nvPr/>
        </p:nvSpPr>
        <p:spPr>
          <a:xfrm>
            <a:off x="12636500" y="2984500"/>
            <a:ext cx="2984500" cy="190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1"/>
          <p:cNvSpPr/>
          <p:nvPr/>
        </p:nvSpPr>
        <p:spPr>
          <a:xfrm>
            <a:off x="914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THINK ALOUD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how to use CUBS or identify a CER part.</a:t>
            </a:r>
            <a:endParaRPr lang="en-US" sz="2000" dirty="0"/>
          </a:p>
        </p:txBody>
      </p:sp>
      <p:sp>
        <p:nvSpPr>
          <p:cNvPr id="11" name="s2"/>
          <p:cNvSpPr/>
          <p:nvPr/>
        </p:nvSpPr>
        <p:spPr>
          <a:xfrm>
            <a:off x="49149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PROMPT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students what the source shows and why it matters.</a:t>
            </a:r>
            <a:endParaRPr lang="en-US" sz="2000" dirty="0"/>
          </a:p>
        </p:txBody>
      </p:sp>
      <p:sp>
        <p:nvSpPr>
          <p:cNvPr id="12" name="s3"/>
          <p:cNvSpPr/>
          <p:nvPr/>
        </p:nvSpPr>
        <p:spPr>
          <a:xfrm>
            <a:off x="8915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WRITE + CODE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construct the response and label claim, evidence, and reasoning.</a:t>
            </a:r>
            <a:endParaRPr lang="en-US" sz="2000" dirty="0"/>
          </a:p>
        </p:txBody>
      </p:sp>
      <p:sp>
        <p:nvSpPr>
          <p:cNvPr id="13" name="s4"/>
          <p:cNvSpPr/>
          <p:nvPr/>
        </p:nvSpPr>
        <p:spPr>
          <a:xfrm>
            <a:off x="12915900" y="3340100"/>
            <a:ext cx="24257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REVISE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act on one criterion-based written feedback prompt.</a:t>
            </a:r>
            <a:endParaRPr lang="en-US" sz="2000" dirty="0"/>
          </a:p>
        </p:txBody>
      </p:sp>
      <p:sp>
        <p:nvSpPr>
          <p:cNvPr id="14" name="a1"/>
          <p:cNvSpPr/>
          <p:nvPr/>
        </p:nvSpPr>
        <p:spPr>
          <a:xfrm>
            <a:off x="3683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a2"/>
          <p:cNvSpPr/>
          <p:nvPr/>
        </p:nvSpPr>
        <p:spPr>
          <a:xfrm>
            <a:off x="76835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a3"/>
          <p:cNvSpPr/>
          <p:nvPr/>
        </p:nvSpPr>
        <p:spPr>
          <a:xfrm>
            <a:off x="11684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7" name="feedback-shape-16"/>
          <p:cNvSpPr/>
          <p:nvPr/>
        </p:nvSpPr>
        <p:spPr>
          <a:xfrm>
            <a:off x="635000" y="5778500"/>
            <a:ext cx="14986000" cy="17526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prompt-title"/>
          <p:cNvSpPr/>
          <p:nvPr/>
        </p:nvSpPr>
        <p:spPr>
          <a:xfrm>
            <a:off x="990600" y="6070600"/>
            <a:ext cx="635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THAT PRESERVES THE THINKING</a:t>
            </a:r>
            <a:endParaRPr lang="en-US" sz="2200" dirty="0"/>
          </a:p>
        </p:txBody>
      </p:sp>
      <p:sp>
        <p:nvSpPr>
          <p:cNvPr id="19" name="prompt-copy"/>
          <p:cNvSpPr/>
          <p:nvPr/>
        </p:nvSpPr>
        <p:spPr>
          <a:xfrm>
            <a:off x="990600" y="6629400"/>
            <a:ext cx="1371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evidence you selected. Then add or revise a reasoning sentence that explains how this evidence supports your claim.”</a:t>
            </a:r>
            <a:endParaRPr lang="en-US" sz="21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21" name="feedback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Course-Alike Application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timer-panel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149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your own student routine first. Then use colleagues to test clarity, rigor, access, and the thinking it requires.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Choose the source/task.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an article, text set, data display, model, investigation prompt, or constructed-response task connected to your current standard.</a:t>
            </a:r>
            <a:endParaRPr lang="en-US" sz="21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Write the student directions.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Specify what students will CUBS, what they will identify or color-code in CER, and what they will do with the annotation.</a:t>
            </a:r>
            <a:endParaRPr lang="en-US" sz="21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a check + feedback step.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Name the prompt, partner talk, annotation check, or short response that will reveal student thinking and lead to a written-feedback/revision opportunity.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eyebrow"/>
          <p:cNvSpPr/>
          <p:nvPr/>
        </p:nvSpPr>
        <p:spPr>
          <a:xfrm>
            <a:off x="736600" y="3429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STUDENT WORK REVIEW  •  3:28–3:30 P.M.  •  2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89100"/>
            <a:ext cx="13208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3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routine. Collect completed writing. Return Friday.</a:t>
            </a:r>
            <a:endParaRPr lang="en-US" sz="4300" dirty="0"/>
          </a:p>
        </p:txBody>
      </p:sp>
      <p:sp>
        <p:nvSpPr>
          <p:cNvPr id="5" name="close-shape-4"/>
          <p:cNvSpPr/>
          <p:nvPr/>
        </p:nvSpPr>
        <p:spPr>
          <a:xfrm>
            <a:off x="736600" y="3136900"/>
            <a:ext cx="14706600" cy="3505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092200" y="3543300"/>
            <a:ext cx="4292600" cy="23241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5981700" y="3543300"/>
            <a:ext cx="42926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0871200" y="3543300"/>
            <a:ext cx="42164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use"/>
          <p:cNvSpPr/>
          <p:nvPr/>
        </p:nvSpPr>
        <p:spPr>
          <a:xfrm>
            <a:off x="13462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CUBS/CER routine with the planned source and writing task.</a:t>
            </a:r>
            <a:endParaRPr lang="en-US" sz="2000" dirty="0"/>
          </a:p>
        </p:txBody>
      </p:sp>
      <p:sp>
        <p:nvSpPr>
          <p:cNvPr id="10" name="collect"/>
          <p:cNvSpPr/>
          <p:nvPr/>
        </p:nvSpPr>
        <p:spPr>
          <a:xfrm>
            <a:off x="62357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 small de-identified set of completed student writing and notes on written feedback.</a:t>
            </a:r>
            <a:endParaRPr lang="en-US" sz="2000" dirty="0"/>
          </a:p>
        </p:txBody>
      </p:sp>
      <p:sp>
        <p:nvSpPr>
          <p:cNvPr id="11" name="revisit"/>
          <p:cNvSpPr/>
          <p:nvPr/>
        </p:nvSpPr>
        <p:spPr>
          <a:xfrm>
            <a:off x="11125200" y="3835400"/>
            <a:ext cx="37084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 FRIDAY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mastery bar to analyze writing, provide feedback, and plan the next standard-focused step.</a:t>
            </a:r>
            <a:endParaRPr lang="en-US" sz="2000" dirty="0"/>
          </a:p>
        </p:txBody>
      </p:sp>
      <p:sp>
        <p:nvSpPr>
          <p:cNvPr id="12" name="bottom"/>
          <p:cNvSpPr/>
          <p:nvPr/>
        </p:nvSpPr>
        <p:spPr>
          <a:xfrm>
            <a:off x="736600" y="7289800"/>
            <a:ext cx="1419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Remember: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supports students’ own analysis and explanation; it does not provide the answer.</a:t>
            </a:r>
            <a:endParaRPr lang="en-US" sz="22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Wednesday, October 28 PD — Calibrating Science Literacy</dc:title>
  <dc:subject>Wednesday, October 28 PD — Calibrating Science Literacy</dc:subject>
  <dc:creator>Manus</dc:creator>
  <cp:lastModifiedBy>Manus</cp:lastModifiedBy>
  <cp:revision>1</cp:revision>
  <dcterms:created xsi:type="dcterms:W3CDTF">2026-10-23T18:09:25Z</dcterms:created>
  <dcterms:modified xsi:type="dcterms:W3CDTF">2026-10-23T18:09:25Z</dcterms:modified>
</cp:coreProperties>
</file>
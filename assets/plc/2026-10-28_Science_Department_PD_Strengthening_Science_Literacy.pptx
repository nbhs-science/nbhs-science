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6256000" cy="9144000"/>
  <p:notesSz cx="9144000" cy="16256000"/>
  <p:embeddedFontLst>
    <p:embeddedFont>
      <p:font typeface="Inter" charset="-122" pitchFamily="34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shape-1"/>
          <p:cNvSpPr/>
          <p:nvPr/>
        </p:nvSpPr>
        <p:spPr>
          <a:xfrm>
            <a:off x="0" y="0"/>
            <a:ext cx="16256000" cy="11176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cover-shape-2"/>
          <p:cNvSpPr/>
          <p:nvPr/>
        </p:nvSpPr>
        <p:spPr>
          <a:xfrm>
            <a:off x="0" y="1117600"/>
            <a:ext cx="16256000" cy="101600"/>
          </a:xfrm>
          <a:prstGeom prst="rect">
            <a:avLst/>
          </a:prstGeom>
          <a:solidFill>
            <a:srgbClr val="C41220"/>
          </a:solidFill>
          <a:ln/>
        </p:spPr>
      </p:sp>
      <p:sp>
        <p:nvSpPr>
          <p:cNvPr id="4" name="kicker"/>
          <p:cNvSpPr/>
          <p:nvPr/>
        </p:nvSpPr>
        <p:spPr>
          <a:xfrm>
            <a:off x="736600" y="381000"/>
            <a:ext cx="139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BEDFORD HIGH SCHOOL  •  SCIENCE DEPARTMENT PD  •  WEDNESDAY, OCTOBER 28, 2026  •  2:30–3:30 P.M.</a:t>
            </a:r>
            <a:endParaRPr lang="en-US" sz="1600" dirty="0"/>
          </a:p>
        </p:txBody>
      </p:sp>
      <p:sp>
        <p:nvSpPr>
          <p:cNvPr id="5" name="title"/>
          <p:cNvSpPr/>
          <p:nvPr/>
        </p:nvSpPr>
        <p:spPr>
          <a:xfrm>
            <a:off x="736600" y="1676400"/>
            <a:ext cx="10414000" cy="195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8"/>
              </a:lnSpc>
              <a:buNone/>
            </a:pPr>
            <a:r>
              <a:rPr lang="en-US" altLang="en-US" sz="38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Strengthening Science Literacy:</a:t>
            </a:r>
            <a:endParaRPr lang="en-US" sz="3800" dirty="0"/>
          </a:p>
          <a:p>
            <a:pPr algn="l" indent="0" marL="0">
              <a:lnSpc>
                <a:spcPts val="4028"/>
              </a:lnSpc>
              <a:buNone/>
            </a:pPr>
            <a:r>
              <a:rPr lang="en-US" altLang="en-US" sz="38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Calibrating Writing Benchmarks,</a:t>
            </a:r>
            <a:endParaRPr lang="en-US" sz="3800" dirty="0"/>
          </a:p>
          <a:p>
            <a:pPr algn="l" indent="0" marL="0">
              <a:lnSpc>
                <a:spcPts val="4028"/>
              </a:lnSpc>
              <a:buNone/>
            </a:pPr>
            <a:r>
              <a:rPr lang="en-US" altLang="en-US" sz="38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Feedback, and Revision</a:t>
            </a:r>
            <a:endParaRPr lang="en-US" sz="3800" dirty="0"/>
          </a:p>
        </p:txBody>
      </p:sp>
      <p:sp>
        <p:nvSpPr>
          <p:cNvPr id="6" name="subtitle"/>
          <p:cNvSpPr/>
          <p:nvPr/>
        </p:nvSpPr>
        <p:spPr>
          <a:xfrm>
            <a:off x="736600" y="4013200"/>
            <a:ext cx="990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altLang="en-US" sz="24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simple routine for helping students read a science source, write an explanation, and revise their thinking.</a:t>
            </a:r>
            <a:endParaRPr lang="en-US" sz="2400" dirty="0"/>
          </a:p>
        </p:txBody>
      </p:sp>
      <p:sp>
        <p:nvSpPr>
          <p:cNvPr id="7" name="cover-shape-6"/>
          <p:cNvSpPr/>
          <p:nvPr/>
        </p:nvSpPr>
        <p:spPr>
          <a:xfrm>
            <a:off x="11531600" y="1905000"/>
            <a:ext cx="3911600" cy="3111500"/>
          </a:xfrm>
          <a:prstGeom prst="rect">
            <a:avLst/>
          </a:prstGeom>
          <a:solidFill>
            <a:srgbClr val="F5F6F8"/>
          </a:solidFill>
          <a:ln w="12700">
            <a:solidFill>
              <a:srgbClr val="D4D8DE"/>
            </a:solidFill>
            <a:prstDash val="solid"/>
          </a:ln>
        </p:spPr>
      </p:sp>
      <p:sp>
        <p:nvSpPr>
          <p:cNvPr id="8" name="today"/>
          <p:cNvSpPr/>
          <p:nvPr/>
        </p:nvSpPr>
        <p:spPr>
          <a:xfrm>
            <a:off x="11887200" y="2298700"/>
            <a:ext cx="32004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48"/>
              </a:lnSpc>
              <a:buNone/>
            </a:pPr>
            <a:r>
              <a:rPr lang="en-US" altLang="en-US" sz="16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TODAY'S GOAL</a:t>
            </a:r>
            <a:endParaRPr lang="en-US" sz="2300" dirty="0"/>
          </a:p>
          <a:p>
            <a:pPr algn="ctr" indent="0" marL="0">
              <a:lnSpc>
                <a:spcPts val="2944"/>
              </a:lnSpc>
              <a:spcBef>
                <a:spcPts val="1400"/>
              </a:spcBef>
              <a:buNone/>
            </a:pPr>
            <a:r>
              <a:rPr lang="en-US" altLang="en-US" sz="2300" b="1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with one simple strategy to use with your students.</a:t>
            </a:r>
            <a:endParaRPr lang="en-US" sz="2300" dirty="0"/>
          </a:p>
        </p:txBody>
      </p:sp>
      <p:sp>
        <p:nvSpPr>
          <p:cNvPr id="9" name="cover-shape-8"/>
          <p:cNvSpPr/>
          <p:nvPr/>
        </p:nvSpPr>
        <p:spPr>
          <a:xfrm>
            <a:off x="736600" y="5994400"/>
            <a:ext cx="14706600" cy="1219200"/>
          </a:xfrm>
          <a:prstGeom prst="rect">
            <a:avLst/>
          </a:prstGeom>
          <a:solidFill>
            <a:srgbClr val="F9FAFB"/>
          </a:solidFill>
          <a:ln w="12700">
            <a:solidFill>
              <a:srgbClr val="D4D8DE"/>
            </a:solidFill>
            <a:prstDash val="solid"/>
          </a:ln>
        </p:spPr>
      </p:sp>
      <p:sp>
        <p:nvSpPr>
          <p:cNvPr id="10" name="bring"/>
          <p:cNvSpPr/>
          <p:nvPr/>
        </p:nvSpPr>
        <p:spPr>
          <a:xfrm>
            <a:off x="1117600" y="6273800"/>
            <a:ext cx="13919200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altLang="en-US" sz="22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Please bring:</a:t>
            </a:r>
            <a:r>
              <a:rPr lang="en-US" altLang="en-US" sz="22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one science source or task from an upcoming lesson and one de-identified sample of student writing.</a:t>
            </a:r>
            <a:endParaRPr lang="en-US" sz="2200" dirty="0"/>
          </a:p>
        </p:txBody>
      </p:sp>
      <p:sp>
        <p:nvSpPr>
          <p:cNvPr id="11" name="footer"/>
          <p:cNvSpPr/>
          <p:nvPr/>
        </p:nvSpPr>
        <p:spPr>
          <a:xfrm>
            <a:off x="736600" y="7937500"/>
            <a:ext cx="132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Internalization Tool:</a:t>
            </a:r>
            <a:r>
              <a:rPr lang="en-US" altLang="en-US" sz="20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anticipate student thinking, plan support, and adjust from evidence.</a:t>
            </a:r>
            <a:endParaRPr lang="en-US" sz="2000" dirty="0"/>
          </a:p>
        </p:txBody>
      </p:sp>
      <p:sp>
        <p:nvSpPr>
          <p:cNvPr id="12" name="page"/>
          <p:cNvSpPr/>
          <p:nvPr/>
        </p:nvSpPr>
        <p:spPr>
          <a:xfrm>
            <a:off x="14732000" y="8432800"/>
            <a:ext cx="73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cover-shape-12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utcome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header-title"/>
          <p:cNvSpPr/>
          <p:nvPr/>
        </p:nvSpPr>
        <p:spPr>
          <a:xfrm>
            <a:off x="508000" y="2921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Simple Routine for Today</a:t>
            </a:r>
            <a:endParaRPr lang="en-US" sz="3000" dirty="0"/>
          </a:p>
        </p:txBody>
      </p:sp>
      <p:sp>
        <p:nvSpPr>
          <p:cNvPr id="4" name="header-meta"/>
          <p:cNvSpPr/>
          <p:nvPr/>
        </p:nvSpPr>
        <p:spPr>
          <a:xfrm>
            <a:off x="12827000" y="3556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2:30–2:35  •  5 MIN</a:t>
            </a:r>
            <a:endParaRPr lang="en-US" sz="1600" dirty="0"/>
          </a:p>
        </p:txBody>
      </p:sp>
      <p:sp>
        <p:nvSpPr>
          <p:cNvPr id="5" name="intro"/>
          <p:cNvSpPr/>
          <p:nvPr/>
        </p:nvSpPr>
        <p:spPr>
          <a:xfrm>
            <a:off x="508000" y="1460500"/>
            <a:ext cx="1473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first make sense of a source. Then they use that thinking to write and improve an explanation.</a:t>
            </a:r>
            <a:endParaRPr lang="en-US" sz="2400" dirty="0"/>
          </a:p>
        </p:txBody>
      </p:sp>
      <p:sp>
        <p:nvSpPr>
          <p:cNvPr id="6" name="outcome-shape-5"/>
          <p:cNvSpPr/>
          <p:nvPr/>
        </p:nvSpPr>
        <p:spPr>
          <a:xfrm>
            <a:off x="698500" y="2794000"/>
            <a:ext cx="3302000" cy="3175000"/>
          </a:xfrm>
          <a:prstGeom prst="rect">
            <a:avLst/>
          </a:prstGeom>
          <a:solidFill>
            <a:srgbClr val="F5F6F8"/>
          </a:solidFill>
          <a:ln w="12700">
            <a:solidFill>
              <a:srgbClr val="D4D8DE"/>
            </a:solidFill>
            <a:prstDash val="solid"/>
          </a:ln>
        </p:spPr>
      </p:sp>
      <p:sp>
        <p:nvSpPr>
          <p:cNvPr id="7" name="outcome-shape-6"/>
          <p:cNvSpPr/>
          <p:nvPr/>
        </p:nvSpPr>
        <p:spPr>
          <a:xfrm>
            <a:off x="4508500" y="2794000"/>
            <a:ext cx="3302000" cy="3175000"/>
          </a:xfrm>
          <a:prstGeom prst="rect">
            <a:avLst/>
          </a:prstGeom>
          <a:solidFill>
            <a:srgbClr val="F5F6F8"/>
          </a:solidFill>
          <a:ln w="12700">
            <a:solidFill>
              <a:srgbClr val="D4D8DE"/>
            </a:solidFill>
            <a:prstDash val="solid"/>
          </a:ln>
        </p:spPr>
      </p:sp>
      <p:sp>
        <p:nvSpPr>
          <p:cNvPr id="8" name="outcome-shape-7"/>
          <p:cNvSpPr/>
          <p:nvPr/>
        </p:nvSpPr>
        <p:spPr>
          <a:xfrm>
            <a:off x="8318500" y="2794000"/>
            <a:ext cx="3302000" cy="3175000"/>
          </a:xfrm>
          <a:prstGeom prst="rect">
            <a:avLst/>
          </a:prstGeom>
          <a:solidFill>
            <a:srgbClr val="F5F6F8"/>
          </a:solidFill>
          <a:ln w="12700">
            <a:solidFill>
              <a:srgbClr val="D4D8DE"/>
            </a:solidFill>
            <a:prstDash val="solid"/>
          </a:ln>
        </p:spPr>
      </p:sp>
      <p:sp>
        <p:nvSpPr>
          <p:cNvPr id="9" name="outcome-shape-8"/>
          <p:cNvSpPr/>
          <p:nvPr/>
        </p:nvSpPr>
        <p:spPr>
          <a:xfrm>
            <a:off x="12128500" y="2794000"/>
            <a:ext cx="3429000" cy="3175000"/>
          </a:xfrm>
          <a:prstGeom prst="rect">
            <a:avLst/>
          </a:prstGeom>
          <a:solidFill>
            <a:srgbClr val="FCE8EA"/>
          </a:solidFill>
          <a:ln w="25400">
            <a:solidFill>
              <a:srgbClr val="C41220"/>
            </a:solidFill>
            <a:prstDash val="solid"/>
          </a:ln>
        </p:spPr>
      </p:sp>
      <p:sp>
        <p:nvSpPr>
          <p:cNvPr id="10" name="step1"/>
          <p:cNvSpPr/>
          <p:nvPr/>
        </p:nvSpPr>
        <p:spPr>
          <a:xfrm>
            <a:off x="1054100" y="3276600"/>
            <a:ext cx="25908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2"/>
              </a:lnSpc>
              <a:buNone/>
            </a:pPr>
            <a:r>
              <a:rPr lang="en-US" altLang="en-US" sz="16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300" dirty="0"/>
          </a:p>
          <a:p>
            <a:pPr algn="ctr" indent="0" marL="0">
              <a:lnSpc>
                <a:spcPts val="2806"/>
              </a:lnSpc>
              <a:spcBef>
                <a:spcPts val="1000"/>
              </a:spcBef>
              <a:buNone/>
            </a:pPr>
            <a:r>
              <a:rPr lang="en-US" altLang="en-US" sz="2300" b="1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source</a:t>
            </a:r>
            <a:endParaRPr lang="en-US" sz="2300" dirty="0"/>
          </a:p>
          <a:p>
            <a:pPr algn="ctr" indent="0" marL="0">
              <a:lnSpc>
                <a:spcPts val="2806"/>
              </a:lnSpc>
              <a:spcBef>
                <a:spcPts val="1200"/>
              </a:spcBef>
              <a:buNone/>
            </a:pPr>
            <a:r>
              <a:rPr lang="en-US" altLang="en-US" sz="23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notice the important information.</a:t>
            </a:r>
            <a:endParaRPr lang="en-US" sz="2300" dirty="0"/>
          </a:p>
        </p:txBody>
      </p:sp>
      <p:sp>
        <p:nvSpPr>
          <p:cNvPr id="11" name="step2"/>
          <p:cNvSpPr/>
          <p:nvPr/>
        </p:nvSpPr>
        <p:spPr>
          <a:xfrm>
            <a:off x="4864100" y="3276600"/>
            <a:ext cx="25908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2"/>
              </a:lnSpc>
              <a:buNone/>
            </a:pPr>
            <a:r>
              <a:rPr lang="en-US" altLang="en-US" sz="16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300" dirty="0"/>
          </a:p>
          <a:p>
            <a:pPr algn="ctr" indent="0" marL="0">
              <a:lnSpc>
                <a:spcPts val="2806"/>
              </a:lnSpc>
              <a:spcBef>
                <a:spcPts val="1000"/>
              </a:spcBef>
              <a:buNone/>
            </a:pPr>
            <a:r>
              <a:rPr lang="en-US" altLang="en-US" sz="2300" b="1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a CER</a:t>
            </a:r>
            <a:endParaRPr lang="en-US" sz="2300" dirty="0"/>
          </a:p>
          <a:p>
            <a:pPr algn="ctr" indent="0" marL="0">
              <a:lnSpc>
                <a:spcPts val="2806"/>
              </a:lnSpc>
              <a:spcBef>
                <a:spcPts val="1200"/>
              </a:spcBef>
              <a:buNone/>
            </a:pPr>
            <a:r>
              <a:rPr lang="en-US" altLang="en-US" sz="23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explain what the source shows.</a:t>
            </a:r>
            <a:endParaRPr lang="en-US" sz="2300" dirty="0"/>
          </a:p>
        </p:txBody>
      </p:sp>
      <p:sp>
        <p:nvSpPr>
          <p:cNvPr id="12" name="step3"/>
          <p:cNvSpPr/>
          <p:nvPr/>
        </p:nvSpPr>
        <p:spPr>
          <a:xfrm>
            <a:off x="8674100" y="3276600"/>
            <a:ext cx="25908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2"/>
              </a:lnSpc>
              <a:buNone/>
            </a:pPr>
            <a:r>
              <a:rPr lang="en-US" altLang="en-US" sz="16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300" dirty="0"/>
          </a:p>
          <a:p>
            <a:pPr algn="ctr" indent="0" marL="0">
              <a:lnSpc>
                <a:spcPts val="2806"/>
              </a:lnSpc>
              <a:spcBef>
                <a:spcPts val="1000"/>
              </a:spcBef>
              <a:buNone/>
            </a:pPr>
            <a:r>
              <a:rPr lang="en-US" altLang="en-US" sz="2300" b="1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feedback</a:t>
            </a:r>
            <a:endParaRPr lang="en-US" sz="2300" dirty="0"/>
          </a:p>
          <a:p>
            <a:pPr algn="ctr" indent="0" marL="0">
              <a:lnSpc>
                <a:spcPts val="2806"/>
              </a:lnSpc>
              <a:spcBef>
                <a:spcPts val="1200"/>
              </a:spcBef>
              <a:buNone/>
            </a:pPr>
            <a:r>
              <a:rPr lang="en-US" altLang="en-US" sz="23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find one part to improve.</a:t>
            </a:r>
            <a:endParaRPr lang="en-US" sz="2300" dirty="0"/>
          </a:p>
        </p:txBody>
      </p:sp>
      <p:sp>
        <p:nvSpPr>
          <p:cNvPr id="13" name="step4"/>
          <p:cNvSpPr/>
          <p:nvPr/>
        </p:nvSpPr>
        <p:spPr>
          <a:xfrm>
            <a:off x="12484100" y="3276600"/>
            <a:ext cx="27178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2"/>
              </a:lnSpc>
              <a:buNone/>
            </a:pPr>
            <a:r>
              <a:rPr lang="en-US" altLang="en-US" sz="16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300" dirty="0"/>
          </a:p>
          <a:p>
            <a:pPr algn="ctr" indent="0" marL="0">
              <a:lnSpc>
                <a:spcPts val="2806"/>
              </a:lnSpc>
              <a:spcBef>
                <a:spcPts val="1000"/>
              </a:spcBef>
              <a:buNone/>
            </a:pPr>
            <a:r>
              <a:rPr lang="en-US" altLang="en-US" sz="2300" b="1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Revise</a:t>
            </a:r>
            <a:endParaRPr lang="en-US" sz="2300" dirty="0"/>
          </a:p>
          <a:p>
            <a:pPr algn="ctr" indent="0" marL="0">
              <a:lnSpc>
                <a:spcPts val="2806"/>
              </a:lnSpc>
              <a:spcBef>
                <a:spcPts val="1200"/>
              </a:spcBef>
              <a:buNone/>
            </a:pPr>
            <a:r>
              <a:rPr lang="en-US" altLang="en-US" sz="23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add, change, or strengthen their explanation.</a:t>
            </a:r>
            <a:endParaRPr lang="en-US" sz="2300" dirty="0"/>
          </a:p>
        </p:txBody>
      </p:sp>
      <p:sp>
        <p:nvSpPr>
          <p:cNvPr id="14" name="outcome-shape-13"/>
          <p:cNvSpPr/>
          <p:nvPr/>
        </p:nvSpPr>
        <p:spPr>
          <a:xfrm>
            <a:off x="508000" y="6959600"/>
            <a:ext cx="15240000" cy="7874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15" name="note"/>
          <p:cNvSpPr/>
          <p:nvPr/>
        </p:nvSpPr>
        <p:spPr>
          <a:xfrm>
            <a:off x="889000" y="7188200"/>
            <a:ext cx="1447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100" b="1" dirty="0">
                <a:solidFill>
                  <a:srgbClr val="F6B4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Important:</a:t>
            </a: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routine supports student thinking. It does not give students the answer.</a:t>
            </a:r>
            <a:endParaRPr lang="en-US" sz="2100" dirty="0"/>
          </a:p>
        </p:txBody>
      </p:sp>
      <p:sp>
        <p:nvSpPr>
          <p:cNvPr id="16" name="page"/>
          <p:cNvSpPr/>
          <p:nvPr/>
        </p:nvSpPr>
        <p:spPr>
          <a:xfrm>
            <a:off x="14986000" y="84455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outcome-shape-16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ycle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header-title"/>
          <p:cNvSpPr/>
          <p:nvPr/>
        </p:nvSpPr>
        <p:spPr>
          <a:xfrm>
            <a:off x="508000" y="292100"/>
            <a:ext cx="11938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This Connects to This Week's PLCs</a:t>
            </a:r>
            <a:endParaRPr lang="en-US" sz="3000" dirty="0"/>
          </a:p>
        </p:txBody>
      </p:sp>
      <p:sp>
        <p:nvSpPr>
          <p:cNvPr id="4" name="header-meta"/>
          <p:cNvSpPr/>
          <p:nvPr/>
        </p:nvSpPr>
        <p:spPr>
          <a:xfrm>
            <a:off x="12827000" y="355600"/>
            <a:ext cx="292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2:35–2:41  •  6 MIN</a:t>
            </a:r>
            <a:endParaRPr lang="en-US" sz="1600" dirty="0"/>
          </a:p>
        </p:txBody>
      </p:sp>
      <p:sp>
        <p:nvSpPr>
          <p:cNvPr id="5" name="intro"/>
          <p:cNvSpPr/>
          <p:nvPr/>
        </p:nvSpPr>
        <p:spPr>
          <a:xfrm>
            <a:off x="508000" y="1460500"/>
            <a:ext cx="1473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simple question guides the week: What are students doing, and what will help them meet the standard?</a:t>
            </a:r>
            <a:endParaRPr lang="en-US" sz="2400" dirty="0"/>
          </a:p>
        </p:txBody>
      </p:sp>
      <p:sp>
        <p:nvSpPr>
          <p:cNvPr id="6" name="cycle-shape-5"/>
          <p:cNvSpPr/>
          <p:nvPr/>
        </p:nvSpPr>
        <p:spPr>
          <a:xfrm>
            <a:off x="508000" y="2984500"/>
            <a:ext cx="3175000" cy="2921000"/>
          </a:xfrm>
          <a:prstGeom prst="rect">
            <a:avLst/>
          </a:prstGeom>
          <a:solidFill>
            <a:srgbClr val="F5F6F8"/>
          </a:solidFill>
          <a:ln w="12700">
            <a:solidFill>
              <a:srgbClr val="D4D8DE"/>
            </a:solidFill>
            <a:prstDash val="solid"/>
          </a:ln>
        </p:spPr>
      </p:sp>
      <p:sp>
        <p:nvSpPr>
          <p:cNvPr id="7" name="cycle-shape-6"/>
          <p:cNvSpPr/>
          <p:nvPr/>
        </p:nvSpPr>
        <p:spPr>
          <a:xfrm>
            <a:off x="4381500" y="2984500"/>
            <a:ext cx="3175000" cy="2921000"/>
          </a:xfrm>
          <a:prstGeom prst="rect">
            <a:avLst/>
          </a:prstGeom>
          <a:solidFill>
            <a:srgbClr val="F5F6F8"/>
          </a:solidFill>
          <a:ln w="12700">
            <a:solidFill>
              <a:srgbClr val="D4D8DE"/>
            </a:solidFill>
            <a:prstDash val="solid"/>
          </a:ln>
        </p:spPr>
      </p:sp>
      <p:sp>
        <p:nvSpPr>
          <p:cNvPr id="8" name="cycle-shape-7"/>
          <p:cNvSpPr/>
          <p:nvPr/>
        </p:nvSpPr>
        <p:spPr>
          <a:xfrm>
            <a:off x="8255000" y="2984500"/>
            <a:ext cx="3175000" cy="2921000"/>
          </a:xfrm>
          <a:prstGeom prst="rect">
            <a:avLst/>
          </a:prstGeom>
          <a:solidFill>
            <a:srgbClr val="FCE8EA"/>
          </a:solidFill>
          <a:ln w="25400">
            <a:solidFill>
              <a:srgbClr val="C41220"/>
            </a:solidFill>
            <a:prstDash val="solid"/>
          </a:ln>
        </p:spPr>
      </p:sp>
      <p:sp>
        <p:nvSpPr>
          <p:cNvPr id="9" name="cycle-shape-8"/>
          <p:cNvSpPr/>
          <p:nvPr/>
        </p:nvSpPr>
        <p:spPr>
          <a:xfrm>
            <a:off x="12128500" y="2984500"/>
            <a:ext cx="3619500" cy="2921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10" name="monday"/>
          <p:cNvSpPr/>
          <p:nvPr/>
        </p:nvSpPr>
        <p:spPr>
          <a:xfrm>
            <a:off x="863600" y="3429000"/>
            <a:ext cx="24638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altLang="en-US" sz="16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MONDAY</a:t>
            </a:r>
            <a:endParaRPr lang="en-US" sz="2300" dirty="0"/>
          </a:p>
          <a:p>
            <a:pPr algn="ctr" indent="0" marL="0">
              <a:lnSpc>
                <a:spcPts val="2760"/>
              </a:lnSpc>
              <a:spcBef>
                <a:spcPts val="1200"/>
              </a:spcBef>
              <a:buNone/>
            </a:pPr>
            <a:r>
              <a:rPr lang="en-US" altLang="en-US" sz="2300" b="1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Teachers did the task.</a:t>
            </a:r>
            <a:endParaRPr lang="en-US" sz="2300" dirty="0"/>
          </a:p>
          <a:p>
            <a:pPr algn="ctr" indent="0" marL="0">
              <a:lnSpc>
                <a:spcPts val="2760"/>
              </a:lnSpc>
              <a:spcBef>
                <a:spcPts val="1000"/>
              </a:spcBef>
              <a:buNone/>
            </a:pPr>
            <a:r>
              <a:rPr lang="en-US" altLang="en-US" sz="23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might students find hard?</a:t>
            </a:r>
            <a:endParaRPr lang="en-US" sz="2300" dirty="0"/>
          </a:p>
        </p:txBody>
      </p:sp>
      <p:sp>
        <p:nvSpPr>
          <p:cNvPr id="11" name="tuesday"/>
          <p:cNvSpPr/>
          <p:nvPr/>
        </p:nvSpPr>
        <p:spPr>
          <a:xfrm>
            <a:off x="4737100" y="3429000"/>
            <a:ext cx="24638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altLang="en-US" sz="16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TUESDAY</a:t>
            </a:r>
            <a:endParaRPr lang="en-US" sz="2300" dirty="0"/>
          </a:p>
          <a:p>
            <a:pPr algn="ctr" indent="0" marL="0">
              <a:lnSpc>
                <a:spcPts val="2760"/>
              </a:lnSpc>
              <a:spcBef>
                <a:spcPts val="1200"/>
              </a:spcBef>
              <a:buNone/>
            </a:pPr>
            <a:r>
              <a:rPr lang="en-US" altLang="en-US" sz="2300" b="1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Teachers planned support.</a:t>
            </a:r>
            <a:endParaRPr lang="en-US" sz="2300" dirty="0"/>
          </a:p>
          <a:p>
            <a:pPr algn="ctr" indent="0" marL="0">
              <a:lnSpc>
                <a:spcPts val="2760"/>
              </a:lnSpc>
              <a:spcBef>
                <a:spcPts val="1000"/>
              </a:spcBef>
              <a:buNone/>
            </a:pPr>
            <a:r>
              <a:rPr lang="en-US" altLang="en-US" sz="23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will students do, say, and write?</a:t>
            </a:r>
            <a:endParaRPr lang="en-US" sz="2300" dirty="0"/>
          </a:p>
        </p:txBody>
      </p:sp>
      <p:sp>
        <p:nvSpPr>
          <p:cNvPr id="12" name="wednesday"/>
          <p:cNvSpPr/>
          <p:nvPr/>
        </p:nvSpPr>
        <p:spPr>
          <a:xfrm>
            <a:off x="8610600" y="3429000"/>
            <a:ext cx="24638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altLang="en-US" sz="16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WEDNESDAY</a:t>
            </a:r>
            <a:endParaRPr lang="en-US" sz="2300" dirty="0"/>
          </a:p>
          <a:p>
            <a:pPr algn="ctr" indent="0" marL="0">
              <a:lnSpc>
                <a:spcPts val="2760"/>
              </a:lnSpc>
              <a:spcBef>
                <a:spcPts val="1200"/>
              </a:spcBef>
              <a:buNone/>
            </a:pPr>
            <a:r>
              <a:rPr lang="en-US" altLang="en-US" sz="2300" b="1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the routine.</a:t>
            </a:r>
            <a:endParaRPr lang="en-US" sz="2300" dirty="0"/>
          </a:p>
          <a:p>
            <a:pPr algn="ctr" indent="0" marL="0">
              <a:lnSpc>
                <a:spcPts val="2760"/>
              </a:lnSpc>
              <a:spcBef>
                <a:spcPts val="1000"/>
              </a:spcBef>
              <a:buNone/>
            </a:pPr>
            <a:r>
              <a:rPr lang="en-US" altLang="en-US" sz="23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will CUBS and CER help students?</a:t>
            </a:r>
            <a:endParaRPr lang="en-US" sz="2300" dirty="0"/>
          </a:p>
        </p:txBody>
      </p:sp>
      <p:sp>
        <p:nvSpPr>
          <p:cNvPr id="13" name="friday"/>
          <p:cNvSpPr/>
          <p:nvPr/>
        </p:nvSpPr>
        <p:spPr>
          <a:xfrm>
            <a:off x="12484100" y="3429000"/>
            <a:ext cx="29083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altLang="en-US" sz="1600" b="1" dirty="0">
                <a:solidFill>
                  <a:srgbClr val="F6B4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</a:t>
            </a:r>
            <a:endParaRPr lang="en-US" sz="2300" dirty="0"/>
          </a:p>
          <a:p>
            <a:pPr algn="ctr" indent="0" marL="0">
              <a:lnSpc>
                <a:spcPts val="2760"/>
              </a:lnSpc>
              <a:spcBef>
                <a:spcPts val="1200"/>
              </a:spcBef>
              <a:buNone/>
            </a:pPr>
            <a:r>
              <a:rPr lang="en-US" altLang="en-US" sz="2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student work.</a:t>
            </a:r>
            <a:endParaRPr lang="en-US" sz="2300" dirty="0"/>
          </a:p>
          <a:p>
            <a:pPr algn="ctr" indent="0" marL="0">
              <a:lnSpc>
                <a:spcPts val="2760"/>
              </a:lnSpc>
              <a:spcBef>
                <a:spcPts val="1000"/>
              </a:spcBef>
              <a:buNone/>
            </a:pPr>
            <a:r>
              <a:rPr lang="en-US" alt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should students revise or learn next?</a:t>
            </a:r>
            <a:endParaRPr lang="en-US" sz="2300" dirty="0"/>
          </a:p>
        </p:txBody>
      </p:sp>
      <p:sp>
        <p:nvSpPr>
          <p:cNvPr id="14" name="cycle-shape-13"/>
          <p:cNvSpPr/>
          <p:nvPr/>
        </p:nvSpPr>
        <p:spPr>
          <a:xfrm>
            <a:off x="508000" y="6858000"/>
            <a:ext cx="15240000" cy="787400"/>
          </a:xfrm>
          <a:prstGeom prst="rect">
            <a:avLst/>
          </a:prstGeom>
          <a:solidFill>
            <a:srgbClr val="F9FAFB"/>
          </a:solidFill>
          <a:ln w="12700">
            <a:solidFill>
              <a:srgbClr val="D4D8DE"/>
            </a:solidFill>
            <a:prstDash val="solid"/>
          </a:ln>
        </p:spPr>
      </p:sp>
      <p:sp>
        <p:nvSpPr>
          <p:cNvPr id="15" name="anchor"/>
          <p:cNvSpPr/>
          <p:nvPr/>
        </p:nvSpPr>
        <p:spPr>
          <a:xfrm>
            <a:off x="889000" y="7073900"/>
            <a:ext cx="144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200" b="1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same routine in every science course. Change the source—not the student-thinking goal.</a:t>
            </a:r>
            <a:endParaRPr lang="en-US" sz="2200" dirty="0"/>
          </a:p>
        </p:txBody>
      </p:sp>
      <p:sp>
        <p:nvSpPr>
          <p:cNvPr id="16" name="page"/>
          <p:cNvSpPr/>
          <p:nvPr/>
        </p:nvSpPr>
        <p:spPr>
          <a:xfrm>
            <a:off x="14986000" y="84455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cycle-shape-16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riteria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header-title"/>
          <p:cNvSpPr/>
          <p:nvPr/>
        </p:nvSpPr>
        <p:spPr>
          <a:xfrm>
            <a:off x="508000" y="2921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CUBS: A Simple Way to Read a Science Source</a:t>
            </a:r>
            <a:endParaRPr lang="en-US" sz="3000" dirty="0"/>
          </a:p>
        </p:txBody>
      </p:sp>
      <p:sp>
        <p:nvSpPr>
          <p:cNvPr id="4" name="header-meta"/>
          <p:cNvSpPr/>
          <p:nvPr/>
        </p:nvSpPr>
        <p:spPr>
          <a:xfrm>
            <a:off x="12827000" y="355600"/>
            <a:ext cx="292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2:41–2:50  •  9 MIN</a:t>
            </a:r>
            <a:endParaRPr lang="en-US" sz="1600" dirty="0"/>
          </a:p>
        </p:txBody>
      </p:sp>
      <p:sp>
        <p:nvSpPr>
          <p:cNvPr id="5" name="intro"/>
          <p:cNvSpPr/>
          <p:nvPr/>
        </p:nvSpPr>
        <p:spPr>
          <a:xfrm>
            <a:off x="508000" y="1460500"/>
            <a:ext cx="1473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CUBS before students write. It helps them slow down and find the information they will need.</a:t>
            </a:r>
            <a:endParaRPr lang="en-US" sz="2400" dirty="0"/>
          </a:p>
        </p:txBody>
      </p:sp>
      <p:sp>
        <p:nvSpPr>
          <p:cNvPr id="6" name="criteria-shape-5"/>
          <p:cNvSpPr/>
          <p:nvPr/>
        </p:nvSpPr>
        <p:spPr>
          <a:xfrm>
            <a:off x="571500" y="2857500"/>
            <a:ext cx="3492500" cy="3429000"/>
          </a:xfrm>
          <a:prstGeom prst="rect">
            <a:avLst/>
          </a:prstGeom>
          <a:solidFill>
            <a:srgbClr val="F5F6F8"/>
          </a:solidFill>
          <a:ln w="12700">
            <a:solidFill>
              <a:srgbClr val="D4D8DE"/>
            </a:solidFill>
            <a:prstDash val="solid"/>
          </a:ln>
        </p:spPr>
      </p:sp>
      <p:sp>
        <p:nvSpPr>
          <p:cNvPr id="7" name="criteria-shape-6"/>
          <p:cNvSpPr/>
          <p:nvPr/>
        </p:nvSpPr>
        <p:spPr>
          <a:xfrm>
            <a:off x="4445000" y="2857500"/>
            <a:ext cx="3492500" cy="3429000"/>
          </a:xfrm>
          <a:prstGeom prst="rect">
            <a:avLst/>
          </a:prstGeom>
          <a:solidFill>
            <a:srgbClr val="F5F6F8"/>
          </a:solidFill>
          <a:ln w="12700">
            <a:solidFill>
              <a:srgbClr val="D4D8DE"/>
            </a:solidFill>
            <a:prstDash val="solid"/>
          </a:ln>
        </p:spPr>
      </p:sp>
      <p:sp>
        <p:nvSpPr>
          <p:cNvPr id="8" name="criteria-shape-7"/>
          <p:cNvSpPr/>
          <p:nvPr/>
        </p:nvSpPr>
        <p:spPr>
          <a:xfrm>
            <a:off x="8318500" y="2857500"/>
            <a:ext cx="3492500" cy="3429000"/>
          </a:xfrm>
          <a:prstGeom prst="rect">
            <a:avLst/>
          </a:prstGeom>
          <a:solidFill>
            <a:srgbClr val="F5F6F8"/>
          </a:solidFill>
          <a:ln w="12700">
            <a:solidFill>
              <a:srgbClr val="D4D8DE"/>
            </a:solidFill>
            <a:prstDash val="solid"/>
          </a:ln>
        </p:spPr>
      </p:sp>
      <p:sp>
        <p:nvSpPr>
          <p:cNvPr id="9" name="criteria-shape-8"/>
          <p:cNvSpPr/>
          <p:nvPr/>
        </p:nvSpPr>
        <p:spPr>
          <a:xfrm>
            <a:off x="12192000" y="2857500"/>
            <a:ext cx="3492500" cy="3429000"/>
          </a:xfrm>
          <a:prstGeom prst="rect">
            <a:avLst/>
          </a:prstGeom>
          <a:solidFill>
            <a:srgbClr val="FCE8EA"/>
          </a:solidFill>
          <a:ln w="25400">
            <a:solidFill>
              <a:srgbClr val="C41220"/>
            </a:solidFill>
            <a:prstDash val="solid"/>
          </a:ln>
        </p:spPr>
      </p:sp>
      <p:sp>
        <p:nvSpPr>
          <p:cNvPr id="10" name="circle"/>
          <p:cNvSpPr/>
          <p:nvPr/>
        </p:nvSpPr>
        <p:spPr>
          <a:xfrm>
            <a:off x="952500" y="3365500"/>
            <a:ext cx="2730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72"/>
              </a:lnSpc>
              <a:buNone/>
            </a:pPr>
            <a:r>
              <a:rPr lang="en-US" altLang="en-US" sz="26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2400" dirty="0"/>
          </a:p>
          <a:p>
            <a:pPr algn="ctr" indent="0" marL="0">
              <a:lnSpc>
                <a:spcPts val="2928"/>
              </a:lnSpc>
              <a:spcBef>
                <a:spcPts val="1000"/>
              </a:spcBef>
              <a:buNone/>
            </a:pPr>
            <a:r>
              <a:rPr lang="en-US" altLang="en-US" sz="2400" b="1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Circle</a:t>
            </a:r>
            <a:endParaRPr lang="en-US" sz="2400" dirty="0"/>
          </a:p>
          <a:p>
            <a:pPr algn="ctr" indent="0" marL="0">
              <a:lnSpc>
                <a:spcPts val="2928"/>
              </a:lnSpc>
              <a:spcBef>
                <a:spcPts val="1100"/>
              </a:spcBef>
              <a:buNone/>
            </a:pPr>
            <a:r>
              <a:rPr lang="en-US" altLang="en-US" sz="24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Circle the question students need to answer.</a:t>
            </a:r>
            <a:endParaRPr lang="en-US" sz="2400" dirty="0"/>
          </a:p>
        </p:txBody>
      </p:sp>
      <p:sp>
        <p:nvSpPr>
          <p:cNvPr id="11" name="underline"/>
          <p:cNvSpPr/>
          <p:nvPr/>
        </p:nvSpPr>
        <p:spPr>
          <a:xfrm>
            <a:off x="4826000" y="3365500"/>
            <a:ext cx="2730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72"/>
              </a:lnSpc>
              <a:buNone/>
            </a:pPr>
            <a:r>
              <a:rPr lang="en-US" altLang="en-US" sz="26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</a:t>
            </a:r>
            <a:endParaRPr lang="en-US" sz="2400" dirty="0"/>
          </a:p>
          <a:p>
            <a:pPr algn="ctr" indent="0" marL="0">
              <a:lnSpc>
                <a:spcPts val="2928"/>
              </a:lnSpc>
              <a:spcBef>
                <a:spcPts val="1000"/>
              </a:spcBef>
              <a:buNone/>
            </a:pPr>
            <a:r>
              <a:rPr lang="en-US" altLang="en-US" sz="2400" b="1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Underline</a:t>
            </a:r>
            <a:endParaRPr lang="en-US" sz="2400" dirty="0"/>
          </a:p>
          <a:p>
            <a:pPr algn="ctr" indent="0" marL="0">
              <a:lnSpc>
                <a:spcPts val="2928"/>
              </a:lnSpc>
              <a:spcBef>
                <a:spcPts val="1100"/>
              </a:spcBef>
              <a:buNone/>
            </a:pPr>
            <a:r>
              <a:rPr lang="en-US" altLang="en-US" sz="24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Underline details, data, or observations.</a:t>
            </a:r>
            <a:endParaRPr lang="en-US" sz="2400" dirty="0"/>
          </a:p>
        </p:txBody>
      </p:sp>
      <p:sp>
        <p:nvSpPr>
          <p:cNvPr id="12" name="box"/>
          <p:cNvSpPr/>
          <p:nvPr/>
        </p:nvSpPr>
        <p:spPr>
          <a:xfrm>
            <a:off x="8699500" y="3365500"/>
            <a:ext cx="2730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72"/>
              </a:lnSpc>
              <a:buNone/>
            </a:pPr>
            <a:r>
              <a:rPr lang="en-US" altLang="en-US" sz="26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2400" dirty="0"/>
          </a:p>
          <a:p>
            <a:pPr algn="ctr" indent="0" marL="0">
              <a:lnSpc>
                <a:spcPts val="2928"/>
              </a:lnSpc>
              <a:spcBef>
                <a:spcPts val="1000"/>
              </a:spcBef>
              <a:buNone/>
            </a:pPr>
            <a:r>
              <a:rPr lang="en-US" altLang="en-US" sz="2400" b="1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Box</a:t>
            </a:r>
            <a:endParaRPr lang="en-US" sz="2400" dirty="0"/>
          </a:p>
          <a:p>
            <a:pPr algn="ctr" indent="0" marL="0">
              <a:lnSpc>
                <a:spcPts val="2928"/>
              </a:lnSpc>
              <a:spcBef>
                <a:spcPts val="1100"/>
              </a:spcBef>
              <a:buNone/>
            </a:pPr>
            <a:r>
              <a:rPr lang="en-US" altLang="en-US" sz="24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Box words, units, or labels that need attention.</a:t>
            </a:r>
            <a:endParaRPr lang="en-US" sz="2400" dirty="0"/>
          </a:p>
        </p:txBody>
      </p:sp>
      <p:sp>
        <p:nvSpPr>
          <p:cNvPr id="13" name="summarize"/>
          <p:cNvSpPr/>
          <p:nvPr/>
        </p:nvSpPr>
        <p:spPr>
          <a:xfrm>
            <a:off x="12573000" y="3365500"/>
            <a:ext cx="2730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72"/>
              </a:lnSpc>
              <a:buNone/>
            </a:pPr>
            <a:r>
              <a:rPr lang="en-US" altLang="en-US" sz="26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2400" dirty="0"/>
          </a:p>
          <a:p>
            <a:pPr algn="ctr" indent="0" marL="0">
              <a:lnSpc>
                <a:spcPts val="2928"/>
              </a:lnSpc>
              <a:spcBef>
                <a:spcPts val="1000"/>
              </a:spcBef>
              <a:buNone/>
            </a:pPr>
            <a:r>
              <a:rPr lang="en-US" altLang="en-US" sz="2400" b="1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Summarize</a:t>
            </a:r>
            <a:endParaRPr lang="en-US" sz="2400" dirty="0"/>
          </a:p>
          <a:p>
            <a:pPr algn="ctr" indent="0" marL="0">
              <a:lnSpc>
                <a:spcPts val="2928"/>
              </a:lnSpc>
              <a:spcBef>
                <a:spcPts val="1100"/>
              </a:spcBef>
              <a:buNone/>
            </a:pPr>
            <a:r>
              <a:rPr lang="en-US" altLang="en-US" sz="24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 what the source shows in your own words.</a:t>
            </a:r>
            <a:endParaRPr lang="en-US" sz="2400" dirty="0"/>
          </a:p>
        </p:txBody>
      </p:sp>
      <p:sp>
        <p:nvSpPr>
          <p:cNvPr id="14" name="criteria-shape-13"/>
          <p:cNvSpPr/>
          <p:nvPr/>
        </p:nvSpPr>
        <p:spPr>
          <a:xfrm>
            <a:off x="508000" y="6959600"/>
            <a:ext cx="15240000" cy="7874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15" name="note"/>
          <p:cNvSpPr/>
          <p:nvPr/>
        </p:nvSpPr>
        <p:spPr>
          <a:xfrm>
            <a:off x="889000" y="7188200"/>
            <a:ext cx="1447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100" b="1" dirty="0">
                <a:solidFill>
                  <a:srgbClr val="F6B4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direction:</a:t>
            </a: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“Use CUBS on the source. Then use your notes to help you write.”</a:t>
            </a:r>
            <a:endParaRPr lang="en-US" sz="2100" dirty="0"/>
          </a:p>
        </p:txBody>
      </p:sp>
      <p:sp>
        <p:nvSpPr>
          <p:cNvPr id="16" name="page"/>
          <p:cNvSpPr/>
          <p:nvPr/>
        </p:nvSpPr>
        <p:spPr>
          <a:xfrm>
            <a:off x="14986000" y="84455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criteria-shape-16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libration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header-title"/>
          <p:cNvSpPr/>
          <p:nvPr/>
        </p:nvSpPr>
        <p:spPr>
          <a:xfrm>
            <a:off x="508000" y="292100"/>
            <a:ext cx="11938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CUBS With a Source From Your Course</a:t>
            </a:r>
            <a:endParaRPr lang="en-US" sz="3000" dirty="0"/>
          </a:p>
        </p:txBody>
      </p:sp>
      <p:sp>
        <p:nvSpPr>
          <p:cNvPr id="4" name="header-meta"/>
          <p:cNvSpPr/>
          <p:nvPr/>
        </p:nvSpPr>
        <p:spPr>
          <a:xfrm>
            <a:off x="12827000" y="355600"/>
            <a:ext cx="292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2:50–3:00  •  10 MIN</a:t>
            </a:r>
            <a:endParaRPr lang="en-US" sz="1600" dirty="0"/>
          </a:p>
        </p:txBody>
      </p:sp>
      <p:sp>
        <p:nvSpPr>
          <p:cNvPr id="5" name="intro"/>
          <p:cNvSpPr/>
          <p:nvPr/>
        </p:nvSpPr>
        <p:spPr>
          <a:xfrm>
            <a:off x="508000" y="1460500"/>
            <a:ext cx="1473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 text, graph, data set, diagram, model, or investigation result that students will use in an upcoming lesson.</a:t>
            </a:r>
            <a:endParaRPr lang="en-US" sz="2400" dirty="0"/>
          </a:p>
        </p:txBody>
      </p:sp>
      <p:sp>
        <p:nvSpPr>
          <p:cNvPr id="6" name="calibration-shape-5"/>
          <p:cNvSpPr/>
          <p:nvPr/>
        </p:nvSpPr>
        <p:spPr>
          <a:xfrm>
            <a:off x="698500" y="2921000"/>
            <a:ext cx="4445000" cy="3683000"/>
          </a:xfrm>
          <a:prstGeom prst="rect">
            <a:avLst/>
          </a:prstGeom>
          <a:solidFill>
            <a:srgbClr val="F5F6F8"/>
          </a:solidFill>
          <a:ln w="12700">
            <a:solidFill>
              <a:srgbClr val="D4D8DE"/>
            </a:solidFill>
            <a:prstDash val="solid"/>
          </a:ln>
        </p:spPr>
      </p:sp>
      <p:sp>
        <p:nvSpPr>
          <p:cNvPr id="7" name="calibration-shape-6"/>
          <p:cNvSpPr/>
          <p:nvPr/>
        </p:nvSpPr>
        <p:spPr>
          <a:xfrm>
            <a:off x="5905500" y="2921000"/>
            <a:ext cx="4445000" cy="3683000"/>
          </a:xfrm>
          <a:prstGeom prst="rect">
            <a:avLst/>
          </a:prstGeom>
          <a:solidFill>
            <a:srgbClr val="F5F6F8"/>
          </a:solidFill>
          <a:ln w="12700">
            <a:solidFill>
              <a:srgbClr val="D4D8DE"/>
            </a:solidFill>
            <a:prstDash val="solid"/>
          </a:ln>
        </p:spPr>
      </p:sp>
      <p:sp>
        <p:nvSpPr>
          <p:cNvPr id="8" name="calibration-shape-7"/>
          <p:cNvSpPr/>
          <p:nvPr/>
        </p:nvSpPr>
        <p:spPr>
          <a:xfrm>
            <a:off x="11112500" y="2921000"/>
            <a:ext cx="4445000" cy="3683000"/>
          </a:xfrm>
          <a:prstGeom prst="rect">
            <a:avLst/>
          </a:prstGeom>
          <a:solidFill>
            <a:srgbClr val="FCE8EA"/>
          </a:solidFill>
          <a:ln w="25400">
            <a:solidFill>
              <a:srgbClr val="C41220"/>
            </a:solidFill>
            <a:prstDash val="solid"/>
          </a:ln>
        </p:spPr>
      </p:sp>
      <p:sp>
        <p:nvSpPr>
          <p:cNvPr id="9" name="one"/>
          <p:cNvSpPr/>
          <p:nvPr/>
        </p:nvSpPr>
        <p:spPr>
          <a:xfrm>
            <a:off x="1066800" y="3492500"/>
            <a:ext cx="37084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altLang="en-US" sz="18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PICK A SOURCE</a:t>
            </a:r>
            <a:endParaRPr lang="en-US" sz="2500" dirty="0"/>
          </a:p>
          <a:p>
            <a:pPr algn="ctr" indent="0" marL="0">
              <a:lnSpc>
                <a:spcPts val="3125"/>
              </a:lnSpc>
              <a:spcBef>
                <a:spcPts val="1800"/>
              </a:spcBef>
              <a:buNone/>
            </a:pPr>
            <a:r>
              <a:rPr lang="en-US" altLang="en-US" sz="25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will students read, view, or analyze?</a:t>
            </a:r>
            <a:endParaRPr lang="en-US" sz="2500" dirty="0"/>
          </a:p>
        </p:txBody>
      </p:sp>
      <p:sp>
        <p:nvSpPr>
          <p:cNvPr id="10" name="two"/>
          <p:cNvSpPr/>
          <p:nvPr/>
        </p:nvSpPr>
        <p:spPr>
          <a:xfrm>
            <a:off x="6273800" y="3492500"/>
            <a:ext cx="37084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altLang="en-US" sz="18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DO CUBS</a:t>
            </a:r>
            <a:endParaRPr lang="en-US" sz="2500" dirty="0"/>
          </a:p>
          <a:p>
            <a:pPr algn="ctr" indent="0" marL="0">
              <a:lnSpc>
                <a:spcPts val="3125"/>
              </a:lnSpc>
              <a:spcBef>
                <a:spcPts val="1800"/>
              </a:spcBef>
              <a:buNone/>
            </a:pPr>
            <a:r>
              <a:rPr lang="en-US" altLang="en-US" sz="25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should students circle, underline, box, and summarize?</a:t>
            </a:r>
            <a:endParaRPr lang="en-US" sz="2500" dirty="0"/>
          </a:p>
        </p:txBody>
      </p:sp>
      <p:sp>
        <p:nvSpPr>
          <p:cNvPr id="11" name="three"/>
          <p:cNvSpPr/>
          <p:nvPr/>
        </p:nvSpPr>
        <p:spPr>
          <a:xfrm>
            <a:off x="11480800" y="3492500"/>
            <a:ext cx="37084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altLang="en-US" sz="18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TALK WITH A PARTNER</a:t>
            </a:r>
            <a:endParaRPr lang="en-US" sz="2500" dirty="0"/>
          </a:p>
          <a:p>
            <a:pPr algn="ctr" indent="0" marL="0">
              <a:lnSpc>
                <a:spcPts val="3125"/>
              </a:lnSpc>
              <a:spcBef>
                <a:spcPts val="1800"/>
              </a:spcBef>
              <a:buNone/>
            </a:pPr>
            <a:r>
              <a:rPr lang="en-US" altLang="en-US" sz="25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will students need to notice before they can write?</a:t>
            </a:r>
            <a:endParaRPr lang="en-US" sz="2500" dirty="0"/>
          </a:p>
        </p:txBody>
      </p:sp>
      <p:sp>
        <p:nvSpPr>
          <p:cNvPr id="12" name="calibration-shape-11"/>
          <p:cNvSpPr/>
          <p:nvPr/>
        </p:nvSpPr>
        <p:spPr>
          <a:xfrm>
            <a:off x="698500" y="7239000"/>
            <a:ext cx="14859000" cy="6985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13" name="debrief"/>
          <p:cNvSpPr/>
          <p:nvPr/>
        </p:nvSpPr>
        <p:spPr>
          <a:xfrm>
            <a:off x="1079500" y="7429500"/>
            <a:ext cx="1409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it simple: model the first step, then let students do the thinking.</a:t>
            </a:r>
            <a:endParaRPr lang="en-US" sz="2100" dirty="0"/>
          </a:p>
        </p:txBody>
      </p:sp>
      <p:sp>
        <p:nvSpPr>
          <p:cNvPr id="14" name="page"/>
          <p:cNvSpPr/>
          <p:nvPr/>
        </p:nvSpPr>
        <p:spPr>
          <a:xfrm>
            <a:off x="14986000" y="84455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300" dirty="0"/>
          </a:p>
        </p:txBody>
      </p:sp>
      <p:sp>
        <p:nvSpPr>
          <p:cNvPr id="15" name="calibration-shape-14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teracy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header-title"/>
          <p:cNvSpPr/>
          <p:nvPr/>
        </p:nvSpPr>
        <p:spPr>
          <a:xfrm>
            <a:off x="508000" y="292100"/>
            <a:ext cx="1168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 Color Key: Help Students See Their Thinking</a:t>
            </a:r>
            <a:endParaRPr lang="en-US" sz="3000" dirty="0"/>
          </a:p>
        </p:txBody>
      </p:sp>
      <p:sp>
        <p:nvSpPr>
          <p:cNvPr id="4" name="header-meta"/>
          <p:cNvSpPr/>
          <p:nvPr/>
        </p:nvSpPr>
        <p:spPr>
          <a:xfrm>
            <a:off x="12827000" y="355600"/>
            <a:ext cx="292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3:00–3:08  •  8 MIN</a:t>
            </a:r>
            <a:endParaRPr lang="en-US" sz="1600" dirty="0"/>
          </a:p>
        </p:txBody>
      </p:sp>
      <p:sp>
        <p:nvSpPr>
          <p:cNvPr id="5" name="intro"/>
          <p:cNvSpPr/>
          <p:nvPr/>
        </p:nvSpPr>
        <p:spPr>
          <a:xfrm>
            <a:off x="508000" y="1460500"/>
            <a:ext cx="1473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students write, have them color-code what is already in their response. Do not color-code what is missing.</a:t>
            </a:r>
            <a:endParaRPr lang="en-US" sz="2400" dirty="0"/>
          </a:p>
        </p:txBody>
      </p:sp>
      <p:sp>
        <p:nvSpPr>
          <p:cNvPr id="6" name="literacy-shape-5"/>
          <p:cNvSpPr/>
          <p:nvPr/>
        </p:nvSpPr>
        <p:spPr>
          <a:xfrm>
            <a:off x="698500" y="2921000"/>
            <a:ext cx="4508500" cy="3492500"/>
          </a:xfrm>
          <a:prstGeom prst="rect">
            <a:avLst/>
          </a:prstGeom>
          <a:solidFill>
            <a:srgbClr val="FCEAF2"/>
          </a:solidFill>
          <a:ln w="38100">
            <a:solidFill>
              <a:srgbClr val="D84A8B"/>
            </a:solidFill>
            <a:prstDash val="solid"/>
          </a:ln>
        </p:spPr>
      </p:sp>
      <p:sp>
        <p:nvSpPr>
          <p:cNvPr id="7" name="literacy-shape-6"/>
          <p:cNvSpPr/>
          <p:nvPr/>
        </p:nvSpPr>
        <p:spPr>
          <a:xfrm>
            <a:off x="5867400" y="2921000"/>
            <a:ext cx="4508500" cy="3492500"/>
          </a:xfrm>
          <a:prstGeom prst="rect">
            <a:avLst/>
          </a:prstGeom>
          <a:solidFill>
            <a:srgbClr val="E9F7EC"/>
          </a:solidFill>
          <a:ln w="38100">
            <a:solidFill>
              <a:srgbClr val="208B3A"/>
            </a:solidFill>
            <a:prstDash val="solid"/>
          </a:ln>
        </p:spPr>
      </p:sp>
      <p:sp>
        <p:nvSpPr>
          <p:cNvPr id="8" name="literacy-shape-7"/>
          <p:cNvSpPr/>
          <p:nvPr/>
        </p:nvSpPr>
        <p:spPr>
          <a:xfrm>
            <a:off x="11049000" y="2921000"/>
            <a:ext cx="4508500" cy="3492500"/>
          </a:xfrm>
          <a:prstGeom prst="rect">
            <a:avLst/>
          </a:prstGeom>
          <a:solidFill>
            <a:srgbClr val="EAF1F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9" name="claim"/>
          <p:cNvSpPr/>
          <p:nvPr/>
        </p:nvSpPr>
        <p:spPr>
          <a:xfrm>
            <a:off x="1079500" y="3403600"/>
            <a:ext cx="3746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16"/>
              </a:lnSpc>
              <a:buNone/>
            </a:pPr>
            <a:r>
              <a:rPr lang="en-US" altLang="en-US" sz="2800" b="1" dirty="0">
                <a:solidFill>
                  <a:srgbClr val="D84A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 = PINK</a:t>
            </a:r>
            <a:endParaRPr lang="en-US" sz="2500" dirty="0"/>
          </a:p>
          <a:p>
            <a:pPr algn="ctr" indent="0" marL="0">
              <a:lnSpc>
                <a:spcPts val="3050"/>
              </a:lnSpc>
              <a:spcBef>
                <a:spcPts val="1800"/>
              </a:spcBef>
              <a:buNone/>
            </a:pPr>
            <a:r>
              <a:rPr lang="en-US" altLang="en-US" sz="2500" b="1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answer is…</a:t>
            </a:r>
            <a:endParaRPr lang="en-US" sz="2500" dirty="0"/>
          </a:p>
          <a:p>
            <a:pPr algn="ctr" indent="0" marL="0">
              <a:lnSpc>
                <a:spcPts val="3050"/>
              </a:lnSpc>
              <a:spcBef>
                <a:spcPts val="1200"/>
              </a:spcBef>
              <a:buNone/>
            </a:pPr>
            <a:r>
              <a:rPr lang="en-US" altLang="en-US" sz="25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answer, conclusion, or prediction.</a:t>
            </a:r>
            <a:endParaRPr lang="en-US" sz="2500" dirty="0"/>
          </a:p>
        </p:txBody>
      </p:sp>
      <p:sp>
        <p:nvSpPr>
          <p:cNvPr id="10" name="evidence"/>
          <p:cNvSpPr/>
          <p:nvPr/>
        </p:nvSpPr>
        <p:spPr>
          <a:xfrm>
            <a:off x="6248400" y="3403600"/>
            <a:ext cx="3746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16"/>
              </a:lnSpc>
              <a:buNone/>
            </a:pPr>
            <a:r>
              <a:rPr lang="en-US" altLang="en-US" sz="2800" b="1" dirty="0">
                <a:solidFill>
                  <a:srgbClr val="208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= GREEN</a:t>
            </a:r>
            <a:endParaRPr lang="en-US" sz="2500" dirty="0"/>
          </a:p>
          <a:p>
            <a:pPr algn="ctr" indent="0" marL="0">
              <a:lnSpc>
                <a:spcPts val="3050"/>
              </a:lnSpc>
              <a:spcBef>
                <a:spcPts val="1800"/>
              </a:spcBef>
              <a:buNone/>
            </a:pPr>
            <a:r>
              <a:rPr lang="en-US" altLang="en-US" sz="2500" b="1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source shows…</a:t>
            </a:r>
            <a:endParaRPr lang="en-US" sz="2500" dirty="0"/>
          </a:p>
          <a:p>
            <a:pPr algn="ctr" indent="0" marL="0">
              <a:lnSpc>
                <a:spcPts val="3050"/>
              </a:lnSpc>
              <a:spcBef>
                <a:spcPts val="1200"/>
              </a:spcBef>
              <a:buNone/>
            </a:pPr>
            <a:r>
              <a:rPr lang="en-US" altLang="en-US" sz="25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Facts, data, observations, or details.</a:t>
            </a:r>
            <a:endParaRPr lang="en-US" sz="2500" dirty="0"/>
          </a:p>
        </p:txBody>
      </p:sp>
      <p:sp>
        <p:nvSpPr>
          <p:cNvPr id="11" name="reasoning"/>
          <p:cNvSpPr/>
          <p:nvPr/>
        </p:nvSpPr>
        <p:spPr>
          <a:xfrm>
            <a:off x="11430000" y="3403600"/>
            <a:ext cx="3746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16"/>
              </a:lnSpc>
              <a:buNone/>
            </a:pPr>
            <a:r>
              <a:rPr lang="en-US" altLang="en-US" sz="2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REASONING = BLUE</a:t>
            </a:r>
            <a:endParaRPr lang="en-US" sz="2500" dirty="0"/>
          </a:p>
          <a:p>
            <a:pPr algn="ctr" indent="0" marL="0">
              <a:lnSpc>
                <a:spcPts val="3050"/>
              </a:lnSpc>
              <a:spcBef>
                <a:spcPts val="1800"/>
              </a:spcBef>
              <a:buNone/>
            </a:pPr>
            <a:r>
              <a:rPr lang="en-US" altLang="en-US" sz="2500" b="1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matters because…</a:t>
            </a:r>
            <a:endParaRPr lang="en-US" sz="2500" dirty="0"/>
          </a:p>
          <a:p>
            <a:pPr algn="ctr" indent="0" marL="0">
              <a:lnSpc>
                <a:spcPts val="3050"/>
              </a:lnSpc>
              <a:spcBef>
                <a:spcPts val="1200"/>
              </a:spcBef>
              <a:buNone/>
            </a:pPr>
            <a:r>
              <a:rPr lang="en-US" altLang="en-US" sz="25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the evidence supports the claim.</a:t>
            </a:r>
            <a:endParaRPr lang="en-US" sz="2500" dirty="0"/>
          </a:p>
        </p:txBody>
      </p:sp>
      <p:sp>
        <p:nvSpPr>
          <p:cNvPr id="12" name="literacy-shape-11"/>
          <p:cNvSpPr/>
          <p:nvPr/>
        </p:nvSpPr>
        <p:spPr>
          <a:xfrm>
            <a:off x="698500" y="7048500"/>
            <a:ext cx="14859000" cy="7874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13" name="check"/>
          <p:cNvSpPr/>
          <p:nvPr/>
        </p:nvSpPr>
        <p:spPr>
          <a:xfrm>
            <a:off x="1079500" y="7264400"/>
            <a:ext cx="140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100" b="1" dirty="0">
                <a:solidFill>
                  <a:srgbClr val="F6B4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check:</a:t>
            </a: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“What color is missing or needs to be stronger?”</a:t>
            </a:r>
            <a:endParaRPr lang="en-US" sz="2100" dirty="0"/>
          </a:p>
        </p:txBody>
      </p:sp>
      <p:sp>
        <p:nvSpPr>
          <p:cNvPr id="14" name="page"/>
          <p:cNvSpPr/>
          <p:nvPr/>
        </p:nvSpPr>
        <p:spPr>
          <a:xfrm>
            <a:off x="14986000" y="84455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300" dirty="0"/>
          </a:p>
        </p:txBody>
      </p:sp>
      <p:sp>
        <p:nvSpPr>
          <p:cNvPr id="15" name="literacy-shape-14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eedback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header-title"/>
          <p:cNvSpPr/>
          <p:nvPr/>
        </p:nvSpPr>
        <p:spPr>
          <a:xfrm>
            <a:off x="508000" y="292100"/>
            <a:ext cx="12192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Should Tell Students What to Do Next</a:t>
            </a:r>
            <a:endParaRPr lang="en-US" sz="3000" dirty="0"/>
          </a:p>
        </p:txBody>
      </p:sp>
      <p:sp>
        <p:nvSpPr>
          <p:cNvPr id="4" name="header-meta"/>
          <p:cNvSpPr/>
          <p:nvPr/>
        </p:nvSpPr>
        <p:spPr>
          <a:xfrm>
            <a:off x="12827000" y="355600"/>
            <a:ext cx="292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3:08–3:15  •  7 MIN</a:t>
            </a:r>
            <a:endParaRPr lang="en-US" sz="1600" dirty="0"/>
          </a:p>
        </p:txBody>
      </p:sp>
      <p:sp>
        <p:nvSpPr>
          <p:cNvPr id="5" name="intro"/>
          <p:cNvSpPr/>
          <p:nvPr/>
        </p:nvSpPr>
        <p:spPr>
          <a:xfrm>
            <a:off x="508000" y="1460500"/>
            <a:ext cx="1473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one part of the response to improve. Then give students a clear action—not the answer.</a:t>
            </a:r>
            <a:endParaRPr lang="en-US" sz="2400" dirty="0"/>
          </a:p>
        </p:txBody>
      </p:sp>
      <p:sp>
        <p:nvSpPr>
          <p:cNvPr id="6" name="feedback-shape-5"/>
          <p:cNvSpPr/>
          <p:nvPr/>
        </p:nvSpPr>
        <p:spPr>
          <a:xfrm>
            <a:off x="952500" y="2921000"/>
            <a:ext cx="4318000" cy="3048000"/>
          </a:xfrm>
          <a:prstGeom prst="rect">
            <a:avLst/>
          </a:prstGeom>
          <a:solidFill>
            <a:srgbClr val="F5F6F8"/>
          </a:solidFill>
          <a:ln w="12700">
            <a:solidFill>
              <a:srgbClr val="D4D8DE"/>
            </a:solidFill>
            <a:prstDash val="solid"/>
          </a:ln>
        </p:spPr>
      </p:sp>
      <p:sp>
        <p:nvSpPr>
          <p:cNvPr id="7" name="feedback-shape-6"/>
          <p:cNvSpPr/>
          <p:nvPr/>
        </p:nvSpPr>
        <p:spPr>
          <a:xfrm>
            <a:off x="5969000" y="2921000"/>
            <a:ext cx="4318000" cy="3048000"/>
          </a:xfrm>
          <a:prstGeom prst="rect">
            <a:avLst/>
          </a:prstGeom>
          <a:solidFill>
            <a:srgbClr val="F5F6F8"/>
          </a:solidFill>
          <a:ln w="12700">
            <a:solidFill>
              <a:srgbClr val="D4D8DE"/>
            </a:solidFill>
            <a:prstDash val="solid"/>
          </a:ln>
        </p:spPr>
      </p:sp>
      <p:sp>
        <p:nvSpPr>
          <p:cNvPr id="8" name="feedback-shape-7"/>
          <p:cNvSpPr/>
          <p:nvPr/>
        </p:nvSpPr>
        <p:spPr>
          <a:xfrm>
            <a:off x="10985500" y="2921000"/>
            <a:ext cx="4318000" cy="3048000"/>
          </a:xfrm>
          <a:prstGeom prst="rect">
            <a:avLst/>
          </a:prstGeom>
          <a:solidFill>
            <a:srgbClr val="FCE8EA"/>
          </a:solidFill>
          <a:ln w="25400">
            <a:solidFill>
              <a:srgbClr val="C41220"/>
            </a:solidFill>
            <a:prstDash val="solid"/>
          </a:ln>
        </p:spPr>
      </p:sp>
      <p:sp>
        <p:nvSpPr>
          <p:cNvPr id="9" name="notice"/>
          <p:cNvSpPr/>
          <p:nvPr/>
        </p:nvSpPr>
        <p:spPr>
          <a:xfrm>
            <a:off x="1308100" y="3429000"/>
            <a:ext cx="36068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en-US" altLang="en-US" sz="18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NOTICE</a:t>
            </a:r>
            <a:endParaRPr lang="en-US" sz="2500" dirty="0"/>
          </a:p>
          <a:p>
            <a:pPr algn="ctr" indent="0" marL="0">
              <a:lnSpc>
                <a:spcPts val="3100"/>
              </a:lnSpc>
              <a:spcBef>
                <a:spcPts val="1600"/>
              </a:spcBef>
              <a:buNone/>
            </a:pPr>
            <a:r>
              <a:rPr lang="en-US" altLang="en-US" sz="25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missing or weak: claim, evidence, or reasoning?</a:t>
            </a:r>
            <a:endParaRPr lang="en-US" sz="2500" dirty="0"/>
          </a:p>
        </p:txBody>
      </p:sp>
      <p:sp>
        <p:nvSpPr>
          <p:cNvPr id="10" name="prompt"/>
          <p:cNvSpPr/>
          <p:nvPr/>
        </p:nvSpPr>
        <p:spPr>
          <a:xfrm>
            <a:off x="6324600" y="3429000"/>
            <a:ext cx="36068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en-US" altLang="en-US" sz="18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PROMPT</a:t>
            </a:r>
            <a:endParaRPr lang="en-US" sz="2500" dirty="0"/>
          </a:p>
          <a:p>
            <a:pPr algn="ctr" indent="0" marL="0">
              <a:lnSpc>
                <a:spcPts val="3100"/>
              </a:lnSpc>
              <a:spcBef>
                <a:spcPts val="1600"/>
              </a:spcBef>
              <a:buNone/>
            </a:pPr>
            <a:r>
              <a:rPr lang="en-US" altLang="en-US" sz="25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 question that sends students back to the source.</a:t>
            </a:r>
            <a:endParaRPr lang="en-US" sz="2500" dirty="0"/>
          </a:p>
        </p:txBody>
      </p:sp>
      <p:sp>
        <p:nvSpPr>
          <p:cNvPr id="11" name="revise"/>
          <p:cNvSpPr/>
          <p:nvPr/>
        </p:nvSpPr>
        <p:spPr>
          <a:xfrm>
            <a:off x="11341100" y="3429000"/>
            <a:ext cx="36068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en-US" altLang="en-US" sz="18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REVISE</a:t>
            </a:r>
            <a:endParaRPr lang="en-US" sz="2500" dirty="0"/>
          </a:p>
          <a:p>
            <a:pPr algn="ctr" indent="0" marL="0">
              <a:lnSpc>
                <a:spcPts val="3100"/>
              </a:lnSpc>
              <a:spcBef>
                <a:spcPts val="1600"/>
              </a:spcBef>
              <a:buNone/>
            </a:pPr>
            <a:r>
              <a:rPr lang="en-US" altLang="en-US" sz="25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add or improve one part of their own response.</a:t>
            </a:r>
            <a:endParaRPr lang="en-US" sz="2500" dirty="0"/>
          </a:p>
        </p:txBody>
      </p:sp>
      <p:sp>
        <p:nvSpPr>
          <p:cNvPr id="12" name="feedback-shape-11"/>
          <p:cNvSpPr/>
          <p:nvPr/>
        </p:nvSpPr>
        <p:spPr>
          <a:xfrm>
            <a:off x="952500" y="6858000"/>
            <a:ext cx="14351000" cy="952500"/>
          </a:xfrm>
          <a:prstGeom prst="rect">
            <a:avLst/>
          </a:prstGeom>
          <a:solidFill>
            <a:srgbClr val="F9FAFB"/>
          </a:solidFill>
          <a:ln w="12700">
            <a:solidFill>
              <a:srgbClr val="D4D8DE"/>
            </a:solidFill>
            <a:prstDash val="solid"/>
          </a:ln>
        </p:spPr>
      </p:sp>
      <p:sp>
        <p:nvSpPr>
          <p:cNvPr id="13" name="example"/>
          <p:cNvSpPr/>
          <p:nvPr/>
        </p:nvSpPr>
        <p:spPr>
          <a:xfrm>
            <a:off x="1333500" y="7086600"/>
            <a:ext cx="1358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altLang="en-US" sz="2200" b="1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prompt:</a:t>
            </a:r>
            <a:r>
              <a:rPr lang="en-US" altLang="en-US" sz="22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“Find your green evidence. Add a blue sentence that explains why it supports your claim.”</a:t>
            </a:r>
            <a:endParaRPr lang="en-US" sz="2200" dirty="0"/>
          </a:p>
        </p:txBody>
      </p:sp>
      <p:sp>
        <p:nvSpPr>
          <p:cNvPr id="14" name="page"/>
          <p:cNvSpPr/>
          <p:nvPr/>
        </p:nvSpPr>
        <p:spPr>
          <a:xfrm>
            <a:off x="14986000" y="84455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300" dirty="0"/>
          </a:p>
        </p:txBody>
      </p:sp>
      <p:sp>
        <p:nvSpPr>
          <p:cNvPr id="15" name="feedback-shape-14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ktime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header-title"/>
          <p:cNvSpPr/>
          <p:nvPr/>
        </p:nvSpPr>
        <p:spPr>
          <a:xfrm>
            <a:off x="508000" y="292100"/>
            <a:ext cx="11811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 Time: Make This Work in Your Course</a:t>
            </a:r>
            <a:endParaRPr lang="en-US" sz="3000" dirty="0"/>
          </a:p>
        </p:txBody>
      </p:sp>
      <p:sp>
        <p:nvSpPr>
          <p:cNvPr id="4" name="header-meta"/>
          <p:cNvSpPr/>
          <p:nvPr/>
        </p:nvSpPr>
        <p:spPr>
          <a:xfrm>
            <a:off x="12827000" y="355600"/>
            <a:ext cx="292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3:15–3:28  •  13 MIN</a:t>
            </a:r>
            <a:endParaRPr lang="en-US" sz="1600" dirty="0"/>
          </a:p>
        </p:txBody>
      </p:sp>
      <p:sp>
        <p:nvSpPr>
          <p:cNvPr id="5" name="worktime-shape-4"/>
          <p:cNvSpPr/>
          <p:nvPr/>
        </p:nvSpPr>
        <p:spPr>
          <a:xfrm>
            <a:off x="698500" y="1587500"/>
            <a:ext cx="3302000" cy="5588000"/>
          </a:xfrm>
          <a:prstGeom prst="rect">
            <a:avLst/>
          </a:prstGeom>
          <a:solidFill>
            <a:srgbClr val="C41220"/>
          </a:solidFill>
          <a:ln/>
        </p:spPr>
      </p:sp>
      <p:sp>
        <p:nvSpPr>
          <p:cNvPr id="6" name="time"/>
          <p:cNvSpPr/>
          <p:nvPr/>
        </p:nvSpPr>
        <p:spPr>
          <a:xfrm>
            <a:off x="1079500" y="2413000"/>
            <a:ext cx="2540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6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6600" dirty="0"/>
          </a:p>
          <a:p>
            <a:pPr algn="ctr" indent="0" marL="0">
              <a:buNone/>
            </a:pPr>
            <a:r>
              <a:rPr lang="en-US" altLang="en-US" sz="2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minutes</a:t>
            </a:r>
            <a:endParaRPr lang="en-US" sz="6600" dirty="0"/>
          </a:p>
        </p:txBody>
      </p:sp>
      <p:sp>
        <p:nvSpPr>
          <p:cNvPr id="7" name="direction"/>
          <p:cNvSpPr/>
          <p:nvPr/>
        </p:nvSpPr>
        <p:spPr>
          <a:xfrm>
            <a:off x="1041400" y="5461000"/>
            <a:ext cx="2616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96"/>
              </a:lnSpc>
              <a:buNone/>
            </a:pPr>
            <a:r>
              <a:rPr lang="en-US" altLang="en-US" sz="2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Lesson Planning Sheet as you work.</a:t>
            </a:r>
            <a:endParaRPr lang="en-US" sz="2200" dirty="0"/>
          </a:p>
        </p:txBody>
      </p:sp>
      <p:sp>
        <p:nvSpPr>
          <p:cNvPr id="8" name="worktime-shape-7"/>
          <p:cNvSpPr/>
          <p:nvPr/>
        </p:nvSpPr>
        <p:spPr>
          <a:xfrm>
            <a:off x="4699000" y="1587500"/>
            <a:ext cx="10541000" cy="1498600"/>
          </a:xfrm>
          <a:prstGeom prst="rect">
            <a:avLst/>
          </a:prstGeom>
          <a:solidFill>
            <a:srgbClr val="F5F6F8"/>
          </a:solidFill>
          <a:ln w="12700">
            <a:solidFill>
              <a:srgbClr val="D4D8DE"/>
            </a:solidFill>
            <a:prstDash val="solid"/>
          </a:ln>
        </p:spPr>
      </p:sp>
      <p:sp>
        <p:nvSpPr>
          <p:cNvPr id="9" name="worktime-shape-8"/>
          <p:cNvSpPr/>
          <p:nvPr/>
        </p:nvSpPr>
        <p:spPr>
          <a:xfrm>
            <a:off x="4699000" y="3568700"/>
            <a:ext cx="10541000" cy="1498600"/>
          </a:xfrm>
          <a:prstGeom prst="rect">
            <a:avLst/>
          </a:prstGeom>
          <a:solidFill>
            <a:srgbClr val="F5F6F8"/>
          </a:solidFill>
          <a:ln w="12700">
            <a:solidFill>
              <a:srgbClr val="D4D8DE"/>
            </a:solidFill>
            <a:prstDash val="solid"/>
          </a:ln>
        </p:spPr>
      </p:sp>
      <p:sp>
        <p:nvSpPr>
          <p:cNvPr id="10" name="worktime-shape-9"/>
          <p:cNvSpPr/>
          <p:nvPr/>
        </p:nvSpPr>
        <p:spPr>
          <a:xfrm>
            <a:off x="4699000" y="5549900"/>
            <a:ext cx="10541000" cy="1625600"/>
          </a:xfrm>
          <a:prstGeom prst="rect">
            <a:avLst/>
          </a:prstGeom>
          <a:solidFill>
            <a:srgbClr val="FCE8EA"/>
          </a:solidFill>
          <a:ln w="25400">
            <a:solidFill>
              <a:srgbClr val="C41220"/>
            </a:solidFill>
            <a:prstDash val="solid"/>
          </a:ln>
        </p:spPr>
      </p:sp>
      <p:sp>
        <p:nvSpPr>
          <p:cNvPr id="11" name="q1"/>
          <p:cNvSpPr/>
          <p:nvPr/>
        </p:nvSpPr>
        <p:spPr>
          <a:xfrm>
            <a:off x="5143500" y="1943100"/>
            <a:ext cx="93345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altLang="en-US" sz="24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What source will students analyze?</a:t>
            </a:r>
            <a:r>
              <a:rPr lang="en-US" altLang="en-US" sz="24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Choose the text, graph, model, data set, or investigation result.</a:t>
            </a:r>
            <a:endParaRPr lang="en-US" sz="2400" dirty="0"/>
          </a:p>
        </p:txBody>
      </p:sp>
      <p:sp>
        <p:nvSpPr>
          <p:cNvPr id="12" name="q2"/>
          <p:cNvSpPr/>
          <p:nvPr/>
        </p:nvSpPr>
        <p:spPr>
          <a:xfrm>
            <a:off x="5143500" y="3924300"/>
            <a:ext cx="93345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altLang="en-US" sz="24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What will students do?</a:t>
            </a:r>
            <a:r>
              <a:rPr lang="en-US" altLang="en-US" sz="24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Choose one CUBS move and one CER expectation.</a:t>
            </a:r>
            <a:endParaRPr lang="en-US" sz="2400" dirty="0"/>
          </a:p>
        </p:txBody>
      </p:sp>
      <p:sp>
        <p:nvSpPr>
          <p:cNvPr id="13" name="q3"/>
          <p:cNvSpPr/>
          <p:nvPr/>
        </p:nvSpPr>
        <p:spPr>
          <a:xfrm>
            <a:off x="5143500" y="5905500"/>
            <a:ext cx="9334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altLang="en-US" sz="24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What will students revise?</a:t>
            </a:r>
            <a:r>
              <a:rPr lang="en-US" altLang="en-US" sz="24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Plan one feedback prompt and one next action. Share one useful idea with a colleague.</a:t>
            </a:r>
            <a:endParaRPr lang="en-US" sz="2400" dirty="0"/>
          </a:p>
        </p:txBody>
      </p:sp>
      <p:sp>
        <p:nvSpPr>
          <p:cNvPr id="14" name="page"/>
          <p:cNvSpPr/>
          <p:nvPr/>
        </p:nvSpPr>
        <p:spPr>
          <a:xfrm>
            <a:off x="14986000" y="84455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300" dirty="0"/>
          </a:p>
        </p:txBody>
      </p:sp>
      <p:sp>
        <p:nvSpPr>
          <p:cNvPr id="15" name="worktime-shape-14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e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eyebrow"/>
          <p:cNvSpPr/>
          <p:nvPr/>
        </p:nvSpPr>
        <p:spPr>
          <a:xfrm>
            <a:off x="736600" y="342900"/>
            <a:ext cx="1143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 •  3:28–3:30 P.M.  •  2 MIN</a:t>
            </a:r>
            <a:endParaRPr lang="en-US" sz="1600" dirty="0"/>
          </a:p>
        </p:txBody>
      </p:sp>
      <p:sp>
        <p:nvSpPr>
          <p:cNvPr id="4" name="title"/>
          <p:cNvSpPr/>
          <p:nvPr/>
        </p:nvSpPr>
        <p:spPr>
          <a:xfrm>
            <a:off x="736600" y="1676400"/>
            <a:ext cx="13843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0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You Leave</a:t>
            </a:r>
            <a:endParaRPr lang="en-US" sz="4000" dirty="0"/>
          </a:p>
        </p:txBody>
      </p:sp>
      <p:sp>
        <p:nvSpPr>
          <p:cNvPr id="5" name="subtitle"/>
          <p:cNvSpPr/>
          <p:nvPr/>
        </p:nvSpPr>
        <p:spPr>
          <a:xfrm>
            <a:off x="736600" y="2667000"/>
            <a:ext cx="13208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one small next step. Bring evidence back on Friday.</a:t>
            </a:r>
            <a:endParaRPr lang="en-US" sz="2400" dirty="0"/>
          </a:p>
        </p:txBody>
      </p:sp>
      <p:sp>
        <p:nvSpPr>
          <p:cNvPr id="6" name="close-shape-5"/>
          <p:cNvSpPr/>
          <p:nvPr/>
        </p:nvSpPr>
        <p:spPr>
          <a:xfrm>
            <a:off x="736600" y="3746500"/>
            <a:ext cx="4445000" cy="2730500"/>
          </a:xfrm>
          <a:prstGeom prst="rect">
            <a:avLst/>
          </a:prstGeom>
          <a:solidFill>
            <a:srgbClr val="F5F6F8"/>
          </a:solidFill>
          <a:ln w="12700">
            <a:solidFill>
              <a:srgbClr val="D4D8DE"/>
            </a:solidFill>
            <a:prstDash val="solid"/>
          </a:ln>
        </p:spPr>
      </p:sp>
      <p:sp>
        <p:nvSpPr>
          <p:cNvPr id="7" name="close-shape-6"/>
          <p:cNvSpPr/>
          <p:nvPr/>
        </p:nvSpPr>
        <p:spPr>
          <a:xfrm>
            <a:off x="5905500" y="3746500"/>
            <a:ext cx="4445000" cy="2730500"/>
          </a:xfrm>
          <a:prstGeom prst="rect">
            <a:avLst/>
          </a:prstGeom>
          <a:solidFill>
            <a:srgbClr val="F5F6F8"/>
          </a:solidFill>
          <a:ln w="12700">
            <a:solidFill>
              <a:srgbClr val="D4D8DE"/>
            </a:solidFill>
            <a:prstDash val="solid"/>
          </a:ln>
        </p:spPr>
      </p:sp>
      <p:sp>
        <p:nvSpPr>
          <p:cNvPr id="8" name="close-shape-7"/>
          <p:cNvSpPr/>
          <p:nvPr/>
        </p:nvSpPr>
        <p:spPr>
          <a:xfrm>
            <a:off x="11074400" y="3746500"/>
            <a:ext cx="4368800" cy="2730500"/>
          </a:xfrm>
          <a:prstGeom prst="rect">
            <a:avLst/>
          </a:prstGeom>
          <a:solidFill>
            <a:srgbClr val="FCE8EA"/>
          </a:solidFill>
          <a:ln w="25400">
            <a:solidFill>
              <a:srgbClr val="C41220"/>
            </a:solidFill>
            <a:prstDash val="solid"/>
          </a:ln>
        </p:spPr>
      </p:sp>
      <p:sp>
        <p:nvSpPr>
          <p:cNvPr id="9" name="step1"/>
          <p:cNvSpPr/>
          <p:nvPr/>
        </p:nvSpPr>
        <p:spPr>
          <a:xfrm>
            <a:off x="1117600" y="4216400"/>
            <a:ext cx="3683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en-US" altLang="en-US" sz="18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TEACH</a:t>
            </a:r>
            <a:endParaRPr lang="en-US" sz="2500" dirty="0"/>
          </a:p>
          <a:p>
            <a:pPr algn="ctr" indent="0" marL="0">
              <a:lnSpc>
                <a:spcPts val="3100"/>
              </a:lnSpc>
              <a:spcBef>
                <a:spcPts val="1500"/>
              </a:spcBef>
              <a:buNone/>
            </a:pPr>
            <a:r>
              <a:rPr lang="en-US" altLang="en-US" sz="25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CUBS or CER with one source in an upcoming lesson.</a:t>
            </a:r>
            <a:endParaRPr lang="en-US" sz="2500" dirty="0"/>
          </a:p>
        </p:txBody>
      </p:sp>
      <p:sp>
        <p:nvSpPr>
          <p:cNvPr id="10" name="step2"/>
          <p:cNvSpPr/>
          <p:nvPr/>
        </p:nvSpPr>
        <p:spPr>
          <a:xfrm>
            <a:off x="6286500" y="4216400"/>
            <a:ext cx="3683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en-US" altLang="en-US" sz="18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COLLECT</a:t>
            </a:r>
            <a:endParaRPr lang="en-US" sz="2500" dirty="0"/>
          </a:p>
          <a:p>
            <a:pPr algn="ctr" indent="0" marL="0">
              <a:lnSpc>
                <a:spcPts val="3100"/>
              </a:lnSpc>
              <a:spcBef>
                <a:spcPts val="1500"/>
              </a:spcBef>
              <a:buNone/>
            </a:pPr>
            <a:r>
              <a:rPr lang="en-US" altLang="en-US" sz="25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one or two de-identified student responses.</a:t>
            </a:r>
            <a:endParaRPr lang="en-US" sz="2500" dirty="0"/>
          </a:p>
        </p:txBody>
      </p:sp>
      <p:sp>
        <p:nvSpPr>
          <p:cNvPr id="11" name="step3"/>
          <p:cNvSpPr/>
          <p:nvPr/>
        </p:nvSpPr>
        <p:spPr>
          <a:xfrm>
            <a:off x="11455400" y="4216400"/>
            <a:ext cx="36068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en-US" altLang="en-US" sz="18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BRING FRIDAY</a:t>
            </a:r>
            <a:endParaRPr lang="en-US" sz="2500" dirty="0"/>
          </a:p>
          <a:p>
            <a:pPr algn="ctr" indent="0" marL="0">
              <a:lnSpc>
                <a:spcPts val="3100"/>
              </a:lnSpc>
              <a:spcBef>
                <a:spcPts val="1500"/>
              </a:spcBef>
              <a:buNone/>
            </a:pPr>
            <a:r>
              <a:rPr lang="en-US" altLang="en-US" sz="25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student work and the feedback you gave.</a:t>
            </a:r>
            <a:endParaRPr lang="en-US" sz="2500" dirty="0"/>
          </a:p>
        </p:txBody>
      </p:sp>
      <p:sp>
        <p:nvSpPr>
          <p:cNvPr id="12" name="close-shape-11"/>
          <p:cNvSpPr/>
          <p:nvPr/>
        </p:nvSpPr>
        <p:spPr>
          <a:xfrm>
            <a:off x="736600" y="7302500"/>
            <a:ext cx="14706600" cy="7366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13" name="bottom"/>
          <p:cNvSpPr/>
          <p:nvPr/>
        </p:nvSpPr>
        <p:spPr>
          <a:xfrm>
            <a:off x="1117600" y="7518400"/>
            <a:ext cx="13944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100" b="1" dirty="0">
                <a:solidFill>
                  <a:srgbClr val="F6B4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Remember:</a:t>
            </a: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students need practice thinking, writing, and revising—not a completed answer.</a:t>
            </a:r>
            <a:endParaRPr lang="en-US" sz="2100" dirty="0"/>
          </a:p>
        </p:txBody>
      </p:sp>
      <p:sp>
        <p:nvSpPr>
          <p:cNvPr id="14" name="page"/>
          <p:cNvSpPr/>
          <p:nvPr/>
        </p:nvSpPr>
        <p:spPr>
          <a:xfrm>
            <a:off x="14732000" y="8432800"/>
            <a:ext cx="73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300" dirty="0"/>
          </a:p>
        </p:txBody>
      </p:sp>
      <p:sp>
        <p:nvSpPr>
          <p:cNvPr id="15" name="close-shape-14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Strengthening Science Literacy: Calibrating Writing Benchmarks, Feedback, and Revision</dc:title>
  <dc:subject>Strengthening Science Literacy: Calibrating Writing Benchmarks, Feedback, and Revision</dc:subject>
  <dc:creator>Manus</dc:creator>
  <cp:lastModifiedBy>Manus</cp:lastModifiedBy>
  <cp:revision>1</cp:revision>
  <dcterms:created xsi:type="dcterms:W3CDTF">2026-10-27T23:43:04Z</dcterms:created>
  <dcterms:modified xsi:type="dcterms:W3CDTF">2026-10-27T23:43:04Z</dcterms:modified>
</cp:coreProperties>
</file>
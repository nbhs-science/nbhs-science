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700" dirty="0"/>
          </a:p>
        </p:txBody>
      </p:sp>
      <p:sp>
        <p:nvSpPr>
          <p:cNvPr id="5" name="title"/>
          <p:cNvSpPr/>
          <p:nvPr/>
        </p:nvSpPr>
        <p:spPr>
          <a:xfrm>
            <a:off x="889000" y="2387600"/>
            <a:ext cx="13335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 Feedback, and Revision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benchmark task from Monday and Tuesday to calibrate expectations, feedback, student action, and the evidence teachers will bring to Friday.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focus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300" dirty="0"/>
          </a:p>
        </p:txBody>
      </p:sp>
      <p:sp>
        <p:nvSpPr>
          <p:cNvPr id="10" name="focus-copy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calibrated task, one usable feedback loop, and one clear evidence plan.</a:t>
            </a:r>
            <a:endParaRPr lang="en-US" sz="1700" dirty="0"/>
          </a:p>
        </p:txBody>
      </p:sp>
      <p:sp>
        <p:nvSpPr>
          <p:cNvPr id="11" name="footer"/>
          <p:cNvSpPr/>
          <p:nvPr/>
        </p:nvSpPr>
        <p:spPr>
          <a:xfrm>
            <a:off x="889000" y="7493000"/>
            <a:ext cx="1244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3–4.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Outcome for Today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2:30–2:36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 one course-specific evidence task and a clear path from success criteria to feedback, student action, and the evidence that will inform the next lesson.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the same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prompt, source/evidence, and student product.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bar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Clear, student-usable success criteria.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small sample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evidence in work or anticipated responses.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Refine feedback + action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student responsibility for the science thinking.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Friday evidence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writing samples and related unit-test evidence where available.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a separate initiative.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strengthens the same benchmark and Lesson Internalization cycle already in progress.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Benchmark Evidence Cycle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2:36–2:41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is the calibration bridge: it connects Monday/Tuesday planning to Friday’s evidence-based adjustment of the next learning experience.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benchmark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criteria, source, anticipated student thinking.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action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Criterion, feedback prompt, student action, evidence look-for.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expectations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samples, criteria, feedback, and revision.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Triangulate evidence + adjust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plus unit-test-by-standard/question evidence where available → supported learning pattern → next lesson action.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unit of analysis instructional: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no rankings of teachers, students, or courses; no labels applied to people; no broad reteach plan.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Bar for This Benchmark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reviewing a response, clarify the intended science thinking, student product, exemplar, and criteria for success.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CONTENT + CLAIM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accurate science idea, conclusion, or explanation should be visible?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EVIDENCE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data, observation, source detail, model feature, or result should students use accurately?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REASONING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should students connect their evidence to the science idea or explanation?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LANGUAGE + REPRESENTATION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vocabulary, transitions, labels, or representation choices make the thinking understandable?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Calibration begins with the task and criteria—not a score, a person, or a comparison across classrooms.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Small Response Set or Anticipated Responses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2:50–3:02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criteria to discuss a few de-identified writing samples, an exemplar, or anticipated responses. Describe evidence in the work—not students or teachers.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7305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p1"/>
          <p:cNvSpPr/>
          <p:nvPr/>
        </p:nvSpPr>
        <p:spPr>
          <a:xfrm>
            <a:off x="825500" y="3086100"/>
            <a:ext cx="2921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READ ALONE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is visible for the selected criterion. Avoid scoring or assigning a level.</a:t>
            </a:r>
            <a:endParaRPr lang="en-US" sz="2100" dirty="0"/>
          </a:p>
        </p:txBody>
      </p:sp>
      <p:sp>
        <p:nvSpPr>
          <p:cNvPr id="8" name="calibration-shape-7"/>
          <p:cNvSpPr/>
          <p:nvPr/>
        </p:nvSpPr>
        <p:spPr>
          <a:xfrm>
            <a:off x="4445000" y="27305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p2"/>
          <p:cNvSpPr/>
          <p:nvPr/>
        </p:nvSpPr>
        <p:spPr>
          <a:xfrm>
            <a:off x="4762500" y="3086100"/>
            <a:ext cx="2921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COMPARE OBSERVATIONS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supports the observation? What would a reader see or hear in the response?</a:t>
            </a:r>
            <a:endParaRPr lang="en-US" sz="2100" dirty="0"/>
          </a:p>
        </p:txBody>
      </p:sp>
      <p:sp>
        <p:nvSpPr>
          <p:cNvPr id="10" name="calibration-shape-9"/>
          <p:cNvSpPr/>
          <p:nvPr/>
        </p:nvSpPr>
        <p:spPr>
          <a:xfrm>
            <a:off x="8382000" y="2730500"/>
            <a:ext cx="3556000" cy="381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p3"/>
          <p:cNvSpPr/>
          <p:nvPr/>
        </p:nvSpPr>
        <p:spPr>
          <a:xfrm>
            <a:off x="8699500" y="3086100"/>
            <a:ext cx="2921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NAME ONE NEED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one high-leverage criterion to strengthen in the next student action.</a:t>
            </a:r>
            <a:endParaRPr lang="en-US" sz="2100" dirty="0"/>
          </a:p>
        </p:txBody>
      </p:sp>
      <p:sp>
        <p:nvSpPr>
          <p:cNvPr id="12" name="calibration-shape-11"/>
          <p:cNvSpPr/>
          <p:nvPr/>
        </p:nvSpPr>
        <p:spPr>
          <a:xfrm>
            <a:off x="12319000" y="2730500"/>
            <a:ext cx="3429000" cy="3810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p4"/>
          <p:cNvSpPr/>
          <p:nvPr/>
        </p:nvSpPr>
        <p:spPr>
          <a:xfrm>
            <a:off x="12636500" y="3086100"/>
            <a:ext cx="2794000" cy="273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PLAN THE RESPONSE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6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a feedback prompt, student action, and the next evidence to collect.</a:t>
            </a:r>
            <a:endParaRPr lang="en-US" sz="2100" dirty="0"/>
          </a:p>
        </p:txBody>
      </p:sp>
      <p:sp>
        <p:nvSpPr>
          <p:cNvPr id="14" name="calibration-shape-13"/>
          <p:cNvSpPr/>
          <p:nvPr/>
        </p:nvSpPr>
        <p:spPr>
          <a:xfrm>
            <a:off x="508000" y="7200900"/>
            <a:ext cx="15240000" cy="711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protocol"/>
          <p:cNvSpPr/>
          <p:nvPr/>
        </p:nvSpPr>
        <p:spPr>
          <a:xfrm>
            <a:off x="838200" y="7391400"/>
            <a:ext cx="14452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Protocol: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evidence in the work → supported observation → one focused need → one student-facing next move.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calibration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Literacy Routines to Make Thinking Visible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3:02–3:08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routine only when it makes the task more accessible or helps students see their own science thinking. Equivalent course-appropriate structures are welcome.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6959600" cy="3962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63600" y="3111500"/>
            <a:ext cx="5715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CUBS: READ THE SOURCE</a:t>
            </a:r>
            <a:endParaRPr lang="en-US" sz="2400" dirty="0"/>
          </a:p>
        </p:txBody>
      </p:sp>
      <p:sp>
        <p:nvSpPr>
          <p:cNvPr id="8" name="left-copy"/>
          <p:cNvSpPr/>
          <p:nvPr/>
        </p:nvSpPr>
        <p:spPr>
          <a:xfrm>
            <a:off x="863600" y="3835400"/>
            <a:ext cx="58674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ircle the central idea.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nderline evidence students can use.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ox language that may block access.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ummarize the science idea or question.</a:t>
            </a:r>
            <a:endParaRPr lang="en-US" sz="2100" dirty="0"/>
          </a:p>
        </p:txBody>
      </p:sp>
      <p:sp>
        <p:nvSpPr>
          <p:cNvPr id="9" name="literacy-shape-8"/>
          <p:cNvSpPr/>
          <p:nvPr/>
        </p:nvSpPr>
        <p:spPr>
          <a:xfrm>
            <a:off x="8026400" y="2730500"/>
            <a:ext cx="7721600" cy="3962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382000" y="3111500"/>
            <a:ext cx="635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COLOR-CODED CER: SEE THE RESPONSE</a:t>
            </a:r>
            <a:endParaRPr lang="en-US" sz="2400" dirty="0"/>
          </a:p>
        </p:txBody>
      </p:sp>
      <p:sp>
        <p:nvSpPr>
          <p:cNvPr id="11" name="right-copy"/>
          <p:cNvSpPr/>
          <p:nvPr/>
        </p:nvSpPr>
        <p:spPr>
          <a:xfrm>
            <a:off x="8382000" y="3835400"/>
            <a:ext cx="6604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answer, conclusion, or explanation.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accurate, relevant source/data detail.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why the evidence supports the science idea.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language that makes the thinking coherent.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should help students do the task; it should not become an additional task or grading system.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5" name="literac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Must Cause a Next Student Move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feedback loop is complete only when students act on a criterion and their next response gives teachers evidence for the next instructional decision.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CRITERION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one quality feature that matters most now.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FEEDBACK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students to evidence in the source or response.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STUDENT ACTION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Identify, complete, or revise CER; then explain, compare, correct, or apply.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NEW EVIDENCE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a response that makes the changed thinking visible.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“Identify the evidence that best supports your claim. Then complete or revise your reasoning so a reader can see how the evidence connects to the science idea.”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0795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Refinement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one ready-to-use decision. Then use colleagues to calibrate—not replace—your thinking.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Confirm the task + bar.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Make the priority science thinking and success criteria clear enough for students to use.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Refine feedback + student action.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One prompt should preserve cognitive demand and lead to an observable revision, explanation, or application.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Friday evidence.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Decide which small writing samples to collect and, if available, which unit-test standard/question evidence could add context to the instructional pattern.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eyebrow"/>
          <p:cNvSpPr/>
          <p:nvPr/>
        </p:nvSpPr>
        <p:spPr>
          <a:xfrm>
            <a:off x="889000" y="1168400"/>
            <a:ext cx="1079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EVIDENCE REVIEW  •  3:28–3:30 P.M.  •  2 MIN</a:t>
            </a:r>
            <a:endParaRPr lang="en-US" sz="1700" dirty="0"/>
          </a:p>
        </p:txBody>
      </p:sp>
      <p:sp>
        <p:nvSpPr>
          <p:cNvPr id="4" name="title"/>
          <p:cNvSpPr/>
          <p:nvPr/>
        </p:nvSpPr>
        <p:spPr>
          <a:xfrm>
            <a:off x="889000" y="1917700"/>
            <a:ext cx="12446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work. Collect a small amount of evidence. Revisit it Friday.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302000"/>
            <a:ext cx="13716000" cy="35814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270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6223000" y="3746500"/>
            <a:ext cx="3810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1176000" y="3746500"/>
            <a:ext cx="3048000" cy="2413000"/>
          </a:xfrm>
          <a:prstGeom prst="rect">
            <a:avLst/>
          </a:prstGeom>
          <a:solidFill>
            <a:srgbClr val="3A3B3D"/>
          </a:solidFill>
          <a:ln w="12700">
            <a:solidFill>
              <a:srgbClr val="62666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574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refined task, support, feedback prompt, and student action.</a:t>
            </a:r>
            <a:endParaRPr lang="en-US" sz="2100" dirty="0"/>
          </a:p>
        </p:txBody>
      </p:sp>
      <p:sp>
        <p:nvSpPr>
          <p:cNvPr id="10" name="collect"/>
          <p:cNvSpPr/>
          <p:nvPr/>
        </p:nvSpPr>
        <p:spPr>
          <a:xfrm>
            <a:off x="6527800" y="406400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few de-identified writing samples that show the evidence of student thinking.</a:t>
            </a:r>
            <a:endParaRPr lang="en-US" sz="2100" dirty="0"/>
          </a:p>
        </p:txBody>
      </p:sp>
      <p:sp>
        <p:nvSpPr>
          <p:cNvPr id="11" name="revisit"/>
          <p:cNvSpPr/>
          <p:nvPr/>
        </p:nvSpPr>
        <p:spPr>
          <a:xfrm>
            <a:off x="11480800" y="4064000"/>
            <a:ext cx="243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unit-test-by-standard/question context where available.</a:t>
            </a:r>
            <a:endParaRPr lang="en-US" sz="2100" dirty="0"/>
          </a:p>
        </p:txBody>
      </p:sp>
      <p:sp>
        <p:nvSpPr>
          <p:cNvPr id="12" name="bottom"/>
          <p:cNvSpPr/>
          <p:nvPr/>
        </p:nvSpPr>
        <p:spPr>
          <a:xfrm>
            <a:off x="889000" y="7429500"/>
            <a:ext cx="13208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 focus: evidence → supported learning pattern → next student action → adjusted learning experience.</a:t>
            </a:r>
            <a:endParaRPr lang="en-US" sz="2300" dirty="0"/>
          </a:p>
        </p:txBody>
      </p:sp>
      <p:sp>
        <p:nvSpPr>
          <p:cNvPr id="13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Wednesday, October 28 PD — Calibrating Science Literacy</dc:title>
  <dc:subject>Wednesday, October 28 PD — Calibrating Science Literacy</dc:subject>
  <dc:creator>Manus</dc:creator>
  <cp:lastModifiedBy>Manus</cp:lastModifiedBy>
  <cp:revision>1</cp:revision>
  <dcterms:created xsi:type="dcterms:W3CDTF">2026-10-23T16:34:47Z</dcterms:created>
  <dcterms:modified xsi:type="dcterms:W3CDTF">2026-10-23T16:34:47Z</dcterms:modified>
</cp:coreProperties>
</file>
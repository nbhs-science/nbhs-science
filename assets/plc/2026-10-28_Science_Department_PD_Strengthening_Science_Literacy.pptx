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6256000" cy="9144000"/>
  <p:notesSz cx="9144000" cy="16256000"/>
  <p:embeddedFontLst>
    <p:embeddedFont>
      <p:font typeface="Inter" charset="-122" pitchFamily="34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ver-shape-1"/>
          <p:cNvSpPr/>
          <p:nvPr/>
        </p:nvSpPr>
        <p:spPr>
          <a:xfrm>
            <a:off x="0" y="0"/>
            <a:ext cx="16256000" cy="1117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cover-shape-2"/>
          <p:cNvSpPr/>
          <p:nvPr/>
        </p:nvSpPr>
        <p:spPr>
          <a:xfrm>
            <a:off x="0" y="1117600"/>
            <a:ext cx="16256000" cy="1016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4" name="kicker"/>
          <p:cNvSpPr/>
          <p:nvPr/>
        </p:nvSpPr>
        <p:spPr>
          <a:xfrm>
            <a:off x="736600" y="381000"/>
            <a:ext cx="1397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BEDFORD HIGH SCHOOL  •  SCIENCE DEPARTMENT PD  •  WEDNESDAY, OCTOBER 28, 2026  •  2:30–3:30 P.M.</a:t>
            </a:r>
            <a:endParaRPr lang="en-US" sz="1600" dirty="0"/>
          </a:p>
        </p:txBody>
      </p:sp>
      <p:sp>
        <p:nvSpPr>
          <p:cNvPr id="5" name="title"/>
          <p:cNvSpPr/>
          <p:nvPr/>
        </p:nvSpPr>
        <p:spPr>
          <a:xfrm>
            <a:off x="736600" y="1676400"/>
            <a:ext cx="1016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2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Strengthening Science Literacy</a:t>
            </a:r>
            <a:endParaRPr lang="en-US" sz="4200" dirty="0"/>
          </a:p>
        </p:txBody>
      </p:sp>
      <p:sp>
        <p:nvSpPr>
          <p:cNvPr id="6" name="subtitle"/>
          <p:cNvSpPr/>
          <p:nvPr/>
        </p:nvSpPr>
        <p:spPr>
          <a:xfrm>
            <a:off x="736600" y="2794000"/>
            <a:ext cx="10414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altLang="en-US" sz="28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Calibrating Writing Benchmarks, Feedback, and Revision</a:t>
            </a:r>
            <a:endParaRPr lang="en-US" sz="2800" dirty="0"/>
          </a:p>
        </p:txBody>
      </p:sp>
      <p:sp>
        <p:nvSpPr>
          <p:cNvPr id="7" name="purpose"/>
          <p:cNvSpPr/>
          <p:nvPr/>
        </p:nvSpPr>
        <p:spPr>
          <a:xfrm>
            <a:off x="736600" y="4191000"/>
            <a:ext cx="10033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focus: help students analyze a science source, write a color-coded CER, use feedback, and revise.</a:t>
            </a:r>
            <a:endParaRPr lang="en-US" sz="2400" dirty="0"/>
          </a:p>
        </p:txBody>
      </p:sp>
      <p:sp>
        <p:nvSpPr>
          <p:cNvPr id="8" name="cover-shape-7"/>
          <p:cNvSpPr/>
          <p:nvPr/>
        </p:nvSpPr>
        <p:spPr>
          <a:xfrm>
            <a:off x="11531600" y="1905000"/>
            <a:ext cx="3911600" cy="31115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today"/>
          <p:cNvSpPr/>
          <p:nvPr/>
        </p:nvSpPr>
        <p:spPr>
          <a:xfrm>
            <a:off x="11887200" y="2298700"/>
            <a:ext cx="32004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48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OUTCOME</a:t>
            </a:r>
            <a:endParaRPr lang="en-US" sz="2300" dirty="0"/>
          </a:p>
          <a:p>
            <a:pPr algn="ctr" indent="0" marL="0">
              <a:lnSpc>
                <a:spcPts val="2944"/>
              </a:lnSpc>
              <a:spcBef>
                <a:spcPts val="14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 with one clear routine to use in an upcoming lesson.</a:t>
            </a:r>
            <a:endParaRPr lang="en-US" sz="2300" dirty="0"/>
          </a:p>
        </p:txBody>
      </p:sp>
      <p:sp>
        <p:nvSpPr>
          <p:cNvPr id="10" name="cover-shape-9"/>
          <p:cNvSpPr/>
          <p:nvPr/>
        </p:nvSpPr>
        <p:spPr>
          <a:xfrm>
            <a:off x="736600" y="5994400"/>
            <a:ext cx="14706600" cy="1219200"/>
          </a:xfrm>
          <a:prstGeom prst="rect">
            <a:avLst/>
          </a:prstGeom>
          <a:solidFill>
            <a:srgbClr val="F9FAFB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1" name="materials"/>
          <p:cNvSpPr/>
          <p:nvPr/>
        </p:nvSpPr>
        <p:spPr>
          <a:xfrm>
            <a:off x="1117600" y="6273800"/>
            <a:ext cx="1391920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with today:</a:t>
            </a:r>
            <a:r>
              <a:rPr lang="en-US" altLang="en-US" sz="22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 upcoming science source or task  •  one anonymous student response</a:t>
            </a:r>
            <a:endParaRPr lang="en-US" sz="2200" dirty="0"/>
          </a:p>
        </p:txBody>
      </p:sp>
      <p:sp>
        <p:nvSpPr>
          <p:cNvPr id="12" name="footer"/>
          <p:cNvSpPr/>
          <p:nvPr/>
        </p:nvSpPr>
        <p:spPr>
          <a:xfrm>
            <a:off x="736600" y="7937500"/>
            <a:ext cx="13208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0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Internalization Tool:</a:t>
            </a:r>
            <a:r>
              <a:rPr lang="en-US" altLang="en-US" sz="20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anticipate student thinking, plan support, and adjust from evidence.</a:t>
            </a:r>
            <a:endParaRPr lang="en-US" sz="2000" dirty="0"/>
          </a:p>
        </p:txBody>
      </p:sp>
      <p:sp>
        <p:nvSpPr>
          <p:cNvPr id="13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cover-shape-13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Practical Outcome for Today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2:30–2:35  •  5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the end of the session, each teacher will have a simple plan for one upcoming lesson.</a:t>
            </a:r>
            <a:endParaRPr lang="en-US" sz="2400" dirty="0"/>
          </a:p>
        </p:txBody>
      </p:sp>
      <p:sp>
        <p:nvSpPr>
          <p:cNvPr id="6" name="outcome-shape-5"/>
          <p:cNvSpPr/>
          <p:nvPr/>
        </p:nvSpPr>
        <p:spPr>
          <a:xfrm>
            <a:off x="698500" y="2794000"/>
            <a:ext cx="3302000" cy="3175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outcome-shape-6"/>
          <p:cNvSpPr/>
          <p:nvPr/>
        </p:nvSpPr>
        <p:spPr>
          <a:xfrm>
            <a:off x="4508500" y="2794000"/>
            <a:ext cx="3302000" cy="3175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outcome-shape-7"/>
          <p:cNvSpPr/>
          <p:nvPr/>
        </p:nvSpPr>
        <p:spPr>
          <a:xfrm>
            <a:off x="8318500" y="2794000"/>
            <a:ext cx="3302000" cy="3175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outcome-shape-8"/>
          <p:cNvSpPr/>
          <p:nvPr/>
        </p:nvSpPr>
        <p:spPr>
          <a:xfrm>
            <a:off x="12128500" y="2794000"/>
            <a:ext cx="3429000" cy="3175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step1"/>
          <p:cNvSpPr/>
          <p:nvPr/>
        </p:nvSpPr>
        <p:spPr>
          <a:xfrm>
            <a:off x="1054100" y="3276600"/>
            <a:ext cx="2590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a source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 what students will read, view, or analyze.</a:t>
            </a:r>
            <a:endParaRPr lang="en-US" sz="2300" dirty="0"/>
          </a:p>
        </p:txBody>
      </p:sp>
      <p:sp>
        <p:nvSpPr>
          <p:cNvPr id="11" name="step2"/>
          <p:cNvSpPr/>
          <p:nvPr/>
        </p:nvSpPr>
        <p:spPr>
          <a:xfrm>
            <a:off x="4864100" y="3276600"/>
            <a:ext cx="2590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routine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what students will do with CUBS and CER.</a:t>
            </a:r>
            <a:endParaRPr lang="en-US" sz="2300" dirty="0"/>
          </a:p>
        </p:txBody>
      </p:sp>
      <p:sp>
        <p:nvSpPr>
          <p:cNvPr id="12" name="step3"/>
          <p:cNvSpPr/>
          <p:nvPr/>
        </p:nvSpPr>
        <p:spPr>
          <a:xfrm>
            <a:off x="8674100" y="3276600"/>
            <a:ext cx="2590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feedback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prompt that directs a revision.</a:t>
            </a:r>
            <a:endParaRPr lang="en-US" sz="2300" dirty="0"/>
          </a:p>
        </p:txBody>
      </p:sp>
      <p:sp>
        <p:nvSpPr>
          <p:cNvPr id="13" name="step4"/>
          <p:cNvSpPr/>
          <p:nvPr/>
        </p:nvSpPr>
        <p:spPr>
          <a:xfrm>
            <a:off x="12484100" y="3276600"/>
            <a:ext cx="27178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2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0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evidence</a:t>
            </a:r>
            <a:endParaRPr lang="en-US" sz="2300" dirty="0"/>
          </a:p>
          <a:p>
            <a:pPr algn="ctr" indent="0" marL="0">
              <a:lnSpc>
                <a:spcPts val="2806"/>
              </a:lnSpc>
              <a:spcBef>
                <a:spcPts val="12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student work and use it to plan next steps.</a:t>
            </a:r>
            <a:endParaRPr lang="en-US" sz="2300" dirty="0"/>
          </a:p>
        </p:txBody>
      </p:sp>
      <p:sp>
        <p:nvSpPr>
          <p:cNvPr id="14" name="outcome-shape-13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89000" y="7188200"/>
            <a:ext cx="144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routine supports student thinking. It does not give students the answer.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outcom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ycl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Today Connects to This Week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2:35–2:41  •  6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 is one continuous cycle: prepare students, study their work, and respond to what the evidence shows.</a:t>
            </a:r>
            <a:endParaRPr lang="en-US" sz="2400" dirty="0"/>
          </a:p>
        </p:txBody>
      </p:sp>
      <p:sp>
        <p:nvSpPr>
          <p:cNvPr id="6" name="cycle-shape-5"/>
          <p:cNvSpPr/>
          <p:nvPr/>
        </p:nvSpPr>
        <p:spPr>
          <a:xfrm>
            <a:off x="508000" y="2984500"/>
            <a:ext cx="3175000" cy="2921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ycle-shape-6"/>
          <p:cNvSpPr/>
          <p:nvPr/>
        </p:nvSpPr>
        <p:spPr>
          <a:xfrm>
            <a:off x="4381500" y="2984500"/>
            <a:ext cx="3175000" cy="2921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ycle-shape-7"/>
          <p:cNvSpPr/>
          <p:nvPr/>
        </p:nvSpPr>
        <p:spPr>
          <a:xfrm>
            <a:off x="8255000" y="2984500"/>
            <a:ext cx="3175000" cy="2921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cycle-shape-8"/>
          <p:cNvSpPr/>
          <p:nvPr/>
        </p:nvSpPr>
        <p:spPr>
          <a:xfrm>
            <a:off x="12128500" y="2984500"/>
            <a:ext cx="3619500" cy="2921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0" name="monday"/>
          <p:cNvSpPr/>
          <p:nvPr/>
        </p:nvSpPr>
        <p:spPr>
          <a:xfrm>
            <a:off x="863600" y="3429000"/>
            <a:ext cx="2463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Rehearse the task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Anticipate student thinking and common errors.</a:t>
            </a:r>
            <a:endParaRPr lang="en-US" sz="2300" dirty="0"/>
          </a:p>
        </p:txBody>
      </p:sp>
      <p:sp>
        <p:nvSpPr>
          <p:cNvPr id="11" name="tuesday"/>
          <p:cNvSpPr/>
          <p:nvPr/>
        </p:nvSpPr>
        <p:spPr>
          <a:xfrm>
            <a:off x="4737100" y="3429000"/>
            <a:ext cx="2463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the lesson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supports, feedback, and student revision.</a:t>
            </a:r>
            <a:endParaRPr lang="en-US" sz="2300" dirty="0"/>
          </a:p>
        </p:txBody>
      </p:sp>
      <p:sp>
        <p:nvSpPr>
          <p:cNvPr id="12" name="wednesday"/>
          <p:cNvSpPr/>
          <p:nvPr/>
        </p:nvSpPr>
        <p:spPr>
          <a:xfrm>
            <a:off x="8610600" y="3429000"/>
            <a:ext cx="2463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WEDNESDAY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routine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CUBS and CER to make thinking visible.</a:t>
            </a:r>
            <a:endParaRPr lang="en-US" sz="2300" dirty="0"/>
          </a:p>
        </p:txBody>
      </p:sp>
      <p:sp>
        <p:nvSpPr>
          <p:cNvPr id="13" name="friday"/>
          <p:cNvSpPr/>
          <p:nvPr/>
        </p:nvSpPr>
        <p:spPr>
          <a:xfrm>
            <a:off x="12484100" y="3429000"/>
            <a:ext cx="29083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altLang="en-US" sz="1600" b="1" dirty="0">
                <a:solidFill>
                  <a:srgbClr val="F6B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200"/>
              </a:spcBef>
              <a:buNone/>
            </a:pPr>
            <a:r>
              <a:rPr lang="en-US" alt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student work</a:t>
            </a:r>
            <a:endParaRPr lang="en-US" sz="2300" dirty="0"/>
          </a:p>
          <a:p>
            <a:pPr algn="ctr" indent="0" marL="0">
              <a:lnSpc>
                <a:spcPts val="2760"/>
              </a:lnSpc>
              <a:spcBef>
                <a:spcPts val="1000"/>
              </a:spcBef>
              <a:buNone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evidence to decide the next learning step.</a:t>
            </a:r>
            <a:endParaRPr lang="en-US" sz="2300" dirty="0"/>
          </a:p>
        </p:txBody>
      </p:sp>
      <p:sp>
        <p:nvSpPr>
          <p:cNvPr id="14" name="cycle-shape-13"/>
          <p:cNvSpPr/>
          <p:nvPr/>
        </p:nvSpPr>
        <p:spPr>
          <a:xfrm>
            <a:off x="508000" y="6858000"/>
            <a:ext cx="15240000" cy="787400"/>
          </a:xfrm>
          <a:prstGeom prst="rect">
            <a:avLst/>
          </a:prstGeom>
          <a:solidFill>
            <a:srgbClr val="F9FAFB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5" name="anchor"/>
          <p:cNvSpPr/>
          <p:nvPr/>
        </p:nvSpPr>
        <p:spPr>
          <a:xfrm>
            <a:off x="889000" y="7073900"/>
            <a:ext cx="1447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2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same thinking process in every science course. The source may change; the learning goal does not.</a:t>
            </a:r>
            <a:endParaRPr lang="en-US" sz="22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cycle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a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CUBS: A Routine for Reading a Science Source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2:41–2:50  •  9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CUBS before students write. It helps them identify the information they will use in an explanation.</a:t>
            </a:r>
            <a:endParaRPr lang="en-US" sz="2400" dirty="0"/>
          </a:p>
        </p:txBody>
      </p:sp>
      <p:sp>
        <p:nvSpPr>
          <p:cNvPr id="6" name="criteria-shape-5"/>
          <p:cNvSpPr/>
          <p:nvPr/>
        </p:nvSpPr>
        <p:spPr>
          <a:xfrm>
            <a:off x="571500" y="2857500"/>
            <a:ext cx="3492500" cy="3429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riteria-shape-6"/>
          <p:cNvSpPr/>
          <p:nvPr/>
        </p:nvSpPr>
        <p:spPr>
          <a:xfrm>
            <a:off x="4445000" y="2857500"/>
            <a:ext cx="3492500" cy="3429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riteria-shape-7"/>
          <p:cNvSpPr/>
          <p:nvPr/>
        </p:nvSpPr>
        <p:spPr>
          <a:xfrm>
            <a:off x="8318500" y="2857500"/>
            <a:ext cx="3492500" cy="3429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criteria-shape-8"/>
          <p:cNvSpPr/>
          <p:nvPr/>
        </p:nvSpPr>
        <p:spPr>
          <a:xfrm>
            <a:off x="12192000" y="2857500"/>
            <a:ext cx="3492500" cy="3429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0" name="circle"/>
          <p:cNvSpPr/>
          <p:nvPr/>
        </p:nvSpPr>
        <p:spPr>
          <a:xfrm>
            <a:off x="9525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Circle the question you need to answer.</a:t>
            </a:r>
            <a:endParaRPr lang="en-US" sz="2400" dirty="0"/>
          </a:p>
        </p:txBody>
      </p:sp>
      <p:sp>
        <p:nvSpPr>
          <p:cNvPr id="11" name="underline"/>
          <p:cNvSpPr/>
          <p:nvPr/>
        </p:nvSpPr>
        <p:spPr>
          <a:xfrm>
            <a:off x="48260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Underline details, data, and observations.</a:t>
            </a:r>
            <a:endParaRPr lang="en-US" sz="2400" dirty="0"/>
          </a:p>
        </p:txBody>
      </p:sp>
      <p:sp>
        <p:nvSpPr>
          <p:cNvPr id="12" name="box"/>
          <p:cNvSpPr/>
          <p:nvPr/>
        </p:nvSpPr>
        <p:spPr>
          <a:xfrm>
            <a:off x="86995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key words, units, labels, or ideas.</a:t>
            </a:r>
            <a:endParaRPr lang="en-US" sz="2400" dirty="0"/>
          </a:p>
        </p:txBody>
      </p:sp>
      <p:sp>
        <p:nvSpPr>
          <p:cNvPr id="13" name="summarize"/>
          <p:cNvSpPr/>
          <p:nvPr/>
        </p:nvSpPr>
        <p:spPr>
          <a:xfrm>
            <a:off x="12573000" y="3365500"/>
            <a:ext cx="2730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72"/>
              </a:lnSpc>
              <a:buNone/>
            </a:pPr>
            <a:r>
              <a:rPr lang="en-US" altLang="en-US" sz="26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000"/>
              </a:spcBef>
              <a:buNone/>
            </a:pPr>
            <a:r>
              <a:rPr lang="en-US" altLang="en-US" sz="24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Summarize</a:t>
            </a:r>
            <a:endParaRPr lang="en-US" sz="2400" dirty="0"/>
          </a:p>
          <a:p>
            <a:pPr algn="ctr" indent="0" marL="0">
              <a:lnSpc>
                <a:spcPts val="2928"/>
              </a:lnSpc>
              <a:spcBef>
                <a:spcPts val="1100"/>
              </a:spcBef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what the source shows in your own words.</a:t>
            </a:r>
            <a:endParaRPr lang="en-US" sz="2400" dirty="0"/>
          </a:p>
        </p:txBody>
      </p:sp>
      <p:sp>
        <p:nvSpPr>
          <p:cNvPr id="14" name="criteria-shape-13"/>
          <p:cNvSpPr/>
          <p:nvPr/>
        </p:nvSpPr>
        <p:spPr>
          <a:xfrm>
            <a:off x="508000" y="6959600"/>
            <a:ext cx="15240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5" name="note"/>
          <p:cNvSpPr/>
          <p:nvPr/>
        </p:nvSpPr>
        <p:spPr>
          <a:xfrm>
            <a:off x="889000" y="7188200"/>
            <a:ext cx="144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direction: “Use CUBS on the source. Then use your notes to help you write.”</a:t>
            </a:r>
            <a:endParaRPr lang="en-US" sz="2100" dirty="0"/>
          </a:p>
        </p:txBody>
      </p:sp>
      <p:sp>
        <p:nvSpPr>
          <p:cNvPr id="16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criteria-shape-16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libration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938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It Briefly, Then Let Students Do It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2:50–3:00  •  10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an upcoming science source. The routine can work with text, data, diagrams, models, or investigation results.</a:t>
            </a:r>
            <a:endParaRPr lang="en-US" sz="2400" dirty="0"/>
          </a:p>
        </p:txBody>
      </p:sp>
      <p:sp>
        <p:nvSpPr>
          <p:cNvPr id="6" name="calibration-shape-5"/>
          <p:cNvSpPr/>
          <p:nvPr/>
        </p:nvSpPr>
        <p:spPr>
          <a:xfrm>
            <a:off x="698500" y="2921000"/>
            <a:ext cx="4445000" cy="368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alibration-shape-6"/>
          <p:cNvSpPr/>
          <p:nvPr/>
        </p:nvSpPr>
        <p:spPr>
          <a:xfrm>
            <a:off x="5905500" y="2921000"/>
            <a:ext cx="4445000" cy="3683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alibration-shape-7"/>
          <p:cNvSpPr/>
          <p:nvPr/>
        </p:nvSpPr>
        <p:spPr>
          <a:xfrm>
            <a:off x="11112500" y="2921000"/>
            <a:ext cx="4445000" cy="3683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one"/>
          <p:cNvSpPr/>
          <p:nvPr/>
        </p:nvSpPr>
        <p:spPr>
          <a:xfrm>
            <a:off x="1066800" y="3492500"/>
            <a:ext cx="37084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</a:t>
            </a:r>
            <a:endParaRPr lang="en-US" sz="2500" dirty="0"/>
          </a:p>
          <a:p>
            <a:pPr algn="ctr" indent="0" marL="0">
              <a:lnSpc>
                <a:spcPts val="3125"/>
              </a:lnSpc>
              <a:spcBef>
                <a:spcPts val="18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students read, view, or analyze?</a:t>
            </a:r>
            <a:endParaRPr lang="en-US" sz="2500" dirty="0"/>
          </a:p>
        </p:txBody>
      </p:sp>
      <p:sp>
        <p:nvSpPr>
          <p:cNvPr id="10" name="two"/>
          <p:cNvSpPr/>
          <p:nvPr/>
        </p:nvSpPr>
        <p:spPr>
          <a:xfrm>
            <a:off x="6273800" y="3492500"/>
            <a:ext cx="37084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MODEL ONE MOVE</a:t>
            </a:r>
            <a:endParaRPr lang="en-US" sz="2500" dirty="0"/>
          </a:p>
          <a:p>
            <a:pPr algn="ctr" indent="0" marL="0">
              <a:lnSpc>
                <a:spcPts val="3125"/>
              </a:lnSpc>
              <a:spcBef>
                <a:spcPts val="18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one CUBS action. Name what you are noticing.</a:t>
            </a:r>
            <a:endParaRPr lang="en-US" sz="2500" dirty="0"/>
          </a:p>
        </p:txBody>
      </p:sp>
      <p:sp>
        <p:nvSpPr>
          <p:cNvPr id="11" name="three"/>
          <p:cNvSpPr/>
          <p:nvPr/>
        </p:nvSpPr>
        <p:spPr>
          <a:xfrm>
            <a:off x="11480800" y="3492500"/>
            <a:ext cx="37084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RELEASE THE THINKING</a:t>
            </a:r>
            <a:endParaRPr lang="en-US" sz="2500" dirty="0"/>
          </a:p>
          <a:p>
            <a:pPr algn="ctr" indent="0" marL="0">
              <a:lnSpc>
                <a:spcPts val="3125"/>
              </a:lnSpc>
              <a:spcBef>
                <a:spcPts val="18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complete CUBS and use their notes to write.</a:t>
            </a:r>
            <a:endParaRPr lang="en-US" sz="2500" dirty="0"/>
          </a:p>
        </p:txBody>
      </p:sp>
      <p:sp>
        <p:nvSpPr>
          <p:cNvPr id="12" name="calibration-shape-11"/>
          <p:cNvSpPr/>
          <p:nvPr/>
        </p:nvSpPr>
        <p:spPr>
          <a:xfrm>
            <a:off x="698500" y="7239000"/>
            <a:ext cx="14859000" cy="6985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debrief"/>
          <p:cNvSpPr/>
          <p:nvPr/>
        </p:nvSpPr>
        <p:spPr>
          <a:xfrm>
            <a:off x="1079500" y="7429500"/>
            <a:ext cx="14097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 small part of the process. Let students do the thinking that follows.</a:t>
            </a:r>
            <a:endParaRPr lang="en-US" sz="21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00" dirty="0"/>
          </a:p>
        </p:txBody>
      </p:sp>
      <p:sp>
        <p:nvSpPr>
          <p:cNvPr id="15" name="calibration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teracy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684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Color-Code What Students Have Written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3:00–3:08  •  8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students write, color-code the thinking that is already in the response. Then decide what to strengthen.</a:t>
            </a:r>
            <a:endParaRPr lang="en-US" sz="2400" dirty="0"/>
          </a:p>
        </p:txBody>
      </p:sp>
      <p:sp>
        <p:nvSpPr>
          <p:cNvPr id="6" name="literacy-shape-5"/>
          <p:cNvSpPr/>
          <p:nvPr/>
        </p:nvSpPr>
        <p:spPr>
          <a:xfrm>
            <a:off x="698500" y="2921000"/>
            <a:ext cx="4508500" cy="3492500"/>
          </a:xfrm>
          <a:prstGeom prst="rect">
            <a:avLst/>
          </a:prstGeom>
          <a:solidFill>
            <a:srgbClr val="FCEAF2"/>
          </a:solidFill>
          <a:ln w="38100">
            <a:solidFill>
              <a:srgbClr val="D84A8B"/>
            </a:solidFill>
            <a:prstDash val="solid"/>
          </a:ln>
        </p:spPr>
      </p:sp>
      <p:sp>
        <p:nvSpPr>
          <p:cNvPr id="7" name="literacy-shape-6"/>
          <p:cNvSpPr/>
          <p:nvPr/>
        </p:nvSpPr>
        <p:spPr>
          <a:xfrm>
            <a:off x="5867400" y="2921000"/>
            <a:ext cx="4508500" cy="3492500"/>
          </a:xfrm>
          <a:prstGeom prst="rect">
            <a:avLst/>
          </a:prstGeom>
          <a:solidFill>
            <a:srgbClr val="E9F7EC"/>
          </a:solidFill>
          <a:ln w="38100">
            <a:solidFill>
              <a:srgbClr val="208B3A"/>
            </a:solidFill>
            <a:prstDash val="solid"/>
          </a:ln>
        </p:spPr>
      </p:sp>
      <p:sp>
        <p:nvSpPr>
          <p:cNvPr id="8" name="literacy-shape-7"/>
          <p:cNvSpPr/>
          <p:nvPr/>
        </p:nvSpPr>
        <p:spPr>
          <a:xfrm>
            <a:off x="11049000" y="2921000"/>
            <a:ext cx="4508500" cy="3492500"/>
          </a:xfrm>
          <a:prstGeom prst="rect">
            <a:avLst/>
          </a:prstGeom>
          <a:solidFill>
            <a:srgbClr val="EAF1FF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9" name="claim"/>
          <p:cNvSpPr/>
          <p:nvPr/>
        </p:nvSpPr>
        <p:spPr>
          <a:xfrm>
            <a:off x="1079500" y="3403600"/>
            <a:ext cx="3746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16"/>
              </a:lnSpc>
              <a:buNone/>
            </a:pPr>
            <a:r>
              <a:rPr lang="en-US" altLang="en-US" sz="2800" b="1" dirty="0">
                <a:solidFill>
                  <a:srgbClr val="D84A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 = PINK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800"/>
              </a:spcBef>
              <a:buNone/>
            </a:pPr>
            <a:r>
              <a:rPr lang="en-US" altLang="en-US" sz="25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answer is…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answer, conclusion, or prediction.</a:t>
            </a:r>
            <a:endParaRPr lang="en-US" sz="2500" dirty="0"/>
          </a:p>
        </p:txBody>
      </p:sp>
      <p:sp>
        <p:nvSpPr>
          <p:cNvPr id="10" name="evidence"/>
          <p:cNvSpPr/>
          <p:nvPr/>
        </p:nvSpPr>
        <p:spPr>
          <a:xfrm>
            <a:off x="6248400" y="3403600"/>
            <a:ext cx="3746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16"/>
              </a:lnSpc>
              <a:buNone/>
            </a:pPr>
            <a:r>
              <a:rPr lang="en-US" altLang="en-US" sz="2800" b="1" dirty="0">
                <a:solidFill>
                  <a:srgbClr val="208B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= GREEN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800"/>
              </a:spcBef>
              <a:buNone/>
            </a:pPr>
            <a:r>
              <a:rPr lang="en-US" altLang="en-US" sz="25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 shows…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Facts, data, observations, or details.</a:t>
            </a:r>
            <a:endParaRPr lang="en-US" sz="2500" dirty="0"/>
          </a:p>
        </p:txBody>
      </p:sp>
      <p:sp>
        <p:nvSpPr>
          <p:cNvPr id="11" name="reasoning"/>
          <p:cNvSpPr/>
          <p:nvPr/>
        </p:nvSpPr>
        <p:spPr>
          <a:xfrm>
            <a:off x="11430000" y="3403600"/>
            <a:ext cx="3746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16"/>
              </a:lnSpc>
              <a:buNone/>
            </a:pPr>
            <a:r>
              <a:rPr lang="en-US" altLang="en-US" sz="28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REASONING = BLUE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800"/>
              </a:spcBef>
              <a:buNone/>
            </a:pPr>
            <a:r>
              <a:rPr lang="en-US" altLang="en-US" sz="25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matters because…</a:t>
            </a:r>
            <a:endParaRPr lang="en-US" sz="2500" dirty="0"/>
          </a:p>
          <a:p>
            <a:pPr algn="ctr" indent="0" marL="0">
              <a:lnSpc>
                <a:spcPts val="3050"/>
              </a:lnSpc>
              <a:spcBef>
                <a:spcPts val="12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evidence supports the claim.</a:t>
            </a:r>
            <a:endParaRPr lang="en-US" sz="2500" dirty="0"/>
          </a:p>
        </p:txBody>
      </p:sp>
      <p:sp>
        <p:nvSpPr>
          <p:cNvPr id="12" name="literacy-shape-11"/>
          <p:cNvSpPr/>
          <p:nvPr/>
        </p:nvSpPr>
        <p:spPr>
          <a:xfrm>
            <a:off x="698500" y="7048500"/>
            <a:ext cx="14859000" cy="7874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check"/>
          <p:cNvSpPr/>
          <p:nvPr/>
        </p:nvSpPr>
        <p:spPr>
          <a:xfrm>
            <a:off x="1079500" y="7264400"/>
            <a:ext cx="14097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check: “Which part needs to be added or made stronger?”</a:t>
            </a:r>
            <a:endParaRPr lang="en-US" sz="21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300" dirty="0"/>
          </a:p>
        </p:txBody>
      </p:sp>
      <p:sp>
        <p:nvSpPr>
          <p:cNvPr id="15" name="literacy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eedback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2192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Leads to Revision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3:08–3:15  •  7 MIN</a:t>
            </a:r>
            <a:endParaRPr lang="en-US" sz="1600" dirty="0"/>
          </a:p>
        </p:txBody>
      </p:sp>
      <p:sp>
        <p:nvSpPr>
          <p:cNvPr id="5" name="intro"/>
          <p:cNvSpPr/>
          <p:nvPr/>
        </p:nvSpPr>
        <p:spPr>
          <a:xfrm>
            <a:off x="508000" y="1460500"/>
            <a:ext cx="14732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feedback short, specific, and connected to one action the student can complete.</a:t>
            </a:r>
            <a:endParaRPr lang="en-US" sz="2400" dirty="0"/>
          </a:p>
        </p:txBody>
      </p:sp>
      <p:sp>
        <p:nvSpPr>
          <p:cNvPr id="6" name="feedback-shape-5"/>
          <p:cNvSpPr/>
          <p:nvPr/>
        </p:nvSpPr>
        <p:spPr>
          <a:xfrm>
            <a:off x="952500" y="2921000"/>
            <a:ext cx="4318000" cy="3048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feedback-shape-6"/>
          <p:cNvSpPr/>
          <p:nvPr/>
        </p:nvSpPr>
        <p:spPr>
          <a:xfrm>
            <a:off x="5969000" y="2921000"/>
            <a:ext cx="4318000" cy="30480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feedback-shape-7"/>
          <p:cNvSpPr/>
          <p:nvPr/>
        </p:nvSpPr>
        <p:spPr>
          <a:xfrm>
            <a:off x="10985500" y="2921000"/>
            <a:ext cx="4318000" cy="30480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notice"/>
          <p:cNvSpPr/>
          <p:nvPr/>
        </p:nvSpPr>
        <p:spPr>
          <a:xfrm>
            <a:off x="1308100" y="3429000"/>
            <a:ext cx="3606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NOTICE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6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Identify one part that is missing or needs to be stronger.</a:t>
            </a:r>
            <a:endParaRPr lang="en-US" sz="2500" dirty="0"/>
          </a:p>
        </p:txBody>
      </p:sp>
      <p:sp>
        <p:nvSpPr>
          <p:cNvPr id="10" name="prompt"/>
          <p:cNvSpPr/>
          <p:nvPr/>
        </p:nvSpPr>
        <p:spPr>
          <a:xfrm>
            <a:off x="6324600" y="3429000"/>
            <a:ext cx="3606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ASK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6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 question that sends students back to their source or response.</a:t>
            </a:r>
            <a:endParaRPr lang="en-US" sz="2500" dirty="0"/>
          </a:p>
        </p:txBody>
      </p:sp>
      <p:sp>
        <p:nvSpPr>
          <p:cNvPr id="11" name="revise"/>
          <p:cNvSpPr/>
          <p:nvPr/>
        </p:nvSpPr>
        <p:spPr>
          <a:xfrm>
            <a:off x="11341100" y="3429000"/>
            <a:ext cx="36068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REVISE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6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add, change, or explain one part of their own writing.</a:t>
            </a:r>
            <a:endParaRPr lang="en-US" sz="2500" dirty="0"/>
          </a:p>
        </p:txBody>
      </p:sp>
      <p:sp>
        <p:nvSpPr>
          <p:cNvPr id="12" name="feedback-shape-11"/>
          <p:cNvSpPr/>
          <p:nvPr/>
        </p:nvSpPr>
        <p:spPr>
          <a:xfrm>
            <a:off x="952500" y="6858000"/>
            <a:ext cx="14351000" cy="952500"/>
          </a:xfrm>
          <a:prstGeom prst="rect">
            <a:avLst/>
          </a:prstGeom>
          <a:solidFill>
            <a:srgbClr val="F9FAFB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3" name="example"/>
          <p:cNvSpPr/>
          <p:nvPr/>
        </p:nvSpPr>
        <p:spPr>
          <a:xfrm>
            <a:off x="1333500" y="7086600"/>
            <a:ext cx="13589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altLang="en-US" sz="2200" b="1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prompt:</a:t>
            </a:r>
            <a:r>
              <a:rPr lang="en-US" altLang="en-US" sz="22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“Find your green evidence. Add a blue sentence that explains how it supports your pink claim.”</a:t>
            </a:r>
            <a:endParaRPr lang="en-US" sz="22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300" dirty="0"/>
          </a:p>
        </p:txBody>
      </p:sp>
      <p:sp>
        <p:nvSpPr>
          <p:cNvPr id="15" name="feedback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tim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header-title"/>
          <p:cNvSpPr/>
          <p:nvPr/>
        </p:nvSpPr>
        <p:spPr>
          <a:xfrm>
            <a:off x="508000" y="292100"/>
            <a:ext cx="11811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3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Planning Time: Use the Routine in Your Course</a:t>
            </a:r>
            <a:endParaRPr lang="en-US" sz="3000" dirty="0"/>
          </a:p>
        </p:txBody>
      </p:sp>
      <p:sp>
        <p:nvSpPr>
          <p:cNvPr id="4" name="header-meta"/>
          <p:cNvSpPr/>
          <p:nvPr/>
        </p:nvSpPr>
        <p:spPr>
          <a:xfrm>
            <a:off x="12827000" y="355600"/>
            <a:ext cx="292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3:15–3:28  •  13 MIN</a:t>
            </a:r>
            <a:endParaRPr lang="en-US" sz="1600" dirty="0"/>
          </a:p>
        </p:txBody>
      </p:sp>
      <p:sp>
        <p:nvSpPr>
          <p:cNvPr id="5" name="worktime-shape-4"/>
          <p:cNvSpPr/>
          <p:nvPr/>
        </p:nvSpPr>
        <p:spPr>
          <a:xfrm>
            <a:off x="698500" y="1587500"/>
            <a:ext cx="3302000" cy="5588000"/>
          </a:xfrm>
          <a:prstGeom prst="rect">
            <a:avLst/>
          </a:prstGeom>
          <a:solidFill>
            <a:srgbClr val="C41220"/>
          </a:solidFill>
          <a:ln/>
        </p:spPr>
      </p:sp>
      <p:sp>
        <p:nvSpPr>
          <p:cNvPr id="6" name="time"/>
          <p:cNvSpPr/>
          <p:nvPr/>
        </p:nvSpPr>
        <p:spPr>
          <a:xfrm>
            <a:off x="1079500" y="2413000"/>
            <a:ext cx="2540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6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6600" dirty="0"/>
          </a:p>
          <a:p>
            <a:pPr algn="ctr" indent="0" marL="0">
              <a:buNone/>
            </a:pPr>
            <a:r>
              <a:rPr lang="en-US" alt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</a:t>
            </a:r>
            <a:endParaRPr lang="en-US" sz="6600" dirty="0"/>
          </a:p>
        </p:txBody>
      </p:sp>
      <p:sp>
        <p:nvSpPr>
          <p:cNvPr id="7" name="direction"/>
          <p:cNvSpPr/>
          <p:nvPr/>
        </p:nvSpPr>
        <p:spPr>
          <a:xfrm>
            <a:off x="1041400" y="5461000"/>
            <a:ext cx="2616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6"/>
              </a:lnSpc>
              <a:buNone/>
            </a:pPr>
            <a:r>
              <a:rPr lang="en-US" altLang="en-US" sz="2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Lesson Planning Sheet as you work.</a:t>
            </a:r>
            <a:endParaRPr lang="en-US" sz="2200" dirty="0"/>
          </a:p>
        </p:txBody>
      </p:sp>
      <p:sp>
        <p:nvSpPr>
          <p:cNvPr id="8" name="worktime-shape-7"/>
          <p:cNvSpPr/>
          <p:nvPr/>
        </p:nvSpPr>
        <p:spPr>
          <a:xfrm>
            <a:off x="4699000" y="1587500"/>
            <a:ext cx="10541000" cy="14986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9" name="worktime-shape-8"/>
          <p:cNvSpPr/>
          <p:nvPr/>
        </p:nvSpPr>
        <p:spPr>
          <a:xfrm>
            <a:off x="4699000" y="3568700"/>
            <a:ext cx="10541000" cy="14986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10" name="worktime-shape-9"/>
          <p:cNvSpPr/>
          <p:nvPr/>
        </p:nvSpPr>
        <p:spPr>
          <a:xfrm>
            <a:off x="4699000" y="5549900"/>
            <a:ext cx="10541000" cy="16256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11" name="q1"/>
          <p:cNvSpPr/>
          <p:nvPr/>
        </p:nvSpPr>
        <p:spPr>
          <a:xfrm>
            <a:off x="5143500" y="1943100"/>
            <a:ext cx="9334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Choose the source.</a:t>
            </a: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will students read, view, or analyze?</a:t>
            </a:r>
            <a:endParaRPr lang="en-US" sz="2400" dirty="0"/>
          </a:p>
        </p:txBody>
      </p:sp>
      <p:sp>
        <p:nvSpPr>
          <p:cNvPr id="12" name="q2"/>
          <p:cNvSpPr/>
          <p:nvPr/>
        </p:nvSpPr>
        <p:spPr>
          <a:xfrm>
            <a:off x="5143500" y="3924300"/>
            <a:ext cx="93345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Choose the student moves.</a:t>
            </a: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will students do with CUBS and CER?</a:t>
            </a:r>
            <a:endParaRPr lang="en-US" sz="2400" dirty="0"/>
          </a:p>
        </p:txBody>
      </p:sp>
      <p:sp>
        <p:nvSpPr>
          <p:cNvPr id="13" name="q3"/>
          <p:cNvSpPr/>
          <p:nvPr/>
        </p:nvSpPr>
        <p:spPr>
          <a:xfrm>
            <a:off x="5143500" y="5905500"/>
            <a:ext cx="933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altLang="en-US" sz="24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Choose the next step.</a:t>
            </a: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What feedback prompt will lead students to revise? Share one useful idea with a colleague.</a:t>
            </a:r>
            <a:endParaRPr lang="en-US" sz="2400" dirty="0"/>
          </a:p>
        </p:txBody>
      </p:sp>
      <p:sp>
        <p:nvSpPr>
          <p:cNvPr id="14" name="page"/>
          <p:cNvSpPr/>
          <p:nvPr/>
        </p:nvSpPr>
        <p:spPr>
          <a:xfrm>
            <a:off x="14986000" y="84455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300" dirty="0"/>
          </a:p>
        </p:txBody>
      </p:sp>
      <p:sp>
        <p:nvSpPr>
          <p:cNvPr id="15" name="worktim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e-shape-1"/>
          <p:cNvSpPr/>
          <p:nvPr/>
        </p:nvSpPr>
        <p:spPr>
          <a:xfrm>
            <a:off x="0" y="0"/>
            <a:ext cx="16256000" cy="10160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3" name="eyebrow"/>
          <p:cNvSpPr/>
          <p:nvPr/>
        </p:nvSpPr>
        <p:spPr>
          <a:xfrm>
            <a:off x="736600" y="342900"/>
            <a:ext cx="1143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altLang="en-US" sz="1600" dirty="0">
                <a:solidFill>
                  <a:srgbClr val="F1F3F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 •  3:28–3:30 P.M.  •  2 MIN</a:t>
            </a:r>
            <a:endParaRPr lang="en-US" sz="1600" dirty="0"/>
          </a:p>
        </p:txBody>
      </p:sp>
      <p:sp>
        <p:nvSpPr>
          <p:cNvPr id="4" name="title"/>
          <p:cNvSpPr/>
          <p:nvPr/>
        </p:nvSpPr>
        <p:spPr>
          <a:xfrm>
            <a:off x="736600" y="1676400"/>
            <a:ext cx="1384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4000" dirty="0">
                <a:solidFill>
                  <a:srgbClr val="2021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736600" y="2667000"/>
            <a:ext cx="13208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24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one small move to use in an upcoming lesson. Bring the evidence back on Friday.</a:t>
            </a:r>
            <a:endParaRPr lang="en-US" sz="2400" dirty="0"/>
          </a:p>
        </p:txBody>
      </p:sp>
      <p:sp>
        <p:nvSpPr>
          <p:cNvPr id="6" name="close-shape-5"/>
          <p:cNvSpPr/>
          <p:nvPr/>
        </p:nvSpPr>
        <p:spPr>
          <a:xfrm>
            <a:off x="736600" y="3746500"/>
            <a:ext cx="4445000" cy="27305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7" name="close-shape-6"/>
          <p:cNvSpPr/>
          <p:nvPr/>
        </p:nvSpPr>
        <p:spPr>
          <a:xfrm>
            <a:off x="5905500" y="3746500"/>
            <a:ext cx="4445000" cy="2730500"/>
          </a:xfrm>
          <a:prstGeom prst="rect">
            <a:avLst/>
          </a:prstGeom>
          <a:solidFill>
            <a:srgbClr val="F5F6F8"/>
          </a:solidFill>
          <a:ln w="12700">
            <a:solidFill>
              <a:srgbClr val="D4D8DE"/>
            </a:solidFill>
            <a:prstDash val="solid"/>
          </a:ln>
        </p:spPr>
      </p:sp>
      <p:sp>
        <p:nvSpPr>
          <p:cNvPr id="8" name="close-shape-7"/>
          <p:cNvSpPr/>
          <p:nvPr/>
        </p:nvSpPr>
        <p:spPr>
          <a:xfrm>
            <a:off x="11074400" y="3746500"/>
            <a:ext cx="4368800" cy="2730500"/>
          </a:xfrm>
          <a:prstGeom prst="rect">
            <a:avLst/>
          </a:prstGeom>
          <a:solidFill>
            <a:srgbClr val="FCE8EA"/>
          </a:solidFill>
          <a:ln w="25400">
            <a:solidFill>
              <a:srgbClr val="C41220"/>
            </a:solidFill>
            <a:prstDash val="solid"/>
          </a:ln>
        </p:spPr>
      </p:sp>
      <p:sp>
        <p:nvSpPr>
          <p:cNvPr id="9" name="step1"/>
          <p:cNvSpPr/>
          <p:nvPr/>
        </p:nvSpPr>
        <p:spPr>
          <a:xfrm>
            <a:off x="1117600" y="4216400"/>
            <a:ext cx="3683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USE THE ROUTINE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5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CUBS and/or color-coded CER with one class.</a:t>
            </a:r>
            <a:endParaRPr lang="en-US" sz="2500" dirty="0"/>
          </a:p>
        </p:txBody>
      </p:sp>
      <p:sp>
        <p:nvSpPr>
          <p:cNvPr id="10" name="step2"/>
          <p:cNvSpPr/>
          <p:nvPr/>
        </p:nvSpPr>
        <p:spPr>
          <a:xfrm>
            <a:off x="6286500" y="4216400"/>
            <a:ext cx="3683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SAVE EVIDENCE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5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one or two anonymous student responses.</a:t>
            </a:r>
            <a:endParaRPr lang="en-US" sz="2500" dirty="0"/>
          </a:p>
        </p:txBody>
      </p:sp>
      <p:sp>
        <p:nvSpPr>
          <p:cNvPr id="11" name="step3"/>
          <p:cNvSpPr/>
          <p:nvPr/>
        </p:nvSpPr>
        <p:spPr>
          <a:xfrm>
            <a:off x="11455400" y="4216400"/>
            <a:ext cx="36068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32"/>
              </a:lnSpc>
              <a:buNone/>
            </a:pPr>
            <a:r>
              <a:rPr lang="en-US" altLang="en-US" sz="1800" b="1" dirty="0">
                <a:solidFill>
                  <a:srgbClr val="C412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PLAN FROM IT</a:t>
            </a:r>
            <a:endParaRPr lang="en-US" sz="2500" dirty="0"/>
          </a:p>
          <a:p>
            <a:pPr algn="ctr" indent="0" marL="0">
              <a:lnSpc>
                <a:spcPts val="3100"/>
              </a:lnSpc>
              <a:spcBef>
                <a:spcPts val="1500"/>
              </a:spcBef>
              <a:buNone/>
            </a:pPr>
            <a:r>
              <a:rPr lang="en-US" altLang="en-US" sz="2500" dirty="0">
                <a:solidFill>
                  <a:srgbClr val="343A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writing and feedback to decide the next lesson step.</a:t>
            </a:r>
            <a:endParaRPr lang="en-US" sz="2500" dirty="0"/>
          </a:p>
        </p:txBody>
      </p:sp>
      <p:sp>
        <p:nvSpPr>
          <p:cNvPr id="12" name="close-shape-11"/>
          <p:cNvSpPr/>
          <p:nvPr/>
        </p:nvSpPr>
        <p:spPr>
          <a:xfrm>
            <a:off x="736600" y="7302500"/>
            <a:ext cx="14706600" cy="736600"/>
          </a:xfrm>
          <a:prstGeom prst="rect">
            <a:avLst/>
          </a:prstGeom>
          <a:solidFill>
            <a:srgbClr val="202124"/>
          </a:solidFill>
          <a:ln/>
        </p:spPr>
      </p:sp>
      <p:sp>
        <p:nvSpPr>
          <p:cNvPr id="13" name="bottom"/>
          <p:cNvSpPr/>
          <p:nvPr/>
        </p:nvSpPr>
        <p:spPr>
          <a:xfrm>
            <a:off x="1117600" y="7518400"/>
            <a:ext cx="13944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need practice thinking, writing, receiving feedback, and revising.</a:t>
            </a:r>
            <a:endParaRPr lang="en-US" sz="2100" dirty="0"/>
          </a:p>
        </p:txBody>
      </p:sp>
      <p:sp>
        <p:nvSpPr>
          <p:cNvPr id="14" name="page"/>
          <p:cNvSpPr/>
          <p:nvPr/>
        </p:nvSpPr>
        <p:spPr>
          <a:xfrm>
            <a:off x="14732000" y="8432800"/>
            <a:ext cx="736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3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300" dirty="0"/>
          </a:p>
        </p:txBody>
      </p:sp>
      <p:sp>
        <p:nvSpPr>
          <p:cNvPr id="15" name="close-shape-14"/>
          <p:cNvSpPr/>
          <p:nvPr/>
        </p:nvSpPr>
        <p:spPr>
          <a:xfrm>
            <a:off x="0" y="9067800"/>
            <a:ext cx="16256000" cy="76200"/>
          </a:xfrm>
          <a:prstGeom prst="rect">
            <a:avLst/>
          </a:prstGeom>
          <a:solidFill>
            <a:srgbClr val="C4122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Strengthening Science Literacy: Calibrating Writing Benchmarks, Feedback, and Revision</dc:title>
  <dc:subject>Strengthening Science Literacy: Calibrating Writing Benchmarks, Feedback, and Revision</dc:subject>
  <dc:creator>Manus</dc:creator>
  <cp:lastModifiedBy>Manus</cp:lastModifiedBy>
  <cp:revision>1</cp:revision>
  <dcterms:created xsi:type="dcterms:W3CDTF">2026-10-27T23:52:29Z</dcterms:created>
  <dcterms:modified xsi:type="dcterms:W3CDTF">2026-10-27T23:52:29Z</dcterms:modified>
</cp:coreProperties>
</file>
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Inter" charset="-122" pitchFamily="34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18,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38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400" dirty="0"/>
          </a:p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Student Evidence Together</a:t>
            </a:r>
            <a:endParaRPr lang="en-US" sz="44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1750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 learning pattern and decide what students need next.</a:t>
            </a:r>
            <a:endParaRPr lang="en-US" sz="22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D3136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20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20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21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1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anonymous set of student work, exit responses, observation notes, or another evidence source from a recently taught lesson</a:t>
            </a:r>
            <a:endParaRPr lang="en-US" sz="19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FIVE-SESSION CONTINUATION ARC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Teach, Notice, Respond &amp; Replan</a:t>
            </a:r>
            <a:endParaRPr lang="en-US" sz="2800" dirty="0"/>
          </a:p>
        </p:txBody>
      </p:sp>
      <p:sp>
        <p:nvSpPr>
          <p:cNvPr id="22" name="arc-line"/>
          <p:cNvSpPr/>
          <p:nvPr/>
        </p:nvSpPr>
        <p:spPr>
          <a:xfrm>
            <a:off x="10375900" y="3479800"/>
            <a:ext cx="4749800" cy="9144"/>
          </a:xfrm>
          <a:prstGeom prst="line">
            <a:avLst/>
          </a:prstGeom>
          <a:ln w="50800">
            <a:solidFill>
              <a:srgbClr val="E5E7EB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1346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2108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arc2"/>
          <p:cNvSpPr/>
          <p:nvPr/>
        </p:nvSpPr>
        <p:spPr>
          <a:xfrm>
            <a:off x="11201400" y="3124200"/>
            <a:ext cx="9906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arc2-text"/>
          <p:cNvSpPr/>
          <p:nvPr/>
        </p:nvSpPr>
        <p:spPr>
          <a:xfrm>
            <a:off x="112776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100" dirty="0"/>
          </a:p>
        </p:txBody>
      </p:sp>
      <p:sp>
        <p:nvSpPr>
          <p:cNvPr id="27" name="arc3"/>
          <p:cNvSpPr/>
          <p:nvPr/>
        </p:nvSpPr>
        <p:spPr>
          <a:xfrm>
            <a:off x="122682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8" name="arc3-text"/>
          <p:cNvSpPr/>
          <p:nvPr/>
        </p:nvSpPr>
        <p:spPr>
          <a:xfrm>
            <a:off x="123444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100" dirty="0"/>
          </a:p>
        </p:txBody>
      </p:sp>
      <p:sp>
        <p:nvSpPr>
          <p:cNvPr id="29" name="arc4"/>
          <p:cNvSpPr/>
          <p:nvPr/>
        </p:nvSpPr>
        <p:spPr>
          <a:xfrm>
            <a:off x="133350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0" name="arc4-text"/>
          <p:cNvSpPr/>
          <p:nvPr/>
        </p:nvSpPr>
        <p:spPr>
          <a:xfrm>
            <a:off x="134112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arc5"/>
          <p:cNvSpPr/>
          <p:nvPr/>
        </p:nvSpPr>
        <p:spPr>
          <a:xfrm>
            <a:off x="144018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2" name="arc5-text"/>
          <p:cNvSpPr/>
          <p:nvPr/>
        </p:nvSpPr>
        <p:spPr>
          <a:xfrm>
            <a:off x="144780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3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examine student evidence together and identify the learning pattern that should guide the next decision.</a:t>
            </a:r>
            <a:endParaRPr lang="en-US" sz="1900" dirty="0"/>
          </a:p>
        </p:txBody>
      </p:sp>
      <p:sp>
        <p:nvSpPr>
          <p:cNvPr id="34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5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6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&amp; Forward Planning</a:t>
            </a:r>
            <a:endParaRPr lang="en-US" sz="17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STUDENT EVIDENCE TOGETHER · 9/18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46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Student Evidence Together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8102E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Name the learning goal and evidence source.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4:00–12:00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Evidence Sort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Notice approaches, strengths, partial understanding, and common needs.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Identify one shared student-learning pattern supported by the evidence.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34:00–41:00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the Need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Name the priority instructional response students need next.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41:00–46:00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pattern in student thinking will guide our next decision?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724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4978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346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learning pattern, evidence that supports it, and a priority next response.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18, 2026 · REVIEW EVIDENCE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33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· 8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27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With the Learning Goal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4:00–12:00</a:t>
            </a:r>
            <a:endParaRPr lang="en-US" sz="1200" dirty="0"/>
          </a:p>
        </p:txBody>
      </p:sp>
      <p:sp>
        <p:nvSpPr>
          <p:cNvPr id="8" name="question"/>
          <p:cNvSpPr/>
          <p:nvPr/>
        </p:nvSpPr>
        <p:spPr>
          <a:xfrm>
            <a:off x="914400" y="2336800"/>
            <a:ext cx="7429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altLang="en-US" sz="36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does the evidence show about how students approached the learning goal?</a:t>
            </a:r>
            <a:endParaRPr lang="en-US" sz="3600" dirty="0"/>
          </a:p>
        </p:txBody>
      </p:sp>
      <p:sp>
        <p:nvSpPr>
          <p:cNvPr id="9" name="context"/>
          <p:cNvSpPr/>
          <p:nvPr/>
        </p:nvSpPr>
        <p:spPr>
          <a:xfrm>
            <a:off x="914400" y="3810000"/>
            <a:ext cx="7239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the team is not evaluating individual students. The work is to examine a small evidence set, identify a shared learning pattern, and decide what students need next.</a:t>
            </a:r>
            <a:endParaRPr lang="en-US" sz="2000" dirty="0"/>
          </a:p>
        </p:txBody>
      </p:sp>
      <p:sp>
        <p:nvSpPr>
          <p:cNvPr id="10" name="lens-card"/>
          <p:cNvSpPr/>
          <p:nvPr/>
        </p:nvSpPr>
        <p:spPr>
          <a:xfrm>
            <a:off x="9525000" y="2260600"/>
            <a:ext cx="5270500" cy="398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lens-label"/>
          <p:cNvSpPr/>
          <p:nvPr/>
        </p:nvSpPr>
        <p:spPr>
          <a:xfrm>
            <a:off x="9880600" y="26162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EVIDENCE-REVIEW LENSES</a:t>
            </a:r>
            <a:endParaRPr lang="en-US" sz="1300" dirty="0"/>
          </a:p>
        </p:txBody>
      </p:sp>
      <p:sp>
        <p:nvSpPr>
          <p:cNvPr id="12" name="lens1"/>
          <p:cNvSpPr/>
          <p:nvPr/>
        </p:nvSpPr>
        <p:spPr>
          <a:xfrm>
            <a:off x="9880600" y="31496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lens1-num"/>
          <p:cNvSpPr/>
          <p:nvPr/>
        </p:nvSpPr>
        <p:spPr>
          <a:xfrm>
            <a:off x="9880600" y="32512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lens1-copy"/>
          <p:cNvSpPr/>
          <p:nvPr/>
        </p:nvSpPr>
        <p:spPr>
          <a:xfrm>
            <a:off x="10591800" y="31623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is secure?</a:t>
            </a:r>
            <a:endParaRPr lang="en-US" sz="1900" dirty="0"/>
          </a:p>
        </p:txBody>
      </p:sp>
      <p:sp>
        <p:nvSpPr>
          <p:cNvPr id="15" name="lens2"/>
          <p:cNvSpPr/>
          <p:nvPr/>
        </p:nvSpPr>
        <p:spPr>
          <a:xfrm>
            <a:off x="9880600" y="40640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lens2-num"/>
          <p:cNvSpPr/>
          <p:nvPr/>
        </p:nvSpPr>
        <p:spPr>
          <a:xfrm>
            <a:off x="9880600" y="41656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lens2-copy"/>
          <p:cNvSpPr/>
          <p:nvPr/>
        </p:nvSpPr>
        <p:spPr>
          <a:xfrm>
            <a:off x="10591800" y="40767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Thinking</a:t>
            </a: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is developing?</a:t>
            </a:r>
            <a:endParaRPr lang="en-US" sz="1900" dirty="0"/>
          </a:p>
        </p:txBody>
      </p:sp>
      <p:sp>
        <p:nvSpPr>
          <p:cNvPr id="18" name="lens3"/>
          <p:cNvSpPr/>
          <p:nvPr/>
        </p:nvSpPr>
        <p:spPr>
          <a:xfrm>
            <a:off x="9880600" y="49784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lens3-num"/>
          <p:cNvSpPr/>
          <p:nvPr/>
        </p:nvSpPr>
        <p:spPr>
          <a:xfrm>
            <a:off x="9880600" y="50800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lens3-copy"/>
          <p:cNvSpPr/>
          <p:nvPr/>
        </p:nvSpPr>
        <p:spPr>
          <a:xfrm>
            <a:off x="10591800" y="49911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Need</a:t>
            </a: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should guide the response?</a:t>
            </a:r>
            <a:endParaRPr lang="en-US" sz="1900" dirty="0"/>
          </a:p>
        </p:txBody>
      </p:sp>
      <p:sp>
        <p:nvSpPr>
          <p:cNvPr id="2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akeaway-label"/>
          <p:cNvSpPr/>
          <p:nvPr/>
        </p:nvSpPr>
        <p:spPr>
          <a:xfrm>
            <a:off x="1092200" y="7175500"/>
            <a:ext cx="342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NORM</a:t>
            </a:r>
            <a:endParaRPr lang="en-US" sz="1200" dirty="0"/>
          </a:p>
        </p:txBody>
      </p:sp>
      <p:sp>
        <p:nvSpPr>
          <p:cNvPr id="2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shared pattern in the evidence, support it with examples, and keep the discussion connected to the learning goal.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STUDENT EVIDENCE TOGETHER · 9/18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ROUTINE · 22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Sort Evidence Into Patterns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57400"/>
            <a:ext cx="1333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in front of the team to identify a shared learning pattern and a next instructional need.</a:t>
            </a:r>
            <a:endParaRPr lang="en-US" sz="2000" dirty="0"/>
          </a:p>
        </p:txBody>
      </p:sp>
      <p:sp>
        <p:nvSpPr>
          <p:cNvPr id="9" name="card1"/>
          <p:cNvSpPr/>
          <p:nvPr/>
        </p:nvSpPr>
        <p:spPr>
          <a:xfrm>
            <a:off x="762000" y="2870200"/>
            <a:ext cx="33655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n1"/>
          <p:cNvSpPr/>
          <p:nvPr/>
        </p:nvSpPr>
        <p:spPr>
          <a:xfrm>
            <a:off x="10414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n1text"/>
          <p:cNvSpPr/>
          <p:nvPr/>
        </p:nvSpPr>
        <p:spPr>
          <a:xfrm>
            <a:off x="10414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c1title"/>
          <p:cNvSpPr/>
          <p:nvPr/>
        </p:nvSpPr>
        <p:spPr>
          <a:xfrm>
            <a:off x="10414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</a:t>
            </a:r>
            <a:endParaRPr lang="en-US" sz="2100" dirty="0"/>
          </a:p>
        </p:txBody>
      </p:sp>
      <p:sp>
        <p:nvSpPr>
          <p:cNvPr id="13" name="c1copy"/>
          <p:cNvSpPr/>
          <p:nvPr/>
        </p:nvSpPr>
        <p:spPr>
          <a:xfrm>
            <a:off x="10414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Restate the knowledge, skill, language, or practice students were expected to demonstrate.</a:t>
            </a:r>
            <a:endParaRPr lang="en-US" sz="1600" dirty="0"/>
          </a:p>
        </p:txBody>
      </p:sp>
      <p:sp>
        <p:nvSpPr>
          <p:cNvPr id="14" name="card2"/>
          <p:cNvSpPr/>
          <p:nvPr/>
        </p:nvSpPr>
        <p:spPr>
          <a:xfrm>
            <a:off x="4457700" y="2870200"/>
            <a:ext cx="33655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n2"/>
          <p:cNvSpPr/>
          <p:nvPr/>
        </p:nvSpPr>
        <p:spPr>
          <a:xfrm>
            <a:off x="47371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n2text"/>
          <p:cNvSpPr/>
          <p:nvPr/>
        </p:nvSpPr>
        <p:spPr>
          <a:xfrm>
            <a:off x="47371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c2title"/>
          <p:cNvSpPr/>
          <p:nvPr/>
        </p:nvSpPr>
        <p:spPr>
          <a:xfrm>
            <a:off x="47371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</a:t>
            </a:r>
            <a:endParaRPr lang="en-US" sz="2100" dirty="0"/>
          </a:p>
        </p:txBody>
      </p:sp>
      <p:sp>
        <p:nvSpPr>
          <p:cNvPr id="18" name="c2copy"/>
          <p:cNvSpPr/>
          <p:nvPr/>
        </p:nvSpPr>
        <p:spPr>
          <a:xfrm>
            <a:off x="47371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approaches, strengths, partial understanding, and common misconceptions across the evidence set.</a:t>
            </a:r>
            <a:endParaRPr lang="en-US" sz="1600" dirty="0"/>
          </a:p>
        </p:txBody>
      </p:sp>
      <p:sp>
        <p:nvSpPr>
          <p:cNvPr id="19" name="card3"/>
          <p:cNvSpPr/>
          <p:nvPr/>
        </p:nvSpPr>
        <p:spPr>
          <a:xfrm>
            <a:off x="8153400" y="2870200"/>
            <a:ext cx="33655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n3"/>
          <p:cNvSpPr/>
          <p:nvPr/>
        </p:nvSpPr>
        <p:spPr>
          <a:xfrm>
            <a:off x="84328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n3text"/>
          <p:cNvSpPr/>
          <p:nvPr/>
        </p:nvSpPr>
        <p:spPr>
          <a:xfrm>
            <a:off x="84328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c3title"/>
          <p:cNvSpPr/>
          <p:nvPr/>
        </p:nvSpPr>
        <p:spPr>
          <a:xfrm>
            <a:off x="84328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Pattern</a:t>
            </a:r>
            <a:endParaRPr lang="en-US" sz="2100" dirty="0"/>
          </a:p>
        </p:txBody>
      </p:sp>
      <p:sp>
        <p:nvSpPr>
          <p:cNvPr id="23" name="c3copy"/>
          <p:cNvSpPr/>
          <p:nvPr/>
        </p:nvSpPr>
        <p:spPr>
          <a:xfrm>
            <a:off x="84328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what the evidence suggests about how students are thinking, without focusing on individual students.</a:t>
            </a:r>
            <a:endParaRPr lang="en-US" sz="1600" dirty="0"/>
          </a:p>
        </p:txBody>
      </p:sp>
      <p:sp>
        <p:nvSpPr>
          <p:cNvPr id="24" name="card4"/>
          <p:cNvSpPr/>
          <p:nvPr/>
        </p:nvSpPr>
        <p:spPr>
          <a:xfrm>
            <a:off x="11849100" y="2870200"/>
            <a:ext cx="36449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n4"/>
          <p:cNvSpPr/>
          <p:nvPr/>
        </p:nvSpPr>
        <p:spPr>
          <a:xfrm>
            <a:off x="121285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n4text"/>
          <p:cNvSpPr/>
          <p:nvPr/>
        </p:nvSpPr>
        <p:spPr>
          <a:xfrm>
            <a:off x="121285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c4title"/>
          <p:cNvSpPr/>
          <p:nvPr/>
        </p:nvSpPr>
        <p:spPr>
          <a:xfrm>
            <a:off x="12128500" y="39370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the Need</a:t>
            </a:r>
            <a:endParaRPr lang="en-US" sz="2100" dirty="0"/>
          </a:p>
        </p:txBody>
      </p:sp>
      <p:sp>
        <p:nvSpPr>
          <p:cNvPr id="28" name="c4copy"/>
          <p:cNvSpPr/>
          <p:nvPr/>
        </p:nvSpPr>
        <p:spPr>
          <a:xfrm>
            <a:off x="12128500" y="4495800"/>
            <a:ext cx="2984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priority learning need that should guide the next lesson, feedback move, or follow-up task.</a:t>
            </a:r>
            <a:endParaRPr lang="en-US" sz="1600" dirty="0"/>
          </a:p>
        </p:txBody>
      </p:sp>
      <p:sp>
        <p:nvSpPr>
          <p:cNvPr id="29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PRODUCT</a:t>
            </a:r>
            <a:endParaRPr lang="en-US" sz="1200" dirty="0"/>
          </a:p>
        </p:txBody>
      </p:sp>
      <p:sp>
        <p:nvSpPr>
          <p:cNvPr id="31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learning pattern, evidence that supports it, and a priority instructional need for the next response.</a:t>
            </a:r>
            <a:endParaRPr lang="en-US" sz="1800" dirty="0"/>
          </a:p>
        </p:txBody>
      </p:sp>
      <p:sp>
        <p:nvSpPr>
          <p:cNvPr id="32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STUDENT EVIDENCE TOGETHER · 9/18</a:t>
            </a:r>
            <a:endParaRPr lang="en-US" sz="1200" dirty="0"/>
          </a:p>
        </p:txBody>
      </p:sp>
      <p:sp>
        <p:nvSpPr>
          <p:cNvPr id="34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ANALYSIS · 22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65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Student Evidence Together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small anonymous evidence set. Identify one shared learning pattern and the priority instructional need it creates.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in the learning goal.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knowledge, skill, language, or practice students were expected to demonstrate.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the evidence.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approaches, strengths, partial understanding, and common misconceptions across the evidence set.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one pattern.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what the evidence suggests about student thinking, using examples from the evidence set.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the next need.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priority instructional response that students need in the next lesson or follow-up task.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learning pattern, evidence that supports it, and a priority instructional need that the team will carry forward.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STUDENT EVIDENCE TOGETHER · 9/18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5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 and Carry It Forward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41:00–46:00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pattern in student thinking will guide our next instructional decision?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pattern and the evidence that supports it.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· SEPTEMBER 21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30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Respond Without Taking Over the Thinking</a:t>
            </a:r>
            <a:endParaRPr lang="en-US" sz="30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368800"/>
            <a:ext cx="477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learning pattern and related materials. Teams will plan one response that supports access while keeping students responsible for the work.</a:t>
            </a:r>
            <a:endParaRPr lang="en-US" sz="19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student evidence to identify the learning pattern, then plan the next move students need — not a list of individual fixes.</a:t>
            </a:r>
            <a:endParaRPr lang="en-US" sz="18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STUDENT EVIDENCE TOGETHER · 9/18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Review Student Evidence Together</dc:title>
  <dc:subject>Lesson Internalization: Review Student Evidence Together</dc:subject>
  <dc:creator>Manus</dc:creator>
  <cp:lastModifiedBy>Manus</cp:lastModifiedBy>
  <cp:revision>1</cp:revision>
  <dcterms:created xsi:type="dcterms:W3CDTF">2026-09-14T18:45:33Z</dcterms:created>
  <dcterms:modified xsi:type="dcterms:W3CDTF">2026-09-14T18:45:33Z</dcterms:modified>
</cp:coreProperties>
</file>
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</p:sldIdLst>
  <p:notesMasterIdLst>
    <p:notesMasterId r:id="rId8"/>
  </p:notesMasterIdLst>
  <p:sldSz cx="16256000" cy="9144000"/>
  <p:notesSz cx="9144000" cy="16256000"/>
  <p:embeddedFontLst>
    <p:embeddedFont>
      <p:font typeface="Inter" charset="-122" pitchFamily="34"/>
      <p:regular r:id="rId13"/>
    </p:embeddedFont>
  </p:embeddedFontLst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notesMaster" Target="notesMasters/notesMaster1.xml"/><Relationship Id="rId9" Type="http://schemas.openxmlformats.org/officeDocument/2006/relationships/presProps" Target="presProps.xml"/><Relationship Id="rId10" Type="http://schemas.openxmlformats.org/officeDocument/2006/relationships/viewProps" Target="viewProps.xml"/><Relationship Id="rId11" Type="http://schemas.openxmlformats.org/officeDocument/2006/relationships/theme" Target="theme/theme1.xml"/><Relationship Id="rId12" Type="http://schemas.openxmlformats.org/officeDocument/2006/relationships/tableStyles" Target="tableStyles.xml"/><Relationship Id="rId13" Type="http://schemas.openxmlformats.org/officeDocument/2006/relationships/font" Target="fonts/font1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date-chip"/>
          <p:cNvSpPr/>
          <p:nvPr/>
        </p:nvSpPr>
        <p:spPr>
          <a:xfrm>
            <a:off x="508000" y="889000"/>
            <a:ext cx="28448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4" name="date-chip-text"/>
          <p:cNvSpPr/>
          <p:nvPr/>
        </p:nvSpPr>
        <p:spPr>
          <a:xfrm>
            <a:off x="635000" y="977900"/>
            <a:ext cx="25908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18, 2026</a:t>
            </a:r>
            <a:endParaRPr lang="en-US" sz="1200" dirty="0"/>
          </a:p>
        </p:txBody>
      </p:sp>
      <p:sp>
        <p:nvSpPr>
          <p:cNvPr id="5" name="cover-title"/>
          <p:cNvSpPr/>
          <p:nvPr/>
        </p:nvSpPr>
        <p:spPr>
          <a:xfrm>
            <a:off x="508000" y="1549400"/>
            <a:ext cx="8636000" cy="1549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627"/>
              </a:lnSpc>
              <a:buNone/>
            </a:pPr>
            <a:r>
              <a:rPr lang="en-US" altLang="en-US" sz="3900" dirty="0">
                <a:solidFill>
                  <a:srgbClr val="C810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Evidence:</a:t>
            </a:r>
            <a:endParaRPr lang="en-US" sz="3900" dirty="0"/>
          </a:p>
          <a:p>
            <a:pPr algn="l" indent="0" marL="0">
              <a:lnSpc>
                <a:spcPts val="3627"/>
              </a:lnSpc>
              <a:buNone/>
            </a:pPr>
            <a:r>
              <a:rPr lang="en-US" altLang="en-US" sz="3900" dirty="0">
                <a:solidFill>
                  <a:srgbClr val="C810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Anticipating Participation</a:t>
            </a:r>
            <a:endParaRPr lang="en-US" sz="3900" dirty="0"/>
          </a:p>
          <a:p>
            <a:pPr algn="l" indent="0" marL="0">
              <a:lnSpc>
                <a:spcPts val="3627"/>
              </a:lnSpc>
              <a:buNone/>
            </a:pPr>
            <a:r>
              <a:rPr lang="en-US" altLang="en-US" sz="3900" dirty="0">
                <a:solidFill>
                  <a:srgbClr val="C8102E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&amp; Feedback</a:t>
            </a:r>
            <a:endParaRPr lang="en-US" sz="3900" dirty="0"/>
          </a:p>
        </p:txBody>
      </p:sp>
      <p:sp>
        <p:nvSpPr>
          <p:cNvPr id="6" name="cover-subtitle"/>
          <p:cNvSpPr/>
          <p:nvPr/>
        </p:nvSpPr>
        <p:spPr>
          <a:xfrm>
            <a:off x="508000" y="3378200"/>
            <a:ext cx="8255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530"/>
              </a:lnSpc>
              <a:buNone/>
            </a:pPr>
            <a:r>
              <a:rPr lang="en-US" altLang="en-US" sz="2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current evidence to anticipate participation and feedback that move learning forward.</a:t>
            </a:r>
            <a:endParaRPr lang="en-US" sz="2200" dirty="0"/>
          </a:p>
        </p:txBody>
      </p:sp>
      <p:sp>
        <p:nvSpPr>
          <p:cNvPr id="7" name="cover-divider"/>
          <p:cNvSpPr/>
          <p:nvPr/>
        </p:nvSpPr>
        <p:spPr>
          <a:xfrm>
            <a:off x="508000" y="4114800"/>
            <a:ext cx="8255000" cy="9144"/>
          </a:xfrm>
          <a:prstGeom prst="line">
            <a:avLst/>
          </a:prstGeom>
          <a:ln w="25400">
            <a:solidFill>
              <a:srgbClr val="2D3136"/>
            </a:solidFill>
            <a:prstDash val="solid"/>
          </a:ln>
        </p:spPr>
      </p:sp>
      <p:sp>
        <p:nvSpPr>
          <p:cNvPr id="8" name="type-card"/>
          <p:cNvSpPr/>
          <p:nvPr/>
        </p:nvSpPr>
        <p:spPr>
          <a:xfrm>
            <a:off x="508000" y="4470400"/>
            <a:ext cx="2387600" cy="1168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9" name="type-label"/>
          <p:cNvSpPr/>
          <p:nvPr/>
        </p:nvSpPr>
        <p:spPr>
          <a:xfrm>
            <a:off x="7112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TYPE</a:t>
            </a:r>
            <a:endParaRPr lang="en-US" sz="1200" dirty="0"/>
          </a:p>
        </p:txBody>
      </p:sp>
      <p:sp>
        <p:nvSpPr>
          <p:cNvPr id="10" name="type-value"/>
          <p:cNvSpPr/>
          <p:nvPr/>
        </p:nvSpPr>
        <p:spPr>
          <a:xfrm>
            <a:off x="711200" y="4978400"/>
            <a:ext cx="19812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Dept.</a:t>
            </a:r>
            <a:endParaRPr lang="en-US" sz="2000" dirty="0"/>
          </a:p>
          <a:p>
            <a:pPr algn="l" indent="0" marL="0">
              <a:lnSpc>
                <a:spcPts val="200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PLC</a:t>
            </a:r>
            <a:endParaRPr lang="en-US" sz="2000" dirty="0"/>
          </a:p>
        </p:txBody>
      </p:sp>
      <p:sp>
        <p:nvSpPr>
          <p:cNvPr id="11" name="time-card"/>
          <p:cNvSpPr/>
          <p:nvPr/>
        </p:nvSpPr>
        <p:spPr>
          <a:xfrm>
            <a:off x="3073400" y="4470400"/>
            <a:ext cx="2387600" cy="1168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ime-label"/>
          <p:cNvSpPr/>
          <p:nvPr/>
        </p:nvSpPr>
        <p:spPr>
          <a:xfrm>
            <a:off x="3276600" y="4673600"/>
            <a:ext cx="1981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TIME</a:t>
            </a:r>
            <a:endParaRPr lang="en-US" sz="1200" dirty="0"/>
          </a:p>
        </p:txBody>
      </p:sp>
      <p:sp>
        <p:nvSpPr>
          <p:cNvPr id="13" name="time-value"/>
          <p:cNvSpPr/>
          <p:nvPr/>
        </p:nvSpPr>
        <p:spPr>
          <a:xfrm>
            <a:off x="3276600" y="5029200"/>
            <a:ext cx="19812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46 Minutes</a:t>
            </a:r>
            <a:endParaRPr lang="en-US" sz="2100" dirty="0"/>
          </a:p>
        </p:txBody>
      </p:sp>
      <p:sp>
        <p:nvSpPr>
          <p:cNvPr id="14" name="audience-card"/>
          <p:cNvSpPr/>
          <p:nvPr/>
        </p:nvSpPr>
        <p:spPr>
          <a:xfrm>
            <a:off x="5638800" y="4470400"/>
            <a:ext cx="3124200" cy="1168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audience-label"/>
          <p:cNvSpPr/>
          <p:nvPr/>
        </p:nvSpPr>
        <p:spPr>
          <a:xfrm>
            <a:off x="5842000" y="4673600"/>
            <a:ext cx="27178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AUDIENCE</a:t>
            </a:r>
            <a:endParaRPr lang="en-US" sz="1200" dirty="0"/>
          </a:p>
        </p:txBody>
      </p:sp>
      <p:sp>
        <p:nvSpPr>
          <p:cNvPr id="16" name="audience-value"/>
          <p:cNvSpPr/>
          <p:nvPr/>
        </p:nvSpPr>
        <p:spPr>
          <a:xfrm>
            <a:off x="5842000" y="5029200"/>
            <a:ext cx="2717800" cy="355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21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Grades 9–12 Science</a:t>
            </a:r>
            <a:endParaRPr lang="en-US" sz="2100" dirty="0"/>
          </a:p>
        </p:txBody>
      </p:sp>
      <p:sp>
        <p:nvSpPr>
          <p:cNvPr id="17" name="materials-title"/>
          <p:cNvSpPr/>
          <p:nvPr/>
        </p:nvSpPr>
        <p:spPr>
          <a:xfrm>
            <a:off x="508000" y="6146800"/>
            <a:ext cx="7874000" cy="279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TO BRING</a:t>
            </a:r>
            <a:endParaRPr lang="en-US" sz="1300" dirty="0"/>
          </a:p>
        </p:txBody>
      </p:sp>
      <p:sp>
        <p:nvSpPr>
          <p:cNvPr id="18" name="materials-copy"/>
          <p:cNvSpPr/>
          <p:nvPr/>
        </p:nvSpPr>
        <p:spPr>
          <a:xfrm>
            <a:off x="508000" y="6527800"/>
            <a:ext cx="80645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85"/>
              </a:lnSpc>
              <a:buNone/>
            </a:pP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 small anonymous set of student work, exit responses, observation notes, or another evidence source from a recently taught lesson</a:t>
            </a:r>
            <a:endParaRPr lang="en-US" sz="1900" dirty="0"/>
          </a:p>
        </p:txBody>
      </p:sp>
      <p:sp>
        <p:nvSpPr>
          <p:cNvPr id="19" name="arc-panel"/>
          <p:cNvSpPr/>
          <p:nvPr/>
        </p:nvSpPr>
        <p:spPr>
          <a:xfrm>
            <a:off x="9779000" y="1422400"/>
            <a:ext cx="5969000" cy="61214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arc-kicker"/>
          <p:cNvSpPr/>
          <p:nvPr/>
        </p:nvSpPr>
        <p:spPr>
          <a:xfrm>
            <a:off x="10134600" y="1803400"/>
            <a:ext cx="5207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300" b="1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FIVE-SESSION CONTINUATION ARC</a:t>
            </a:r>
            <a:endParaRPr lang="en-US" sz="1300" dirty="0"/>
          </a:p>
        </p:txBody>
      </p:sp>
      <p:sp>
        <p:nvSpPr>
          <p:cNvPr id="21" name="arc-title"/>
          <p:cNvSpPr/>
          <p:nvPr/>
        </p:nvSpPr>
        <p:spPr>
          <a:xfrm>
            <a:off x="10134600" y="2235200"/>
            <a:ext cx="5207000" cy="558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800"/>
              </a:lnSpc>
              <a:buNone/>
            </a:pPr>
            <a:r>
              <a:rPr lang="en-US" altLang="en-US" sz="28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Teach, Notice, Respond &amp; Replan</a:t>
            </a:r>
            <a:endParaRPr lang="en-US" sz="2800" dirty="0"/>
          </a:p>
        </p:txBody>
      </p:sp>
      <p:sp>
        <p:nvSpPr>
          <p:cNvPr id="22" name="arc-line"/>
          <p:cNvSpPr/>
          <p:nvPr/>
        </p:nvSpPr>
        <p:spPr>
          <a:xfrm>
            <a:off x="10375900" y="3479800"/>
            <a:ext cx="4749800" cy="9144"/>
          </a:xfrm>
          <a:prstGeom prst="line">
            <a:avLst/>
          </a:prstGeom>
          <a:ln w="50800">
            <a:solidFill>
              <a:srgbClr val="E5E7EB"/>
            </a:solidFill>
            <a:prstDash val="solid"/>
          </a:ln>
        </p:spPr>
      </p:sp>
      <p:sp>
        <p:nvSpPr>
          <p:cNvPr id="23" name="arc1"/>
          <p:cNvSpPr/>
          <p:nvPr/>
        </p:nvSpPr>
        <p:spPr>
          <a:xfrm>
            <a:off x="101346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4" name="arc1-text"/>
          <p:cNvSpPr/>
          <p:nvPr/>
        </p:nvSpPr>
        <p:spPr>
          <a:xfrm>
            <a:off x="102108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CAPTURE</a:t>
            </a:r>
            <a:endParaRPr lang="en-US" sz="1100" dirty="0"/>
          </a:p>
        </p:txBody>
      </p:sp>
      <p:sp>
        <p:nvSpPr>
          <p:cNvPr id="25" name="arc2"/>
          <p:cNvSpPr/>
          <p:nvPr/>
        </p:nvSpPr>
        <p:spPr>
          <a:xfrm>
            <a:off x="11201400" y="3124200"/>
            <a:ext cx="990600" cy="736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arc2-text"/>
          <p:cNvSpPr/>
          <p:nvPr/>
        </p:nvSpPr>
        <p:spPr>
          <a:xfrm>
            <a:off x="112776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9/18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</a:t>
            </a:r>
            <a:endParaRPr lang="en-US" sz="1100" dirty="0"/>
          </a:p>
        </p:txBody>
      </p:sp>
      <p:sp>
        <p:nvSpPr>
          <p:cNvPr id="27" name="arc3"/>
          <p:cNvSpPr/>
          <p:nvPr/>
        </p:nvSpPr>
        <p:spPr>
          <a:xfrm>
            <a:off x="122682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28" name="arc3-text"/>
          <p:cNvSpPr/>
          <p:nvPr/>
        </p:nvSpPr>
        <p:spPr>
          <a:xfrm>
            <a:off x="123444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9/21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ACT</a:t>
            </a:r>
            <a:endParaRPr lang="en-US" sz="1100" dirty="0"/>
          </a:p>
        </p:txBody>
      </p:sp>
      <p:sp>
        <p:nvSpPr>
          <p:cNvPr id="29" name="arc4"/>
          <p:cNvSpPr/>
          <p:nvPr/>
        </p:nvSpPr>
        <p:spPr>
          <a:xfrm>
            <a:off x="133350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0" name="arc4-text"/>
          <p:cNvSpPr/>
          <p:nvPr/>
        </p:nvSpPr>
        <p:spPr>
          <a:xfrm>
            <a:off x="134112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9/22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REPLAN</a:t>
            </a:r>
            <a:endParaRPr lang="en-US" sz="1100" dirty="0"/>
          </a:p>
        </p:txBody>
      </p:sp>
      <p:sp>
        <p:nvSpPr>
          <p:cNvPr id="31" name="arc5"/>
          <p:cNvSpPr/>
          <p:nvPr/>
        </p:nvSpPr>
        <p:spPr>
          <a:xfrm>
            <a:off x="14401800" y="3124200"/>
            <a:ext cx="990600" cy="736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2" name="arc5-text"/>
          <p:cNvSpPr/>
          <p:nvPr/>
        </p:nvSpPr>
        <p:spPr>
          <a:xfrm>
            <a:off x="14478000" y="3225800"/>
            <a:ext cx="8382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9/25</a:t>
            </a:r>
            <a:endParaRPr lang="en-US" sz="1100" dirty="0"/>
          </a:p>
          <a:p>
            <a:pPr algn="ctr" indent="0" marL="0">
              <a:lnSpc>
                <a:spcPts val="1045"/>
              </a:lnSpc>
              <a:buNone/>
            </a:pPr>
            <a:r>
              <a:rPr lang="en-US" altLang="en-US" sz="11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CALIBRATE</a:t>
            </a:r>
            <a:endParaRPr lang="en-US" sz="1100" dirty="0"/>
          </a:p>
        </p:txBody>
      </p:sp>
      <p:sp>
        <p:nvSpPr>
          <p:cNvPr id="33" name="arc-detail"/>
          <p:cNvSpPr/>
          <p:nvPr/>
        </p:nvSpPr>
        <p:spPr>
          <a:xfrm>
            <a:off x="10236200" y="4445000"/>
            <a:ext cx="5054600" cy="889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teams examine student evidence to identify learning and participation patterns that should guide feedback and the next decision.</a:t>
            </a:r>
            <a:endParaRPr lang="en-US" sz="1900" dirty="0"/>
          </a:p>
        </p:txBody>
      </p:sp>
      <p:sp>
        <p:nvSpPr>
          <p:cNvPr id="34" name="protocol-strip"/>
          <p:cNvSpPr/>
          <p:nvPr/>
        </p:nvSpPr>
        <p:spPr>
          <a:xfrm>
            <a:off x="10134600" y="5842000"/>
            <a:ext cx="52578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35" name="protocol-strip-label"/>
          <p:cNvSpPr/>
          <p:nvPr/>
        </p:nvSpPr>
        <p:spPr>
          <a:xfrm>
            <a:off x="10414000" y="6045200"/>
            <a:ext cx="4699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PROTOCOL FOCUS</a:t>
            </a:r>
            <a:endParaRPr lang="en-US" sz="1200" dirty="0"/>
          </a:p>
        </p:txBody>
      </p:sp>
      <p:sp>
        <p:nvSpPr>
          <p:cNvPr id="36" name="protocol-strip-copy"/>
          <p:cNvSpPr/>
          <p:nvPr/>
        </p:nvSpPr>
        <p:spPr>
          <a:xfrm>
            <a:off x="10414000" y="6388100"/>
            <a:ext cx="4699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After-Lesson Reflection &amp; Forward Planning</a:t>
            </a:r>
            <a:endParaRPr lang="en-US" sz="1700" dirty="0"/>
          </a:p>
        </p:txBody>
      </p:sp>
      <p:sp>
        <p:nvSpPr>
          <p:cNvPr id="37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8" name="footer-left"/>
          <p:cNvSpPr/>
          <p:nvPr/>
        </p:nvSpPr>
        <p:spPr>
          <a:xfrm>
            <a:off x="508000" y="8712200"/>
            <a:ext cx="787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EVIDENCE: PARTICIPATION &amp; FEEDBACK · 9/18</a:t>
            </a:r>
            <a:endParaRPr lang="en-US" sz="1200" dirty="0"/>
          </a:p>
        </p:txBody>
      </p:sp>
      <p:sp>
        <p:nvSpPr>
          <p:cNvPr id="39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2D3136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agenda-label"/>
          <p:cNvSpPr/>
          <p:nvPr/>
        </p:nvSpPr>
        <p:spPr>
          <a:xfrm>
            <a:off x="711200" y="736600"/>
            <a:ext cx="812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TODAY’S AGENDA · 46 MINUTES · EVIDENCE-BASED PLC</a:t>
            </a:r>
            <a:endParaRPr lang="en-US" sz="1300" dirty="0"/>
          </a:p>
        </p:txBody>
      </p:sp>
      <p:sp>
        <p:nvSpPr>
          <p:cNvPr id="4" name="agenda-title"/>
          <p:cNvSpPr/>
          <p:nvPr/>
        </p:nvSpPr>
        <p:spPr>
          <a:xfrm>
            <a:off x="711200" y="1041400"/>
            <a:ext cx="12446000" cy="5334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Student Evidence: Anticipating Participation &amp; Feedback</a:t>
            </a:r>
            <a:endParaRPr lang="en-US" sz="3000" dirty="0"/>
          </a:p>
        </p:txBody>
      </p:sp>
      <p:sp>
        <p:nvSpPr>
          <p:cNvPr id="5" name="agenda-divider"/>
          <p:cNvSpPr/>
          <p:nvPr/>
        </p:nvSpPr>
        <p:spPr>
          <a:xfrm>
            <a:off x="711200" y="1803400"/>
            <a:ext cx="14833600" cy="9144"/>
          </a:xfrm>
          <a:prstGeom prst="line">
            <a:avLst/>
          </a:prstGeom>
          <a:ln w="25400">
            <a:solidFill>
              <a:srgbClr val="C8102E"/>
            </a:solidFill>
            <a:prstDash val="solid"/>
          </a:ln>
        </p:spPr>
      </p:sp>
      <p:sp>
        <p:nvSpPr>
          <p:cNvPr id="6" name="t1"/>
          <p:cNvSpPr/>
          <p:nvPr/>
        </p:nvSpPr>
        <p:spPr>
          <a:xfrm>
            <a:off x="762000" y="2235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1-text"/>
          <p:cNvSpPr/>
          <p:nvPr/>
        </p:nvSpPr>
        <p:spPr>
          <a:xfrm>
            <a:off x="7620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0:00–4:00</a:t>
            </a:r>
            <a:endParaRPr lang="en-US" sz="1200" dirty="0"/>
          </a:p>
        </p:txBody>
      </p:sp>
      <p:sp>
        <p:nvSpPr>
          <p:cNvPr id="8" name="a1"/>
          <p:cNvSpPr/>
          <p:nvPr/>
        </p:nvSpPr>
        <p:spPr>
          <a:xfrm>
            <a:off x="2387600" y="2235200"/>
            <a:ext cx="5334000" cy="609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Reconnect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Name the learning goal, evidence source, and participation lens.</a:t>
            </a:r>
            <a:endParaRPr lang="en-US" sz="2000" dirty="0"/>
          </a:p>
        </p:txBody>
      </p:sp>
      <p:sp>
        <p:nvSpPr>
          <p:cNvPr id="9" name="t2"/>
          <p:cNvSpPr/>
          <p:nvPr/>
        </p:nvSpPr>
        <p:spPr>
          <a:xfrm>
            <a:off x="762000" y="3251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0" name="t2-text"/>
          <p:cNvSpPr/>
          <p:nvPr/>
        </p:nvSpPr>
        <p:spPr>
          <a:xfrm>
            <a:off x="762000" y="3390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4:00–12:00</a:t>
            </a:r>
            <a:endParaRPr lang="en-US" sz="1200" dirty="0"/>
          </a:p>
        </p:txBody>
      </p:sp>
      <p:sp>
        <p:nvSpPr>
          <p:cNvPr id="11" name="a2"/>
          <p:cNvSpPr/>
          <p:nvPr/>
        </p:nvSpPr>
        <p:spPr>
          <a:xfrm>
            <a:off x="2387600" y="3251200"/>
            <a:ext cx="533400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Quick Evidence Sort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Notice learning and participation patterns: how did students show their thinking?</a:t>
            </a:r>
            <a:endParaRPr lang="en-US" sz="2000" dirty="0"/>
          </a:p>
        </p:txBody>
      </p:sp>
      <p:sp>
        <p:nvSpPr>
          <p:cNvPr id="12" name="t3"/>
          <p:cNvSpPr/>
          <p:nvPr/>
        </p:nvSpPr>
        <p:spPr>
          <a:xfrm>
            <a:off x="762000" y="43688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3-text"/>
          <p:cNvSpPr/>
          <p:nvPr/>
        </p:nvSpPr>
        <p:spPr>
          <a:xfrm>
            <a:off x="762000" y="45085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14" name="a3"/>
          <p:cNvSpPr/>
          <p:nvPr/>
        </p:nvSpPr>
        <p:spPr>
          <a:xfrm>
            <a:off x="2387600" y="4368800"/>
            <a:ext cx="5334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Identify one learning-and-participation pattern supported by the evidence.</a:t>
            </a:r>
            <a:endParaRPr lang="en-US" sz="2000" dirty="0"/>
          </a:p>
        </p:txBody>
      </p:sp>
      <p:sp>
        <p:nvSpPr>
          <p:cNvPr id="15" name="t4"/>
          <p:cNvSpPr/>
          <p:nvPr/>
        </p:nvSpPr>
        <p:spPr>
          <a:xfrm>
            <a:off x="8458200" y="22352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4-text"/>
          <p:cNvSpPr/>
          <p:nvPr/>
        </p:nvSpPr>
        <p:spPr>
          <a:xfrm>
            <a:off x="8458200" y="23749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34:00–41:00</a:t>
            </a:r>
            <a:endParaRPr lang="en-US" sz="1200" dirty="0"/>
          </a:p>
        </p:txBody>
      </p:sp>
      <p:sp>
        <p:nvSpPr>
          <p:cNvPr id="17" name="a4"/>
          <p:cNvSpPr/>
          <p:nvPr/>
        </p:nvSpPr>
        <p:spPr>
          <a:xfrm>
            <a:off x="10083800" y="2235200"/>
            <a:ext cx="5080000" cy="812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 the Move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Name a feedback prompt or participation routine that gives students a next action.</a:t>
            </a:r>
            <a:endParaRPr lang="en-US" sz="2000" dirty="0"/>
          </a:p>
        </p:txBody>
      </p:sp>
      <p:sp>
        <p:nvSpPr>
          <p:cNvPr id="18" name="t5"/>
          <p:cNvSpPr/>
          <p:nvPr/>
        </p:nvSpPr>
        <p:spPr>
          <a:xfrm>
            <a:off x="8458200" y="3454400"/>
            <a:ext cx="1371600" cy="4826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t5-text"/>
          <p:cNvSpPr/>
          <p:nvPr/>
        </p:nvSpPr>
        <p:spPr>
          <a:xfrm>
            <a:off x="8458200" y="3594100"/>
            <a:ext cx="13716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41:00–46:00</a:t>
            </a:r>
            <a:endParaRPr lang="en-US" sz="1200" dirty="0"/>
          </a:p>
        </p:txBody>
      </p:sp>
      <p:sp>
        <p:nvSpPr>
          <p:cNvPr id="20" name="a5"/>
          <p:cNvSpPr/>
          <p:nvPr/>
        </p:nvSpPr>
        <p:spPr>
          <a:xfrm>
            <a:off x="10083800" y="3454400"/>
            <a:ext cx="5080000" cy="787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4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Close</a:t>
            </a:r>
            <a:r>
              <a:rPr lang="en-US" altLang="en-US" sz="20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evidence pattern will guide feedback and participation in the next lesson?</a:t>
            </a:r>
            <a:endParaRPr lang="en-US" sz="2000" dirty="0"/>
          </a:p>
        </p:txBody>
      </p:sp>
      <p:sp>
        <p:nvSpPr>
          <p:cNvPr id="21" name="outcome-card"/>
          <p:cNvSpPr/>
          <p:nvPr/>
        </p:nvSpPr>
        <p:spPr>
          <a:xfrm>
            <a:off x="8458200" y="4724400"/>
            <a:ext cx="6578600" cy="1193800"/>
          </a:xfrm>
          <a:prstGeom prst="rect">
            <a:avLst/>
          </a:prstGeom>
          <a:solidFill>
            <a:srgbClr val="FFFFFF">
              <a:alpha val="7000"/>
            </a:srgbClr>
          </a:solidFill>
          <a:ln w="12700">
            <a:solidFill>
              <a:srgbClr val="FFFFFF">
                <a:alpha val="19000"/>
              </a:srgbClr>
            </a:solidFill>
            <a:prstDash val="solid"/>
          </a:ln>
        </p:spPr>
      </p:sp>
      <p:sp>
        <p:nvSpPr>
          <p:cNvPr id="22" name="outcome-label"/>
          <p:cNvSpPr/>
          <p:nvPr/>
        </p:nvSpPr>
        <p:spPr>
          <a:xfrm>
            <a:off x="8788400" y="4978400"/>
            <a:ext cx="59055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OUTCOME</a:t>
            </a:r>
            <a:endParaRPr lang="en-US" sz="1200" dirty="0"/>
          </a:p>
        </p:txBody>
      </p:sp>
      <p:sp>
        <p:nvSpPr>
          <p:cNvPr id="23" name="outcome-copy"/>
          <p:cNvSpPr/>
          <p:nvPr/>
        </p:nvSpPr>
        <p:spPr>
          <a:xfrm>
            <a:off x="8788400" y="5346700"/>
            <a:ext cx="5905500" cy="431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700"/>
              </a:lnSpc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learning-and-participation pattern, evidence that supports it, and an anticipated move.</a:t>
            </a:r>
            <a:endParaRPr lang="en-US" sz="17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787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D1D5DB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FRIDAY, SEPTEMBER 18, 2026 · EVIDENCE, PARTICIPATION &amp; FEEDBACK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430000" y="8712200"/>
            <a:ext cx="4318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SCIENCE DEPARTMENT PLC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7366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 · 8 MINUTES · LEARNING-WALK CONNECTION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927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Start With Learning and Participation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4:00–12:00</a:t>
            </a:r>
            <a:endParaRPr lang="en-US" sz="1200" dirty="0"/>
          </a:p>
        </p:txBody>
      </p:sp>
      <p:sp>
        <p:nvSpPr>
          <p:cNvPr id="8" name="question"/>
          <p:cNvSpPr/>
          <p:nvPr/>
        </p:nvSpPr>
        <p:spPr>
          <a:xfrm>
            <a:off x="914400" y="2336800"/>
            <a:ext cx="7429500" cy="1066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3400"/>
              </a:lnSpc>
              <a:buNone/>
            </a:pPr>
            <a:r>
              <a:rPr lang="en-US" altLang="en-US" sz="34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does the evidence show about student learning and how students made their thinking visible?</a:t>
            </a:r>
            <a:endParaRPr lang="en-US" sz="3400" dirty="0"/>
          </a:p>
        </p:txBody>
      </p:sp>
      <p:sp>
        <p:nvSpPr>
          <p:cNvPr id="9" name="context"/>
          <p:cNvSpPr/>
          <p:nvPr/>
        </p:nvSpPr>
        <p:spPr>
          <a:xfrm>
            <a:off x="914400" y="3810000"/>
            <a:ext cx="7239000" cy="1422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480"/>
              </a:lnSpc>
              <a:buNone/>
            </a:pPr>
            <a:r>
              <a:rPr lang="en-US" altLang="en-US" sz="20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Today, the team is not evaluating individual students. Examine a small evidence set, identify a shared learning-and-participation pattern, and anticipate what students need next.</a:t>
            </a:r>
            <a:endParaRPr lang="en-US" sz="2000" dirty="0"/>
          </a:p>
        </p:txBody>
      </p:sp>
      <p:sp>
        <p:nvSpPr>
          <p:cNvPr id="10" name="lens-card"/>
          <p:cNvSpPr/>
          <p:nvPr/>
        </p:nvSpPr>
        <p:spPr>
          <a:xfrm>
            <a:off x="9525000" y="2260600"/>
            <a:ext cx="5270500" cy="39878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1" name="lens-label"/>
          <p:cNvSpPr/>
          <p:nvPr/>
        </p:nvSpPr>
        <p:spPr>
          <a:xfrm>
            <a:off x="9880600" y="2616200"/>
            <a:ext cx="4572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THREE EVIDENCE-REVIEW LENSES</a:t>
            </a:r>
            <a:endParaRPr lang="en-US" sz="1300" dirty="0"/>
          </a:p>
        </p:txBody>
      </p:sp>
      <p:sp>
        <p:nvSpPr>
          <p:cNvPr id="12" name="lens1"/>
          <p:cNvSpPr/>
          <p:nvPr/>
        </p:nvSpPr>
        <p:spPr>
          <a:xfrm>
            <a:off x="9880600" y="31496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lens1-num"/>
          <p:cNvSpPr/>
          <p:nvPr/>
        </p:nvSpPr>
        <p:spPr>
          <a:xfrm>
            <a:off x="9880600" y="32512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700" dirty="0"/>
          </a:p>
        </p:txBody>
      </p:sp>
      <p:sp>
        <p:nvSpPr>
          <p:cNvPr id="14" name="lens1-copy"/>
          <p:cNvSpPr/>
          <p:nvPr/>
        </p:nvSpPr>
        <p:spPr>
          <a:xfrm>
            <a:off x="10591800" y="3162300"/>
            <a:ext cx="3556000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Strengths</a:t>
            </a:r>
            <a:r>
              <a:rPr lang="en-US" altLang="en-US" sz="19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· What is secure?</a:t>
            </a:r>
            <a:endParaRPr lang="en-US" sz="1900" dirty="0"/>
          </a:p>
        </p:txBody>
      </p:sp>
      <p:sp>
        <p:nvSpPr>
          <p:cNvPr id="15" name="lens2"/>
          <p:cNvSpPr/>
          <p:nvPr/>
        </p:nvSpPr>
        <p:spPr>
          <a:xfrm>
            <a:off x="9880600" y="40640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lens2-num"/>
          <p:cNvSpPr/>
          <p:nvPr/>
        </p:nvSpPr>
        <p:spPr>
          <a:xfrm>
            <a:off x="9880600" y="41656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700" dirty="0"/>
          </a:p>
        </p:txBody>
      </p:sp>
      <p:sp>
        <p:nvSpPr>
          <p:cNvPr id="17" name="lens2-copy"/>
          <p:cNvSpPr/>
          <p:nvPr/>
        </p:nvSpPr>
        <p:spPr>
          <a:xfrm>
            <a:off x="10591800" y="3987800"/>
            <a:ext cx="3683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Participation Evidence</a:t>
            </a:r>
            <a:endParaRPr lang="en-US" sz="18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How was thinking visible?</a:t>
            </a:r>
            <a:endParaRPr lang="en-US" sz="1800" dirty="0"/>
          </a:p>
        </p:txBody>
      </p:sp>
      <p:sp>
        <p:nvSpPr>
          <p:cNvPr id="18" name="lens3"/>
          <p:cNvSpPr/>
          <p:nvPr/>
        </p:nvSpPr>
        <p:spPr>
          <a:xfrm>
            <a:off x="9880600" y="4978400"/>
            <a:ext cx="431800" cy="431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lens3-num"/>
          <p:cNvSpPr/>
          <p:nvPr/>
        </p:nvSpPr>
        <p:spPr>
          <a:xfrm>
            <a:off x="9880600" y="5080000"/>
            <a:ext cx="4318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7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700" dirty="0"/>
          </a:p>
        </p:txBody>
      </p:sp>
      <p:sp>
        <p:nvSpPr>
          <p:cNvPr id="20" name="lens3-copy"/>
          <p:cNvSpPr/>
          <p:nvPr/>
        </p:nvSpPr>
        <p:spPr>
          <a:xfrm>
            <a:off x="10591800" y="4902200"/>
            <a:ext cx="3683000" cy="584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Next Student Action</a:t>
            </a:r>
            <a:endParaRPr lang="en-US" sz="1800" dirty="0"/>
          </a:p>
          <a:p>
            <a:pPr algn="l" indent="0" marL="0">
              <a:lnSpc>
                <a:spcPts val="1800"/>
              </a:lnSpc>
              <a:buNone/>
            </a:pPr>
            <a:r>
              <a:rPr lang="en-US" altLang="en-US" sz="18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What will feedback invite?</a:t>
            </a:r>
            <a:endParaRPr lang="en-US" sz="1800" dirty="0"/>
          </a:p>
        </p:txBody>
      </p:sp>
      <p:sp>
        <p:nvSpPr>
          <p:cNvPr id="2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2" name="takeaway-label"/>
          <p:cNvSpPr/>
          <p:nvPr/>
        </p:nvSpPr>
        <p:spPr>
          <a:xfrm>
            <a:off x="1092200" y="7175500"/>
            <a:ext cx="3429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NORM</a:t>
            </a:r>
            <a:endParaRPr lang="en-US" sz="1200" dirty="0"/>
          </a:p>
        </p:txBody>
      </p:sp>
      <p:sp>
        <p:nvSpPr>
          <p:cNvPr id="2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a shared learning-and-participation pattern, support it with examples, and keep feedback connected to a next student action.</a:t>
            </a:r>
            <a:endParaRPr lang="en-US" sz="1700" dirty="0"/>
          </a:p>
        </p:txBody>
      </p:sp>
      <p:sp>
        <p:nvSpPr>
          <p:cNvPr id="2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5" name="footer-left"/>
          <p:cNvSpPr/>
          <p:nvPr/>
        </p:nvSpPr>
        <p:spPr>
          <a:xfrm>
            <a:off x="508000" y="8712200"/>
            <a:ext cx="787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EVIDENCE: PARTICIPATION &amp; FEEDBACK · 9/18</a:t>
            </a:r>
            <a:endParaRPr lang="en-US" sz="1200" dirty="0"/>
          </a:p>
        </p:txBody>
      </p:sp>
      <p:sp>
        <p:nvSpPr>
          <p:cNvPr id="2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OPENING</a:t>
            </a:r>
            <a:endParaRPr lang="en-US" sz="12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647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ANALYSIS ROUTINE · 22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1303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Sort Learning and Participation Evidence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8" name="intro"/>
          <p:cNvSpPr/>
          <p:nvPr/>
        </p:nvSpPr>
        <p:spPr>
          <a:xfrm>
            <a:off x="762000" y="2057400"/>
            <a:ext cx="14097000" cy="40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the evidence in front of the team to identify a shared learning-and-participation pattern, then anticipate a next student action.</a:t>
            </a:r>
            <a:endParaRPr lang="en-US" sz="1900" dirty="0"/>
          </a:p>
        </p:txBody>
      </p:sp>
      <p:sp>
        <p:nvSpPr>
          <p:cNvPr id="9" name="card1"/>
          <p:cNvSpPr/>
          <p:nvPr/>
        </p:nvSpPr>
        <p:spPr>
          <a:xfrm>
            <a:off x="762000" y="2870200"/>
            <a:ext cx="33655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0" name="n1"/>
          <p:cNvSpPr/>
          <p:nvPr/>
        </p:nvSpPr>
        <p:spPr>
          <a:xfrm>
            <a:off x="10414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1" name="n1text"/>
          <p:cNvSpPr/>
          <p:nvPr/>
        </p:nvSpPr>
        <p:spPr>
          <a:xfrm>
            <a:off x="10414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2" name="c1title"/>
          <p:cNvSpPr/>
          <p:nvPr/>
        </p:nvSpPr>
        <p:spPr>
          <a:xfrm>
            <a:off x="10414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</a:t>
            </a:r>
            <a:endParaRPr lang="en-US" sz="2100" dirty="0"/>
          </a:p>
        </p:txBody>
      </p:sp>
      <p:sp>
        <p:nvSpPr>
          <p:cNvPr id="13" name="c1copy"/>
          <p:cNvSpPr/>
          <p:nvPr/>
        </p:nvSpPr>
        <p:spPr>
          <a:xfrm>
            <a:off x="10414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Restate the knowledge, skill, language, or practice students were expected to demonstrate.</a:t>
            </a:r>
            <a:endParaRPr lang="en-US" sz="1600" dirty="0"/>
          </a:p>
        </p:txBody>
      </p:sp>
      <p:sp>
        <p:nvSpPr>
          <p:cNvPr id="14" name="card2"/>
          <p:cNvSpPr/>
          <p:nvPr/>
        </p:nvSpPr>
        <p:spPr>
          <a:xfrm>
            <a:off x="4457700" y="2870200"/>
            <a:ext cx="33655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5" name="n2"/>
          <p:cNvSpPr/>
          <p:nvPr/>
        </p:nvSpPr>
        <p:spPr>
          <a:xfrm>
            <a:off x="47371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n2text"/>
          <p:cNvSpPr/>
          <p:nvPr/>
        </p:nvSpPr>
        <p:spPr>
          <a:xfrm>
            <a:off x="47371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7" name="c2title"/>
          <p:cNvSpPr/>
          <p:nvPr/>
        </p:nvSpPr>
        <p:spPr>
          <a:xfrm>
            <a:off x="47371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</a:t>
            </a:r>
            <a:endParaRPr lang="en-US" sz="2100" dirty="0"/>
          </a:p>
        </p:txBody>
      </p:sp>
      <p:sp>
        <p:nvSpPr>
          <p:cNvPr id="18" name="c2copy"/>
          <p:cNvSpPr/>
          <p:nvPr/>
        </p:nvSpPr>
        <p:spPr>
          <a:xfrm>
            <a:off x="47371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strengths, partial thinking, and how students made thinking visible in work, talk, models, or responses.</a:t>
            </a:r>
            <a:endParaRPr lang="en-US" sz="1600" dirty="0"/>
          </a:p>
        </p:txBody>
      </p:sp>
      <p:sp>
        <p:nvSpPr>
          <p:cNvPr id="19" name="card3"/>
          <p:cNvSpPr/>
          <p:nvPr/>
        </p:nvSpPr>
        <p:spPr>
          <a:xfrm>
            <a:off x="8153400" y="2870200"/>
            <a:ext cx="33655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0" name="n3"/>
          <p:cNvSpPr/>
          <p:nvPr/>
        </p:nvSpPr>
        <p:spPr>
          <a:xfrm>
            <a:off x="84328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1" name="n3text"/>
          <p:cNvSpPr/>
          <p:nvPr/>
        </p:nvSpPr>
        <p:spPr>
          <a:xfrm>
            <a:off x="84328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2" name="c3title"/>
          <p:cNvSpPr/>
          <p:nvPr/>
        </p:nvSpPr>
        <p:spPr>
          <a:xfrm>
            <a:off x="8432800" y="3937000"/>
            <a:ext cx="2730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Pattern</a:t>
            </a:r>
            <a:endParaRPr lang="en-US" sz="2100" dirty="0"/>
          </a:p>
        </p:txBody>
      </p:sp>
      <p:sp>
        <p:nvSpPr>
          <p:cNvPr id="23" name="c3copy"/>
          <p:cNvSpPr/>
          <p:nvPr/>
        </p:nvSpPr>
        <p:spPr>
          <a:xfrm>
            <a:off x="8432800" y="4495800"/>
            <a:ext cx="2730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what the evidence suggests about student learning and participation without focusing on individual students.</a:t>
            </a:r>
            <a:endParaRPr lang="en-US" sz="1600" dirty="0"/>
          </a:p>
        </p:txBody>
      </p:sp>
      <p:sp>
        <p:nvSpPr>
          <p:cNvPr id="24" name="card4"/>
          <p:cNvSpPr/>
          <p:nvPr/>
        </p:nvSpPr>
        <p:spPr>
          <a:xfrm>
            <a:off x="11849100" y="2870200"/>
            <a:ext cx="3644900" cy="3302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5" name="n4"/>
          <p:cNvSpPr/>
          <p:nvPr/>
        </p:nvSpPr>
        <p:spPr>
          <a:xfrm>
            <a:off x="12128500" y="3175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6" name="n4text"/>
          <p:cNvSpPr/>
          <p:nvPr/>
        </p:nvSpPr>
        <p:spPr>
          <a:xfrm>
            <a:off x="12128500" y="3289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7" name="c4title"/>
          <p:cNvSpPr/>
          <p:nvPr/>
        </p:nvSpPr>
        <p:spPr>
          <a:xfrm>
            <a:off x="12128500" y="3937000"/>
            <a:ext cx="29845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1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 the Move</a:t>
            </a:r>
            <a:endParaRPr lang="en-US" sz="2100" dirty="0"/>
          </a:p>
        </p:txBody>
      </p:sp>
      <p:sp>
        <p:nvSpPr>
          <p:cNvPr id="28" name="c4copy"/>
          <p:cNvSpPr/>
          <p:nvPr/>
        </p:nvSpPr>
        <p:spPr>
          <a:xfrm>
            <a:off x="12128500" y="4495800"/>
            <a:ext cx="2984500" cy="1117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1856"/>
              </a:lnSpc>
              <a:buNone/>
            </a:pPr>
            <a:r>
              <a:rPr lang="en-US" altLang="en-US" sz="16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Identify a feedback prompt or participation routine that will invite students to take the next action.</a:t>
            </a:r>
            <a:endParaRPr lang="en-US" sz="1600" dirty="0"/>
          </a:p>
        </p:txBody>
      </p:sp>
      <p:sp>
        <p:nvSpPr>
          <p:cNvPr id="29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0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PRODUCT</a:t>
            </a:r>
            <a:endParaRPr lang="en-US" sz="1200" dirty="0"/>
          </a:p>
        </p:txBody>
      </p:sp>
      <p:sp>
        <p:nvSpPr>
          <p:cNvPr id="31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learning-and-participation pattern, evidence that supports it, and an anticipated move that prompts a next student action.</a:t>
            </a:r>
            <a:endParaRPr lang="en-US" sz="1700" dirty="0"/>
          </a:p>
        </p:txBody>
      </p:sp>
      <p:sp>
        <p:nvSpPr>
          <p:cNvPr id="32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3" name="footer-left"/>
          <p:cNvSpPr/>
          <p:nvPr/>
        </p:nvSpPr>
        <p:spPr>
          <a:xfrm>
            <a:off x="508000" y="8712200"/>
            <a:ext cx="787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EVIDENCE: PARTICIPATION &amp; FEEDBACK · 9/18</a:t>
            </a:r>
            <a:endParaRPr lang="en-US" sz="1200" dirty="0"/>
          </a:p>
        </p:txBody>
      </p:sp>
      <p:sp>
        <p:nvSpPr>
          <p:cNvPr id="34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TEAM WORK</a:t>
            </a:r>
            <a:endParaRPr lang="en-US" sz="12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71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 ANALYSIS · 22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2065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0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Identify a Learning-and-Participation Pattern</a:t>
            </a:r>
            <a:endParaRPr lang="en-US" sz="30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12:00–34:00</a:t>
            </a:r>
            <a:endParaRPr lang="en-US" sz="1200" dirty="0"/>
          </a:p>
        </p:txBody>
      </p:sp>
      <p:sp>
        <p:nvSpPr>
          <p:cNvPr id="8" name="work-marker"/>
          <p:cNvSpPr/>
          <p:nvPr/>
        </p:nvSpPr>
        <p:spPr>
          <a:xfrm>
            <a:off x="762000" y="2082800"/>
            <a:ext cx="2032000" cy="685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9" name="work-marker-text"/>
          <p:cNvSpPr/>
          <p:nvPr/>
        </p:nvSpPr>
        <p:spPr>
          <a:xfrm>
            <a:off x="762000" y="2197100"/>
            <a:ext cx="2032000" cy="482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WORK WITH</a:t>
            </a:r>
            <a:endParaRPr lang="en-US" sz="2000" dirty="0"/>
          </a:p>
          <a:p>
            <a:pPr algn="ctr" indent="0" marL="0">
              <a:lnSpc>
                <a:spcPts val="2000"/>
              </a:lnSpc>
              <a:buNone/>
            </a:pPr>
            <a:r>
              <a:rPr lang="en-US" altLang="en-US" sz="20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COLLEAGUES</a:t>
            </a:r>
            <a:endParaRPr lang="en-US" sz="2000" dirty="0"/>
          </a:p>
        </p:txBody>
      </p:sp>
      <p:sp>
        <p:nvSpPr>
          <p:cNvPr id="10" name="work-prompt"/>
          <p:cNvSpPr/>
          <p:nvPr/>
        </p:nvSpPr>
        <p:spPr>
          <a:xfrm>
            <a:off x="3149600" y="2171700"/>
            <a:ext cx="116840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280"/>
              </a:lnSpc>
              <a:buNone/>
            </a:pPr>
            <a:r>
              <a:rPr lang="en-US" altLang="en-US" sz="2000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a small anonymous evidence set. Identify one shared learning-and-participation pattern, then anticipate a feedback or participation move.</a:t>
            </a:r>
            <a:endParaRPr lang="en-US" sz="2000" dirty="0"/>
          </a:p>
        </p:txBody>
      </p:sp>
      <p:sp>
        <p:nvSpPr>
          <p:cNvPr id="11" name="card1"/>
          <p:cNvSpPr/>
          <p:nvPr/>
        </p:nvSpPr>
        <p:spPr>
          <a:xfrm>
            <a:off x="762000" y="3276600"/>
            <a:ext cx="6858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tile1"/>
          <p:cNvSpPr/>
          <p:nvPr/>
        </p:nvSpPr>
        <p:spPr>
          <a:xfrm>
            <a:off x="1016000" y="3556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3" name="tile1-text"/>
          <p:cNvSpPr/>
          <p:nvPr/>
        </p:nvSpPr>
        <p:spPr>
          <a:xfrm>
            <a:off x="1016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</a:t>
            </a:r>
            <a:endParaRPr lang="en-US" sz="1800" dirty="0"/>
          </a:p>
        </p:txBody>
      </p:sp>
      <p:sp>
        <p:nvSpPr>
          <p:cNvPr id="14" name="card1-title"/>
          <p:cNvSpPr/>
          <p:nvPr/>
        </p:nvSpPr>
        <p:spPr>
          <a:xfrm>
            <a:off x="1752600" y="3467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Anchor in the learning goal.</a:t>
            </a:r>
            <a:endParaRPr lang="en-US" sz="2000" dirty="0"/>
          </a:p>
        </p:txBody>
      </p:sp>
      <p:sp>
        <p:nvSpPr>
          <p:cNvPr id="15" name="card1-copy"/>
          <p:cNvSpPr/>
          <p:nvPr/>
        </p:nvSpPr>
        <p:spPr>
          <a:xfrm>
            <a:off x="1752600" y="3898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the knowledge, skill, language, or practice students were expected to demonstrate.</a:t>
            </a:r>
            <a:endParaRPr lang="en-US" sz="1500" dirty="0"/>
          </a:p>
        </p:txBody>
      </p:sp>
      <p:sp>
        <p:nvSpPr>
          <p:cNvPr id="16" name="card2"/>
          <p:cNvSpPr/>
          <p:nvPr/>
        </p:nvSpPr>
        <p:spPr>
          <a:xfrm>
            <a:off x="7874000" y="3276600"/>
            <a:ext cx="7620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7" name="tile2"/>
          <p:cNvSpPr/>
          <p:nvPr/>
        </p:nvSpPr>
        <p:spPr>
          <a:xfrm>
            <a:off x="8128000" y="3556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8" name="tile2-text"/>
          <p:cNvSpPr/>
          <p:nvPr/>
        </p:nvSpPr>
        <p:spPr>
          <a:xfrm>
            <a:off x="8128000" y="3670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2</a:t>
            </a:r>
            <a:endParaRPr lang="en-US" sz="1800" dirty="0"/>
          </a:p>
        </p:txBody>
      </p:sp>
      <p:sp>
        <p:nvSpPr>
          <p:cNvPr id="19" name="card2-title"/>
          <p:cNvSpPr/>
          <p:nvPr/>
        </p:nvSpPr>
        <p:spPr>
          <a:xfrm>
            <a:off x="8864600" y="3467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Sort learning and participation evidence.</a:t>
            </a:r>
            <a:endParaRPr lang="en-US" sz="2000" dirty="0"/>
          </a:p>
        </p:txBody>
      </p:sp>
      <p:sp>
        <p:nvSpPr>
          <p:cNvPr id="20" name="card2-copy"/>
          <p:cNvSpPr/>
          <p:nvPr/>
        </p:nvSpPr>
        <p:spPr>
          <a:xfrm>
            <a:off x="8864600" y="3898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Notice strengths, partial thinking, and where students made thinking visible in work, talk, models, or responses.</a:t>
            </a:r>
            <a:endParaRPr lang="en-US" sz="1500" dirty="0"/>
          </a:p>
        </p:txBody>
      </p:sp>
      <p:sp>
        <p:nvSpPr>
          <p:cNvPr id="21" name="card3"/>
          <p:cNvSpPr/>
          <p:nvPr/>
        </p:nvSpPr>
        <p:spPr>
          <a:xfrm>
            <a:off x="762000" y="4927600"/>
            <a:ext cx="6858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2" name="tile3"/>
          <p:cNvSpPr/>
          <p:nvPr/>
        </p:nvSpPr>
        <p:spPr>
          <a:xfrm>
            <a:off x="1016000" y="5207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3" name="tile3-text"/>
          <p:cNvSpPr/>
          <p:nvPr/>
        </p:nvSpPr>
        <p:spPr>
          <a:xfrm>
            <a:off x="1016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</a:t>
            </a:r>
            <a:endParaRPr lang="en-US" sz="1800" dirty="0"/>
          </a:p>
        </p:txBody>
      </p:sp>
      <p:sp>
        <p:nvSpPr>
          <p:cNvPr id="24" name="card3-title"/>
          <p:cNvSpPr/>
          <p:nvPr/>
        </p:nvSpPr>
        <p:spPr>
          <a:xfrm>
            <a:off x="1752600" y="5118100"/>
            <a:ext cx="54610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one shared pattern.</a:t>
            </a:r>
            <a:endParaRPr lang="en-US" sz="2000" dirty="0"/>
          </a:p>
        </p:txBody>
      </p:sp>
      <p:sp>
        <p:nvSpPr>
          <p:cNvPr id="25" name="card3-copy"/>
          <p:cNvSpPr/>
          <p:nvPr/>
        </p:nvSpPr>
        <p:spPr>
          <a:xfrm>
            <a:off x="1752600" y="5549900"/>
            <a:ext cx="54610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Describe what the evidence suggests about student learning and participation, using examples from the evidence set.</a:t>
            </a:r>
            <a:endParaRPr lang="en-US" sz="1500" dirty="0"/>
          </a:p>
        </p:txBody>
      </p:sp>
      <p:sp>
        <p:nvSpPr>
          <p:cNvPr id="26" name="card4"/>
          <p:cNvSpPr/>
          <p:nvPr/>
        </p:nvSpPr>
        <p:spPr>
          <a:xfrm>
            <a:off x="7874000" y="4927600"/>
            <a:ext cx="7620000" cy="12700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27" name="tile4"/>
          <p:cNvSpPr/>
          <p:nvPr/>
        </p:nvSpPr>
        <p:spPr>
          <a:xfrm>
            <a:off x="8128000" y="5207000"/>
            <a:ext cx="457200" cy="457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28" name="tile4-text"/>
          <p:cNvSpPr/>
          <p:nvPr/>
        </p:nvSpPr>
        <p:spPr>
          <a:xfrm>
            <a:off x="8128000" y="5321300"/>
            <a:ext cx="4572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ctr" indent="0" marL="0">
              <a:buNone/>
            </a:pPr>
            <a:r>
              <a:rPr lang="en-US" altLang="en-US" sz="18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</a:t>
            </a:r>
            <a:endParaRPr lang="en-US" sz="1800" dirty="0"/>
          </a:p>
        </p:txBody>
      </p:sp>
      <p:sp>
        <p:nvSpPr>
          <p:cNvPr id="29" name="card4-title"/>
          <p:cNvSpPr/>
          <p:nvPr/>
        </p:nvSpPr>
        <p:spPr>
          <a:xfrm>
            <a:off x="8864600" y="5118100"/>
            <a:ext cx="6172200" cy="3048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2000" b="1" dirty="0">
                <a:solidFill>
                  <a:srgbClr val="2D3136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Anticipate the next move.</a:t>
            </a:r>
            <a:endParaRPr lang="en-US" sz="2000" dirty="0"/>
          </a:p>
        </p:txBody>
      </p:sp>
      <p:sp>
        <p:nvSpPr>
          <p:cNvPr id="30" name="card4-copy"/>
          <p:cNvSpPr/>
          <p:nvPr/>
        </p:nvSpPr>
        <p:spPr>
          <a:xfrm>
            <a:off x="8864600" y="5549900"/>
            <a:ext cx="6172200" cy="355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buNone/>
            </a:pPr>
            <a:r>
              <a:rPr lang="en-US" altLang="en-US" sz="15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Name a feedback prompt or participation routine that gives students a next action while keeping the thinking with them.</a:t>
            </a:r>
            <a:endParaRPr lang="en-US" sz="1500" dirty="0"/>
          </a:p>
        </p:txBody>
      </p:sp>
      <p:sp>
        <p:nvSpPr>
          <p:cNvPr id="31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2" name="takeaway-label"/>
          <p:cNvSpPr/>
          <p:nvPr/>
        </p:nvSpPr>
        <p:spPr>
          <a:xfrm>
            <a:off x="1092200" y="7175500"/>
            <a:ext cx="266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LEAVE WITH</a:t>
            </a:r>
            <a:endParaRPr lang="en-US" sz="1200" dirty="0"/>
          </a:p>
        </p:txBody>
      </p:sp>
      <p:sp>
        <p:nvSpPr>
          <p:cNvPr id="33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One shared learning-and-participation pattern, evidence that supports it, and an anticipated move that prompts a next student action.</a:t>
            </a:r>
            <a:endParaRPr lang="en-US" sz="1700" dirty="0"/>
          </a:p>
        </p:txBody>
      </p:sp>
      <p:sp>
        <p:nvSpPr>
          <p:cNvPr id="34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5" name="footer-left"/>
          <p:cNvSpPr/>
          <p:nvPr/>
        </p:nvSpPr>
        <p:spPr>
          <a:xfrm>
            <a:off x="508000" y="8712200"/>
            <a:ext cx="787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EVIDENCE: PARTICIPATION &amp; FEEDBACK · 9/18</a:t>
            </a:r>
            <a:endParaRPr lang="en-US" sz="1200" dirty="0"/>
          </a:p>
        </p:txBody>
      </p:sp>
      <p:sp>
        <p:nvSpPr>
          <p:cNvPr id="36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PROTECTED WORK TIME</a:t>
            </a:r>
            <a:endParaRPr lang="en-US" sz="12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op-rule"/>
          <p:cNvSpPr/>
          <p:nvPr/>
        </p:nvSpPr>
        <p:spPr>
          <a:xfrm>
            <a:off x="508000" y="304800"/>
            <a:ext cx="15240000" cy="762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3" name="header-band"/>
          <p:cNvSpPr/>
          <p:nvPr/>
        </p:nvSpPr>
        <p:spPr>
          <a:xfrm>
            <a:off x="508000" y="533400"/>
            <a:ext cx="15240000" cy="1117600"/>
          </a:xfrm>
          <a:prstGeom prst="rect">
            <a:avLst/>
          </a:prstGeom>
          <a:solidFill>
            <a:srgbClr val="2D3136"/>
          </a:solidFill>
          <a:ln/>
        </p:spPr>
      </p:sp>
      <p:sp>
        <p:nvSpPr>
          <p:cNvPr id="4" name="header-label"/>
          <p:cNvSpPr/>
          <p:nvPr/>
        </p:nvSpPr>
        <p:spPr>
          <a:xfrm>
            <a:off x="762000" y="762000"/>
            <a:ext cx="5461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REFLECTION &amp; PREVIEW · 5 MINUTES</a:t>
            </a:r>
            <a:endParaRPr lang="en-US" sz="1200" dirty="0"/>
          </a:p>
        </p:txBody>
      </p:sp>
      <p:sp>
        <p:nvSpPr>
          <p:cNvPr id="5" name="header-title"/>
          <p:cNvSpPr/>
          <p:nvPr/>
        </p:nvSpPr>
        <p:spPr>
          <a:xfrm>
            <a:off x="762000" y="1066800"/>
            <a:ext cx="10541000" cy="4318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3100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Reflect: Participation, Feedback &amp; Next Action</a:t>
            </a:r>
            <a:endParaRPr lang="en-US" sz="3100" dirty="0"/>
          </a:p>
        </p:txBody>
      </p:sp>
      <p:sp>
        <p:nvSpPr>
          <p:cNvPr id="6" name="time-block"/>
          <p:cNvSpPr/>
          <p:nvPr/>
        </p:nvSpPr>
        <p:spPr>
          <a:xfrm>
            <a:off x="13843000" y="787400"/>
            <a:ext cx="1397000" cy="381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7" name="time-text"/>
          <p:cNvSpPr/>
          <p:nvPr/>
        </p:nvSpPr>
        <p:spPr>
          <a:xfrm>
            <a:off x="13843000" y="889000"/>
            <a:ext cx="1397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41:00–46:00</a:t>
            </a:r>
            <a:endParaRPr lang="en-US" sz="1200" dirty="0"/>
          </a:p>
        </p:txBody>
      </p:sp>
      <p:sp>
        <p:nvSpPr>
          <p:cNvPr id="8" name="reflection-label"/>
          <p:cNvSpPr/>
          <p:nvPr/>
        </p:nvSpPr>
        <p:spPr>
          <a:xfrm>
            <a:off x="914400" y="2413000"/>
            <a:ext cx="26670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EXIT REFLECTION</a:t>
            </a:r>
            <a:endParaRPr lang="en-US" sz="1300" dirty="0"/>
          </a:p>
        </p:txBody>
      </p:sp>
      <p:sp>
        <p:nvSpPr>
          <p:cNvPr id="9" name="reflection-question"/>
          <p:cNvSpPr/>
          <p:nvPr/>
        </p:nvSpPr>
        <p:spPr>
          <a:xfrm>
            <a:off x="914400" y="2819400"/>
            <a:ext cx="6985000" cy="1676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87"/>
              </a:lnSpc>
              <a:buNone/>
            </a:pPr>
            <a:r>
              <a:rPr lang="en-US" altLang="en-US" sz="29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What evidence pattern will guide how we invite participation and give feedback in the next lesson?</a:t>
            </a:r>
            <a:endParaRPr lang="en-US" sz="2900" dirty="0"/>
          </a:p>
        </p:txBody>
      </p:sp>
      <p:sp>
        <p:nvSpPr>
          <p:cNvPr id="10" name="reflection-direction"/>
          <p:cNvSpPr/>
          <p:nvPr/>
        </p:nvSpPr>
        <p:spPr>
          <a:xfrm>
            <a:off x="914400" y="4851400"/>
            <a:ext cx="6667500" cy="5334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66"/>
              </a:lnSpc>
              <a:buNone/>
            </a:pPr>
            <a:r>
              <a:rPr lang="en-US" altLang="en-US" sz="19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Write one or two sentences. Name the pattern, the evidence, and the next student action it should prompt.</a:t>
            </a:r>
            <a:endParaRPr lang="en-US" sz="1900" dirty="0"/>
          </a:p>
        </p:txBody>
      </p:sp>
      <p:sp>
        <p:nvSpPr>
          <p:cNvPr id="11" name="preview-card"/>
          <p:cNvSpPr/>
          <p:nvPr/>
        </p:nvSpPr>
        <p:spPr>
          <a:xfrm>
            <a:off x="9271000" y="2463800"/>
            <a:ext cx="5588000" cy="3505200"/>
          </a:xfrm>
          <a:prstGeom prst="rect">
            <a:avLst/>
          </a:prstGeom>
          <a:solidFill>
            <a:srgbClr val="F3F4F6"/>
          </a:solidFill>
          <a:ln w="12700">
            <a:solidFill>
              <a:srgbClr val="E5E7EB"/>
            </a:solidFill>
            <a:prstDash val="solid"/>
          </a:ln>
        </p:spPr>
      </p:sp>
      <p:sp>
        <p:nvSpPr>
          <p:cNvPr id="12" name="preview-date"/>
          <p:cNvSpPr/>
          <p:nvPr/>
        </p:nvSpPr>
        <p:spPr>
          <a:xfrm>
            <a:off x="9677400" y="2819400"/>
            <a:ext cx="4775200" cy="2286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300" b="1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MONDAY · SEPTEMBER 21</a:t>
            </a:r>
            <a:endParaRPr lang="en-US" sz="1300" dirty="0"/>
          </a:p>
        </p:txBody>
      </p:sp>
      <p:sp>
        <p:nvSpPr>
          <p:cNvPr id="13" name="preview-title"/>
          <p:cNvSpPr/>
          <p:nvPr/>
        </p:nvSpPr>
        <p:spPr>
          <a:xfrm>
            <a:off x="9677400" y="3302000"/>
            <a:ext cx="4775200" cy="7366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900"/>
              </a:lnSpc>
              <a:buNone/>
            </a:pPr>
            <a:r>
              <a:rPr lang="en-US" altLang="en-US" sz="2900" dirty="0">
                <a:solidFill>
                  <a:srgbClr val="2D3136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From Evidence to the Next Student Action</a:t>
            </a:r>
            <a:endParaRPr lang="en-US" sz="2900" dirty="0"/>
          </a:p>
        </p:txBody>
      </p:sp>
      <p:sp>
        <p:nvSpPr>
          <p:cNvPr id="14" name="preview-copy"/>
          <p:cNvSpPr/>
          <p:nvPr/>
        </p:nvSpPr>
        <p:spPr>
          <a:xfrm>
            <a:off x="9677400" y="4368800"/>
            <a:ext cx="4775200" cy="9652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ts val="2124"/>
              </a:lnSpc>
              <a:buNone/>
            </a:pPr>
            <a:r>
              <a:rPr lang="en-US" altLang="en-US" sz="18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Bring the learning-and-participation pattern and related materials. Teams will turn it into a response that supports access while keeping students responsible for the thinking.</a:t>
            </a:r>
            <a:endParaRPr lang="en-US" sz="1800" dirty="0"/>
          </a:p>
        </p:txBody>
      </p:sp>
      <p:sp>
        <p:nvSpPr>
          <p:cNvPr id="15" name="takeaway"/>
          <p:cNvSpPr/>
          <p:nvPr/>
        </p:nvSpPr>
        <p:spPr>
          <a:xfrm>
            <a:off x="762000" y="6959600"/>
            <a:ext cx="14732000" cy="8890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6" name="takeaway-label"/>
          <p:cNvSpPr/>
          <p:nvPr/>
        </p:nvSpPr>
        <p:spPr>
          <a:xfrm>
            <a:off x="1092200" y="7175500"/>
            <a:ext cx="3175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b="1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SESSION TAKEAWAY</a:t>
            </a:r>
            <a:endParaRPr lang="en-US" sz="1200" dirty="0"/>
          </a:p>
        </p:txBody>
      </p:sp>
      <p:sp>
        <p:nvSpPr>
          <p:cNvPr id="17" name="takeaway-copy"/>
          <p:cNvSpPr/>
          <p:nvPr/>
        </p:nvSpPr>
        <p:spPr>
          <a:xfrm>
            <a:off x="1092200" y="7480300"/>
            <a:ext cx="13970000" cy="2540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700" dirty="0">
                <a:solidFill>
                  <a:srgbClr val="FFFFF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Use student evidence to identify learning-and-participation patterns, then anticipate feedback that prompts a next student action.</a:t>
            </a:r>
            <a:endParaRPr lang="en-US" sz="1700" dirty="0"/>
          </a:p>
        </p:txBody>
      </p:sp>
      <p:sp>
        <p:nvSpPr>
          <p:cNvPr id="18" name="footer-rule"/>
          <p:cNvSpPr/>
          <p:nvPr/>
        </p:nvSpPr>
        <p:spPr>
          <a:xfrm>
            <a:off x="508000" y="8559800"/>
            <a:ext cx="15240000" cy="50800"/>
          </a:xfrm>
          <a:prstGeom prst="rect">
            <a:avLst/>
          </a:prstGeom>
          <a:solidFill>
            <a:srgbClr val="C8102E"/>
          </a:solidFill>
          <a:ln/>
        </p:spPr>
      </p:sp>
      <p:sp>
        <p:nvSpPr>
          <p:cNvPr id="19" name="footer-left"/>
          <p:cNvSpPr/>
          <p:nvPr/>
        </p:nvSpPr>
        <p:spPr>
          <a:xfrm>
            <a:off x="508000" y="8712200"/>
            <a:ext cx="787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buNone/>
            </a:pPr>
            <a:r>
              <a:rPr lang="en-US" altLang="en-US" sz="1200" dirty="0">
                <a:solidFill>
                  <a:srgbClr val="6B728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STUDENT EVIDENCE: PARTICIPATION &amp; FEEDBACK · 9/18</a:t>
            </a:r>
            <a:endParaRPr lang="en-US" sz="1200" dirty="0"/>
          </a:p>
        </p:txBody>
      </p:sp>
      <p:sp>
        <p:nvSpPr>
          <p:cNvPr id="20" name="footer-right"/>
          <p:cNvSpPr/>
          <p:nvPr/>
        </p:nvSpPr>
        <p:spPr>
          <a:xfrm>
            <a:off x="11684000" y="8712200"/>
            <a:ext cx="4064000" cy="20320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buNone/>
            </a:pPr>
            <a:r>
              <a:rPr lang="en-US" altLang="en-US" sz="1200" dirty="0">
                <a:solidFill>
                  <a:srgbClr val="C8102E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CLOSING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6</Slides>
  <Notes>6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6</vt:i4>
      </vt:variant>
    </vt:vector>
  </HeadingPairs>
  <TitlesOfParts>
    <vt:vector size="9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</vt:vector>
  </TitlesOfParts>
  <Company>Manus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Student Evidence: Anticipating Participation &amp; Feedback</dc:title>
  <dc:subject>Student Evidence: Anticipating Participation &amp; Feedback</dc:subject>
  <dc:creator>Manus</dc:creator>
  <cp:lastModifiedBy>Manus</cp:lastModifiedBy>
  <cp:revision>1</cp:revision>
  <dcterms:created xsi:type="dcterms:W3CDTF">2026-09-18T11:02:28Z</dcterms:created>
  <dcterms:modified xsi:type="dcterms:W3CDTF">2026-09-18T11:02:28Z</dcterms:modified>
</cp:coreProperties>
</file>
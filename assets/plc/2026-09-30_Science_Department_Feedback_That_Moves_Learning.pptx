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6C247A-C7C3-4DCA-8C11-727131008B91}">
  <a:tblStyle styleId="{996C247A-C7C3-4DCA-8C11-727131008B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1 minute</a:t>
            </a:r>
            <a:br>
              <a:rPr lang="en-US"/>
            </a:br>
            <a:br>
              <a:rPr lang="en-US"/>
            </a:br>
            <a:r>
              <a:rPr lang="en-US"/>
              <a:t>Welcome staff. Emphasize that this is one schoolwide message being used across all departments. Frame ASPEN as part of the feedback system—not a separate compliance topic.</a:t>
            </a: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2 minutes</a:t>
            </a:r>
            <a:br>
              <a:rPr lang="en-US"/>
            </a:br>
            <a:br>
              <a:rPr lang="en-US"/>
            </a:br>
            <a:r>
              <a:rPr lang="en-US"/>
              <a:t>Review the four outcomes quickly. Tell participants the session is intentionally practical: they will evaluate examples, revise feedback, and check their own ASPEN gradebook.</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4 minutes</a:t>
            </a:r>
            <a:br>
              <a:rPr lang="en-US"/>
            </a:br>
            <a:br>
              <a:rPr lang="en-US"/>
            </a:br>
            <a:r>
              <a:rPr lang="en-US"/>
              <a:t>Give tables 60–90 seconds to discuss. Then ask for quick reactions. Do not over-discuss every card. Land on the key idea: feedback is useful only when students can act on it.</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4 minutes</a:t>
            </a:r>
            <a:br>
              <a:rPr lang="en-US"/>
            </a:br>
            <a:br>
              <a:rPr lang="en-US"/>
            </a:br>
            <a:r>
              <a:rPr lang="en-US"/>
              <a:t>Walk through the four qualities. Make the distinction between praise and feedback without devaluing encouragement. The aim is for students to understand what is working and what to do next.</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4 minutes</a:t>
            </a:r>
            <a:br>
              <a:rPr lang="en-US"/>
            </a:br>
            <a:br>
              <a:rPr lang="en-US"/>
            </a:br>
            <a:r>
              <a:rPr lang="en-US"/>
              <a:t>Emphasize that individual written feedback is only one form. Sometimes whole-class feedback is stronger and more efficient. Briefly invite one example from the department of where they already use a different mode effectively.</a:t>
            </a:r>
            <a:endParaRPr/>
          </a:p>
        </p:txBody>
      </p:sp>
      <p:sp>
        <p:nvSpPr>
          <p:cNvPr id="131" name="Google Shape;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3 minutes</a:t>
            </a:r>
            <a:br>
              <a:rPr lang="en-US"/>
            </a:br>
            <a:br>
              <a:rPr lang="en-US"/>
            </a:br>
            <a:r>
              <a:rPr lang="en-US"/>
              <a:t>Move quickly. This slide reinforces efficiency. Use the example: if many students have the same misconception, stop and provide targeted whole-class feedback rather than repeating the same comment on every paper.</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7 minutes</a:t>
            </a:r>
            <a:endParaRPr/>
          </a:p>
          <a:p>
            <a:pPr indent="0" lvl="0" marL="0" rtl="0" algn="l">
              <a:spcBef>
                <a:spcPts val="0"/>
              </a:spcBef>
              <a:spcAft>
                <a:spcPts val="0"/>
              </a:spcAft>
              <a:buNone/>
            </a:pPr>
            <a:r>
              <a:rPr lang="en-US"/>
              <a:t>Create dept slide and don’t show this one</a:t>
            </a:r>
            <a:br>
              <a:rPr lang="en-US"/>
            </a:br>
            <a:r>
              <a:rPr lang="en-US"/>
              <a:t>Tables select any two examples and rewrite them. Encourage content-specific language from the department. After 4–5 minutes, ask two tables to share one revision each. Listen for timely, specific, actionable, and connected feedback.</a:t>
            </a:r>
            <a:endParaRPr/>
          </a:p>
        </p:txBody>
      </p:sp>
      <p:sp>
        <p:nvSpPr>
          <p:cNvPr id="201" name="Google Shape;20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4 minutes</a:t>
            </a:r>
            <a:endParaRPr/>
          </a:p>
          <a:p>
            <a:pPr indent="0" lvl="0" marL="0" rtl="0" algn="l">
              <a:spcBef>
                <a:spcPts val="0"/>
              </a:spcBef>
              <a:spcAft>
                <a:spcPts val="0"/>
              </a:spcAft>
              <a:buNone/>
            </a:pPr>
            <a:r>
              <a:rPr lang="en-US"/>
              <a:t>Add World Languages</a:t>
            </a:r>
            <a:br>
              <a:rPr lang="en-US"/>
            </a:br>
            <a:br>
              <a:rPr lang="en-US"/>
            </a:br>
            <a:r>
              <a:rPr lang="en-US"/>
              <a:t>Reveal examples only after participants have done the work. These are not “the answers.” Invite participants to compare their versions to the four qualities and identify what makes the stronger examples actionable.</a:t>
            </a:r>
            <a:endParaRPr/>
          </a:p>
        </p:txBody>
      </p:sp>
      <p:sp>
        <p:nvSpPr>
          <p:cNvPr id="209" name="Google Shape;20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3 minutes</a:t>
            </a:r>
            <a:br>
              <a:rPr lang="en-US"/>
            </a:br>
            <a:br>
              <a:rPr lang="en-US"/>
            </a:br>
            <a:r>
              <a:rPr lang="en-US"/>
              <a:t>Connect this to the schoolwide instructional focus: students should be released to do the learning and the thinking. Strong feedback identifies the leverage point without completing the work for the student.</a:t>
            </a:r>
            <a:endParaRPr/>
          </a:p>
        </p:txBody>
      </p:sp>
      <p:sp>
        <p:nvSpPr>
          <p:cNvPr id="238" name="Google Shape;2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3 minutes</a:t>
            </a:r>
            <a:br>
              <a:rPr lang="en-US"/>
            </a:br>
            <a:br>
              <a:rPr lang="en-US"/>
            </a:br>
            <a:r>
              <a:rPr lang="en-US"/>
              <a:t>Make the bridge explicit: ASPEN is not separate from feedback. It is one place students and families look for evidence of current progress. An outdated gradebook communicates outdated information.</a:t>
            </a:r>
            <a:endParaRPr/>
          </a:p>
        </p:txBody>
      </p:sp>
      <p:sp>
        <p:nvSpPr>
          <p:cNvPr id="254" name="Google Shape;25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20e14f02503596dc_4_12: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20e14f02503596dc_4_12: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20e14f02503596dc_4_66: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20e14f02503596dc_4_66: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20e14f02503596dc_10_4: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20e14f02503596dc_10_4: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3 minutes</a:t>
            </a:r>
            <a:br>
              <a:rPr lang="en-US"/>
            </a:br>
            <a:br>
              <a:rPr lang="en-US"/>
            </a:br>
            <a:r>
              <a:rPr lang="en-US"/>
              <a:t>Ask participants to name what is different: clear assignment names, missing work identified, retake reflected, current evidence entered. Avoid turning this into a debate about one grading practice; focus on clarity and currency.</a:t>
            </a:r>
            <a:endParaRPr/>
          </a:p>
        </p:txBody>
      </p:sp>
      <p:sp>
        <p:nvSpPr>
          <p:cNvPr id="352" name="Google Shape;35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3 minutes</a:t>
            </a:r>
            <a:br>
              <a:rPr lang="en-US"/>
            </a:br>
            <a:br>
              <a:rPr lang="en-US"/>
            </a:br>
            <a:r>
              <a:rPr lang="en-US"/>
              <a:t>Participants should actually open ASPEN. Give them quiet time to scan one course/section and identify one concrete action. The expectation is reflection and accuracy—not public sharing of grades.</a:t>
            </a:r>
            <a:endParaRPr/>
          </a:p>
        </p:txBody>
      </p:sp>
      <p:sp>
        <p:nvSpPr>
          <p:cNvPr id="413" name="Google Shape;4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2 minutes</a:t>
            </a:r>
            <a:br>
              <a:rPr lang="en-US"/>
            </a:br>
            <a:br>
              <a:rPr lang="en-US"/>
            </a:br>
            <a:r>
              <a:rPr lang="en-US"/>
              <a:t>Close the content by naming the shared student experience. These are schoolwide expectations, even though feedback will look different by discipline.</a:t>
            </a:r>
            <a:endParaRPr/>
          </a:p>
        </p:txBody>
      </p:sp>
      <p:sp>
        <p:nvSpPr>
          <p:cNvPr id="441" name="Google Shape;4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FACILITATOR — 2 minutes</a:t>
            </a:r>
            <a:br>
              <a:rPr lang="en-US"/>
            </a:br>
            <a:br>
              <a:rPr lang="en-US"/>
            </a:br>
            <a:r>
              <a:rPr lang="en-US"/>
              <a:t>Ask participants to jot both commitments. They may share with a partner if time allows. End on the throughline: feedback and ASPEN should tell students the same current story about their learning.</a:t>
            </a:r>
            <a:endParaRPr/>
          </a:p>
        </p:txBody>
      </p:sp>
      <p:sp>
        <p:nvSpPr>
          <p:cNvPr id="463" name="Google Shape;46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BHS">
  <p:cSld name="NBHS">
    <p:bg>
      <p:bgPr>
        <a:solidFill>
          <a:srgbClr val="F7F8FA"/>
        </a:solidFill>
      </p:bgPr>
    </p:bg>
    <p:spTree>
      <p:nvGrpSpPr>
        <p:cNvPr id="11" name="Shape 11"/>
        <p:cNvGrpSpPr/>
        <p:nvPr/>
      </p:nvGrpSpPr>
      <p:grpSpPr>
        <a:xfrm>
          <a:off x="0" y="0"/>
          <a:ext cx="0" cy="0"/>
          <a:chOff x="0" y="0"/>
          <a:chExt cx="0" cy="0"/>
        </a:xfrm>
      </p:grpSpPr>
      <p:sp>
        <p:nvSpPr>
          <p:cNvPr id="12" name="Google Shape;12;p2"/>
          <p:cNvSpPr/>
          <p:nvPr/>
        </p:nvSpPr>
        <p:spPr>
          <a:xfrm>
            <a:off x="0" y="0"/>
            <a:ext cx="12191695" cy="109728"/>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02920" y="6473952"/>
            <a:ext cx="80467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50"/>
              <a:buFont typeface="Arial"/>
              <a:buNone/>
            </a:pPr>
            <a:r>
              <a:rPr b="1" i="0" lang="en-US" sz="850" u="none" cap="none" strike="noStrike">
                <a:solidFill>
                  <a:srgbClr val="6B7280"/>
                </a:solidFill>
                <a:latin typeface="Arial"/>
                <a:ea typeface="Arial"/>
                <a:cs typeface="Arial"/>
                <a:sym typeface="Arial"/>
              </a:rPr>
              <a:t>NEW BEDFORD HIGH SCHOOL  •  FEEDBACK THAT MOVES LEARNING</a:t>
            </a:r>
            <a:endParaRPr b="0" i="0" sz="850" u="none" cap="none" strike="noStrike">
              <a:solidFill>
                <a:schemeClr val="dk1"/>
              </a:solidFill>
              <a:latin typeface="Arial"/>
              <a:ea typeface="Arial"/>
              <a:cs typeface="Arial"/>
              <a:sym typeface="Arial"/>
            </a:endParaRPr>
          </a:p>
        </p:txBody>
      </p:sp>
      <p:sp>
        <p:nvSpPr>
          <p:cNvPr id="14" name="Google Shape;14;p2"/>
          <p:cNvSpPr/>
          <p:nvPr/>
        </p:nvSpPr>
        <p:spPr>
          <a:xfrm>
            <a:off x="10533888" y="6419088"/>
            <a:ext cx="10058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5121B"/>
              </a:buClr>
              <a:buSzPts val="850"/>
              <a:buFont typeface="Arial"/>
              <a:buNone/>
            </a:pPr>
            <a:r>
              <a:rPr b="1" i="0" lang="en-US" sz="850" u="none" cap="none" strike="noStrike">
                <a:solidFill>
                  <a:srgbClr val="B5121B"/>
                </a:solidFill>
                <a:latin typeface="Arial"/>
                <a:ea typeface="Arial"/>
                <a:cs typeface="Arial"/>
                <a:sym typeface="Arial"/>
              </a:rPr>
              <a:t>ROW 200</a:t>
            </a:r>
            <a:endParaRPr b="0" i="0" sz="850" u="none" cap="none" strike="noStrike">
              <a:solidFill>
                <a:schemeClr val="dk1"/>
              </a:solidFill>
              <a:latin typeface="Arial"/>
              <a:ea typeface="Arial"/>
              <a:cs typeface="Arial"/>
              <a:sym typeface="Arial"/>
            </a:endParaRPr>
          </a:p>
        </p:txBody>
      </p:sp>
      <p:sp>
        <p:nvSpPr>
          <p:cNvPr id="15" name="Google Shape;15;p2"/>
          <p:cNvSpPr txBox="1"/>
          <p:nvPr>
            <p:ph idx="12"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850" u="none" cap="none" strike="noStrike">
                <a:solidFill>
                  <a:srgbClr val="6B7280"/>
                </a:solidFill>
                <a:latin typeface="Arial"/>
                <a:ea typeface="Arial"/>
                <a:cs typeface="Arial"/>
                <a:sym typeface="Arial"/>
              </a:defRPr>
            </a:lvl1pPr>
            <a:lvl2pPr indent="0" lvl="1" marL="0" marR="0" algn="r">
              <a:spcBef>
                <a:spcPts val="0"/>
              </a:spcBef>
              <a:buNone/>
              <a:defRPr b="0" i="0" sz="850" u="none" cap="none" strike="noStrike">
                <a:solidFill>
                  <a:srgbClr val="6B7280"/>
                </a:solidFill>
                <a:latin typeface="Arial"/>
                <a:ea typeface="Arial"/>
                <a:cs typeface="Arial"/>
                <a:sym typeface="Arial"/>
              </a:defRPr>
            </a:lvl2pPr>
            <a:lvl3pPr indent="0" lvl="2" marL="0" marR="0" algn="r">
              <a:spcBef>
                <a:spcPts val="0"/>
              </a:spcBef>
              <a:buNone/>
              <a:defRPr b="0" i="0" sz="850" u="none" cap="none" strike="noStrike">
                <a:solidFill>
                  <a:srgbClr val="6B7280"/>
                </a:solidFill>
                <a:latin typeface="Arial"/>
                <a:ea typeface="Arial"/>
                <a:cs typeface="Arial"/>
                <a:sym typeface="Arial"/>
              </a:defRPr>
            </a:lvl3pPr>
            <a:lvl4pPr indent="0" lvl="3" marL="0" marR="0" algn="r">
              <a:spcBef>
                <a:spcPts val="0"/>
              </a:spcBef>
              <a:buNone/>
              <a:defRPr b="0" i="0" sz="850" u="none" cap="none" strike="noStrike">
                <a:solidFill>
                  <a:srgbClr val="6B7280"/>
                </a:solidFill>
                <a:latin typeface="Arial"/>
                <a:ea typeface="Arial"/>
                <a:cs typeface="Arial"/>
                <a:sym typeface="Arial"/>
              </a:defRPr>
            </a:lvl4pPr>
            <a:lvl5pPr indent="0" lvl="4" marL="0" marR="0" algn="r">
              <a:spcBef>
                <a:spcPts val="0"/>
              </a:spcBef>
              <a:buNone/>
              <a:defRPr b="0" i="0" sz="850" u="none" cap="none" strike="noStrike">
                <a:solidFill>
                  <a:srgbClr val="6B7280"/>
                </a:solidFill>
                <a:latin typeface="Arial"/>
                <a:ea typeface="Arial"/>
                <a:cs typeface="Arial"/>
                <a:sym typeface="Arial"/>
              </a:defRPr>
            </a:lvl5pPr>
            <a:lvl6pPr indent="0" lvl="5" marL="0" marR="0" algn="r">
              <a:spcBef>
                <a:spcPts val="0"/>
              </a:spcBef>
              <a:buNone/>
              <a:defRPr b="0" i="0" sz="850" u="none" cap="none" strike="noStrike">
                <a:solidFill>
                  <a:srgbClr val="6B7280"/>
                </a:solidFill>
                <a:latin typeface="Arial"/>
                <a:ea typeface="Arial"/>
                <a:cs typeface="Arial"/>
                <a:sym typeface="Arial"/>
              </a:defRPr>
            </a:lvl6pPr>
            <a:lvl7pPr indent="0" lvl="6" marL="0" marR="0" algn="r">
              <a:spcBef>
                <a:spcPts val="0"/>
              </a:spcBef>
              <a:buNone/>
              <a:defRPr b="0" i="0" sz="850" u="none" cap="none" strike="noStrike">
                <a:solidFill>
                  <a:srgbClr val="6B7280"/>
                </a:solidFill>
                <a:latin typeface="Arial"/>
                <a:ea typeface="Arial"/>
                <a:cs typeface="Arial"/>
                <a:sym typeface="Arial"/>
              </a:defRPr>
            </a:lvl7pPr>
            <a:lvl8pPr indent="0" lvl="7" marL="0" marR="0" algn="r">
              <a:spcBef>
                <a:spcPts val="0"/>
              </a:spcBef>
              <a:buNone/>
              <a:defRPr b="0" i="0" sz="850" u="none" cap="none" strike="noStrike">
                <a:solidFill>
                  <a:srgbClr val="6B7280"/>
                </a:solidFill>
                <a:latin typeface="Arial"/>
                <a:ea typeface="Arial"/>
                <a:cs typeface="Arial"/>
                <a:sym typeface="Arial"/>
              </a:defRPr>
            </a:lvl8pPr>
            <a:lvl9pPr indent="0" lvl="8" marL="0" marR="0" algn="r">
              <a:spcBef>
                <a:spcPts val="0"/>
              </a:spcBef>
              <a:buNone/>
              <a:defRPr b="0" i="0" sz="850" u="none" cap="none" strike="noStrike">
                <a:solidFill>
                  <a:srgbClr val="6B728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415600" y="593367"/>
            <a:ext cx="11360700" cy="763500"/>
          </a:xfrm>
          <a:prstGeom prst="rect">
            <a:avLst/>
          </a:prstGeom>
          <a:noFill/>
          <a:ln>
            <a:noFill/>
          </a:ln>
        </p:spPr>
        <p:txBody>
          <a:bodyPr anchorCtr="0" anchor="ctr" bIns="121900" lIns="121900" spcFirstLastPara="1" rIns="121900" wrap="square" tIns="121900">
            <a:noAutofit/>
          </a:bodyPr>
          <a:lstStyle>
            <a:lvl1pPr lvl="0">
              <a:spcBef>
                <a:spcPts val="0"/>
              </a:spcBef>
              <a:spcAft>
                <a:spcPts val="0"/>
              </a:spcAft>
              <a:buSzPts val="1900"/>
              <a:buChar char="●"/>
              <a:defRPr sz="1900"/>
            </a:lvl1pPr>
            <a:lvl2pPr lvl="1">
              <a:spcBef>
                <a:spcPts val="0"/>
              </a:spcBef>
              <a:spcAft>
                <a:spcPts val="0"/>
              </a:spcAft>
              <a:buSzPts val="1900"/>
              <a:buChar char="○"/>
              <a:defRPr sz="1900"/>
            </a:lvl2pPr>
            <a:lvl3pPr lvl="2">
              <a:spcBef>
                <a:spcPts val="0"/>
              </a:spcBef>
              <a:spcAft>
                <a:spcPts val="0"/>
              </a:spcAft>
              <a:buSzPts val="1900"/>
              <a:buChar char="■"/>
              <a:defRPr sz="1900"/>
            </a:lvl3pPr>
            <a:lvl4pPr lvl="3">
              <a:spcBef>
                <a:spcPts val="0"/>
              </a:spcBef>
              <a:spcAft>
                <a:spcPts val="0"/>
              </a:spcAft>
              <a:buSzPts val="1900"/>
              <a:buChar char="●"/>
              <a:defRPr sz="1900"/>
            </a:lvl4pPr>
            <a:lvl5pPr lvl="4">
              <a:spcBef>
                <a:spcPts val="0"/>
              </a:spcBef>
              <a:spcAft>
                <a:spcPts val="0"/>
              </a:spcAft>
              <a:buSzPts val="1900"/>
              <a:buChar char="○"/>
              <a:defRPr sz="1900"/>
            </a:lvl5pPr>
            <a:lvl6pPr lvl="5">
              <a:spcBef>
                <a:spcPts val="0"/>
              </a:spcBef>
              <a:spcAft>
                <a:spcPts val="0"/>
              </a:spcAft>
              <a:buSzPts val="1900"/>
              <a:buChar char="■"/>
              <a:defRPr sz="1900"/>
            </a:lvl6pPr>
            <a:lvl7pPr lvl="6">
              <a:spcBef>
                <a:spcPts val="0"/>
              </a:spcBef>
              <a:spcAft>
                <a:spcPts val="0"/>
              </a:spcAft>
              <a:buSzPts val="1900"/>
              <a:buChar char="●"/>
              <a:defRPr sz="1900"/>
            </a:lvl7pPr>
            <a:lvl8pPr lvl="7">
              <a:spcBef>
                <a:spcPts val="0"/>
              </a:spcBef>
              <a:spcAft>
                <a:spcPts val="0"/>
              </a:spcAft>
              <a:buSzPts val="1900"/>
              <a:buChar char="○"/>
              <a:defRPr sz="1900"/>
            </a:lvl8pPr>
            <a:lvl9pPr lvl="8">
              <a:spcBef>
                <a:spcPts val="0"/>
              </a:spcBef>
              <a:spcAft>
                <a:spcPts val="0"/>
              </a:spcAft>
              <a:buSzPts val="1900"/>
              <a:buChar char="■"/>
              <a:defRPr sz="1900"/>
            </a:lvl9pPr>
          </a:lstStyle>
          <a:p/>
        </p:txBody>
      </p:sp>
      <p:sp>
        <p:nvSpPr>
          <p:cNvPr id="19" name="Google Shape;19;p4"/>
          <p:cNvSpPr txBox="1"/>
          <p:nvPr>
            <p:ph idx="1" type="body"/>
          </p:nvPr>
        </p:nvSpPr>
        <p:spPr>
          <a:xfrm>
            <a:off x="415600" y="1536633"/>
            <a:ext cx="11360700" cy="4555200"/>
          </a:xfrm>
          <a:prstGeom prst="rect">
            <a:avLst/>
          </a:prstGeom>
          <a:noFill/>
          <a:ln>
            <a:noFill/>
          </a:ln>
        </p:spPr>
        <p:txBody>
          <a:bodyPr anchorCtr="0" anchor="ctr" bIns="121900" lIns="121900" spcFirstLastPara="1" rIns="121900" wrap="square" tIns="121900">
            <a:no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20" name="Google Shape;20;p4"/>
          <p:cNvSpPr txBox="1"/>
          <p:nvPr>
            <p:ph idx="12" type="sldNum"/>
          </p:nvPr>
        </p:nvSpPr>
        <p:spPr>
          <a:xfrm>
            <a:off x="11296610" y="6217622"/>
            <a:ext cx="731700" cy="524700"/>
          </a:xfrm>
          <a:prstGeom prst="rect">
            <a:avLst/>
          </a:prstGeom>
        </p:spPr>
        <p:txBody>
          <a:bodyPr anchorCtr="0" anchor="t"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850" u="none" cap="none" strike="noStrike">
                <a:solidFill>
                  <a:srgbClr val="6B7280"/>
                </a:solidFill>
                <a:latin typeface="Arial"/>
                <a:ea typeface="Arial"/>
                <a:cs typeface="Arial"/>
                <a:sym typeface="Arial"/>
              </a:defRPr>
            </a:lvl1pPr>
            <a:lvl2pPr indent="0" lvl="1" marL="0" marR="0" rtl="0" algn="r">
              <a:spcBef>
                <a:spcPts val="0"/>
              </a:spcBef>
              <a:buNone/>
              <a:defRPr b="0" i="0" sz="850" u="none" cap="none" strike="noStrike">
                <a:solidFill>
                  <a:srgbClr val="6B7280"/>
                </a:solidFill>
                <a:latin typeface="Arial"/>
                <a:ea typeface="Arial"/>
                <a:cs typeface="Arial"/>
                <a:sym typeface="Arial"/>
              </a:defRPr>
            </a:lvl2pPr>
            <a:lvl3pPr indent="0" lvl="2" marL="0" marR="0" rtl="0" algn="r">
              <a:spcBef>
                <a:spcPts val="0"/>
              </a:spcBef>
              <a:buNone/>
              <a:defRPr b="0" i="0" sz="850" u="none" cap="none" strike="noStrike">
                <a:solidFill>
                  <a:srgbClr val="6B7280"/>
                </a:solidFill>
                <a:latin typeface="Arial"/>
                <a:ea typeface="Arial"/>
                <a:cs typeface="Arial"/>
                <a:sym typeface="Arial"/>
              </a:defRPr>
            </a:lvl3pPr>
            <a:lvl4pPr indent="0" lvl="3" marL="0" marR="0" rtl="0" algn="r">
              <a:spcBef>
                <a:spcPts val="0"/>
              </a:spcBef>
              <a:buNone/>
              <a:defRPr b="0" i="0" sz="850" u="none" cap="none" strike="noStrike">
                <a:solidFill>
                  <a:srgbClr val="6B7280"/>
                </a:solidFill>
                <a:latin typeface="Arial"/>
                <a:ea typeface="Arial"/>
                <a:cs typeface="Arial"/>
                <a:sym typeface="Arial"/>
              </a:defRPr>
            </a:lvl4pPr>
            <a:lvl5pPr indent="0" lvl="4" marL="0" marR="0" rtl="0" algn="r">
              <a:spcBef>
                <a:spcPts val="0"/>
              </a:spcBef>
              <a:buNone/>
              <a:defRPr b="0" i="0" sz="850" u="none" cap="none" strike="noStrike">
                <a:solidFill>
                  <a:srgbClr val="6B7280"/>
                </a:solidFill>
                <a:latin typeface="Arial"/>
                <a:ea typeface="Arial"/>
                <a:cs typeface="Arial"/>
                <a:sym typeface="Arial"/>
              </a:defRPr>
            </a:lvl5pPr>
            <a:lvl6pPr indent="0" lvl="5" marL="0" marR="0" rtl="0" algn="r">
              <a:spcBef>
                <a:spcPts val="0"/>
              </a:spcBef>
              <a:buNone/>
              <a:defRPr b="0" i="0" sz="850" u="none" cap="none" strike="noStrike">
                <a:solidFill>
                  <a:srgbClr val="6B7280"/>
                </a:solidFill>
                <a:latin typeface="Arial"/>
                <a:ea typeface="Arial"/>
                <a:cs typeface="Arial"/>
                <a:sym typeface="Arial"/>
              </a:defRPr>
            </a:lvl6pPr>
            <a:lvl7pPr indent="0" lvl="6" marL="0" marR="0" rtl="0" algn="r">
              <a:spcBef>
                <a:spcPts val="0"/>
              </a:spcBef>
              <a:buNone/>
              <a:defRPr b="0" i="0" sz="850" u="none" cap="none" strike="noStrike">
                <a:solidFill>
                  <a:srgbClr val="6B7280"/>
                </a:solidFill>
                <a:latin typeface="Arial"/>
                <a:ea typeface="Arial"/>
                <a:cs typeface="Arial"/>
                <a:sym typeface="Arial"/>
              </a:defRPr>
            </a:lvl7pPr>
            <a:lvl8pPr indent="0" lvl="7" marL="0" marR="0" rtl="0" algn="r">
              <a:spcBef>
                <a:spcPts val="0"/>
              </a:spcBef>
              <a:buNone/>
              <a:defRPr b="0" i="0" sz="850" u="none" cap="none" strike="noStrike">
                <a:solidFill>
                  <a:srgbClr val="6B7280"/>
                </a:solidFill>
                <a:latin typeface="Arial"/>
                <a:ea typeface="Arial"/>
                <a:cs typeface="Arial"/>
                <a:sym typeface="Arial"/>
              </a:defRPr>
            </a:lvl8pPr>
            <a:lvl9pPr indent="0" lvl="8" marL="0" marR="0" rtl="0" algn="r">
              <a:spcBef>
                <a:spcPts val="0"/>
              </a:spcBef>
              <a:buNone/>
              <a:defRPr b="0" i="0" sz="850" u="none" cap="none" strike="noStrike">
                <a:solidFill>
                  <a:srgbClr val="6B728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padlet.com/cho135/pd-9-29-26-s0241lvj3lm7e13kwbi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s://padlet.com/cho135/pd-9-29-26-s0241lvj3lm7e13kwbi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s://padlet.com/cho135/pd-9-29-26-s0241lvj3lm7e13kwbi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padlet.com/cho135/pd-9-29-26-s0241lvj3lm7e13kwbi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padlet.com/cho135/pd-9-29-26-s0241lvj3lm7e13kwbi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s://padlet.com/cho135/pd-9-29-26-s0241lvj3lm7e13kwbi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5" name="Shape 25"/>
        <p:cNvGrpSpPr/>
        <p:nvPr/>
      </p:nvGrpSpPr>
      <p:grpSpPr>
        <a:xfrm>
          <a:off x="0" y="0"/>
          <a:ext cx="0" cy="0"/>
          <a:chOff x="0" y="0"/>
          <a:chExt cx="0" cy="0"/>
        </a:xfrm>
      </p:grpSpPr>
      <p:sp>
        <p:nvSpPr>
          <p:cNvPr id="26" name="Google Shape;26;p5"/>
          <p:cNvSpPr/>
          <p:nvPr/>
        </p:nvSpPr>
        <p:spPr>
          <a:xfrm>
            <a:off x="0" y="0"/>
            <a:ext cx="4069080" cy="6858000"/>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594360" y="713232"/>
            <a:ext cx="1188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NBHS</a:t>
            </a:r>
            <a:endParaRPr b="0" i="0" sz="1900" u="none" cap="none" strike="noStrike">
              <a:solidFill>
                <a:schemeClr val="dk1"/>
              </a:solidFill>
              <a:latin typeface="Arial"/>
              <a:ea typeface="Arial"/>
              <a:cs typeface="Arial"/>
              <a:sym typeface="Arial"/>
            </a:endParaRPr>
          </a:p>
        </p:txBody>
      </p:sp>
      <p:sp>
        <p:nvSpPr>
          <p:cNvPr id="28" name="Google Shape;28;p5"/>
          <p:cNvSpPr/>
          <p:nvPr/>
        </p:nvSpPr>
        <p:spPr>
          <a:xfrm>
            <a:off x="594360" y="1481328"/>
            <a:ext cx="278892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FEEDBACK</a:t>
            </a:r>
            <a:endParaRPr b="0" i="0" sz="3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THAT MOVES</a:t>
            </a:r>
            <a:endParaRPr b="0" i="0" sz="3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LEARNING</a:t>
            </a:r>
            <a:endParaRPr b="0" i="0" sz="3400" u="none" cap="none" strike="noStrike">
              <a:solidFill>
                <a:schemeClr val="dk1"/>
              </a:solidFill>
              <a:latin typeface="Arial"/>
              <a:ea typeface="Arial"/>
              <a:cs typeface="Arial"/>
              <a:sym typeface="Arial"/>
            </a:endParaRPr>
          </a:p>
        </p:txBody>
      </p:sp>
      <p:sp>
        <p:nvSpPr>
          <p:cNvPr id="29" name="Google Shape;29;p5"/>
          <p:cNvSpPr/>
          <p:nvPr/>
        </p:nvSpPr>
        <p:spPr>
          <a:xfrm>
            <a:off x="4526274" y="1609350"/>
            <a:ext cx="7434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900"/>
              <a:buFont typeface="Arial"/>
              <a:buNone/>
            </a:pPr>
            <a:r>
              <a:rPr b="1" i="0" lang="en-US" sz="2800" u="none" cap="none" strike="noStrike">
                <a:solidFill>
                  <a:srgbClr val="1F2937"/>
                </a:solidFill>
                <a:latin typeface="Arial"/>
                <a:ea typeface="Arial"/>
                <a:cs typeface="Arial"/>
                <a:sym typeface="Arial"/>
              </a:rPr>
              <a:t>Effective Feedback  •  Student Ownership  •  ASPEN</a:t>
            </a:r>
            <a:endParaRPr b="0" i="0" sz="2800" u="none" cap="none" strike="noStrike">
              <a:solidFill>
                <a:schemeClr val="dk1"/>
              </a:solidFill>
              <a:latin typeface="Arial"/>
              <a:ea typeface="Arial"/>
              <a:cs typeface="Arial"/>
              <a:sym typeface="Arial"/>
            </a:endParaRPr>
          </a:p>
        </p:txBody>
      </p:sp>
      <p:cxnSp>
        <p:nvCxnSpPr>
          <p:cNvPr id="30" name="Google Shape;30;p5"/>
          <p:cNvCxnSpPr/>
          <p:nvPr/>
        </p:nvCxnSpPr>
        <p:spPr>
          <a:xfrm>
            <a:off x="4549168" y="2888317"/>
            <a:ext cx="6309300" cy="0"/>
          </a:xfrm>
          <a:prstGeom prst="straightConnector1">
            <a:avLst/>
          </a:prstGeom>
          <a:noFill/>
          <a:ln cap="flat" cmpd="sng" w="12700">
            <a:solidFill>
              <a:srgbClr val="B5121B"/>
            </a:solidFill>
            <a:prstDash val="solid"/>
            <a:round/>
            <a:headEnd len="sm" w="sm" type="none"/>
            <a:tailEnd len="sm" w="sm" type="none"/>
          </a:ln>
        </p:spPr>
      </p:cxnSp>
      <p:sp>
        <p:nvSpPr>
          <p:cNvPr id="31" name="Google Shape;31;p5"/>
          <p:cNvSpPr/>
          <p:nvPr/>
        </p:nvSpPr>
        <p:spPr>
          <a:xfrm>
            <a:off x="4549168" y="3246182"/>
            <a:ext cx="63093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i="1" lang="en-US" sz="2400" u="none" cap="none" strike="noStrike">
                <a:solidFill>
                  <a:srgbClr val="1F2937"/>
                </a:solidFill>
                <a:latin typeface="Arial"/>
                <a:ea typeface="Arial"/>
                <a:cs typeface="Arial"/>
                <a:sym typeface="Arial"/>
              </a:rPr>
              <a:t>Students should know wher</a:t>
            </a:r>
            <a:r>
              <a:rPr b="1" i="1" lang="en-US" sz="2400" u="none" cap="none" strike="noStrike">
                <a:solidFill>
                  <a:srgbClr val="1F2937"/>
                </a:solidFill>
                <a:latin typeface="Arial"/>
                <a:ea typeface="Arial"/>
                <a:cs typeface="Arial"/>
                <a:sym typeface="Arial"/>
              </a:rPr>
              <a:t>e</a:t>
            </a:r>
            <a:r>
              <a:rPr b="1" i="1" lang="en-US" sz="2400" u="none" cap="none" strike="noStrike">
                <a:solidFill>
                  <a:srgbClr val="1F2937"/>
                </a:solidFill>
                <a:latin typeface="Arial"/>
                <a:ea typeface="Arial"/>
                <a:cs typeface="Arial"/>
                <a:sym typeface="Arial"/>
              </a:rPr>
              <a:t> they are, what is working, and what they need to do next.</a:t>
            </a:r>
            <a:endParaRPr b="0" i="1" sz="2400" u="none" cap="none" strike="noStrike">
              <a:solidFill>
                <a:schemeClr val="dk1"/>
              </a:solidFill>
              <a:latin typeface="Arial"/>
              <a:ea typeface="Arial"/>
              <a:cs typeface="Arial"/>
              <a:sym typeface="Arial"/>
            </a:endParaRPr>
          </a:p>
        </p:txBody>
      </p:sp>
      <p:sp>
        <p:nvSpPr>
          <p:cNvPr id="32" name="Google Shape;32;p5"/>
          <p:cNvSpPr/>
          <p:nvPr/>
        </p:nvSpPr>
        <p:spPr>
          <a:xfrm>
            <a:off x="4526278" y="5340100"/>
            <a:ext cx="3042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50"/>
              <a:buFont typeface="Arial"/>
              <a:buNone/>
            </a:pPr>
            <a:r>
              <a:rPr b="0" lang="en-US" sz="1750" u="none" cap="none" strike="noStrike">
                <a:solidFill>
                  <a:srgbClr val="475569"/>
                </a:solidFill>
                <a:latin typeface="Arial"/>
                <a:ea typeface="Arial"/>
                <a:cs typeface="Arial"/>
                <a:sym typeface="Arial"/>
              </a:rPr>
              <a:t>Classroom feedback and an up-to-date gradebook should tell the same story.</a:t>
            </a:r>
            <a:endParaRPr b="0" sz="1750" u="none" cap="none" strike="noStrike">
              <a:solidFill>
                <a:schemeClr val="dk1"/>
              </a:solidFill>
              <a:latin typeface="Arial"/>
              <a:ea typeface="Arial"/>
              <a:cs typeface="Arial"/>
              <a:sym typeface="Arial"/>
            </a:endParaRPr>
          </a:p>
        </p:txBody>
      </p:sp>
      <p:sp>
        <p:nvSpPr>
          <p:cNvPr id="33" name="Google Shape;33;p5"/>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pic>
        <p:nvPicPr>
          <p:cNvPr id="34" name="Google Shape;34;p5" title="Whaler.png"/>
          <p:cNvPicPr preferRelativeResize="0"/>
          <p:nvPr/>
        </p:nvPicPr>
        <p:blipFill>
          <a:blip r:embed="rId3">
            <a:alphaModFix/>
          </a:blip>
          <a:stretch>
            <a:fillRect/>
          </a:stretch>
        </p:blipFill>
        <p:spPr>
          <a:xfrm>
            <a:off x="342164" y="4032525"/>
            <a:ext cx="3293301" cy="2481750"/>
          </a:xfrm>
          <a:prstGeom prst="rect">
            <a:avLst/>
          </a:prstGeom>
          <a:solidFill>
            <a:srgbClr val="B5121B"/>
          </a:solidFill>
          <a:ln cap="flat" cmpd="sng" w="12700">
            <a:solidFill>
              <a:srgbClr val="B5121B"/>
            </a:solidFill>
            <a:prstDash val="solid"/>
            <a:round/>
            <a:headEnd len="sm" w="sm" type="none"/>
            <a:tailEnd len="sm" w="sm" type="none"/>
          </a:ln>
        </p:spPr>
      </p:pic>
      <p:pic>
        <p:nvPicPr>
          <p:cNvPr id="35" name="Google Shape;35;p5" title="Screenshot 2026-09-29 at 4.28.03 PM.png"/>
          <p:cNvPicPr preferRelativeResize="0"/>
          <p:nvPr/>
        </p:nvPicPr>
        <p:blipFill>
          <a:blip r:embed="rId4">
            <a:alphaModFix/>
          </a:blip>
          <a:stretch>
            <a:fillRect/>
          </a:stretch>
        </p:blipFill>
        <p:spPr>
          <a:xfrm>
            <a:off x="7827275" y="4264825"/>
            <a:ext cx="2260450" cy="2282100"/>
          </a:xfrm>
          <a:prstGeom prst="rect">
            <a:avLst/>
          </a:prstGeom>
          <a:noFill/>
          <a:ln>
            <a:noFill/>
          </a:ln>
        </p:spPr>
      </p:pic>
      <p:sp>
        <p:nvSpPr>
          <p:cNvPr id="36" name="Google Shape;36;p5"/>
          <p:cNvSpPr txBox="1"/>
          <p:nvPr/>
        </p:nvSpPr>
        <p:spPr>
          <a:xfrm>
            <a:off x="10296125" y="5042850"/>
            <a:ext cx="1188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u="sng">
                <a:solidFill>
                  <a:schemeClr val="hlink"/>
                </a:solidFill>
                <a:hlinkClick r:id="rId5"/>
              </a:rPr>
              <a:t>Padlet</a:t>
            </a:r>
            <a:endParaRPr sz="2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6"/>
          <p:cNvSpPr/>
          <p:nvPr/>
        </p:nvSpPr>
        <p:spPr>
          <a:xfrm>
            <a:off x="518190" y="997023"/>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Today: one shared language for feedback</a:t>
            </a:r>
            <a:endParaRPr b="0" i="0" sz="2800" u="none" cap="none" strike="noStrike">
              <a:solidFill>
                <a:schemeClr val="dk1"/>
              </a:solidFill>
              <a:latin typeface="Arial"/>
              <a:ea typeface="Arial"/>
              <a:cs typeface="Arial"/>
              <a:sym typeface="Arial"/>
            </a:endParaRPr>
          </a:p>
        </p:txBody>
      </p:sp>
      <p:sp>
        <p:nvSpPr>
          <p:cNvPr id="43" name="Google Shape;43;p6"/>
          <p:cNvSpPr/>
          <p:nvPr/>
        </p:nvSpPr>
        <p:spPr>
          <a:xfrm>
            <a:off x="518190" y="1600770"/>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2150" u="none" cap="none" strike="noStrike">
                <a:solidFill>
                  <a:srgbClr val="475569"/>
                </a:solidFill>
                <a:latin typeface="Arial"/>
                <a:ea typeface="Arial"/>
                <a:cs typeface="Arial"/>
                <a:sym typeface="Arial"/>
              </a:rPr>
              <a:t>The goal is consistency for students across every classroom.</a:t>
            </a:r>
            <a:endParaRPr b="0" i="0" sz="2150" u="none" cap="none" strike="noStrike">
              <a:solidFill>
                <a:schemeClr val="dk1"/>
              </a:solidFill>
              <a:latin typeface="Arial"/>
              <a:ea typeface="Arial"/>
              <a:cs typeface="Arial"/>
              <a:sym typeface="Arial"/>
            </a:endParaRPr>
          </a:p>
        </p:txBody>
      </p:sp>
      <p:sp>
        <p:nvSpPr>
          <p:cNvPr id="44" name="Google Shape;44;p6"/>
          <p:cNvSpPr/>
          <p:nvPr/>
        </p:nvSpPr>
        <p:spPr>
          <a:xfrm>
            <a:off x="714756" y="2560750"/>
            <a:ext cx="411600" cy="411600"/>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5" name="Google Shape;45;p6"/>
          <p:cNvSpPr/>
          <p:nvPr/>
        </p:nvSpPr>
        <p:spPr>
          <a:xfrm>
            <a:off x="833628" y="2661334"/>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700" u="none" cap="none" strike="noStrike">
                <a:solidFill>
                  <a:srgbClr val="FFFFFF"/>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46" name="Google Shape;46;p6"/>
          <p:cNvSpPr/>
          <p:nvPr/>
        </p:nvSpPr>
        <p:spPr>
          <a:xfrm>
            <a:off x="1318245" y="2551602"/>
            <a:ext cx="1850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i="0" lang="en-US" sz="2300" u="none" cap="none" strike="noStrike">
                <a:solidFill>
                  <a:srgbClr val="1F2937"/>
                </a:solidFill>
                <a:latin typeface="Arial"/>
                <a:ea typeface="Arial"/>
                <a:cs typeface="Arial"/>
                <a:sym typeface="Arial"/>
              </a:rPr>
              <a:t>Recognize</a:t>
            </a:r>
            <a:endParaRPr b="0" i="0" sz="2300" u="none" cap="none" strike="noStrike">
              <a:solidFill>
                <a:schemeClr val="dk1"/>
              </a:solidFill>
              <a:latin typeface="Arial"/>
              <a:ea typeface="Arial"/>
              <a:cs typeface="Arial"/>
              <a:sym typeface="Arial"/>
            </a:endParaRPr>
          </a:p>
        </p:txBody>
      </p:sp>
      <p:sp>
        <p:nvSpPr>
          <p:cNvPr id="47" name="Google Shape;47;p6"/>
          <p:cNvSpPr/>
          <p:nvPr/>
        </p:nvSpPr>
        <p:spPr>
          <a:xfrm>
            <a:off x="3168960" y="2432819"/>
            <a:ext cx="7955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Arial"/>
              <a:buNone/>
            </a:pPr>
            <a:r>
              <a:rPr b="0" i="0" lang="en-US" sz="2300" u="none" cap="none" strike="noStrike">
                <a:solidFill>
                  <a:srgbClr val="475569"/>
                </a:solidFill>
                <a:latin typeface="Arial"/>
                <a:ea typeface="Arial"/>
                <a:cs typeface="Arial"/>
                <a:sym typeface="Arial"/>
              </a:rPr>
              <a:t>what makes feedback useful to students</a:t>
            </a:r>
            <a:endParaRPr b="0" i="0" sz="2300" u="none" cap="none" strike="noStrike">
              <a:solidFill>
                <a:schemeClr val="dk1"/>
              </a:solidFill>
              <a:latin typeface="Arial"/>
              <a:ea typeface="Arial"/>
              <a:cs typeface="Arial"/>
              <a:sym typeface="Arial"/>
            </a:endParaRPr>
          </a:p>
        </p:txBody>
      </p:sp>
      <p:sp>
        <p:nvSpPr>
          <p:cNvPr id="48" name="Google Shape;48;p6"/>
          <p:cNvSpPr/>
          <p:nvPr/>
        </p:nvSpPr>
        <p:spPr>
          <a:xfrm>
            <a:off x="714756" y="3310558"/>
            <a:ext cx="411600" cy="411600"/>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9" name="Google Shape;49;p6"/>
          <p:cNvSpPr/>
          <p:nvPr/>
        </p:nvSpPr>
        <p:spPr>
          <a:xfrm>
            <a:off x="833628" y="3411142"/>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50" name="Google Shape;50;p6"/>
          <p:cNvSpPr/>
          <p:nvPr/>
        </p:nvSpPr>
        <p:spPr>
          <a:xfrm>
            <a:off x="1318260" y="3301414"/>
            <a:ext cx="117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i="0" lang="en-US" sz="2300" u="none" cap="none" strike="noStrike">
                <a:solidFill>
                  <a:srgbClr val="1F2937"/>
                </a:solidFill>
                <a:latin typeface="Arial"/>
                <a:ea typeface="Arial"/>
                <a:cs typeface="Arial"/>
                <a:sym typeface="Arial"/>
              </a:rPr>
              <a:t>Practice</a:t>
            </a:r>
            <a:endParaRPr b="0" i="0" sz="2300" u="none" cap="none" strike="noStrike">
              <a:solidFill>
                <a:schemeClr val="dk1"/>
              </a:solidFill>
              <a:latin typeface="Arial"/>
              <a:ea typeface="Arial"/>
              <a:cs typeface="Arial"/>
              <a:sym typeface="Arial"/>
            </a:endParaRPr>
          </a:p>
        </p:txBody>
      </p:sp>
      <p:sp>
        <p:nvSpPr>
          <p:cNvPr id="51" name="Google Shape;51;p6"/>
          <p:cNvSpPr/>
          <p:nvPr/>
        </p:nvSpPr>
        <p:spPr>
          <a:xfrm>
            <a:off x="3168960" y="3242014"/>
            <a:ext cx="7955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Arial"/>
              <a:buNone/>
            </a:pPr>
            <a:r>
              <a:rPr b="0" i="0" lang="en-US" sz="2300" u="none" cap="none" strike="noStrike">
                <a:solidFill>
                  <a:srgbClr val="475569"/>
                </a:solidFill>
                <a:latin typeface="Arial"/>
                <a:ea typeface="Arial"/>
                <a:cs typeface="Arial"/>
                <a:sym typeface="Arial"/>
              </a:rPr>
              <a:t>turning vague comments into actionable next steps</a:t>
            </a:r>
            <a:endParaRPr b="0" i="0" sz="2300" u="none" cap="none" strike="noStrike">
              <a:solidFill>
                <a:schemeClr val="dk1"/>
              </a:solidFill>
              <a:latin typeface="Arial"/>
              <a:ea typeface="Arial"/>
              <a:cs typeface="Arial"/>
              <a:sym typeface="Arial"/>
            </a:endParaRPr>
          </a:p>
        </p:txBody>
      </p:sp>
      <p:sp>
        <p:nvSpPr>
          <p:cNvPr id="52" name="Google Shape;52;p6"/>
          <p:cNvSpPr/>
          <p:nvPr/>
        </p:nvSpPr>
        <p:spPr>
          <a:xfrm>
            <a:off x="714756" y="4060366"/>
            <a:ext cx="411600" cy="411600"/>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53" name="Google Shape;53;p6"/>
          <p:cNvSpPr/>
          <p:nvPr/>
        </p:nvSpPr>
        <p:spPr>
          <a:xfrm>
            <a:off x="833628" y="4160950"/>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700" u="none" cap="none" strike="noStrike">
                <a:solidFill>
                  <a:srgbClr val="FFFFFF"/>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54" name="Google Shape;54;p6"/>
          <p:cNvSpPr/>
          <p:nvPr/>
        </p:nvSpPr>
        <p:spPr>
          <a:xfrm>
            <a:off x="1318260" y="4051222"/>
            <a:ext cx="117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i="0" lang="en-US" sz="2300" u="none" cap="none" strike="noStrike">
                <a:solidFill>
                  <a:srgbClr val="1F2937"/>
                </a:solidFill>
                <a:latin typeface="Arial"/>
                <a:ea typeface="Arial"/>
                <a:cs typeface="Arial"/>
                <a:sym typeface="Arial"/>
              </a:rPr>
              <a:t>Match</a:t>
            </a:r>
            <a:endParaRPr b="0" i="0" sz="2300" u="none" cap="none" strike="noStrike">
              <a:solidFill>
                <a:schemeClr val="dk1"/>
              </a:solidFill>
              <a:latin typeface="Arial"/>
              <a:ea typeface="Arial"/>
              <a:cs typeface="Arial"/>
              <a:sym typeface="Arial"/>
            </a:endParaRPr>
          </a:p>
        </p:txBody>
      </p:sp>
      <p:sp>
        <p:nvSpPr>
          <p:cNvPr id="55" name="Google Shape;55;p6"/>
          <p:cNvSpPr/>
          <p:nvPr/>
        </p:nvSpPr>
        <p:spPr>
          <a:xfrm>
            <a:off x="3168960" y="4021522"/>
            <a:ext cx="7955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Arial"/>
              <a:buNone/>
            </a:pPr>
            <a:r>
              <a:rPr b="0" i="0" lang="en-US" sz="2300" u="none" cap="none" strike="noStrike">
                <a:solidFill>
                  <a:srgbClr val="475569"/>
                </a:solidFill>
                <a:latin typeface="Arial"/>
                <a:ea typeface="Arial"/>
                <a:cs typeface="Arial"/>
                <a:sym typeface="Arial"/>
              </a:rPr>
              <a:t>the feedback method to the need</a:t>
            </a:r>
            <a:endParaRPr b="0" i="0" sz="2300" u="none" cap="none" strike="noStrike">
              <a:solidFill>
                <a:schemeClr val="dk1"/>
              </a:solidFill>
              <a:latin typeface="Arial"/>
              <a:ea typeface="Arial"/>
              <a:cs typeface="Arial"/>
              <a:sym typeface="Arial"/>
            </a:endParaRPr>
          </a:p>
        </p:txBody>
      </p:sp>
      <p:sp>
        <p:nvSpPr>
          <p:cNvPr id="56" name="Google Shape;56;p6"/>
          <p:cNvSpPr/>
          <p:nvPr/>
        </p:nvSpPr>
        <p:spPr>
          <a:xfrm>
            <a:off x="714756" y="4810174"/>
            <a:ext cx="411600" cy="411600"/>
          </a:xfrm>
          <a:prstGeom prst="ellipse">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57" name="Google Shape;57;p6"/>
          <p:cNvSpPr/>
          <p:nvPr/>
        </p:nvSpPr>
        <p:spPr>
          <a:xfrm>
            <a:off x="833628" y="4910758"/>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700" u="none" cap="none" strike="noStrike">
                <a:solidFill>
                  <a:srgbClr val="FFFFFF"/>
                </a:solidFill>
                <a:latin typeface="Arial"/>
                <a:ea typeface="Arial"/>
                <a:cs typeface="Arial"/>
                <a:sym typeface="Arial"/>
              </a:rPr>
              <a:t>4</a:t>
            </a:r>
            <a:endParaRPr b="0" i="0" sz="1700" u="none" cap="none" strike="noStrike">
              <a:solidFill>
                <a:schemeClr val="dk1"/>
              </a:solidFill>
              <a:latin typeface="Arial"/>
              <a:ea typeface="Arial"/>
              <a:cs typeface="Arial"/>
              <a:sym typeface="Arial"/>
            </a:endParaRPr>
          </a:p>
        </p:txBody>
      </p:sp>
      <p:sp>
        <p:nvSpPr>
          <p:cNvPr id="58" name="Google Shape;58;p6"/>
          <p:cNvSpPr/>
          <p:nvPr/>
        </p:nvSpPr>
        <p:spPr>
          <a:xfrm>
            <a:off x="1318260" y="4801030"/>
            <a:ext cx="117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i="0" lang="en-US" sz="2300" u="none" cap="none" strike="noStrike">
                <a:solidFill>
                  <a:srgbClr val="1F2937"/>
                </a:solidFill>
                <a:latin typeface="Arial"/>
                <a:ea typeface="Arial"/>
                <a:cs typeface="Arial"/>
                <a:sym typeface="Arial"/>
              </a:rPr>
              <a:t>Connect</a:t>
            </a:r>
            <a:endParaRPr b="0" i="0" sz="2300" u="none" cap="none" strike="noStrike">
              <a:solidFill>
                <a:schemeClr val="dk1"/>
              </a:solidFill>
              <a:latin typeface="Arial"/>
              <a:ea typeface="Arial"/>
              <a:cs typeface="Arial"/>
              <a:sym typeface="Arial"/>
            </a:endParaRPr>
          </a:p>
        </p:txBody>
      </p:sp>
      <p:sp>
        <p:nvSpPr>
          <p:cNvPr id="59" name="Google Shape;59;p6"/>
          <p:cNvSpPr/>
          <p:nvPr/>
        </p:nvSpPr>
        <p:spPr>
          <a:xfrm>
            <a:off x="3168960" y="4801030"/>
            <a:ext cx="7955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Arial"/>
              <a:buNone/>
            </a:pPr>
            <a:r>
              <a:rPr b="0" i="0" lang="en-US" sz="2300" u="none" cap="none" strike="noStrike">
                <a:solidFill>
                  <a:srgbClr val="475569"/>
                </a:solidFill>
                <a:latin typeface="Arial"/>
                <a:ea typeface="Arial"/>
                <a:cs typeface="Arial"/>
                <a:sym typeface="Arial"/>
              </a:rPr>
              <a:t>classroom feedback to an accurate, current ASPEN gradebook</a:t>
            </a:r>
            <a:endParaRPr b="0" i="0" sz="2300" u="none" cap="none" strike="noStrike">
              <a:solidFill>
                <a:schemeClr val="dk1"/>
              </a:solidFill>
              <a:latin typeface="Arial"/>
              <a:ea typeface="Arial"/>
              <a:cs typeface="Arial"/>
              <a:sym typeface="Arial"/>
            </a:endParaRPr>
          </a:p>
        </p:txBody>
      </p:sp>
      <p:sp>
        <p:nvSpPr>
          <p:cNvPr id="60" name="Google Shape;60;p6"/>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7"/>
          <p:cNvSpPr/>
          <p:nvPr/>
        </p:nvSpPr>
        <p:spPr>
          <a:xfrm>
            <a:off x="6281878" y="4572058"/>
            <a:ext cx="5193900" cy="96000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658306" y="3246185"/>
            <a:ext cx="5193900" cy="96000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530352" y="841248"/>
            <a:ext cx="11018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lang="en-US" sz="2800">
                <a:solidFill>
                  <a:srgbClr val="1F2937"/>
                </a:solidFill>
              </a:rPr>
              <a:t>Question 1: </a:t>
            </a:r>
            <a:r>
              <a:rPr b="1" i="0" lang="en-US" sz="2800" u="none" cap="none" strike="noStrike">
                <a:solidFill>
                  <a:srgbClr val="1F2937"/>
                </a:solidFill>
                <a:latin typeface="Arial"/>
                <a:ea typeface="Arial"/>
                <a:cs typeface="Arial"/>
                <a:sym typeface="Arial"/>
              </a:rPr>
              <a:t>Would this help you improve?</a:t>
            </a:r>
            <a:endParaRPr b="0" i="0" sz="2800" u="none" cap="none" strike="noStrike">
              <a:solidFill>
                <a:schemeClr val="dk1"/>
              </a:solidFill>
              <a:latin typeface="Arial"/>
              <a:ea typeface="Arial"/>
              <a:cs typeface="Arial"/>
              <a:sym typeface="Arial"/>
            </a:endParaRPr>
          </a:p>
        </p:txBody>
      </p:sp>
      <p:sp>
        <p:nvSpPr>
          <p:cNvPr id="69" name="Google Shape;69;p7"/>
          <p:cNvSpPr/>
          <p:nvPr/>
        </p:nvSpPr>
        <p:spPr>
          <a:xfrm>
            <a:off x="530352" y="1417320"/>
            <a:ext cx="10881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450" u="none" cap="none" strike="noStrike">
                <a:solidFill>
                  <a:srgbClr val="475569"/>
                </a:solidFill>
                <a:latin typeface="Arial"/>
                <a:ea typeface="Arial"/>
                <a:cs typeface="Arial"/>
                <a:sym typeface="Arial"/>
              </a:rPr>
              <a:t>At your table: decide whether each comment gives a student a usable next step.</a:t>
            </a:r>
            <a:endParaRPr b="0" i="0" sz="1450" u="none" cap="none" strike="noStrike">
              <a:solidFill>
                <a:schemeClr val="dk1"/>
              </a:solidFill>
              <a:latin typeface="Arial"/>
              <a:ea typeface="Arial"/>
              <a:cs typeface="Arial"/>
              <a:sym typeface="Arial"/>
            </a:endParaRPr>
          </a:p>
        </p:txBody>
      </p:sp>
      <p:sp>
        <p:nvSpPr>
          <p:cNvPr id="70" name="Google Shape;70;p7"/>
          <p:cNvSpPr/>
          <p:nvPr/>
        </p:nvSpPr>
        <p:spPr>
          <a:xfrm>
            <a:off x="658368" y="1984248"/>
            <a:ext cx="5193792" cy="96012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859536" y="2167128"/>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A: </a:t>
            </a:r>
            <a:r>
              <a:rPr b="0" i="0" lang="en-US" sz="1550" u="none" cap="none" strike="noStrike">
                <a:solidFill>
                  <a:srgbClr val="1F2937"/>
                </a:solidFill>
                <a:latin typeface="Arial"/>
                <a:ea typeface="Arial"/>
                <a:cs typeface="Arial"/>
                <a:sym typeface="Arial"/>
              </a:rPr>
              <a:t>“Good job!”</a:t>
            </a:r>
            <a:endParaRPr b="0" i="0" sz="1550" u="none" cap="none" strike="noStrike">
              <a:solidFill>
                <a:schemeClr val="dk1"/>
              </a:solidFill>
              <a:latin typeface="Arial"/>
              <a:ea typeface="Arial"/>
              <a:cs typeface="Arial"/>
              <a:sym typeface="Arial"/>
            </a:endParaRPr>
          </a:p>
        </p:txBody>
      </p:sp>
      <p:sp>
        <p:nvSpPr>
          <p:cNvPr id="72" name="Google Shape;72;p7"/>
          <p:cNvSpPr/>
          <p:nvPr/>
        </p:nvSpPr>
        <p:spPr>
          <a:xfrm>
            <a:off x="5276088" y="2249424"/>
            <a:ext cx="347472" cy="347472"/>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5367528" y="2340864"/>
            <a:ext cx="164592"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74" name="Google Shape;74;p7"/>
          <p:cNvSpPr/>
          <p:nvPr/>
        </p:nvSpPr>
        <p:spPr>
          <a:xfrm>
            <a:off x="6281928" y="1984248"/>
            <a:ext cx="5193792" cy="96012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6483096" y="2167128"/>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B: </a:t>
            </a:r>
            <a:r>
              <a:rPr b="0" i="0" lang="en-US" sz="1550" u="none" cap="none" strike="noStrike">
                <a:solidFill>
                  <a:srgbClr val="1F2937"/>
                </a:solidFill>
                <a:latin typeface="Arial"/>
                <a:ea typeface="Arial"/>
                <a:cs typeface="Arial"/>
                <a:sym typeface="Arial"/>
              </a:rPr>
              <a:t>“Check #4.”</a:t>
            </a:r>
            <a:endParaRPr b="0" i="0" sz="1550" u="none" cap="none" strike="noStrike">
              <a:solidFill>
                <a:schemeClr val="dk1"/>
              </a:solidFill>
              <a:latin typeface="Arial"/>
              <a:ea typeface="Arial"/>
              <a:cs typeface="Arial"/>
              <a:sym typeface="Arial"/>
            </a:endParaRPr>
          </a:p>
        </p:txBody>
      </p:sp>
      <p:sp>
        <p:nvSpPr>
          <p:cNvPr id="76" name="Google Shape;76;p7"/>
          <p:cNvSpPr/>
          <p:nvPr/>
        </p:nvSpPr>
        <p:spPr>
          <a:xfrm>
            <a:off x="10899648" y="2249424"/>
            <a:ext cx="347472" cy="347472"/>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10991088" y="2340864"/>
            <a:ext cx="164592"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78" name="Google Shape;78;p7"/>
          <p:cNvSpPr/>
          <p:nvPr/>
        </p:nvSpPr>
        <p:spPr>
          <a:xfrm>
            <a:off x="859536" y="3429000"/>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C. </a:t>
            </a:r>
            <a:r>
              <a:rPr i="0" lang="en-US" sz="1550" u="none" cap="none" strike="noStrike">
                <a:solidFill>
                  <a:srgbClr val="1F2937"/>
                </a:solidFill>
              </a:rPr>
              <a:t>“Your claim is clear. Now explain how the evidence proves it.”</a:t>
            </a:r>
            <a:endParaRPr i="0" sz="1550" u="none" cap="none" strike="noStrike">
              <a:solidFill>
                <a:schemeClr val="dk1"/>
              </a:solidFill>
            </a:endParaRPr>
          </a:p>
        </p:txBody>
      </p:sp>
      <p:sp>
        <p:nvSpPr>
          <p:cNvPr id="79" name="Google Shape;79;p7"/>
          <p:cNvSpPr/>
          <p:nvPr/>
        </p:nvSpPr>
        <p:spPr>
          <a:xfrm>
            <a:off x="6281928" y="3246120"/>
            <a:ext cx="5193792" cy="96012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6483096" y="3429000"/>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D. </a:t>
            </a:r>
            <a:r>
              <a:rPr b="0" i="0" lang="en-US" sz="1550" u="none" cap="none" strike="noStrike">
                <a:solidFill>
                  <a:srgbClr val="1F2937"/>
                </a:solidFill>
                <a:latin typeface="Arial"/>
                <a:ea typeface="Arial"/>
                <a:cs typeface="Arial"/>
                <a:sym typeface="Arial"/>
              </a:rPr>
              <a:t>“82%”</a:t>
            </a:r>
            <a:endParaRPr b="0" i="0" sz="1550" u="none" cap="none" strike="noStrike">
              <a:solidFill>
                <a:schemeClr val="dk1"/>
              </a:solidFill>
              <a:latin typeface="Arial"/>
              <a:ea typeface="Arial"/>
              <a:cs typeface="Arial"/>
              <a:sym typeface="Arial"/>
            </a:endParaRPr>
          </a:p>
        </p:txBody>
      </p:sp>
      <p:sp>
        <p:nvSpPr>
          <p:cNvPr id="81" name="Google Shape;81;p7"/>
          <p:cNvSpPr/>
          <p:nvPr/>
        </p:nvSpPr>
        <p:spPr>
          <a:xfrm>
            <a:off x="10899648" y="3511296"/>
            <a:ext cx="347472" cy="347472"/>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10991088" y="3602736"/>
            <a:ext cx="164592"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83" name="Google Shape;83;p7"/>
          <p:cNvSpPr/>
          <p:nvPr/>
        </p:nvSpPr>
        <p:spPr>
          <a:xfrm>
            <a:off x="658368" y="4507992"/>
            <a:ext cx="5193792" cy="960120"/>
          </a:xfrm>
          <a:prstGeom prst="roundRect">
            <a:avLst>
              <a:gd fmla="val 761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859536" y="4690872"/>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E. </a:t>
            </a:r>
            <a:r>
              <a:rPr b="0" i="0" lang="en-US" sz="1550" u="none" cap="none" strike="noStrike">
                <a:solidFill>
                  <a:srgbClr val="1F2937"/>
                </a:solidFill>
                <a:latin typeface="Arial"/>
                <a:ea typeface="Arial"/>
                <a:cs typeface="Arial"/>
                <a:sym typeface="Arial"/>
              </a:rPr>
              <a:t>“You need more detail.”</a:t>
            </a:r>
            <a:endParaRPr b="0" i="0" sz="1550" u="none" cap="none" strike="noStrike">
              <a:solidFill>
                <a:schemeClr val="dk1"/>
              </a:solidFill>
              <a:latin typeface="Arial"/>
              <a:ea typeface="Arial"/>
              <a:cs typeface="Arial"/>
              <a:sym typeface="Arial"/>
            </a:endParaRPr>
          </a:p>
        </p:txBody>
      </p:sp>
      <p:sp>
        <p:nvSpPr>
          <p:cNvPr id="85" name="Google Shape;85;p7"/>
          <p:cNvSpPr/>
          <p:nvPr/>
        </p:nvSpPr>
        <p:spPr>
          <a:xfrm>
            <a:off x="5276088" y="4773168"/>
            <a:ext cx="347472" cy="347472"/>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5367528" y="4864608"/>
            <a:ext cx="164592"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87" name="Google Shape;87;p7"/>
          <p:cNvSpPr/>
          <p:nvPr/>
        </p:nvSpPr>
        <p:spPr>
          <a:xfrm>
            <a:off x="6483096" y="4690872"/>
            <a:ext cx="44074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50"/>
              <a:buFont typeface="Arial"/>
              <a:buNone/>
            </a:pPr>
            <a:r>
              <a:rPr lang="en-US" sz="1550">
                <a:solidFill>
                  <a:srgbClr val="1F2937"/>
                </a:solidFill>
              </a:rPr>
              <a:t>F: </a:t>
            </a:r>
            <a:r>
              <a:rPr i="0" lang="en-US" sz="1550" u="none" cap="none" strike="noStrike">
                <a:solidFill>
                  <a:srgbClr val="1F2937"/>
                </a:solidFill>
              </a:rPr>
              <a:t>“Your setup is correct. Recheck the sign before solving.”</a:t>
            </a:r>
            <a:endParaRPr i="0" sz="1550" u="none" cap="none" strike="noStrike">
              <a:solidFill>
                <a:schemeClr val="dk1"/>
              </a:solidFill>
            </a:endParaRPr>
          </a:p>
        </p:txBody>
      </p:sp>
      <p:sp>
        <p:nvSpPr>
          <p:cNvPr id="88" name="Google Shape;88;p7"/>
          <p:cNvSpPr/>
          <p:nvPr/>
        </p:nvSpPr>
        <p:spPr>
          <a:xfrm>
            <a:off x="10991088" y="4864608"/>
            <a:ext cx="164592"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89" name="Google Shape;89;p7"/>
          <p:cNvSpPr/>
          <p:nvPr/>
        </p:nvSpPr>
        <p:spPr>
          <a:xfrm>
            <a:off x="1920240" y="5897880"/>
            <a:ext cx="8275320" cy="384048"/>
          </a:xfrm>
          <a:prstGeom prst="roundRect">
            <a:avLst>
              <a:gd fmla="val 19048" name="adj"/>
            </a:avLst>
          </a:prstGeom>
          <a:solidFill>
            <a:srgbClr val="FFF4F4"/>
          </a:solidFill>
          <a:ln cap="flat" cmpd="sng" w="12700">
            <a:solidFill>
              <a:srgbClr val="F2C7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2103120" y="6007608"/>
            <a:ext cx="790956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0E15"/>
              </a:buClr>
              <a:buSzPts val="1250"/>
              <a:buFont typeface="Arial"/>
              <a:buNone/>
            </a:pPr>
            <a:r>
              <a:rPr b="1" i="0" lang="en-US" sz="1250" u="none" cap="none" strike="noStrike">
                <a:solidFill>
                  <a:srgbClr val="8F0E15"/>
                </a:solidFill>
                <a:latin typeface="Arial"/>
                <a:ea typeface="Arial"/>
                <a:cs typeface="Arial"/>
                <a:sym typeface="Arial"/>
              </a:rPr>
              <a:t>Key question: Could the student do something different or better because of this feedback?</a:t>
            </a:r>
            <a:endParaRPr b="0" i="0" sz="1250" u="none" cap="none" strike="noStrike">
              <a:solidFill>
                <a:schemeClr val="dk1"/>
              </a:solidFill>
              <a:latin typeface="Arial"/>
              <a:ea typeface="Arial"/>
              <a:cs typeface="Arial"/>
              <a:sym typeface="Arial"/>
            </a:endParaRPr>
          </a:p>
        </p:txBody>
      </p:sp>
      <p:sp>
        <p:nvSpPr>
          <p:cNvPr id="91" name="Google Shape;91;p7"/>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
        <p:nvSpPr>
          <p:cNvPr id="92" name="Google Shape;92;p7"/>
          <p:cNvSpPr/>
          <p:nvPr/>
        </p:nvSpPr>
        <p:spPr>
          <a:xfrm>
            <a:off x="5276113" y="3552486"/>
            <a:ext cx="347400" cy="347400"/>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5367553" y="3643926"/>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94" name="Google Shape;94;p7"/>
          <p:cNvSpPr/>
          <p:nvPr/>
        </p:nvSpPr>
        <p:spPr>
          <a:xfrm>
            <a:off x="10948188" y="4919486"/>
            <a:ext cx="347400" cy="347400"/>
          </a:xfrm>
          <a:prstGeom prst="ellipse">
            <a:avLst/>
          </a:prstGeom>
          <a:solidFill>
            <a:srgbClr val="F1F3F5"/>
          </a:solidFill>
          <a:ln cap="flat" cmpd="sng" w="12700">
            <a:solidFill>
              <a:srgbClr val="D4D8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11039628" y="5010926"/>
            <a:ext cx="16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Arial"/>
              <a:buNone/>
            </a:pPr>
            <a:r>
              <a:rPr b="1" i="0" lang="en-US" sz="1000" u="none" cap="none" strike="noStrike">
                <a:solidFill>
                  <a:srgbClr val="475569"/>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pic>
        <p:nvPicPr>
          <p:cNvPr id="96" name="Google Shape;96;p7" title="Screenshot 2026-09-29 at 4.28.03 PM.png"/>
          <p:cNvPicPr preferRelativeResize="0"/>
          <p:nvPr/>
        </p:nvPicPr>
        <p:blipFill>
          <a:blip r:embed="rId3">
            <a:alphaModFix/>
          </a:blip>
          <a:stretch>
            <a:fillRect/>
          </a:stretch>
        </p:blipFill>
        <p:spPr>
          <a:xfrm>
            <a:off x="8704726" y="245974"/>
            <a:ext cx="1571325" cy="1586374"/>
          </a:xfrm>
          <a:prstGeom prst="rect">
            <a:avLst/>
          </a:prstGeom>
          <a:noFill/>
          <a:ln>
            <a:noFill/>
          </a:ln>
        </p:spPr>
      </p:pic>
      <p:sp>
        <p:nvSpPr>
          <p:cNvPr id="97" name="Google Shape;97;p7"/>
          <p:cNvSpPr txBox="1"/>
          <p:nvPr/>
        </p:nvSpPr>
        <p:spPr>
          <a:xfrm>
            <a:off x="10420917" y="786811"/>
            <a:ext cx="826200" cy="417300"/>
          </a:xfrm>
          <a:prstGeom prst="rect">
            <a:avLst/>
          </a:prstGeom>
          <a:noFill/>
          <a:ln>
            <a:noFill/>
          </a:ln>
        </p:spPr>
        <p:txBody>
          <a:bodyPr anchorCtr="0" anchor="t" bIns="63550" lIns="63550" spcFirstLastPara="1" rIns="63550" wrap="square" tIns="63550">
            <a:spAutoFit/>
          </a:bodyPr>
          <a:lstStyle/>
          <a:p>
            <a:pPr indent="0" lvl="0" marL="0" rtl="0" algn="l">
              <a:spcBef>
                <a:spcPts val="0"/>
              </a:spcBef>
              <a:spcAft>
                <a:spcPts val="0"/>
              </a:spcAft>
              <a:buNone/>
            </a:pPr>
            <a:r>
              <a:rPr lang="en-US" sz="1877" u="sng">
                <a:solidFill>
                  <a:schemeClr val="hlink"/>
                </a:solidFill>
                <a:hlinkClick r:id="rId4"/>
              </a:rPr>
              <a:t>Padlet</a:t>
            </a:r>
            <a:endParaRPr sz="1877"/>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p:nvPr/>
        </p:nvSpPr>
        <p:spPr>
          <a:xfrm>
            <a:off x="530352" y="841248"/>
            <a:ext cx="11018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Effective feedback has four qualities</a:t>
            </a:r>
            <a:endParaRPr b="0" i="0" sz="2800" u="none" cap="none" strike="noStrike">
              <a:solidFill>
                <a:schemeClr val="dk1"/>
              </a:solidFill>
              <a:latin typeface="Arial"/>
              <a:ea typeface="Arial"/>
              <a:cs typeface="Arial"/>
              <a:sym typeface="Arial"/>
            </a:endParaRPr>
          </a:p>
        </p:txBody>
      </p:sp>
      <p:sp>
        <p:nvSpPr>
          <p:cNvPr id="104" name="Google Shape;104;p8"/>
          <p:cNvSpPr/>
          <p:nvPr/>
        </p:nvSpPr>
        <p:spPr>
          <a:xfrm>
            <a:off x="530352" y="1417320"/>
            <a:ext cx="10881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1" lang="en-US" sz="1450" u="none" cap="none" strike="noStrike">
                <a:solidFill>
                  <a:srgbClr val="475569"/>
                </a:solidFill>
                <a:latin typeface="Arial"/>
                <a:ea typeface="Arial"/>
                <a:cs typeface="Arial"/>
                <a:sym typeface="Arial"/>
              </a:rPr>
              <a:t>It does not need to be long—but it should move the learning forward.</a:t>
            </a:r>
            <a:endParaRPr b="0" i="1" sz="1450" u="none" cap="none" strike="noStrike">
              <a:solidFill>
                <a:schemeClr val="dk1"/>
              </a:solidFill>
              <a:latin typeface="Arial"/>
              <a:ea typeface="Arial"/>
              <a:cs typeface="Arial"/>
              <a:sym typeface="Arial"/>
            </a:endParaRPr>
          </a:p>
        </p:txBody>
      </p:sp>
      <p:sp>
        <p:nvSpPr>
          <p:cNvPr id="105" name="Google Shape;105;p8"/>
          <p:cNvSpPr/>
          <p:nvPr/>
        </p:nvSpPr>
        <p:spPr>
          <a:xfrm>
            <a:off x="658368" y="2048256"/>
            <a:ext cx="2523744" cy="2944368"/>
          </a:xfrm>
          <a:prstGeom prst="roundRect">
            <a:avLst>
              <a:gd fmla="val 289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1499616" y="2331720"/>
            <a:ext cx="822960" cy="822960"/>
          </a:xfrm>
          <a:prstGeom prst="ellipse">
            <a:avLst/>
          </a:prstGeom>
          <a:solidFill>
            <a:srgbClr val="F1F3F5"/>
          </a:solidFill>
          <a:ln cap="flat" cmpd="sng" w="12700">
            <a:solidFill>
              <a:srgbClr val="D7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1682496" y="2523744"/>
            <a:ext cx="457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08" name="Google Shape;108;p8"/>
          <p:cNvSpPr/>
          <p:nvPr/>
        </p:nvSpPr>
        <p:spPr>
          <a:xfrm>
            <a:off x="841248" y="3401568"/>
            <a:ext cx="21579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550"/>
              <a:buFont typeface="Arial"/>
              <a:buNone/>
            </a:pPr>
            <a:r>
              <a:rPr b="1" i="0" lang="en-US" sz="1550" u="none" cap="none" strike="noStrike">
                <a:solidFill>
                  <a:srgbClr val="1F2937"/>
                </a:solidFill>
                <a:latin typeface="Arial"/>
                <a:ea typeface="Arial"/>
                <a:cs typeface="Arial"/>
                <a:sym typeface="Arial"/>
              </a:rPr>
              <a:t>TIMELY</a:t>
            </a:r>
            <a:endParaRPr b="0" i="0" sz="1550" u="none" cap="none" strike="noStrike">
              <a:solidFill>
                <a:schemeClr val="dk1"/>
              </a:solidFill>
              <a:latin typeface="Arial"/>
              <a:ea typeface="Arial"/>
              <a:cs typeface="Arial"/>
              <a:sym typeface="Arial"/>
            </a:endParaRPr>
          </a:p>
        </p:txBody>
      </p:sp>
      <p:sp>
        <p:nvSpPr>
          <p:cNvPr id="109" name="Google Shape;109;p8"/>
          <p:cNvSpPr/>
          <p:nvPr/>
        </p:nvSpPr>
        <p:spPr>
          <a:xfrm>
            <a:off x="886968" y="3877056"/>
            <a:ext cx="2066544" cy="9144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475569"/>
              </a:buClr>
              <a:buSzPts val="1250"/>
              <a:buFont typeface="Arial"/>
              <a:buNone/>
            </a:pPr>
            <a:r>
              <a:rPr b="0" i="0" lang="en-US" sz="1250" u="none" cap="none" strike="noStrike">
                <a:solidFill>
                  <a:srgbClr val="475569"/>
                </a:solidFill>
                <a:latin typeface="Arial"/>
                <a:ea typeface="Arial"/>
                <a:cs typeface="Arial"/>
                <a:sym typeface="Arial"/>
              </a:rPr>
              <a:t>Close enough to the learning that the student can still use it.</a:t>
            </a:r>
            <a:endParaRPr b="0" i="0" sz="1250" u="none" cap="none" strike="noStrike">
              <a:solidFill>
                <a:schemeClr val="dk1"/>
              </a:solidFill>
              <a:latin typeface="Arial"/>
              <a:ea typeface="Arial"/>
              <a:cs typeface="Arial"/>
              <a:sym typeface="Arial"/>
            </a:endParaRPr>
          </a:p>
        </p:txBody>
      </p:sp>
      <p:sp>
        <p:nvSpPr>
          <p:cNvPr id="110" name="Google Shape;110;p8"/>
          <p:cNvSpPr/>
          <p:nvPr/>
        </p:nvSpPr>
        <p:spPr>
          <a:xfrm>
            <a:off x="3456432" y="2048256"/>
            <a:ext cx="2523744" cy="2944368"/>
          </a:xfrm>
          <a:prstGeom prst="roundRect">
            <a:avLst>
              <a:gd fmla="val 289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4297680" y="2331720"/>
            <a:ext cx="822960" cy="822960"/>
          </a:xfrm>
          <a:prstGeom prst="ellipse">
            <a:avLst/>
          </a:prstGeom>
          <a:solidFill>
            <a:srgbClr val="F1F3F5"/>
          </a:solidFill>
          <a:ln cap="flat" cmpd="sng" w="12700">
            <a:solidFill>
              <a:srgbClr val="D7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4480560" y="2523744"/>
            <a:ext cx="457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13" name="Google Shape;113;p8"/>
          <p:cNvSpPr/>
          <p:nvPr/>
        </p:nvSpPr>
        <p:spPr>
          <a:xfrm>
            <a:off x="3639312" y="3401568"/>
            <a:ext cx="21579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550"/>
              <a:buFont typeface="Arial"/>
              <a:buNone/>
            </a:pPr>
            <a:r>
              <a:rPr b="1" i="0" lang="en-US" sz="1550" u="none" cap="none" strike="noStrike">
                <a:solidFill>
                  <a:srgbClr val="1F2937"/>
                </a:solidFill>
                <a:latin typeface="Arial"/>
                <a:ea typeface="Arial"/>
                <a:cs typeface="Arial"/>
                <a:sym typeface="Arial"/>
              </a:rPr>
              <a:t>SPECIFIC</a:t>
            </a:r>
            <a:endParaRPr b="0" i="0" sz="1550" u="none" cap="none" strike="noStrike">
              <a:solidFill>
                <a:schemeClr val="dk1"/>
              </a:solidFill>
              <a:latin typeface="Arial"/>
              <a:ea typeface="Arial"/>
              <a:cs typeface="Arial"/>
              <a:sym typeface="Arial"/>
            </a:endParaRPr>
          </a:p>
        </p:txBody>
      </p:sp>
      <p:sp>
        <p:nvSpPr>
          <p:cNvPr id="114" name="Google Shape;114;p8"/>
          <p:cNvSpPr/>
          <p:nvPr/>
        </p:nvSpPr>
        <p:spPr>
          <a:xfrm>
            <a:off x="3685032" y="3877056"/>
            <a:ext cx="2066544" cy="9144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475569"/>
              </a:buClr>
              <a:buSzPts val="1250"/>
              <a:buFont typeface="Arial"/>
              <a:buNone/>
            </a:pPr>
            <a:r>
              <a:rPr b="0" i="0" lang="en-US" sz="1250" u="none" cap="none" strike="noStrike">
                <a:solidFill>
                  <a:srgbClr val="475569"/>
                </a:solidFill>
                <a:latin typeface="Arial"/>
                <a:ea typeface="Arial"/>
                <a:cs typeface="Arial"/>
                <a:sym typeface="Arial"/>
              </a:rPr>
              <a:t>Names what is working or what needs attention.</a:t>
            </a:r>
            <a:endParaRPr b="0" i="0" sz="1250" u="none" cap="none" strike="noStrike">
              <a:solidFill>
                <a:schemeClr val="dk1"/>
              </a:solidFill>
              <a:latin typeface="Arial"/>
              <a:ea typeface="Arial"/>
              <a:cs typeface="Arial"/>
              <a:sym typeface="Arial"/>
            </a:endParaRPr>
          </a:p>
        </p:txBody>
      </p:sp>
      <p:sp>
        <p:nvSpPr>
          <p:cNvPr id="115" name="Google Shape;115;p8"/>
          <p:cNvSpPr/>
          <p:nvPr/>
        </p:nvSpPr>
        <p:spPr>
          <a:xfrm>
            <a:off x="6254496" y="2048256"/>
            <a:ext cx="2523744" cy="2944368"/>
          </a:xfrm>
          <a:prstGeom prst="roundRect">
            <a:avLst>
              <a:gd fmla="val 2899" name="adj"/>
            </a:avLst>
          </a:prstGeom>
          <a:solidFill>
            <a:srgbClr val="FFF7F7"/>
          </a:solidFill>
          <a:ln cap="flat" cmpd="sng" w="12700">
            <a:solidFill>
              <a:srgbClr val="E9B7BB"/>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7095744" y="2331720"/>
            <a:ext cx="822960" cy="822960"/>
          </a:xfrm>
          <a:prstGeom prst="ellipse">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7278624" y="2523744"/>
            <a:ext cx="457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18" name="Google Shape;118;p8"/>
          <p:cNvSpPr/>
          <p:nvPr/>
        </p:nvSpPr>
        <p:spPr>
          <a:xfrm>
            <a:off x="6437376" y="3401568"/>
            <a:ext cx="21579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121B"/>
              </a:buClr>
              <a:buSzPts val="1550"/>
              <a:buFont typeface="Arial"/>
              <a:buNone/>
            </a:pPr>
            <a:r>
              <a:rPr b="1" i="0" lang="en-US" sz="1550" u="none" cap="none" strike="noStrike">
                <a:solidFill>
                  <a:srgbClr val="B5121B"/>
                </a:solidFill>
                <a:latin typeface="Arial"/>
                <a:ea typeface="Arial"/>
                <a:cs typeface="Arial"/>
                <a:sym typeface="Arial"/>
              </a:rPr>
              <a:t>ACTIONABLE</a:t>
            </a:r>
            <a:endParaRPr b="0" i="0" sz="1550" u="none" cap="none" strike="noStrike">
              <a:solidFill>
                <a:schemeClr val="dk1"/>
              </a:solidFill>
              <a:latin typeface="Arial"/>
              <a:ea typeface="Arial"/>
              <a:cs typeface="Arial"/>
              <a:sym typeface="Arial"/>
            </a:endParaRPr>
          </a:p>
        </p:txBody>
      </p:sp>
      <p:sp>
        <p:nvSpPr>
          <p:cNvPr id="119" name="Google Shape;119;p8"/>
          <p:cNvSpPr/>
          <p:nvPr/>
        </p:nvSpPr>
        <p:spPr>
          <a:xfrm>
            <a:off x="6483096" y="3877056"/>
            <a:ext cx="2066544" cy="9144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475569"/>
              </a:buClr>
              <a:buSzPts val="1250"/>
              <a:buFont typeface="Arial"/>
              <a:buNone/>
            </a:pPr>
            <a:r>
              <a:rPr b="0" i="0" lang="en-US" sz="1250" u="none" cap="none" strike="noStrike">
                <a:solidFill>
                  <a:srgbClr val="475569"/>
                </a:solidFill>
                <a:latin typeface="Arial"/>
                <a:ea typeface="Arial"/>
                <a:cs typeface="Arial"/>
                <a:sym typeface="Arial"/>
              </a:rPr>
              <a:t>Gives the student a clear next step.</a:t>
            </a:r>
            <a:endParaRPr b="0" i="0" sz="1250" u="none" cap="none" strike="noStrike">
              <a:solidFill>
                <a:schemeClr val="dk1"/>
              </a:solidFill>
              <a:latin typeface="Arial"/>
              <a:ea typeface="Arial"/>
              <a:cs typeface="Arial"/>
              <a:sym typeface="Arial"/>
            </a:endParaRPr>
          </a:p>
        </p:txBody>
      </p:sp>
      <p:sp>
        <p:nvSpPr>
          <p:cNvPr id="120" name="Google Shape;120;p8"/>
          <p:cNvSpPr/>
          <p:nvPr/>
        </p:nvSpPr>
        <p:spPr>
          <a:xfrm>
            <a:off x="9052560" y="2048256"/>
            <a:ext cx="2523744" cy="2944368"/>
          </a:xfrm>
          <a:prstGeom prst="roundRect">
            <a:avLst>
              <a:gd fmla="val 2899"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9893808" y="2331720"/>
            <a:ext cx="822960" cy="822960"/>
          </a:xfrm>
          <a:prstGeom prst="ellipse">
            <a:avLst/>
          </a:prstGeom>
          <a:solidFill>
            <a:srgbClr val="F1F3F5"/>
          </a:solidFill>
          <a:ln cap="flat" cmpd="sng" w="12700">
            <a:solidFill>
              <a:srgbClr val="D7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10076688" y="2523744"/>
            <a:ext cx="457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23" name="Google Shape;123;p8"/>
          <p:cNvSpPr/>
          <p:nvPr/>
        </p:nvSpPr>
        <p:spPr>
          <a:xfrm>
            <a:off x="9235440" y="3401568"/>
            <a:ext cx="21579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550"/>
              <a:buFont typeface="Arial"/>
              <a:buNone/>
            </a:pPr>
            <a:r>
              <a:rPr b="1" i="0" lang="en-US" sz="1550" u="none" cap="none" strike="noStrike">
                <a:solidFill>
                  <a:srgbClr val="1F2937"/>
                </a:solidFill>
                <a:latin typeface="Arial"/>
                <a:ea typeface="Arial"/>
                <a:cs typeface="Arial"/>
                <a:sym typeface="Arial"/>
              </a:rPr>
              <a:t>CONNECTED</a:t>
            </a:r>
            <a:endParaRPr b="0" i="0" sz="1550" u="none" cap="none" strike="noStrike">
              <a:solidFill>
                <a:schemeClr val="dk1"/>
              </a:solidFill>
              <a:latin typeface="Arial"/>
              <a:ea typeface="Arial"/>
              <a:cs typeface="Arial"/>
              <a:sym typeface="Arial"/>
            </a:endParaRPr>
          </a:p>
        </p:txBody>
      </p:sp>
      <p:sp>
        <p:nvSpPr>
          <p:cNvPr id="124" name="Google Shape;124;p8"/>
          <p:cNvSpPr/>
          <p:nvPr/>
        </p:nvSpPr>
        <p:spPr>
          <a:xfrm>
            <a:off x="9281160" y="3877056"/>
            <a:ext cx="2066544" cy="9144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475569"/>
              </a:buClr>
              <a:buSzPts val="1250"/>
              <a:buFont typeface="Arial"/>
              <a:buNone/>
            </a:pPr>
            <a:r>
              <a:rPr b="0" i="0" lang="en-US" sz="1250" u="none" cap="none" strike="noStrike">
                <a:solidFill>
                  <a:srgbClr val="475569"/>
                </a:solidFill>
                <a:latin typeface="Arial"/>
                <a:ea typeface="Arial"/>
                <a:cs typeface="Arial"/>
                <a:sym typeface="Arial"/>
              </a:rPr>
              <a:t>Links to the learning goal, skill, criteria, rubric, or standard.</a:t>
            </a:r>
            <a:endParaRPr b="0" i="0" sz="1250" u="none" cap="none" strike="noStrike">
              <a:solidFill>
                <a:schemeClr val="dk1"/>
              </a:solidFill>
              <a:latin typeface="Arial"/>
              <a:ea typeface="Arial"/>
              <a:cs typeface="Arial"/>
              <a:sym typeface="Arial"/>
            </a:endParaRPr>
          </a:p>
        </p:txBody>
      </p:sp>
      <p:sp>
        <p:nvSpPr>
          <p:cNvPr id="125" name="Google Shape;125;p8"/>
          <p:cNvSpPr/>
          <p:nvPr/>
        </p:nvSpPr>
        <p:spPr>
          <a:xfrm>
            <a:off x="811650" y="5239500"/>
            <a:ext cx="105687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000"/>
              <a:buFont typeface="Arial"/>
              <a:buNone/>
            </a:pPr>
            <a:r>
              <a:rPr b="1" i="0" lang="en-US" sz="3300" u="none" cap="none" strike="noStrike">
                <a:solidFill>
                  <a:srgbClr val="1F2937"/>
                </a:solidFill>
                <a:latin typeface="Arial"/>
                <a:ea typeface="Arial"/>
                <a:cs typeface="Arial"/>
                <a:sym typeface="Arial"/>
              </a:rPr>
              <a:t>Praise has value. Feedback changes the work.</a:t>
            </a:r>
            <a:endParaRPr b="0" i="0" sz="3300" u="none" cap="none" strike="noStrike">
              <a:solidFill>
                <a:schemeClr val="dk1"/>
              </a:solidFill>
              <a:latin typeface="Arial"/>
              <a:ea typeface="Arial"/>
              <a:cs typeface="Arial"/>
              <a:sym typeface="Arial"/>
            </a:endParaRPr>
          </a:p>
        </p:txBody>
      </p:sp>
      <p:sp>
        <p:nvSpPr>
          <p:cNvPr id="126" name="Google Shape;126;p8"/>
          <p:cNvSpPr/>
          <p:nvPr/>
        </p:nvSpPr>
        <p:spPr>
          <a:xfrm>
            <a:off x="1417320" y="5897880"/>
            <a:ext cx="9326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50"/>
              <a:buFont typeface="Arial"/>
              <a:buNone/>
            </a:pPr>
            <a:r>
              <a:rPr b="0" i="1" lang="en-US" sz="1550" u="none" cap="none" strike="noStrike">
                <a:solidFill>
                  <a:srgbClr val="475569"/>
                </a:solidFill>
                <a:latin typeface="Arial"/>
                <a:ea typeface="Arial"/>
                <a:cs typeface="Arial"/>
                <a:sym typeface="Arial"/>
              </a:rPr>
              <a:t>“You worked hard on this.”  ≠  “Your evidence is strong; now explain how it supports your claim.”</a:t>
            </a:r>
            <a:endParaRPr b="0" i="0" sz="1550" u="none" cap="none" strike="noStrike">
              <a:solidFill>
                <a:schemeClr val="dk1"/>
              </a:solidFill>
              <a:latin typeface="Arial"/>
              <a:ea typeface="Arial"/>
              <a:cs typeface="Arial"/>
              <a:sym typeface="Arial"/>
            </a:endParaRPr>
          </a:p>
        </p:txBody>
      </p:sp>
      <p:sp>
        <p:nvSpPr>
          <p:cNvPr id="127" name="Google Shape;127;p8"/>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p:nvPr/>
        </p:nvSpPr>
        <p:spPr>
          <a:xfrm>
            <a:off x="336454" y="5269388"/>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34" name="Google Shape;134;p9"/>
          <p:cNvSpPr/>
          <p:nvPr/>
        </p:nvSpPr>
        <p:spPr>
          <a:xfrm>
            <a:off x="194800" y="254025"/>
            <a:ext cx="12192000" cy="66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85"/>
              <a:buFont typeface="Arial"/>
              <a:buNone/>
            </a:pPr>
            <a:r>
              <a:rPr b="1" i="0" lang="en-US" sz="3285" u="none" cap="none" strike="noStrike">
                <a:solidFill>
                  <a:srgbClr val="1F2937"/>
                </a:solidFill>
                <a:latin typeface="Arial"/>
                <a:ea typeface="Arial"/>
                <a:cs typeface="Arial"/>
                <a:sym typeface="Arial"/>
              </a:rPr>
              <a:t>Feedback does not always look the same</a:t>
            </a:r>
            <a:endParaRPr b="0" i="0" sz="3285" u="none" cap="none" strike="noStrike">
              <a:solidFill>
                <a:schemeClr val="dk1"/>
              </a:solidFill>
              <a:latin typeface="Arial"/>
              <a:ea typeface="Arial"/>
              <a:cs typeface="Arial"/>
              <a:sym typeface="Arial"/>
            </a:endParaRPr>
          </a:p>
        </p:txBody>
      </p:sp>
      <p:sp>
        <p:nvSpPr>
          <p:cNvPr id="135" name="Google Shape;135;p9"/>
          <p:cNvSpPr/>
          <p:nvPr/>
        </p:nvSpPr>
        <p:spPr>
          <a:xfrm>
            <a:off x="194800" y="929891"/>
            <a:ext cx="12040500" cy="45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01"/>
              <a:buFont typeface="Arial"/>
              <a:buNone/>
            </a:pPr>
            <a:r>
              <a:rPr b="1" lang="en-US" sz="1701">
                <a:solidFill>
                  <a:srgbClr val="475569"/>
                </a:solidFill>
              </a:rPr>
              <a:t>Question</a:t>
            </a:r>
            <a:r>
              <a:rPr b="1" lang="en-US" sz="1701">
                <a:solidFill>
                  <a:srgbClr val="475569"/>
                </a:solidFill>
              </a:rPr>
              <a:t> 2: </a:t>
            </a:r>
            <a:r>
              <a:rPr b="0" i="0" lang="en-US" sz="1701" u="none" cap="none" strike="noStrike">
                <a:solidFill>
                  <a:srgbClr val="475569"/>
                </a:solidFill>
                <a:latin typeface="Arial"/>
                <a:ea typeface="Arial"/>
                <a:cs typeface="Arial"/>
                <a:sym typeface="Arial"/>
              </a:rPr>
              <a:t>Choose the method that gives the student the clearest, most efficient information.</a:t>
            </a:r>
            <a:endParaRPr b="0" i="0" sz="1701" u="none" cap="none" strike="noStrike">
              <a:solidFill>
                <a:schemeClr val="dk1"/>
              </a:solidFill>
              <a:latin typeface="Arial"/>
              <a:ea typeface="Arial"/>
              <a:cs typeface="Arial"/>
              <a:sym typeface="Arial"/>
            </a:endParaRPr>
          </a:p>
        </p:txBody>
      </p:sp>
      <p:sp>
        <p:nvSpPr>
          <p:cNvPr id="136" name="Google Shape;136;p9"/>
          <p:cNvSpPr/>
          <p:nvPr/>
        </p:nvSpPr>
        <p:spPr>
          <a:xfrm>
            <a:off x="336454" y="1444836"/>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37" name="Google Shape;137;p9"/>
          <p:cNvSpPr/>
          <p:nvPr/>
        </p:nvSpPr>
        <p:spPr>
          <a:xfrm>
            <a:off x="467990" y="1627212"/>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15"/>
              <a:buFont typeface="Arial"/>
              <a:buNone/>
            </a:pPr>
            <a:r>
              <a:rPr b="1" i="0" lang="en-US" sz="1115" u="none" cap="none" strike="noStrike">
                <a:solidFill>
                  <a:srgbClr val="1F2937"/>
                </a:solidFill>
                <a:latin typeface="Arial"/>
                <a:ea typeface="Arial"/>
                <a:cs typeface="Arial"/>
                <a:sym typeface="Arial"/>
              </a:rPr>
              <a:t>IN-THE-MOMENT VERBAL</a:t>
            </a:r>
            <a:endParaRPr b="0" i="0" sz="1115" u="none" cap="none" strike="noStrike">
              <a:solidFill>
                <a:schemeClr val="dk1"/>
              </a:solidFill>
              <a:latin typeface="Arial"/>
              <a:ea typeface="Arial"/>
              <a:cs typeface="Arial"/>
              <a:sym typeface="Arial"/>
            </a:endParaRPr>
          </a:p>
        </p:txBody>
      </p:sp>
      <p:sp>
        <p:nvSpPr>
          <p:cNvPr id="138" name="Google Shape;138;p9"/>
          <p:cNvSpPr/>
          <p:nvPr/>
        </p:nvSpPr>
        <p:spPr>
          <a:xfrm>
            <a:off x="2926701" y="1530660"/>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Quick correction, prompt, or question during learning</a:t>
            </a:r>
            <a:endParaRPr b="0" i="0" sz="1431" u="none" cap="none" strike="noStrike">
              <a:solidFill>
                <a:schemeClr val="dk1"/>
              </a:solidFill>
              <a:latin typeface="Arial"/>
              <a:ea typeface="Arial"/>
              <a:cs typeface="Arial"/>
              <a:sym typeface="Arial"/>
            </a:endParaRPr>
          </a:p>
        </p:txBody>
      </p:sp>
      <p:sp>
        <p:nvSpPr>
          <p:cNvPr id="139" name="Google Shape;139;p9"/>
          <p:cNvSpPr/>
          <p:nvPr/>
        </p:nvSpPr>
        <p:spPr>
          <a:xfrm>
            <a:off x="7803649" y="1530660"/>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“Your setup is right. Recheck the sign.”</a:t>
            </a:r>
            <a:endParaRPr b="0" i="0" sz="1349" u="none" cap="none" strike="noStrike">
              <a:solidFill>
                <a:schemeClr val="dk1"/>
              </a:solidFill>
              <a:latin typeface="Arial"/>
              <a:ea typeface="Arial"/>
              <a:cs typeface="Arial"/>
              <a:sym typeface="Arial"/>
            </a:endParaRPr>
          </a:p>
        </p:txBody>
      </p:sp>
      <p:sp>
        <p:nvSpPr>
          <p:cNvPr id="140" name="Google Shape;140;p9"/>
          <p:cNvSpPr/>
          <p:nvPr/>
        </p:nvSpPr>
        <p:spPr>
          <a:xfrm>
            <a:off x="336454" y="2217254"/>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41" name="Google Shape;141;p9"/>
          <p:cNvSpPr/>
          <p:nvPr/>
        </p:nvSpPr>
        <p:spPr>
          <a:xfrm>
            <a:off x="467990" y="2399630"/>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15"/>
              <a:buFont typeface="Arial"/>
              <a:buNone/>
            </a:pPr>
            <a:r>
              <a:rPr b="1" i="0" lang="en-US" sz="1115" u="none" cap="none" strike="noStrike">
                <a:solidFill>
                  <a:srgbClr val="1F2937"/>
                </a:solidFill>
                <a:latin typeface="Arial"/>
                <a:ea typeface="Arial"/>
                <a:cs typeface="Arial"/>
                <a:sym typeface="Arial"/>
              </a:rPr>
              <a:t>WRITTEN</a:t>
            </a:r>
            <a:endParaRPr b="0" i="0" sz="1115" u="none" cap="none" strike="noStrike">
              <a:solidFill>
                <a:schemeClr val="dk1"/>
              </a:solidFill>
              <a:latin typeface="Arial"/>
              <a:ea typeface="Arial"/>
              <a:cs typeface="Arial"/>
              <a:sym typeface="Arial"/>
            </a:endParaRPr>
          </a:p>
        </p:txBody>
      </p:sp>
      <p:sp>
        <p:nvSpPr>
          <p:cNvPr id="142" name="Google Shape;142;p9"/>
          <p:cNvSpPr/>
          <p:nvPr/>
        </p:nvSpPr>
        <p:spPr>
          <a:xfrm>
            <a:off x="2926701" y="2303078"/>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One or two high-leverage comments on student work</a:t>
            </a:r>
            <a:endParaRPr b="0" i="0" sz="1431" u="none" cap="none" strike="noStrike">
              <a:solidFill>
                <a:schemeClr val="dk1"/>
              </a:solidFill>
              <a:latin typeface="Arial"/>
              <a:ea typeface="Arial"/>
              <a:cs typeface="Arial"/>
              <a:sym typeface="Arial"/>
            </a:endParaRPr>
          </a:p>
        </p:txBody>
      </p:sp>
      <p:sp>
        <p:nvSpPr>
          <p:cNvPr id="143" name="Google Shape;143;p9"/>
          <p:cNvSpPr/>
          <p:nvPr/>
        </p:nvSpPr>
        <p:spPr>
          <a:xfrm>
            <a:off x="7803649" y="2303078"/>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“Add evidence here, then explain why it matters.”</a:t>
            </a:r>
            <a:endParaRPr b="0" i="0" sz="1349" u="none" cap="none" strike="noStrike">
              <a:solidFill>
                <a:schemeClr val="dk1"/>
              </a:solidFill>
              <a:latin typeface="Arial"/>
              <a:ea typeface="Arial"/>
              <a:cs typeface="Arial"/>
              <a:sym typeface="Arial"/>
            </a:endParaRPr>
          </a:p>
        </p:txBody>
      </p:sp>
      <p:sp>
        <p:nvSpPr>
          <p:cNvPr id="144" name="Google Shape;144;p9"/>
          <p:cNvSpPr/>
          <p:nvPr/>
        </p:nvSpPr>
        <p:spPr>
          <a:xfrm>
            <a:off x="336454" y="2989672"/>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45" name="Google Shape;145;p9"/>
          <p:cNvSpPr/>
          <p:nvPr/>
        </p:nvSpPr>
        <p:spPr>
          <a:xfrm>
            <a:off x="467990" y="3172048"/>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15"/>
              <a:buFont typeface="Arial"/>
              <a:buNone/>
            </a:pPr>
            <a:r>
              <a:rPr b="1" i="0" lang="en-US" sz="1115" u="none" cap="none" strike="noStrike">
                <a:solidFill>
                  <a:srgbClr val="1F2937"/>
                </a:solidFill>
                <a:latin typeface="Arial"/>
                <a:ea typeface="Arial"/>
                <a:cs typeface="Arial"/>
                <a:sym typeface="Arial"/>
              </a:rPr>
              <a:t>WHOLE-CLASS</a:t>
            </a:r>
            <a:endParaRPr b="0" i="0" sz="1115" u="none" cap="none" strike="noStrike">
              <a:solidFill>
                <a:schemeClr val="dk1"/>
              </a:solidFill>
              <a:latin typeface="Arial"/>
              <a:ea typeface="Arial"/>
              <a:cs typeface="Arial"/>
              <a:sym typeface="Arial"/>
            </a:endParaRPr>
          </a:p>
        </p:txBody>
      </p:sp>
      <p:sp>
        <p:nvSpPr>
          <p:cNvPr id="146" name="Google Shape;146;p9"/>
          <p:cNvSpPr/>
          <p:nvPr/>
        </p:nvSpPr>
        <p:spPr>
          <a:xfrm>
            <a:off x="2926701" y="3075496"/>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Address a common misconception efficiently</a:t>
            </a:r>
            <a:endParaRPr b="0" i="0" sz="1431" u="none" cap="none" strike="noStrike">
              <a:solidFill>
                <a:schemeClr val="dk1"/>
              </a:solidFill>
              <a:latin typeface="Arial"/>
              <a:ea typeface="Arial"/>
              <a:cs typeface="Arial"/>
              <a:sym typeface="Arial"/>
            </a:endParaRPr>
          </a:p>
        </p:txBody>
      </p:sp>
      <p:sp>
        <p:nvSpPr>
          <p:cNvPr id="147" name="Google Shape;147;p9"/>
          <p:cNvSpPr/>
          <p:nvPr/>
        </p:nvSpPr>
        <p:spPr>
          <a:xfrm>
            <a:off x="7803649" y="3075496"/>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“Many of us are quoting evidence without analyzing it.”</a:t>
            </a:r>
            <a:endParaRPr b="0" i="0" sz="1349" u="none" cap="none" strike="noStrike">
              <a:solidFill>
                <a:schemeClr val="dk1"/>
              </a:solidFill>
              <a:latin typeface="Arial"/>
              <a:ea typeface="Arial"/>
              <a:cs typeface="Arial"/>
              <a:sym typeface="Arial"/>
            </a:endParaRPr>
          </a:p>
        </p:txBody>
      </p:sp>
      <p:sp>
        <p:nvSpPr>
          <p:cNvPr id="148" name="Google Shape;148;p9"/>
          <p:cNvSpPr/>
          <p:nvPr/>
        </p:nvSpPr>
        <p:spPr>
          <a:xfrm>
            <a:off x="336454" y="3762089"/>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49" name="Google Shape;149;p9"/>
          <p:cNvSpPr/>
          <p:nvPr/>
        </p:nvSpPr>
        <p:spPr>
          <a:xfrm>
            <a:off x="467990" y="3944466"/>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15"/>
              <a:buFont typeface="Arial"/>
              <a:buNone/>
            </a:pPr>
            <a:r>
              <a:rPr b="1" i="0" lang="en-US" sz="1115" u="none" cap="none" strike="noStrike">
                <a:solidFill>
                  <a:srgbClr val="1F2937"/>
                </a:solidFill>
                <a:latin typeface="Arial"/>
                <a:ea typeface="Arial"/>
                <a:cs typeface="Arial"/>
                <a:sym typeface="Arial"/>
              </a:rPr>
              <a:t>PEER-TO-PEER</a:t>
            </a:r>
            <a:endParaRPr b="0" i="0" sz="1115" u="none" cap="none" strike="noStrike">
              <a:solidFill>
                <a:schemeClr val="dk1"/>
              </a:solidFill>
              <a:latin typeface="Arial"/>
              <a:ea typeface="Arial"/>
              <a:cs typeface="Arial"/>
              <a:sym typeface="Arial"/>
            </a:endParaRPr>
          </a:p>
        </p:txBody>
      </p:sp>
      <p:sp>
        <p:nvSpPr>
          <p:cNvPr id="150" name="Google Shape;150;p9"/>
          <p:cNvSpPr/>
          <p:nvPr/>
        </p:nvSpPr>
        <p:spPr>
          <a:xfrm>
            <a:off x="2926701" y="3847914"/>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Students use clear criteria to respond to one another</a:t>
            </a:r>
            <a:endParaRPr b="0" i="0" sz="1431" u="none" cap="none" strike="noStrike">
              <a:solidFill>
                <a:schemeClr val="dk1"/>
              </a:solidFill>
              <a:latin typeface="Arial"/>
              <a:ea typeface="Arial"/>
              <a:cs typeface="Arial"/>
              <a:sym typeface="Arial"/>
            </a:endParaRPr>
          </a:p>
        </p:txBody>
      </p:sp>
      <p:sp>
        <p:nvSpPr>
          <p:cNvPr id="151" name="Google Shape;151;p9"/>
          <p:cNvSpPr/>
          <p:nvPr/>
        </p:nvSpPr>
        <p:spPr>
          <a:xfrm>
            <a:off x="7803649" y="3847914"/>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2 rubric criteria before submitting</a:t>
            </a:r>
            <a:endParaRPr b="0" i="0" sz="1349" u="none" cap="none" strike="noStrike">
              <a:solidFill>
                <a:schemeClr val="dk1"/>
              </a:solidFill>
              <a:latin typeface="Arial"/>
              <a:ea typeface="Arial"/>
              <a:cs typeface="Arial"/>
              <a:sym typeface="Arial"/>
            </a:endParaRPr>
          </a:p>
        </p:txBody>
      </p:sp>
      <p:sp>
        <p:nvSpPr>
          <p:cNvPr id="152" name="Google Shape;152;p9"/>
          <p:cNvSpPr/>
          <p:nvPr/>
        </p:nvSpPr>
        <p:spPr>
          <a:xfrm>
            <a:off x="336454" y="4534507"/>
            <a:ext cx="2326800" cy="579300"/>
          </a:xfrm>
          <a:prstGeom prst="roundRect">
            <a:avLst>
              <a:gd fmla="val 9259" name="adj"/>
            </a:avLst>
          </a:prstGeom>
          <a:solidFill>
            <a:srgbClr val="EEF1F4"/>
          </a:solidFill>
          <a:ln cap="flat" cmpd="sng" w="14900">
            <a:solidFill>
              <a:srgbClr val="E0E4E8"/>
            </a:solidFill>
            <a:prstDash val="solid"/>
            <a:round/>
            <a:headEnd len="sm" w="sm" type="none"/>
            <a:tailEnd len="sm" w="sm" type="none"/>
          </a:ln>
        </p:spPr>
        <p:txBody>
          <a:bodyPr anchorCtr="0" anchor="ctr" bIns="107275" lIns="107275" spcFirstLastPara="1" rIns="107275" wrap="square" tIns="107275">
            <a:noAutofit/>
          </a:bodyPr>
          <a:lstStyle/>
          <a:p>
            <a:pPr indent="0" lvl="0" marL="0" rtl="0" algn="l">
              <a:spcBef>
                <a:spcPts val="0"/>
              </a:spcBef>
              <a:spcAft>
                <a:spcPts val="0"/>
              </a:spcAft>
              <a:buNone/>
            </a:pPr>
            <a:r>
              <a:t/>
            </a:r>
            <a:endParaRPr/>
          </a:p>
        </p:txBody>
      </p:sp>
      <p:sp>
        <p:nvSpPr>
          <p:cNvPr id="153" name="Google Shape;153;p9"/>
          <p:cNvSpPr/>
          <p:nvPr/>
        </p:nvSpPr>
        <p:spPr>
          <a:xfrm>
            <a:off x="467990" y="4716884"/>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15"/>
              <a:buFont typeface="Arial"/>
              <a:buNone/>
            </a:pPr>
            <a:r>
              <a:rPr b="1" i="0" lang="en-US" sz="1115" u="none" cap="none" strike="noStrike">
                <a:solidFill>
                  <a:srgbClr val="1F2937"/>
                </a:solidFill>
                <a:latin typeface="Arial"/>
                <a:ea typeface="Arial"/>
                <a:cs typeface="Arial"/>
                <a:sym typeface="Arial"/>
              </a:rPr>
              <a:t>SELF-FEEDBACK</a:t>
            </a:r>
            <a:endParaRPr b="0" i="0" sz="1115" u="none" cap="none" strike="noStrike">
              <a:solidFill>
                <a:schemeClr val="dk1"/>
              </a:solidFill>
              <a:latin typeface="Arial"/>
              <a:ea typeface="Arial"/>
              <a:cs typeface="Arial"/>
              <a:sym typeface="Arial"/>
            </a:endParaRPr>
          </a:p>
        </p:txBody>
      </p:sp>
      <p:sp>
        <p:nvSpPr>
          <p:cNvPr id="154" name="Google Shape;154;p9"/>
          <p:cNvSpPr/>
          <p:nvPr/>
        </p:nvSpPr>
        <p:spPr>
          <a:xfrm>
            <a:off x="2926701" y="4620331"/>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Students assess their own work against criteria</a:t>
            </a:r>
            <a:endParaRPr b="0" i="0" sz="1431" u="none" cap="none" strike="noStrike">
              <a:solidFill>
                <a:schemeClr val="dk1"/>
              </a:solidFill>
              <a:latin typeface="Arial"/>
              <a:ea typeface="Arial"/>
              <a:cs typeface="Arial"/>
              <a:sym typeface="Arial"/>
            </a:endParaRPr>
          </a:p>
        </p:txBody>
      </p:sp>
      <p:sp>
        <p:nvSpPr>
          <p:cNvPr id="155" name="Google Shape;155;p9"/>
          <p:cNvSpPr/>
          <p:nvPr/>
        </p:nvSpPr>
        <p:spPr>
          <a:xfrm>
            <a:off x="7803649" y="4620331"/>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Highlight where you met the success criteria</a:t>
            </a:r>
            <a:endParaRPr b="0" i="0" sz="1349" u="none" cap="none" strike="noStrike">
              <a:solidFill>
                <a:schemeClr val="dk1"/>
              </a:solidFill>
              <a:latin typeface="Arial"/>
              <a:ea typeface="Arial"/>
              <a:cs typeface="Arial"/>
              <a:sym typeface="Arial"/>
            </a:endParaRPr>
          </a:p>
        </p:txBody>
      </p:sp>
      <p:sp>
        <p:nvSpPr>
          <p:cNvPr id="156" name="Google Shape;156;p9"/>
          <p:cNvSpPr/>
          <p:nvPr/>
        </p:nvSpPr>
        <p:spPr>
          <a:xfrm>
            <a:off x="467990" y="5489302"/>
            <a:ext cx="2023800" cy="13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15"/>
              <a:buFont typeface="Arial"/>
              <a:buNone/>
            </a:pPr>
            <a:r>
              <a:rPr b="1" i="0" lang="en-US" sz="1115" u="none" cap="none" strike="noStrike">
                <a:solidFill>
                  <a:schemeClr val="dk1"/>
                </a:solidFill>
              </a:rPr>
              <a:t>ASPEN / GRADEBOOK</a:t>
            </a:r>
            <a:endParaRPr b="1" i="0" sz="1115" u="none" cap="none" strike="noStrike">
              <a:solidFill>
                <a:schemeClr val="dk1"/>
              </a:solidFill>
            </a:endParaRPr>
          </a:p>
        </p:txBody>
      </p:sp>
      <p:sp>
        <p:nvSpPr>
          <p:cNvPr id="157" name="Google Shape;157;p9"/>
          <p:cNvSpPr/>
          <p:nvPr/>
        </p:nvSpPr>
        <p:spPr>
          <a:xfrm>
            <a:off x="2926701" y="5392749"/>
            <a:ext cx="46545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31"/>
              <a:buFont typeface="Arial"/>
              <a:buNone/>
            </a:pPr>
            <a:r>
              <a:rPr b="0" i="0" lang="en-US" sz="1431" u="none" cap="none" strike="noStrike">
                <a:solidFill>
                  <a:srgbClr val="1F2937"/>
                </a:solidFill>
                <a:latin typeface="Arial"/>
                <a:ea typeface="Arial"/>
                <a:cs typeface="Arial"/>
                <a:sym typeface="Arial"/>
              </a:rPr>
              <a:t>Communicates current evidence of learning over time</a:t>
            </a:r>
            <a:endParaRPr b="0" i="0" sz="1431" u="none" cap="none" strike="noStrike">
              <a:solidFill>
                <a:schemeClr val="dk1"/>
              </a:solidFill>
              <a:latin typeface="Arial"/>
              <a:ea typeface="Arial"/>
              <a:cs typeface="Arial"/>
              <a:sym typeface="Arial"/>
            </a:endParaRPr>
          </a:p>
        </p:txBody>
      </p:sp>
      <p:sp>
        <p:nvSpPr>
          <p:cNvPr id="158" name="Google Shape;158;p9"/>
          <p:cNvSpPr/>
          <p:nvPr/>
        </p:nvSpPr>
        <p:spPr>
          <a:xfrm>
            <a:off x="7803649" y="5392749"/>
            <a:ext cx="4350600" cy="3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49"/>
              <a:buFont typeface="Arial"/>
              <a:buNone/>
            </a:pPr>
            <a:r>
              <a:rPr b="0" i="1" lang="en-US" sz="1349" u="none" cap="none" strike="noStrike">
                <a:solidFill>
                  <a:srgbClr val="475569"/>
                </a:solidFill>
                <a:latin typeface="Arial"/>
                <a:ea typeface="Arial"/>
                <a:cs typeface="Arial"/>
                <a:sym typeface="Arial"/>
              </a:rPr>
              <a:t>Clear assignment + current grade/status</a:t>
            </a:r>
            <a:endParaRPr b="0" i="0" sz="1349" u="none" cap="none" strike="noStrike">
              <a:solidFill>
                <a:schemeClr val="dk1"/>
              </a:solidFill>
              <a:latin typeface="Arial"/>
              <a:ea typeface="Arial"/>
              <a:cs typeface="Arial"/>
              <a:sym typeface="Arial"/>
            </a:endParaRPr>
          </a:p>
        </p:txBody>
      </p:sp>
      <p:sp>
        <p:nvSpPr>
          <p:cNvPr id="159" name="Google Shape;159;p9"/>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pic>
        <p:nvPicPr>
          <p:cNvPr id="160" name="Google Shape;160;p9" title="Screenshot 2026-09-29 at 4.28.03 PM.png"/>
          <p:cNvPicPr preferRelativeResize="0"/>
          <p:nvPr/>
        </p:nvPicPr>
        <p:blipFill>
          <a:blip r:embed="rId3">
            <a:alphaModFix/>
          </a:blip>
          <a:stretch>
            <a:fillRect/>
          </a:stretch>
        </p:blipFill>
        <p:spPr>
          <a:xfrm>
            <a:off x="9893095" y="140325"/>
            <a:ext cx="1377134" cy="1390325"/>
          </a:xfrm>
          <a:prstGeom prst="rect">
            <a:avLst/>
          </a:prstGeom>
          <a:noFill/>
          <a:ln>
            <a:noFill/>
          </a:ln>
        </p:spPr>
      </p:pic>
      <p:sp>
        <p:nvSpPr>
          <p:cNvPr id="161" name="Google Shape;161;p9"/>
          <p:cNvSpPr txBox="1"/>
          <p:nvPr/>
        </p:nvSpPr>
        <p:spPr>
          <a:xfrm>
            <a:off x="11397194" y="614322"/>
            <a:ext cx="724200" cy="365700"/>
          </a:xfrm>
          <a:prstGeom prst="rect">
            <a:avLst/>
          </a:prstGeom>
          <a:noFill/>
          <a:ln>
            <a:noFill/>
          </a:ln>
        </p:spPr>
        <p:txBody>
          <a:bodyPr anchorCtr="0" anchor="t" bIns="55700" lIns="55700" spcFirstLastPara="1" rIns="55700" wrap="square" tIns="55700">
            <a:spAutoFit/>
          </a:bodyPr>
          <a:lstStyle/>
          <a:p>
            <a:pPr indent="0" lvl="0" marL="0" rtl="0" algn="l">
              <a:spcBef>
                <a:spcPts val="0"/>
              </a:spcBef>
              <a:spcAft>
                <a:spcPts val="0"/>
              </a:spcAft>
              <a:buNone/>
            </a:pPr>
            <a:r>
              <a:rPr lang="en-US" sz="1645" u="sng">
                <a:solidFill>
                  <a:schemeClr val="hlink"/>
                </a:solidFill>
                <a:hlinkClick r:id="rId4"/>
              </a:rPr>
              <a:t>Padlet</a:t>
            </a:r>
            <a:endParaRPr sz="164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p:nvPr/>
        </p:nvSpPr>
        <p:spPr>
          <a:xfrm>
            <a:off x="548690" y="429723"/>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Match the feedback to the need</a:t>
            </a:r>
            <a:endParaRPr b="0" i="0" sz="2800" u="none" cap="none" strike="noStrike">
              <a:solidFill>
                <a:schemeClr val="dk1"/>
              </a:solidFill>
              <a:latin typeface="Arial"/>
              <a:ea typeface="Arial"/>
              <a:cs typeface="Arial"/>
              <a:sym typeface="Arial"/>
            </a:endParaRPr>
          </a:p>
        </p:txBody>
      </p:sp>
      <p:sp>
        <p:nvSpPr>
          <p:cNvPr id="168" name="Google Shape;168;p10"/>
          <p:cNvSpPr/>
          <p:nvPr/>
        </p:nvSpPr>
        <p:spPr>
          <a:xfrm>
            <a:off x="530352" y="1417320"/>
            <a:ext cx="10881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750" u="none" cap="none" strike="noStrike">
                <a:solidFill>
                  <a:srgbClr val="475569"/>
                </a:solidFill>
                <a:latin typeface="Arial"/>
                <a:ea typeface="Arial"/>
                <a:cs typeface="Arial"/>
                <a:sym typeface="Arial"/>
              </a:rPr>
              <a:t>Efficiency matters. The goal is not more comments—it is more useful information.</a:t>
            </a:r>
            <a:endParaRPr b="0" i="0" sz="1750" u="none" cap="none" strike="noStrike">
              <a:solidFill>
                <a:srgbClr val="475569"/>
              </a:solidFill>
              <a:latin typeface="Arial"/>
              <a:ea typeface="Arial"/>
              <a:cs typeface="Arial"/>
              <a:sym typeface="Arial"/>
            </a:endParaRPr>
          </a:p>
          <a:p>
            <a:pPr indent="0" lvl="0" marL="0" marR="0" rtl="0" algn="l">
              <a:spcBef>
                <a:spcPts val="0"/>
              </a:spcBef>
              <a:spcAft>
                <a:spcPts val="0"/>
              </a:spcAft>
              <a:buClr>
                <a:srgbClr val="475569"/>
              </a:buClr>
              <a:buSzPts val="1450"/>
              <a:buFont typeface="Arial"/>
              <a:buNone/>
            </a:pPr>
            <a:r>
              <a:t/>
            </a:r>
            <a:endParaRPr sz="1750">
              <a:solidFill>
                <a:srgbClr val="475569"/>
              </a:solidFill>
            </a:endParaRPr>
          </a:p>
          <a:p>
            <a:pPr indent="0" lvl="0" marL="0" marR="0" rtl="0" algn="l">
              <a:spcBef>
                <a:spcPts val="0"/>
              </a:spcBef>
              <a:spcAft>
                <a:spcPts val="0"/>
              </a:spcAft>
              <a:buClr>
                <a:srgbClr val="475569"/>
              </a:buClr>
              <a:buSzPts val="1450"/>
              <a:buFont typeface="Arial"/>
              <a:buNone/>
            </a:pPr>
            <a:r>
              <a:rPr b="1" lang="en-US" sz="1750">
                <a:solidFill>
                  <a:srgbClr val="475569"/>
                </a:solidFill>
              </a:rPr>
              <a:t>Question 3</a:t>
            </a:r>
            <a:r>
              <a:rPr b="1" lang="en-US" sz="1750">
                <a:solidFill>
                  <a:srgbClr val="475569"/>
                </a:solidFill>
              </a:rPr>
              <a:t>:</a:t>
            </a:r>
            <a:r>
              <a:rPr lang="en-US" sz="1750">
                <a:solidFill>
                  <a:srgbClr val="475569"/>
                </a:solidFill>
              </a:rPr>
              <a:t> Choose one scenario. What feedback move did you use—or would you use—in your classroom?</a:t>
            </a:r>
            <a:endParaRPr b="0" i="0" sz="1750" u="none" cap="none" strike="noStrike">
              <a:solidFill>
                <a:srgbClr val="475569"/>
              </a:solidFill>
              <a:latin typeface="Arial"/>
              <a:ea typeface="Arial"/>
              <a:cs typeface="Arial"/>
              <a:sym typeface="Arial"/>
            </a:endParaRPr>
          </a:p>
          <a:p>
            <a:pPr indent="0" lvl="0" marL="0" marR="0" rtl="0" algn="l">
              <a:spcBef>
                <a:spcPts val="0"/>
              </a:spcBef>
              <a:spcAft>
                <a:spcPts val="0"/>
              </a:spcAft>
              <a:buClr>
                <a:srgbClr val="475569"/>
              </a:buClr>
              <a:buSzPts val="1450"/>
              <a:buFont typeface="Arial"/>
              <a:buNone/>
            </a:pPr>
            <a:r>
              <a:t/>
            </a:r>
            <a:endParaRPr sz="1450">
              <a:solidFill>
                <a:srgbClr val="475569"/>
              </a:solidFill>
            </a:endParaRPr>
          </a:p>
        </p:txBody>
      </p:sp>
      <p:sp>
        <p:nvSpPr>
          <p:cNvPr id="169" name="Google Shape;169;p10"/>
          <p:cNvSpPr/>
          <p:nvPr/>
        </p:nvSpPr>
        <p:spPr>
          <a:xfrm>
            <a:off x="566928" y="2167128"/>
            <a:ext cx="1984248" cy="2148840"/>
          </a:xfrm>
          <a:prstGeom prst="roundRect">
            <a:avLst>
              <a:gd fmla="val 3687"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722376" y="2468880"/>
            <a:ext cx="167335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ONE STUDENT</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IS STUCK</a:t>
            </a:r>
            <a:endParaRPr b="0" i="0" sz="1150" u="none" cap="none" strike="noStrike">
              <a:solidFill>
                <a:schemeClr val="dk1"/>
              </a:solidFill>
              <a:latin typeface="Arial"/>
              <a:ea typeface="Arial"/>
              <a:cs typeface="Arial"/>
              <a:sym typeface="Arial"/>
            </a:endParaRPr>
          </a:p>
        </p:txBody>
      </p:sp>
      <p:cxnSp>
        <p:nvCxnSpPr>
          <p:cNvPr id="171" name="Google Shape;171;p10"/>
          <p:cNvCxnSpPr/>
          <p:nvPr/>
        </p:nvCxnSpPr>
        <p:spPr>
          <a:xfrm>
            <a:off x="914400" y="3182112"/>
            <a:ext cx="1298448" cy="0"/>
          </a:xfrm>
          <a:prstGeom prst="straightConnector1">
            <a:avLst/>
          </a:prstGeom>
          <a:noFill/>
          <a:ln cap="flat" cmpd="sng" w="12700">
            <a:solidFill>
              <a:srgbClr val="CED4DA"/>
            </a:solidFill>
            <a:prstDash val="solid"/>
            <a:round/>
            <a:headEnd len="sm" w="sm" type="none"/>
            <a:tailEnd len="sm" w="sm" type="none"/>
          </a:ln>
        </p:spPr>
      </p:cxnSp>
      <p:sp>
        <p:nvSpPr>
          <p:cNvPr id="172" name="Google Shape;172;p10"/>
          <p:cNvSpPr/>
          <p:nvPr/>
        </p:nvSpPr>
        <p:spPr>
          <a:xfrm>
            <a:off x="749808" y="3401568"/>
            <a:ext cx="161848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Individual prompt</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or conference</a:t>
            </a:r>
            <a:endParaRPr b="0" i="0" sz="1220" u="none" cap="none" strike="noStrike">
              <a:solidFill>
                <a:schemeClr val="dk1"/>
              </a:solidFill>
              <a:latin typeface="Arial"/>
              <a:ea typeface="Arial"/>
              <a:cs typeface="Arial"/>
              <a:sym typeface="Arial"/>
            </a:endParaRPr>
          </a:p>
        </p:txBody>
      </p:sp>
      <p:sp>
        <p:nvSpPr>
          <p:cNvPr id="173" name="Google Shape;173;p10"/>
          <p:cNvSpPr/>
          <p:nvPr/>
        </p:nvSpPr>
        <p:spPr>
          <a:xfrm>
            <a:off x="2578608" y="2944368"/>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AFB7"/>
              </a:buClr>
              <a:buSzPts val="1800"/>
              <a:buFont typeface="Arial"/>
              <a:buNone/>
            </a:pPr>
            <a:r>
              <a:rPr b="1" i="0" lang="en-US" sz="1800" u="none" cap="none" strike="noStrike">
                <a:solidFill>
                  <a:srgbClr val="A8AFB7"/>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74" name="Google Shape;174;p10"/>
          <p:cNvSpPr/>
          <p:nvPr/>
        </p:nvSpPr>
        <p:spPr>
          <a:xfrm>
            <a:off x="2871216" y="2167128"/>
            <a:ext cx="1984248" cy="2148840"/>
          </a:xfrm>
          <a:prstGeom prst="roundRect">
            <a:avLst>
              <a:gd fmla="val 3687"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3026664" y="2468880"/>
            <a:ext cx="167335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MANY STUDENTS</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SHARE A MISCONCEPTION</a:t>
            </a:r>
            <a:endParaRPr b="0" i="0" sz="1150" u="none" cap="none" strike="noStrike">
              <a:solidFill>
                <a:schemeClr val="dk1"/>
              </a:solidFill>
              <a:latin typeface="Arial"/>
              <a:ea typeface="Arial"/>
              <a:cs typeface="Arial"/>
              <a:sym typeface="Arial"/>
            </a:endParaRPr>
          </a:p>
        </p:txBody>
      </p:sp>
      <p:cxnSp>
        <p:nvCxnSpPr>
          <p:cNvPr id="176" name="Google Shape;176;p10"/>
          <p:cNvCxnSpPr/>
          <p:nvPr/>
        </p:nvCxnSpPr>
        <p:spPr>
          <a:xfrm>
            <a:off x="3218688" y="3182112"/>
            <a:ext cx="1298448" cy="0"/>
          </a:xfrm>
          <a:prstGeom prst="straightConnector1">
            <a:avLst/>
          </a:prstGeom>
          <a:noFill/>
          <a:ln cap="flat" cmpd="sng" w="12700">
            <a:solidFill>
              <a:srgbClr val="CED4DA"/>
            </a:solidFill>
            <a:prstDash val="solid"/>
            <a:round/>
            <a:headEnd len="sm" w="sm" type="none"/>
            <a:tailEnd len="sm" w="sm" type="none"/>
          </a:ln>
        </p:spPr>
      </p:cxnSp>
      <p:sp>
        <p:nvSpPr>
          <p:cNvPr id="177" name="Google Shape;177;p10"/>
          <p:cNvSpPr/>
          <p:nvPr/>
        </p:nvSpPr>
        <p:spPr>
          <a:xfrm>
            <a:off x="3054096" y="3401568"/>
            <a:ext cx="161848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Whole-class</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feedback + model</a:t>
            </a:r>
            <a:endParaRPr b="0" i="0" sz="1220" u="none" cap="none" strike="noStrike">
              <a:solidFill>
                <a:schemeClr val="dk1"/>
              </a:solidFill>
              <a:latin typeface="Arial"/>
              <a:ea typeface="Arial"/>
              <a:cs typeface="Arial"/>
              <a:sym typeface="Arial"/>
            </a:endParaRPr>
          </a:p>
        </p:txBody>
      </p:sp>
      <p:sp>
        <p:nvSpPr>
          <p:cNvPr id="178" name="Google Shape;178;p10"/>
          <p:cNvSpPr/>
          <p:nvPr/>
        </p:nvSpPr>
        <p:spPr>
          <a:xfrm>
            <a:off x="4882896" y="2944368"/>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AFB7"/>
              </a:buClr>
              <a:buSzPts val="1800"/>
              <a:buFont typeface="Arial"/>
              <a:buNone/>
            </a:pPr>
            <a:r>
              <a:rPr b="1" i="0" lang="en-US" sz="1800" u="none" cap="none" strike="noStrike">
                <a:solidFill>
                  <a:srgbClr val="A8AFB7"/>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79" name="Google Shape;179;p10"/>
          <p:cNvSpPr/>
          <p:nvPr/>
        </p:nvSpPr>
        <p:spPr>
          <a:xfrm>
            <a:off x="5175504" y="2167128"/>
            <a:ext cx="1984248" cy="2148840"/>
          </a:xfrm>
          <a:prstGeom prst="roundRect">
            <a:avLst>
              <a:gd fmla="val 3687"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5330952" y="2468880"/>
            <a:ext cx="167335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WORK IS STILL</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IN PROGRESS</a:t>
            </a:r>
            <a:endParaRPr b="0" i="0" sz="1150" u="none" cap="none" strike="noStrike">
              <a:solidFill>
                <a:schemeClr val="dk1"/>
              </a:solidFill>
              <a:latin typeface="Arial"/>
              <a:ea typeface="Arial"/>
              <a:cs typeface="Arial"/>
              <a:sym typeface="Arial"/>
            </a:endParaRPr>
          </a:p>
        </p:txBody>
      </p:sp>
      <p:cxnSp>
        <p:nvCxnSpPr>
          <p:cNvPr id="181" name="Google Shape;181;p10"/>
          <p:cNvCxnSpPr/>
          <p:nvPr/>
        </p:nvCxnSpPr>
        <p:spPr>
          <a:xfrm>
            <a:off x="5522976" y="3182112"/>
            <a:ext cx="1298448" cy="0"/>
          </a:xfrm>
          <a:prstGeom prst="straightConnector1">
            <a:avLst/>
          </a:prstGeom>
          <a:noFill/>
          <a:ln cap="flat" cmpd="sng" w="12700">
            <a:solidFill>
              <a:srgbClr val="CED4DA"/>
            </a:solidFill>
            <a:prstDash val="solid"/>
            <a:round/>
            <a:headEnd len="sm" w="sm" type="none"/>
            <a:tailEnd len="sm" w="sm" type="none"/>
          </a:ln>
        </p:spPr>
      </p:cxnSp>
      <p:sp>
        <p:nvSpPr>
          <p:cNvPr id="182" name="Google Shape;182;p10"/>
          <p:cNvSpPr/>
          <p:nvPr/>
        </p:nvSpPr>
        <p:spPr>
          <a:xfrm>
            <a:off x="5358384" y="3401568"/>
            <a:ext cx="161848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Verbal / written</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next step</a:t>
            </a:r>
            <a:endParaRPr b="0" i="0" sz="1220" u="none" cap="none" strike="noStrike">
              <a:solidFill>
                <a:schemeClr val="dk1"/>
              </a:solidFill>
              <a:latin typeface="Arial"/>
              <a:ea typeface="Arial"/>
              <a:cs typeface="Arial"/>
              <a:sym typeface="Arial"/>
            </a:endParaRPr>
          </a:p>
        </p:txBody>
      </p:sp>
      <p:sp>
        <p:nvSpPr>
          <p:cNvPr id="183" name="Google Shape;183;p10"/>
          <p:cNvSpPr/>
          <p:nvPr/>
        </p:nvSpPr>
        <p:spPr>
          <a:xfrm>
            <a:off x="7187184" y="2944368"/>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AFB7"/>
              </a:buClr>
              <a:buSzPts val="1800"/>
              <a:buFont typeface="Arial"/>
              <a:buNone/>
            </a:pPr>
            <a:r>
              <a:rPr b="1" i="0" lang="en-US" sz="1800" u="none" cap="none" strike="noStrike">
                <a:solidFill>
                  <a:srgbClr val="A8AFB7"/>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84" name="Google Shape;184;p10"/>
          <p:cNvSpPr/>
          <p:nvPr/>
        </p:nvSpPr>
        <p:spPr>
          <a:xfrm>
            <a:off x="7479792" y="2167128"/>
            <a:ext cx="1984248" cy="2148840"/>
          </a:xfrm>
          <a:prstGeom prst="roundRect">
            <a:avLst>
              <a:gd fmla="val 3687"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7635240" y="2468880"/>
            <a:ext cx="167335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QUALITY CRITERIA</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150"/>
              <a:buFont typeface="Arial"/>
              <a:buNone/>
            </a:pPr>
            <a:r>
              <a:rPr b="1" i="0" lang="en-US" sz="1150" u="none" cap="none" strike="noStrike">
                <a:solidFill>
                  <a:srgbClr val="1F2937"/>
                </a:solidFill>
                <a:latin typeface="Arial"/>
                <a:ea typeface="Arial"/>
                <a:cs typeface="Arial"/>
                <a:sym typeface="Arial"/>
              </a:rPr>
              <a:t>ARE CLEAR</a:t>
            </a:r>
            <a:endParaRPr b="0" i="0" sz="1150" u="none" cap="none" strike="noStrike">
              <a:solidFill>
                <a:schemeClr val="dk1"/>
              </a:solidFill>
              <a:latin typeface="Arial"/>
              <a:ea typeface="Arial"/>
              <a:cs typeface="Arial"/>
              <a:sym typeface="Arial"/>
            </a:endParaRPr>
          </a:p>
        </p:txBody>
      </p:sp>
      <p:cxnSp>
        <p:nvCxnSpPr>
          <p:cNvPr id="186" name="Google Shape;186;p10"/>
          <p:cNvCxnSpPr/>
          <p:nvPr/>
        </p:nvCxnSpPr>
        <p:spPr>
          <a:xfrm>
            <a:off x="7827264" y="3182112"/>
            <a:ext cx="1298448" cy="0"/>
          </a:xfrm>
          <a:prstGeom prst="straightConnector1">
            <a:avLst/>
          </a:prstGeom>
          <a:noFill/>
          <a:ln cap="flat" cmpd="sng" w="12700">
            <a:solidFill>
              <a:srgbClr val="CED4DA"/>
            </a:solidFill>
            <a:prstDash val="solid"/>
            <a:round/>
            <a:headEnd len="sm" w="sm" type="none"/>
            <a:tailEnd len="sm" w="sm" type="none"/>
          </a:ln>
        </p:spPr>
      </p:cxnSp>
      <p:sp>
        <p:nvSpPr>
          <p:cNvPr id="187" name="Google Shape;187;p10"/>
          <p:cNvSpPr/>
          <p:nvPr/>
        </p:nvSpPr>
        <p:spPr>
          <a:xfrm>
            <a:off x="7662672" y="3401568"/>
            <a:ext cx="161848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Peer or self</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feedback</a:t>
            </a:r>
            <a:endParaRPr b="0" i="0" sz="1220" u="none" cap="none" strike="noStrike">
              <a:solidFill>
                <a:schemeClr val="dk1"/>
              </a:solidFill>
              <a:latin typeface="Arial"/>
              <a:ea typeface="Arial"/>
              <a:cs typeface="Arial"/>
              <a:sym typeface="Arial"/>
            </a:endParaRPr>
          </a:p>
        </p:txBody>
      </p:sp>
      <p:sp>
        <p:nvSpPr>
          <p:cNvPr id="188" name="Google Shape;188;p10"/>
          <p:cNvSpPr/>
          <p:nvPr/>
        </p:nvSpPr>
        <p:spPr>
          <a:xfrm>
            <a:off x="9491472" y="2944368"/>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AFB7"/>
              </a:buClr>
              <a:buSzPts val="1800"/>
              <a:buFont typeface="Arial"/>
              <a:buNone/>
            </a:pPr>
            <a:r>
              <a:rPr b="1" i="0" lang="en-US" sz="1800" u="none" cap="none" strike="noStrike">
                <a:solidFill>
                  <a:srgbClr val="A8AFB7"/>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89" name="Google Shape;189;p10"/>
          <p:cNvSpPr/>
          <p:nvPr/>
        </p:nvSpPr>
        <p:spPr>
          <a:xfrm>
            <a:off x="9784080" y="2167128"/>
            <a:ext cx="1984248" cy="2148840"/>
          </a:xfrm>
          <a:prstGeom prst="roundRect">
            <a:avLst>
              <a:gd fmla="val 3687" name="adj"/>
            </a:avLst>
          </a:prstGeom>
          <a:solidFill>
            <a:srgbClr val="FFF7F7"/>
          </a:solidFill>
          <a:ln cap="flat" cmpd="sng" w="12700">
            <a:solidFill>
              <a:srgbClr val="E7B9BD"/>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9939528" y="2468880"/>
            <a:ext cx="167335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121B"/>
              </a:buClr>
              <a:buSzPts val="1150"/>
              <a:buFont typeface="Arial"/>
              <a:buNone/>
            </a:pPr>
            <a:r>
              <a:rPr b="1" i="0" lang="en-US" sz="1150" u="none" cap="none" strike="noStrike">
                <a:solidFill>
                  <a:srgbClr val="B5121B"/>
                </a:solidFill>
                <a:latin typeface="Arial"/>
                <a:ea typeface="Arial"/>
                <a:cs typeface="Arial"/>
                <a:sym typeface="Arial"/>
              </a:rPr>
              <a:t>PROGRESS OVER</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B5121B"/>
              </a:buClr>
              <a:buSzPts val="1150"/>
              <a:buFont typeface="Arial"/>
              <a:buNone/>
            </a:pPr>
            <a:r>
              <a:rPr b="1" i="0" lang="en-US" sz="1150" u="none" cap="none" strike="noStrike">
                <a:solidFill>
                  <a:srgbClr val="B5121B"/>
                </a:solidFill>
                <a:latin typeface="Arial"/>
                <a:ea typeface="Arial"/>
                <a:cs typeface="Arial"/>
                <a:sym typeface="Arial"/>
              </a:rPr>
              <a:t>TIME</a:t>
            </a:r>
            <a:endParaRPr b="0" i="0" sz="1150" u="none" cap="none" strike="noStrike">
              <a:solidFill>
                <a:schemeClr val="dk1"/>
              </a:solidFill>
              <a:latin typeface="Arial"/>
              <a:ea typeface="Arial"/>
              <a:cs typeface="Arial"/>
              <a:sym typeface="Arial"/>
            </a:endParaRPr>
          </a:p>
        </p:txBody>
      </p:sp>
      <p:cxnSp>
        <p:nvCxnSpPr>
          <p:cNvPr id="191" name="Google Shape;191;p10"/>
          <p:cNvCxnSpPr/>
          <p:nvPr/>
        </p:nvCxnSpPr>
        <p:spPr>
          <a:xfrm>
            <a:off x="10131552" y="3182112"/>
            <a:ext cx="1298448" cy="0"/>
          </a:xfrm>
          <a:prstGeom prst="straightConnector1">
            <a:avLst/>
          </a:prstGeom>
          <a:noFill/>
          <a:ln cap="flat" cmpd="sng" w="12700">
            <a:solidFill>
              <a:srgbClr val="B5121B"/>
            </a:solidFill>
            <a:prstDash val="solid"/>
            <a:round/>
            <a:headEnd len="sm" w="sm" type="none"/>
            <a:tailEnd len="sm" w="sm" type="none"/>
          </a:ln>
        </p:spPr>
      </p:cxnSp>
      <p:sp>
        <p:nvSpPr>
          <p:cNvPr id="192" name="Google Shape;192;p10"/>
          <p:cNvSpPr/>
          <p:nvPr/>
        </p:nvSpPr>
        <p:spPr>
          <a:xfrm>
            <a:off x="9966960" y="3401568"/>
            <a:ext cx="161848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ASPEN + current</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220"/>
              <a:buFont typeface="Arial"/>
              <a:buNone/>
            </a:pPr>
            <a:r>
              <a:rPr b="1" i="0" lang="en-US" sz="1220" u="none" cap="none" strike="noStrike">
                <a:solidFill>
                  <a:srgbClr val="475569"/>
                </a:solidFill>
                <a:latin typeface="Arial"/>
                <a:ea typeface="Arial"/>
                <a:cs typeface="Arial"/>
                <a:sym typeface="Arial"/>
              </a:rPr>
              <a:t>evidence</a:t>
            </a:r>
            <a:endParaRPr b="0" i="0" sz="1220" u="none" cap="none" strike="noStrike">
              <a:solidFill>
                <a:schemeClr val="dk1"/>
              </a:solidFill>
              <a:latin typeface="Arial"/>
              <a:ea typeface="Arial"/>
              <a:cs typeface="Arial"/>
              <a:sym typeface="Arial"/>
            </a:endParaRPr>
          </a:p>
        </p:txBody>
      </p:sp>
      <p:sp>
        <p:nvSpPr>
          <p:cNvPr id="193" name="Google Shape;193;p10"/>
          <p:cNvSpPr/>
          <p:nvPr/>
        </p:nvSpPr>
        <p:spPr>
          <a:xfrm>
            <a:off x="2075688" y="4956048"/>
            <a:ext cx="8001000" cy="640080"/>
          </a:xfrm>
          <a:prstGeom prst="roundRect">
            <a:avLst>
              <a:gd fmla="val 11429" name="adj"/>
            </a:avLst>
          </a:prstGeom>
          <a:solidFill>
            <a:srgbClr val="F0F3F6"/>
          </a:solidFill>
          <a:ln cap="flat" cmpd="sng" w="12700">
            <a:solidFill>
              <a:srgbClr val="DE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2331720" y="5166360"/>
            <a:ext cx="74523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Arial"/>
              <a:buNone/>
            </a:pPr>
            <a:r>
              <a:rPr b="1" i="0" lang="en-US" sz="1400" u="none" cap="none" strike="noStrike">
                <a:solidFill>
                  <a:srgbClr val="1F2937"/>
                </a:solidFill>
                <a:latin typeface="Arial"/>
                <a:ea typeface="Arial"/>
                <a:cs typeface="Arial"/>
                <a:sym typeface="Arial"/>
              </a:rPr>
              <a:t>One misconception repeated 15 times does not require 15 identical written comments.</a:t>
            </a:r>
            <a:endParaRPr b="0" i="0" sz="1400" u="none" cap="none" strike="noStrike">
              <a:solidFill>
                <a:schemeClr val="dk1"/>
              </a:solidFill>
              <a:latin typeface="Arial"/>
              <a:ea typeface="Arial"/>
              <a:cs typeface="Arial"/>
              <a:sym typeface="Arial"/>
            </a:endParaRPr>
          </a:p>
        </p:txBody>
      </p:sp>
      <p:sp>
        <p:nvSpPr>
          <p:cNvPr id="195" name="Google Shape;195;p10"/>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pic>
        <p:nvPicPr>
          <p:cNvPr id="196" name="Google Shape;196;p10" title="Screenshot 2026-09-29 at 4.28.03 PM.png"/>
          <p:cNvPicPr preferRelativeResize="0"/>
          <p:nvPr/>
        </p:nvPicPr>
        <p:blipFill>
          <a:blip r:embed="rId3">
            <a:alphaModFix/>
          </a:blip>
          <a:stretch>
            <a:fillRect/>
          </a:stretch>
        </p:blipFill>
        <p:spPr>
          <a:xfrm>
            <a:off x="9678998" y="230401"/>
            <a:ext cx="1226399" cy="1238146"/>
          </a:xfrm>
          <a:prstGeom prst="rect">
            <a:avLst/>
          </a:prstGeom>
          <a:noFill/>
          <a:ln>
            <a:noFill/>
          </a:ln>
        </p:spPr>
      </p:pic>
      <p:sp>
        <p:nvSpPr>
          <p:cNvPr id="197" name="Google Shape;197;p10"/>
          <p:cNvSpPr txBox="1"/>
          <p:nvPr/>
        </p:nvSpPr>
        <p:spPr>
          <a:xfrm>
            <a:off x="11018465" y="652519"/>
            <a:ext cx="644700" cy="325800"/>
          </a:xfrm>
          <a:prstGeom prst="rect">
            <a:avLst/>
          </a:prstGeom>
          <a:noFill/>
          <a:ln>
            <a:noFill/>
          </a:ln>
        </p:spPr>
        <p:txBody>
          <a:bodyPr anchorCtr="0" anchor="t" bIns="49600" lIns="49600" spcFirstLastPara="1" rIns="49600" wrap="square" tIns="49600">
            <a:spAutoFit/>
          </a:bodyPr>
          <a:lstStyle/>
          <a:p>
            <a:pPr indent="0" lvl="0" marL="0" rtl="0" algn="l">
              <a:spcBef>
                <a:spcPts val="0"/>
              </a:spcBef>
              <a:spcAft>
                <a:spcPts val="0"/>
              </a:spcAft>
              <a:buNone/>
            </a:pPr>
            <a:r>
              <a:rPr lang="en-US" sz="1465" u="sng">
                <a:solidFill>
                  <a:schemeClr val="hlink"/>
                </a:solidFill>
                <a:hlinkClick r:id="rId4"/>
              </a:rPr>
              <a:t>Padlet</a:t>
            </a:r>
            <a:endParaRPr sz="1465"/>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1" title="Screenshot 2026-09-25 at 10.46.05 AM.png"/>
          <p:cNvPicPr preferRelativeResize="0"/>
          <p:nvPr/>
        </p:nvPicPr>
        <p:blipFill>
          <a:blip r:embed="rId3">
            <a:alphaModFix/>
          </a:blip>
          <a:stretch>
            <a:fillRect/>
          </a:stretch>
        </p:blipFill>
        <p:spPr>
          <a:xfrm>
            <a:off x="0" y="97950"/>
            <a:ext cx="12192000" cy="6607649"/>
          </a:xfrm>
          <a:prstGeom prst="rect">
            <a:avLst/>
          </a:prstGeom>
          <a:noFill/>
          <a:ln>
            <a:noFill/>
          </a:ln>
        </p:spPr>
      </p:pic>
      <p:pic>
        <p:nvPicPr>
          <p:cNvPr id="204" name="Google Shape;204;p11" title="Screenshot 2026-09-29 at 4.28.03 PM.png"/>
          <p:cNvPicPr preferRelativeResize="0"/>
          <p:nvPr/>
        </p:nvPicPr>
        <p:blipFill>
          <a:blip r:embed="rId4">
            <a:alphaModFix/>
          </a:blip>
          <a:stretch>
            <a:fillRect/>
          </a:stretch>
        </p:blipFill>
        <p:spPr>
          <a:xfrm>
            <a:off x="9810374" y="206450"/>
            <a:ext cx="1379089" cy="1392296"/>
          </a:xfrm>
          <a:prstGeom prst="rect">
            <a:avLst/>
          </a:prstGeom>
          <a:noFill/>
          <a:ln>
            <a:noFill/>
          </a:ln>
        </p:spPr>
      </p:pic>
      <p:sp>
        <p:nvSpPr>
          <p:cNvPr id="205" name="Google Shape;205;p11"/>
          <p:cNvSpPr txBox="1"/>
          <p:nvPr/>
        </p:nvSpPr>
        <p:spPr>
          <a:xfrm>
            <a:off x="11316609" y="681120"/>
            <a:ext cx="725100" cy="366300"/>
          </a:xfrm>
          <a:prstGeom prst="rect">
            <a:avLst/>
          </a:prstGeom>
          <a:noFill/>
          <a:ln>
            <a:noFill/>
          </a:ln>
        </p:spPr>
        <p:txBody>
          <a:bodyPr anchorCtr="0" anchor="t" bIns="55775" lIns="55775" spcFirstLastPara="1" rIns="55775" wrap="square" tIns="55775">
            <a:spAutoFit/>
          </a:bodyPr>
          <a:lstStyle/>
          <a:p>
            <a:pPr indent="0" lvl="0" marL="0" rtl="0" algn="l">
              <a:spcBef>
                <a:spcPts val="0"/>
              </a:spcBef>
              <a:spcAft>
                <a:spcPts val="0"/>
              </a:spcAft>
              <a:buNone/>
            </a:pPr>
            <a:r>
              <a:rPr lang="en-US" sz="1647" u="sng">
                <a:solidFill>
                  <a:schemeClr val="hlink"/>
                </a:solidFill>
                <a:hlinkClick r:id="rId5"/>
              </a:rPr>
              <a:t>Padlet</a:t>
            </a:r>
            <a:endParaRPr sz="1647"/>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p:nvPr/>
        </p:nvSpPr>
        <p:spPr>
          <a:xfrm>
            <a:off x="621731" y="2930145"/>
            <a:ext cx="1508700" cy="475500"/>
          </a:xfrm>
          <a:prstGeom prst="roundRect">
            <a:avLst>
              <a:gd fmla="val 9615" name="adj"/>
            </a:avLst>
          </a:prstGeom>
          <a:solidFill>
            <a:srgbClr val="FDEDEE"/>
          </a:solidFill>
          <a:ln cap="flat" cmpd="sng" w="12700">
            <a:solidFill>
              <a:srgbClr val="F2D1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12" name="Google Shape;212;p12"/>
          <p:cNvSpPr/>
          <p:nvPr/>
        </p:nvSpPr>
        <p:spPr>
          <a:xfrm>
            <a:off x="461765" y="411473"/>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Possible stronger versions</a:t>
            </a:r>
            <a:endParaRPr b="0" i="0" sz="2800" u="none" cap="none" strike="noStrike">
              <a:solidFill>
                <a:schemeClr val="dk1"/>
              </a:solidFill>
              <a:latin typeface="Arial"/>
              <a:ea typeface="Arial"/>
              <a:cs typeface="Arial"/>
              <a:sym typeface="Arial"/>
            </a:endParaRPr>
          </a:p>
        </p:txBody>
      </p:sp>
      <p:sp>
        <p:nvSpPr>
          <p:cNvPr id="213" name="Google Shape;213;p12"/>
          <p:cNvSpPr/>
          <p:nvPr/>
        </p:nvSpPr>
        <p:spPr>
          <a:xfrm>
            <a:off x="530302" y="978470"/>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450" u="none" cap="none" strike="noStrike">
                <a:solidFill>
                  <a:srgbClr val="475569"/>
                </a:solidFill>
                <a:latin typeface="Arial"/>
                <a:ea typeface="Arial"/>
                <a:cs typeface="Arial"/>
                <a:sym typeface="Arial"/>
              </a:rPr>
              <a:t>Notice: the feedback points to the next move without doing the thinking for the student.</a:t>
            </a:r>
            <a:endParaRPr b="0" i="0" sz="1450" u="none" cap="none" strike="noStrike">
              <a:solidFill>
                <a:schemeClr val="dk1"/>
              </a:solidFill>
              <a:latin typeface="Arial"/>
              <a:ea typeface="Arial"/>
              <a:cs typeface="Arial"/>
              <a:sym typeface="Arial"/>
            </a:endParaRPr>
          </a:p>
        </p:txBody>
      </p:sp>
      <p:sp>
        <p:nvSpPr>
          <p:cNvPr id="214" name="Google Shape;214;p12"/>
          <p:cNvSpPr/>
          <p:nvPr/>
        </p:nvSpPr>
        <p:spPr>
          <a:xfrm>
            <a:off x="621731" y="15814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15" name="Google Shape;215;p12"/>
          <p:cNvSpPr/>
          <p:nvPr/>
        </p:nvSpPr>
        <p:spPr>
          <a:xfrm>
            <a:off x="731450" y="1736900"/>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i="0" lang="en-US" sz="1450" u="none" cap="none" strike="noStrike">
                <a:solidFill>
                  <a:srgbClr val="1F2937"/>
                </a:solidFill>
                <a:latin typeface="Arial"/>
                <a:ea typeface="Arial"/>
                <a:cs typeface="Arial"/>
                <a:sym typeface="Arial"/>
              </a:rPr>
              <a:t>ELA</a:t>
            </a:r>
            <a:endParaRPr b="0" i="0" sz="1450" u="none" cap="none" strike="noStrike">
              <a:solidFill>
                <a:schemeClr val="dk1"/>
              </a:solidFill>
              <a:latin typeface="Arial"/>
              <a:ea typeface="Arial"/>
              <a:cs typeface="Arial"/>
              <a:sym typeface="Arial"/>
            </a:endParaRPr>
          </a:p>
        </p:txBody>
      </p:sp>
      <p:sp>
        <p:nvSpPr>
          <p:cNvPr id="216" name="Google Shape;216;p12"/>
          <p:cNvSpPr/>
          <p:nvPr/>
        </p:nvSpPr>
        <p:spPr>
          <a:xfrm>
            <a:off x="2359091" y="16363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 selected strong evidence. Now explain what the author’s word choice reveals.</a:t>
            </a:r>
            <a:endParaRPr b="0" i="0" sz="1780" u="none" cap="none" strike="noStrike">
              <a:solidFill>
                <a:schemeClr val="dk1"/>
              </a:solidFill>
              <a:latin typeface="Arial"/>
              <a:ea typeface="Arial"/>
              <a:cs typeface="Arial"/>
              <a:sym typeface="Arial"/>
            </a:endParaRPr>
          </a:p>
        </p:txBody>
      </p:sp>
      <p:sp>
        <p:nvSpPr>
          <p:cNvPr id="217" name="Google Shape;217;p12"/>
          <p:cNvSpPr/>
          <p:nvPr/>
        </p:nvSpPr>
        <p:spPr>
          <a:xfrm>
            <a:off x="621731" y="22672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18" name="Google Shape;218;p12"/>
          <p:cNvSpPr/>
          <p:nvPr/>
        </p:nvSpPr>
        <p:spPr>
          <a:xfrm>
            <a:off x="731458" y="24226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i="0" lang="en-US" sz="1450" u="none" cap="none" strike="noStrike">
                <a:solidFill>
                  <a:srgbClr val="1F2937"/>
                </a:solidFill>
                <a:latin typeface="Arial"/>
                <a:ea typeface="Arial"/>
                <a:cs typeface="Arial"/>
                <a:sym typeface="Arial"/>
              </a:rPr>
              <a:t>MATH</a:t>
            </a:r>
            <a:endParaRPr b="0" i="0" sz="1450" u="none" cap="none" strike="noStrike">
              <a:solidFill>
                <a:schemeClr val="dk1"/>
              </a:solidFill>
              <a:latin typeface="Arial"/>
              <a:ea typeface="Arial"/>
              <a:cs typeface="Arial"/>
              <a:sym typeface="Arial"/>
            </a:endParaRPr>
          </a:p>
        </p:txBody>
      </p:sp>
      <p:sp>
        <p:nvSpPr>
          <p:cNvPr id="219" name="Google Shape;219;p12"/>
          <p:cNvSpPr/>
          <p:nvPr/>
        </p:nvSpPr>
        <p:spPr>
          <a:xfrm>
            <a:off x="2359091" y="23221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Your equation is set up correctly. Recheck where you distributed the negative sign.</a:t>
            </a:r>
            <a:endParaRPr b="0" i="0" sz="1780" u="none" cap="none" strike="noStrike">
              <a:solidFill>
                <a:schemeClr val="dk1"/>
              </a:solidFill>
              <a:latin typeface="Arial"/>
              <a:ea typeface="Arial"/>
              <a:cs typeface="Arial"/>
              <a:sym typeface="Arial"/>
            </a:endParaRPr>
          </a:p>
        </p:txBody>
      </p:sp>
      <p:sp>
        <p:nvSpPr>
          <p:cNvPr id="220" name="Google Shape;220;p12"/>
          <p:cNvSpPr/>
          <p:nvPr/>
        </p:nvSpPr>
        <p:spPr>
          <a:xfrm>
            <a:off x="626381" y="43017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21" name="Google Shape;221;p12"/>
          <p:cNvSpPr/>
          <p:nvPr/>
        </p:nvSpPr>
        <p:spPr>
          <a:xfrm>
            <a:off x="731458" y="31084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i="0" lang="en-US" sz="1450" u="none" cap="none" strike="noStrike">
                <a:solidFill>
                  <a:srgbClr val="FF0000"/>
                </a:solidFill>
                <a:latin typeface="Arial"/>
                <a:ea typeface="Arial"/>
                <a:cs typeface="Arial"/>
                <a:sym typeface="Arial"/>
              </a:rPr>
              <a:t>SCIENCE</a:t>
            </a:r>
            <a:endParaRPr b="0" i="0" sz="1450" u="none" cap="none" strike="noStrike">
              <a:solidFill>
                <a:srgbClr val="FF0000"/>
              </a:solidFill>
              <a:latin typeface="Arial"/>
              <a:ea typeface="Arial"/>
              <a:cs typeface="Arial"/>
              <a:sym typeface="Arial"/>
            </a:endParaRPr>
          </a:p>
        </p:txBody>
      </p:sp>
      <p:sp>
        <p:nvSpPr>
          <p:cNvPr id="222" name="Google Shape;222;p12"/>
          <p:cNvSpPr/>
          <p:nvPr/>
        </p:nvSpPr>
        <p:spPr>
          <a:xfrm>
            <a:off x="2359091" y="30079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 identified the pattern. Use the collision model to explain why it happened.</a:t>
            </a:r>
            <a:endParaRPr b="0" i="0" sz="1780" u="none" cap="none" strike="noStrike">
              <a:solidFill>
                <a:schemeClr val="dk1"/>
              </a:solidFill>
              <a:latin typeface="Arial"/>
              <a:ea typeface="Arial"/>
              <a:cs typeface="Arial"/>
              <a:sym typeface="Arial"/>
            </a:endParaRPr>
          </a:p>
        </p:txBody>
      </p:sp>
      <p:sp>
        <p:nvSpPr>
          <p:cNvPr id="223" name="Google Shape;223;p12"/>
          <p:cNvSpPr/>
          <p:nvPr/>
        </p:nvSpPr>
        <p:spPr>
          <a:xfrm>
            <a:off x="621731" y="36388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24" name="Google Shape;224;p12"/>
          <p:cNvSpPr/>
          <p:nvPr/>
        </p:nvSpPr>
        <p:spPr>
          <a:xfrm>
            <a:off x="731458" y="37942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i="0" lang="en-US" sz="1450" u="none" cap="none" strike="noStrike">
                <a:solidFill>
                  <a:srgbClr val="1F2937"/>
                </a:solidFill>
                <a:latin typeface="Arial"/>
                <a:ea typeface="Arial"/>
                <a:cs typeface="Arial"/>
                <a:sym typeface="Arial"/>
              </a:rPr>
              <a:t>HISTORY</a:t>
            </a:r>
            <a:endParaRPr b="0" i="0" sz="1450" u="none" cap="none" strike="noStrike">
              <a:solidFill>
                <a:schemeClr val="dk1"/>
              </a:solidFill>
              <a:latin typeface="Arial"/>
              <a:ea typeface="Arial"/>
              <a:cs typeface="Arial"/>
              <a:sym typeface="Arial"/>
            </a:endParaRPr>
          </a:p>
        </p:txBody>
      </p:sp>
      <p:sp>
        <p:nvSpPr>
          <p:cNvPr id="225" name="Google Shape;225;p12"/>
          <p:cNvSpPr/>
          <p:nvPr/>
        </p:nvSpPr>
        <p:spPr>
          <a:xfrm>
            <a:off x="2359091" y="36937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 identified one cause. Add a second piece of evidence to support your argument.</a:t>
            </a:r>
            <a:endParaRPr b="0" i="0" sz="1780" u="none" cap="none" strike="noStrike">
              <a:solidFill>
                <a:schemeClr val="dk1"/>
              </a:solidFill>
              <a:latin typeface="Arial"/>
              <a:ea typeface="Arial"/>
              <a:cs typeface="Arial"/>
              <a:sym typeface="Arial"/>
            </a:endParaRPr>
          </a:p>
        </p:txBody>
      </p:sp>
      <p:sp>
        <p:nvSpPr>
          <p:cNvPr id="226" name="Google Shape;226;p12"/>
          <p:cNvSpPr/>
          <p:nvPr/>
        </p:nvSpPr>
        <p:spPr>
          <a:xfrm>
            <a:off x="731458" y="44800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121B"/>
              </a:buClr>
              <a:buSzPts val="950"/>
              <a:buFont typeface="Arial"/>
              <a:buNone/>
            </a:pPr>
            <a:r>
              <a:rPr b="1" i="0" lang="en-US" sz="1450" u="none" cap="none" strike="noStrike">
                <a:solidFill>
                  <a:schemeClr val="dk1"/>
                </a:solidFill>
              </a:rPr>
              <a:t>CTE / TECH</a:t>
            </a:r>
            <a:endParaRPr b="1" i="0" sz="1450" u="none" cap="none" strike="noStrike">
              <a:solidFill>
                <a:schemeClr val="dk1"/>
              </a:solidFill>
            </a:endParaRPr>
          </a:p>
        </p:txBody>
      </p:sp>
      <p:sp>
        <p:nvSpPr>
          <p:cNvPr id="227" name="Google Shape;227;p12"/>
          <p:cNvSpPr/>
          <p:nvPr/>
        </p:nvSpPr>
        <p:spPr>
          <a:xfrm>
            <a:off x="2359091" y="43795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Your measurement is accurate. Check the alignment against the specifications before continuing.</a:t>
            </a:r>
            <a:endParaRPr b="0" i="0" sz="1780" u="none" cap="none" strike="noStrike">
              <a:solidFill>
                <a:schemeClr val="dk1"/>
              </a:solidFill>
              <a:latin typeface="Arial"/>
              <a:ea typeface="Arial"/>
              <a:cs typeface="Arial"/>
              <a:sym typeface="Arial"/>
            </a:endParaRPr>
          </a:p>
        </p:txBody>
      </p:sp>
      <p:sp>
        <p:nvSpPr>
          <p:cNvPr id="228" name="Google Shape;228;p12"/>
          <p:cNvSpPr/>
          <p:nvPr/>
        </p:nvSpPr>
        <p:spPr>
          <a:xfrm>
            <a:off x="621731" y="50104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29" name="Google Shape;229;p12"/>
          <p:cNvSpPr/>
          <p:nvPr/>
        </p:nvSpPr>
        <p:spPr>
          <a:xfrm>
            <a:off x="786989" y="51658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i="0" lang="en-US" sz="1450" u="none" cap="none" strike="noStrike">
                <a:solidFill>
                  <a:srgbClr val="1F2937"/>
                </a:solidFill>
                <a:latin typeface="Arial"/>
                <a:ea typeface="Arial"/>
                <a:cs typeface="Arial"/>
                <a:sym typeface="Arial"/>
              </a:rPr>
              <a:t>ART / </a:t>
            </a:r>
            <a:r>
              <a:rPr b="1" i="0" lang="en-US" sz="1450" u="none" cap="none" strike="noStrike">
                <a:solidFill>
                  <a:srgbClr val="1F2937"/>
                </a:solidFill>
                <a:latin typeface="Arial"/>
                <a:ea typeface="Arial"/>
                <a:cs typeface="Arial"/>
                <a:sym typeface="Arial"/>
              </a:rPr>
              <a:t>PE</a:t>
            </a:r>
            <a:endParaRPr b="0" i="0" sz="1450" u="none" cap="none" strike="noStrike">
              <a:solidFill>
                <a:schemeClr val="dk1"/>
              </a:solidFill>
              <a:latin typeface="Arial"/>
              <a:ea typeface="Arial"/>
              <a:cs typeface="Arial"/>
              <a:sym typeface="Arial"/>
            </a:endParaRPr>
          </a:p>
        </p:txBody>
      </p:sp>
      <p:sp>
        <p:nvSpPr>
          <p:cNvPr id="230" name="Google Shape;230;p12"/>
          <p:cNvSpPr/>
          <p:nvPr/>
        </p:nvSpPr>
        <p:spPr>
          <a:xfrm>
            <a:off x="2359091" y="50653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b="0" i="0" lang="en-US" sz="1780" u="none" cap="none" strike="noStrike">
                <a:solidFill>
                  <a:srgbClr val="1F2937"/>
                </a:solidFill>
                <a:latin typeface="Arial"/>
                <a:ea typeface="Arial"/>
                <a:cs typeface="Arial"/>
                <a:sym typeface="Arial"/>
              </a:rPr>
              <a:t>Your technique is consistent. Identify one adjustment that would improve control / impact.</a:t>
            </a:r>
            <a:endParaRPr b="0" i="0" sz="1780" u="none" cap="none" strike="noStrike">
              <a:solidFill>
                <a:schemeClr val="dk1"/>
              </a:solidFill>
              <a:latin typeface="Arial"/>
              <a:ea typeface="Arial"/>
              <a:cs typeface="Arial"/>
              <a:sym typeface="Arial"/>
            </a:endParaRPr>
          </a:p>
        </p:txBody>
      </p:sp>
      <p:sp>
        <p:nvSpPr>
          <p:cNvPr id="231" name="Google Shape;231;p12"/>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
        <p:nvSpPr>
          <p:cNvPr id="232" name="Google Shape;232;p12"/>
          <p:cNvSpPr/>
          <p:nvPr/>
        </p:nvSpPr>
        <p:spPr>
          <a:xfrm>
            <a:off x="621793" y="5696245"/>
            <a:ext cx="1508700" cy="475500"/>
          </a:xfrm>
          <a:prstGeom prst="roundRect">
            <a:avLst>
              <a:gd fmla="val 9615" name="adj"/>
            </a:avLst>
          </a:prstGeom>
          <a:solidFill>
            <a:srgbClr val="EEF1F4"/>
          </a:solidFill>
          <a:ln cap="flat" cmpd="sng" w="12700">
            <a:solidFill>
              <a:srgbClr val="E1E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33" name="Google Shape;233;p12"/>
          <p:cNvSpPr/>
          <p:nvPr/>
        </p:nvSpPr>
        <p:spPr>
          <a:xfrm>
            <a:off x="731521" y="5851693"/>
            <a:ext cx="12984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950"/>
              <a:buFont typeface="Arial"/>
              <a:buNone/>
            </a:pPr>
            <a:r>
              <a:rPr b="1" lang="en-US" sz="1450">
                <a:solidFill>
                  <a:srgbClr val="1F2937"/>
                </a:solidFill>
              </a:rPr>
              <a:t>World Languages</a:t>
            </a:r>
            <a:endParaRPr b="1" sz="1450">
              <a:solidFill>
                <a:srgbClr val="1F2937"/>
              </a:solidFill>
            </a:endParaRPr>
          </a:p>
        </p:txBody>
      </p:sp>
      <p:sp>
        <p:nvSpPr>
          <p:cNvPr id="234" name="Google Shape;234;p12"/>
          <p:cNvSpPr/>
          <p:nvPr/>
        </p:nvSpPr>
        <p:spPr>
          <a:xfrm>
            <a:off x="2359153" y="5751109"/>
            <a:ext cx="8961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0"/>
              <a:buFont typeface="Arial"/>
              <a:buNone/>
            </a:pPr>
            <a:r>
              <a:rPr lang="en-US" sz="1780">
                <a:solidFill>
                  <a:srgbClr val="1F2937"/>
                </a:solidFill>
              </a:rPr>
              <a:t>You’re answering accurately. Now challenge yourself to answer in a complete sentence in (target language) before switching to English.</a:t>
            </a:r>
            <a:endParaRPr b="0" i="0" sz="178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p:nvPr/>
        </p:nvSpPr>
        <p:spPr>
          <a:xfrm>
            <a:off x="461765" y="379848"/>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Feedback should release the thinking back to students</a:t>
            </a:r>
            <a:endParaRPr b="0" i="0" sz="2800" u="none" cap="none" strike="noStrike">
              <a:solidFill>
                <a:schemeClr val="dk1"/>
              </a:solidFill>
              <a:latin typeface="Arial"/>
              <a:ea typeface="Arial"/>
              <a:cs typeface="Arial"/>
              <a:sym typeface="Arial"/>
            </a:endParaRPr>
          </a:p>
        </p:txBody>
      </p:sp>
      <p:sp>
        <p:nvSpPr>
          <p:cNvPr id="241" name="Google Shape;241;p13"/>
          <p:cNvSpPr/>
          <p:nvPr/>
        </p:nvSpPr>
        <p:spPr>
          <a:xfrm>
            <a:off x="530327" y="1240445"/>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850" u="none" cap="none" strike="noStrike">
                <a:solidFill>
                  <a:srgbClr val="475569"/>
                </a:solidFill>
                <a:latin typeface="Arial"/>
                <a:ea typeface="Arial"/>
                <a:cs typeface="Arial"/>
                <a:sym typeface="Arial"/>
              </a:rPr>
              <a:t>Do not “fix” the work for them. Point them toward the thinking they need to do.</a:t>
            </a:r>
            <a:endParaRPr b="0" i="0" sz="1850" u="none" cap="none" strike="noStrike">
              <a:solidFill>
                <a:schemeClr val="dk1"/>
              </a:solidFill>
              <a:latin typeface="Arial"/>
              <a:ea typeface="Arial"/>
              <a:cs typeface="Arial"/>
              <a:sym typeface="Arial"/>
            </a:endParaRPr>
          </a:p>
        </p:txBody>
      </p:sp>
      <p:sp>
        <p:nvSpPr>
          <p:cNvPr id="242" name="Google Shape;242;p13"/>
          <p:cNvSpPr/>
          <p:nvPr/>
        </p:nvSpPr>
        <p:spPr>
          <a:xfrm>
            <a:off x="749808" y="2148840"/>
            <a:ext cx="5074920" cy="3291840"/>
          </a:xfrm>
          <a:prstGeom prst="roundRect">
            <a:avLst>
              <a:gd fmla="val 2222" name="adj"/>
            </a:avLst>
          </a:prstGeom>
          <a:solidFill>
            <a:srgbClr val="FFF8F8"/>
          </a:solidFill>
          <a:ln cap="flat" cmpd="sng" w="12700">
            <a:solidFill>
              <a:srgbClr val="E8BFC2"/>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a:off x="6355080" y="2148840"/>
            <a:ext cx="5074920" cy="3291840"/>
          </a:xfrm>
          <a:prstGeom prst="roundRect">
            <a:avLst>
              <a:gd fmla="val 2222" name="adj"/>
            </a:avLst>
          </a:prstGeom>
          <a:solidFill>
            <a:srgbClr val="F5F9F7"/>
          </a:solidFill>
          <a:ln cap="flat" cmpd="sng" w="12700">
            <a:solidFill>
              <a:srgbClr val="BCD9CC"/>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a:off x="1024128" y="2487168"/>
            <a:ext cx="4526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0E15"/>
              </a:buClr>
              <a:buSzPts val="1500"/>
              <a:buFont typeface="Arial"/>
              <a:buNone/>
            </a:pPr>
            <a:r>
              <a:rPr b="1" i="0" lang="en-US" sz="1500" u="none" cap="none" strike="noStrike">
                <a:solidFill>
                  <a:srgbClr val="8F0E15"/>
                </a:solidFill>
                <a:latin typeface="Arial"/>
                <a:ea typeface="Arial"/>
                <a:cs typeface="Arial"/>
                <a:sym typeface="Arial"/>
              </a:rPr>
              <a:t>FEEDBACK THAT TAKES OVER</a:t>
            </a:r>
            <a:endParaRPr b="0" i="0" sz="1500" u="none" cap="none" strike="noStrike">
              <a:solidFill>
                <a:schemeClr val="dk1"/>
              </a:solidFill>
              <a:latin typeface="Arial"/>
              <a:ea typeface="Arial"/>
              <a:cs typeface="Arial"/>
              <a:sym typeface="Arial"/>
            </a:endParaRPr>
          </a:p>
        </p:txBody>
      </p:sp>
      <p:sp>
        <p:nvSpPr>
          <p:cNvPr id="245" name="Google Shape;245;p13"/>
          <p:cNvSpPr/>
          <p:nvPr/>
        </p:nvSpPr>
        <p:spPr>
          <a:xfrm>
            <a:off x="1143000" y="3154680"/>
            <a:ext cx="429768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100"/>
              <a:buFont typeface="Arial"/>
              <a:buNone/>
            </a:pPr>
            <a:r>
              <a:rPr b="1" i="0" lang="en-US" sz="2100" u="none" cap="none" strike="noStrike">
                <a:solidFill>
                  <a:srgbClr val="1F2937"/>
                </a:solidFill>
                <a:latin typeface="Arial"/>
                <a:ea typeface="Arial"/>
                <a:cs typeface="Arial"/>
                <a:sym typeface="Arial"/>
              </a:rPr>
              <a:t>“Change your sentence to:</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2100"/>
              <a:buFont typeface="Arial"/>
              <a:buNone/>
            </a:pPr>
            <a:r>
              <a:rPr b="1" i="0" lang="en-US" sz="2100" u="none" cap="none" strike="noStrike">
                <a:solidFill>
                  <a:srgbClr val="1F2937"/>
                </a:solidFill>
                <a:latin typeface="Arial"/>
                <a:ea typeface="Arial"/>
                <a:cs typeface="Arial"/>
                <a:sym typeface="Arial"/>
              </a:rPr>
              <a:t>The evidence demonstrates that…”</a:t>
            </a:r>
            <a:endParaRPr b="0" i="0" sz="2100" u="none" cap="none" strike="noStrike">
              <a:solidFill>
                <a:schemeClr val="dk1"/>
              </a:solidFill>
              <a:latin typeface="Arial"/>
              <a:ea typeface="Arial"/>
              <a:cs typeface="Arial"/>
              <a:sym typeface="Arial"/>
            </a:endParaRPr>
          </a:p>
        </p:txBody>
      </p:sp>
      <p:sp>
        <p:nvSpPr>
          <p:cNvPr id="246" name="Google Shape;246;p13"/>
          <p:cNvSpPr/>
          <p:nvPr/>
        </p:nvSpPr>
        <p:spPr>
          <a:xfrm>
            <a:off x="1325880" y="4443984"/>
            <a:ext cx="3931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300"/>
              <a:buFont typeface="Arial"/>
              <a:buNone/>
            </a:pPr>
            <a:r>
              <a:rPr b="0" i="0" lang="en-US" sz="1300" u="none" cap="none" strike="noStrike">
                <a:solidFill>
                  <a:srgbClr val="475569"/>
                </a:solidFill>
                <a:latin typeface="Arial"/>
                <a:ea typeface="Arial"/>
                <a:cs typeface="Arial"/>
                <a:sym typeface="Arial"/>
              </a:rPr>
              <a:t>Teacher does the revision.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300"/>
              <a:buFont typeface="Arial"/>
              <a:buNone/>
            </a:pPr>
            <a:r>
              <a:rPr b="0" i="0" lang="en-US" sz="1300" u="none" cap="none" strike="noStrike">
                <a:solidFill>
                  <a:srgbClr val="475569"/>
                </a:solidFill>
                <a:latin typeface="Arial"/>
                <a:ea typeface="Arial"/>
                <a:cs typeface="Arial"/>
                <a:sym typeface="Arial"/>
              </a:rPr>
              <a:t>Student copies the thinking.</a:t>
            </a:r>
            <a:endParaRPr b="0" i="0" sz="1300" u="none" cap="none" strike="noStrike">
              <a:solidFill>
                <a:schemeClr val="dk1"/>
              </a:solidFill>
              <a:latin typeface="Arial"/>
              <a:ea typeface="Arial"/>
              <a:cs typeface="Arial"/>
              <a:sym typeface="Arial"/>
            </a:endParaRPr>
          </a:p>
        </p:txBody>
      </p:sp>
      <p:sp>
        <p:nvSpPr>
          <p:cNvPr id="247" name="Google Shape;247;p13"/>
          <p:cNvSpPr/>
          <p:nvPr/>
        </p:nvSpPr>
        <p:spPr>
          <a:xfrm>
            <a:off x="6583680" y="2487168"/>
            <a:ext cx="4617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5A"/>
              </a:buClr>
              <a:buSzPts val="1500"/>
              <a:buFont typeface="Arial"/>
              <a:buNone/>
            </a:pPr>
            <a:r>
              <a:rPr b="1" i="0" lang="en-US" sz="1500" u="none" cap="none" strike="noStrike">
                <a:solidFill>
                  <a:srgbClr val="1F7A5A"/>
                </a:solidFill>
                <a:latin typeface="Arial"/>
                <a:ea typeface="Arial"/>
                <a:cs typeface="Arial"/>
                <a:sym typeface="Arial"/>
              </a:rPr>
              <a:t>FEEDBACK THAT RETURNS THE WORK</a:t>
            </a:r>
            <a:endParaRPr b="0" i="0" sz="1500" u="none" cap="none" strike="noStrike">
              <a:solidFill>
                <a:schemeClr val="dk1"/>
              </a:solidFill>
              <a:latin typeface="Arial"/>
              <a:ea typeface="Arial"/>
              <a:cs typeface="Arial"/>
              <a:sym typeface="Arial"/>
            </a:endParaRPr>
          </a:p>
        </p:txBody>
      </p:sp>
      <p:sp>
        <p:nvSpPr>
          <p:cNvPr id="248" name="Google Shape;248;p13"/>
          <p:cNvSpPr/>
          <p:nvPr/>
        </p:nvSpPr>
        <p:spPr>
          <a:xfrm>
            <a:off x="6720840" y="3154680"/>
            <a:ext cx="434340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100"/>
              <a:buFont typeface="Arial"/>
              <a:buNone/>
            </a:pPr>
            <a:r>
              <a:rPr b="1" i="0" lang="en-US" sz="2100" u="none" cap="none" strike="noStrike">
                <a:solidFill>
                  <a:srgbClr val="1F2937"/>
                </a:solidFill>
                <a:latin typeface="Arial"/>
                <a:ea typeface="Arial"/>
                <a:cs typeface="Arial"/>
                <a:sym typeface="Arial"/>
              </a:rPr>
              <a:t>“Your evidence is strong. Explain how it proves your claim.”</a:t>
            </a:r>
            <a:endParaRPr b="0" i="0" sz="2100" u="none" cap="none" strike="noStrike">
              <a:solidFill>
                <a:schemeClr val="dk1"/>
              </a:solidFill>
              <a:latin typeface="Arial"/>
              <a:ea typeface="Arial"/>
              <a:cs typeface="Arial"/>
              <a:sym typeface="Arial"/>
            </a:endParaRPr>
          </a:p>
        </p:txBody>
      </p:sp>
      <p:sp>
        <p:nvSpPr>
          <p:cNvPr id="249" name="Google Shape;249;p13"/>
          <p:cNvSpPr/>
          <p:nvPr/>
        </p:nvSpPr>
        <p:spPr>
          <a:xfrm>
            <a:off x="6903720" y="4443984"/>
            <a:ext cx="3931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300"/>
              <a:buFont typeface="Arial"/>
              <a:buNone/>
            </a:pPr>
            <a:r>
              <a:rPr b="0" i="0" lang="en-US" sz="1300" u="none" cap="none" strike="noStrike">
                <a:solidFill>
                  <a:srgbClr val="475569"/>
                </a:solidFill>
                <a:latin typeface="Arial"/>
                <a:ea typeface="Arial"/>
                <a:cs typeface="Arial"/>
                <a:sym typeface="Arial"/>
              </a:rPr>
              <a:t>Teacher identifies the leverage point.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75569"/>
              </a:buClr>
              <a:buSzPts val="1300"/>
              <a:buFont typeface="Arial"/>
              <a:buNone/>
            </a:pPr>
            <a:r>
              <a:rPr b="0" i="0" lang="en-US" sz="1300" u="none" cap="none" strike="noStrike">
                <a:solidFill>
                  <a:srgbClr val="475569"/>
                </a:solidFill>
                <a:latin typeface="Arial"/>
                <a:ea typeface="Arial"/>
                <a:cs typeface="Arial"/>
                <a:sym typeface="Arial"/>
              </a:rPr>
              <a:t>Student does the thinking.</a:t>
            </a:r>
            <a:endParaRPr b="0" i="0" sz="1300" u="none" cap="none" strike="noStrike">
              <a:solidFill>
                <a:schemeClr val="dk1"/>
              </a:solidFill>
              <a:latin typeface="Arial"/>
              <a:ea typeface="Arial"/>
              <a:cs typeface="Arial"/>
              <a:sym typeface="Arial"/>
            </a:endParaRPr>
          </a:p>
        </p:txBody>
      </p:sp>
      <p:sp>
        <p:nvSpPr>
          <p:cNvPr id="250" name="Google Shape;250;p13"/>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p:nvPr/>
        </p:nvSpPr>
        <p:spPr>
          <a:xfrm>
            <a:off x="530352" y="841248"/>
            <a:ext cx="11018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ASPEN is part of the feedback system</a:t>
            </a:r>
            <a:endParaRPr b="0" i="0" sz="2800" u="none" cap="none" strike="noStrike">
              <a:solidFill>
                <a:schemeClr val="dk1"/>
              </a:solidFill>
              <a:latin typeface="Arial"/>
              <a:ea typeface="Arial"/>
              <a:cs typeface="Arial"/>
              <a:sym typeface="Arial"/>
            </a:endParaRPr>
          </a:p>
        </p:txBody>
      </p:sp>
      <p:sp>
        <p:nvSpPr>
          <p:cNvPr id="257" name="Google Shape;257;p14"/>
          <p:cNvSpPr/>
          <p:nvPr/>
        </p:nvSpPr>
        <p:spPr>
          <a:xfrm>
            <a:off x="530352" y="1417320"/>
            <a:ext cx="10881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450" u="none" cap="none" strike="noStrike">
                <a:solidFill>
                  <a:srgbClr val="475569"/>
                </a:solidFill>
                <a:latin typeface="Arial"/>
                <a:ea typeface="Arial"/>
                <a:cs typeface="Arial"/>
                <a:sym typeface="Arial"/>
              </a:rPr>
              <a:t>An updated gradebook helps students and families see the same story we are telling in class.</a:t>
            </a:r>
            <a:endParaRPr b="0" i="0" sz="1450" u="none" cap="none" strike="noStrike">
              <a:solidFill>
                <a:schemeClr val="dk1"/>
              </a:solidFill>
              <a:latin typeface="Arial"/>
              <a:ea typeface="Arial"/>
              <a:cs typeface="Arial"/>
              <a:sym typeface="Arial"/>
            </a:endParaRPr>
          </a:p>
        </p:txBody>
      </p:sp>
      <p:sp>
        <p:nvSpPr>
          <p:cNvPr id="258" name="Google Shape;258;p14"/>
          <p:cNvSpPr/>
          <p:nvPr/>
        </p:nvSpPr>
        <p:spPr>
          <a:xfrm>
            <a:off x="914400" y="2834640"/>
            <a:ext cx="1417320" cy="1417320"/>
          </a:xfrm>
          <a:prstGeom prst="ellipse">
            <a:avLst/>
          </a:prstGeom>
          <a:solidFill>
            <a:srgbClr val="FFFFFF"/>
          </a:solidFill>
          <a:ln cap="flat" cmpd="sng" w="12700">
            <a:solidFill>
              <a:srgbClr val="C8CF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p:nvPr/>
        </p:nvSpPr>
        <p:spPr>
          <a:xfrm>
            <a:off x="1060704" y="3291840"/>
            <a:ext cx="11247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LEARNING</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EVIDENCE</a:t>
            </a:r>
            <a:endParaRPr b="0" i="0" sz="1220" u="none" cap="none" strike="noStrike">
              <a:solidFill>
                <a:schemeClr val="dk1"/>
              </a:solidFill>
              <a:latin typeface="Arial"/>
              <a:ea typeface="Arial"/>
              <a:cs typeface="Arial"/>
              <a:sym typeface="Arial"/>
            </a:endParaRPr>
          </a:p>
        </p:txBody>
      </p:sp>
      <p:cxnSp>
        <p:nvCxnSpPr>
          <p:cNvPr id="260" name="Google Shape;260;p14"/>
          <p:cNvCxnSpPr/>
          <p:nvPr/>
        </p:nvCxnSpPr>
        <p:spPr>
          <a:xfrm flipH="1" rot="10800000">
            <a:off x="2350008" y="2715768"/>
            <a:ext cx="850392" cy="822960"/>
          </a:xfrm>
          <a:prstGeom prst="straightConnector1">
            <a:avLst/>
          </a:prstGeom>
          <a:noFill/>
          <a:ln cap="flat" cmpd="sng" w="12700">
            <a:solidFill>
              <a:srgbClr val="A8B0B8"/>
            </a:solidFill>
            <a:prstDash val="solid"/>
            <a:round/>
            <a:headEnd len="sm" w="sm" type="none"/>
            <a:tailEnd len="med" w="med" type="triangle"/>
          </a:ln>
        </p:spPr>
      </p:cxnSp>
      <p:sp>
        <p:nvSpPr>
          <p:cNvPr id="261" name="Google Shape;261;p14"/>
          <p:cNvSpPr/>
          <p:nvPr/>
        </p:nvSpPr>
        <p:spPr>
          <a:xfrm>
            <a:off x="3246120" y="2011680"/>
            <a:ext cx="1417320" cy="1417320"/>
          </a:xfrm>
          <a:prstGeom prst="ellipse">
            <a:avLst/>
          </a:prstGeom>
          <a:solidFill>
            <a:srgbClr val="FFFFFF"/>
          </a:solidFill>
          <a:ln cap="flat" cmpd="sng" w="12700">
            <a:solidFill>
              <a:srgbClr val="C8CF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3392424" y="2468880"/>
            <a:ext cx="11247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TEACHER</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FEEDBACK</a:t>
            </a:r>
            <a:endParaRPr b="0" i="0" sz="1220" u="none" cap="none" strike="noStrike">
              <a:solidFill>
                <a:schemeClr val="dk1"/>
              </a:solidFill>
              <a:latin typeface="Arial"/>
              <a:ea typeface="Arial"/>
              <a:cs typeface="Arial"/>
              <a:sym typeface="Arial"/>
            </a:endParaRPr>
          </a:p>
        </p:txBody>
      </p:sp>
      <p:cxnSp>
        <p:nvCxnSpPr>
          <p:cNvPr id="263" name="Google Shape;263;p14"/>
          <p:cNvCxnSpPr/>
          <p:nvPr/>
        </p:nvCxnSpPr>
        <p:spPr>
          <a:xfrm>
            <a:off x="4681728" y="2715768"/>
            <a:ext cx="941832" cy="822960"/>
          </a:xfrm>
          <a:prstGeom prst="straightConnector1">
            <a:avLst/>
          </a:prstGeom>
          <a:noFill/>
          <a:ln cap="flat" cmpd="sng" w="12700">
            <a:solidFill>
              <a:srgbClr val="A8B0B8"/>
            </a:solidFill>
            <a:prstDash val="solid"/>
            <a:round/>
            <a:headEnd len="sm" w="sm" type="none"/>
            <a:tailEnd len="med" w="med" type="triangle"/>
          </a:ln>
        </p:spPr>
      </p:cxnSp>
      <p:sp>
        <p:nvSpPr>
          <p:cNvPr id="264" name="Google Shape;264;p14"/>
          <p:cNvSpPr/>
          <p:nvPr/>
        </p:nvSpPr>
        <p:spPr>
          <a:xfrm>
            <a:off x="5669280" y="2834640"/>
            <a:ext cx="1417320" cy="1417320"/>
          </a:xfrm>
          <a:prstGeom prst="ellipse">
            <a:avLst/>
          </a:prstGeom>
          <a:solidFill>
            <a:srgbClr val="FFFFFF"/>
          </a:solidFill>
          <a:ln cap="flat" cmpd="sng" w="12700">
            <a:solidFill>
              <a:srgbClr val="C8CF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5815584" y="3291840"/>
            <a:ext cx="11247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STUDENT</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ACTION</a:t>
            </a:r>
            <a:endParaRPr b="0" i="0" sz="1220" u="none" cap="none" strike="noStrike">
              <a:solidFill>
                <a:schemeClr val="dk1"/>
              </a:solidFill>
              <a:latin typeface="Arial"/>
              <a:ea typeface="Arial"/>
              <a:cs typeface="Arial"/>
              <a:sym typeface="Arial"/>
            </a:endParaRPr>
          </a:p>
        </p:txBody>
      </p:sp>
      <p:cxnSp>
        <p:nvCxnSpPr>
          <p:cNvPr id="266" name="Google Shape;266;p14"/>
          <p:cNvCxnSpPr/>
          <p:nvPr/>
        </p:nvCxnSpPr>
        <p:spPr>
          <a:xfrm flipH="1" rot="10800000">
            <a:off x="7104888" y="2715768"/>
            <a:ext cx="850392" cy="822960"/>
          </a:xfrm>
          <a:prstGeom prst="straightConnector1">
            <a:avLst/>
          </a:prstGeom>
          <a:noFill/>
          <a:ln cap="flat" cmpd="sng" w="12700">
            <a:solidFill>
              <a:srgbClr val="A8B0B8"/>
            </a:solidFill>
            <a:prstDash val="solid"/>
            <a:round/>
            <a:headEnd len="sm" w="sm" type="none"/>
            <a:tailEnd len="med" w="med" type="triangle"/>
          </a:ln>
        </p:spPr>
      </p:cxnSp>
      <p:sp>
        <p:nvSpPr>
          <p:cNvPr id="267" name="Google Shape;267;p14"/>
          <p:cNvSpPr/>
          <p:nvPr/>
        </p:nvSpPr>
        <p:spPr>
          <a:xfrm>
            <a:off x="8001000" y="2011680"/>
            <a:ext cx="1417320" cy="1417320"/>
          </a:xfrm>
          <a:prstGeom prst="ellipse">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8147304" y="2468880"/>
            <a:ext cx="11247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20"/>
              <a:buFont typeface="Arial"/>
              <a:buNone/>
            </a:pPr>
            <a:r>
              <a:rPr b="1" i="0" lang="en-US" sz="1220" u="none" cap="none" strike="noStrike">
                <a:solidFill>
                  <a:srgbClr val="FFFFFF"/>
                </a:solidFill>
                <a:latin typeface="Arial"/>
                <a:ea typeface="Arial"/>
                <a:cs typeface="Arial"/>
                <a:sym typeface="Arial"/>
              </a:rPr>
              <a:t>ASPEN</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220"/>
              <a:buFont typeface="Arial"/>
              <a:buNone/>
            </a:pPr>
            <a:r>
              <a:rPr b="1" i="0" lang="en-US" sz="1220" u="none" cap="none" strike="noStrike">
                <a:solidFill>
                  <a:srgbClr val="FFFFFF"/>
                </a:solidFill>
                <a:latin typeface="Arial"/>
                <a:ea typeface="Arial"/>
                <a:cs typeface="Arial"/>
                <a:sym typeface="Arial"/>
              </a:rPr>
              <a:t>UPDATED</a:t>
            </a:r>
            <a:endParaRPr b="0" i="0" sz="1220" u="none" cap="none" strike="noStrike">
              <a:solidFill>
                <a:schemeClr val="dk1"/>
              </a:solidFill>
              <a:latin typeface="Arial"/>
              <a:ea typeface="Arial"/>
              <a:cs typeface="Arial"/>
              <a:sym typeface="Arial"/>
            </a:endParaRPr>
          </a:p>
        </p:txBody>
      </p:sp>
      <p:cxnSp>
        <p:nvCxnSpPr>
          <p:cNvPr id="269" name="Google Shape;269;p14"/>
          <p:cNvCxnSpPr/>
          <p:nvPr/>
        </p:nvCxnSpPr>
        <p:spPr>
          <a:xfrm>
            <a:off x="9436608" y="2715768"/>
            <a:ext cx="576072" cy="822960"/>
          </a:xfrm>
          <a:prstGeom prst="straightConnector1">
            <a:avLst/>
          </a:prstGeom>
          <a:noFill/>
          <a:ln cap="flat" cmpd="sng" w="12700">
            <a:solidFill>
              <a:srgbClr val="A8B0B8"/>
            </a:solidFill>
            <a:prstDash val="solid"/>
            <a:round/>
            <a:headEnd len="sm" w="sm" type="none"/>
            <a:tailEnd len="med" w="med" type="triangle"/>
          </a:ln>
        </p:spPr>
      </p:cxnSp>
      <p:sp>
        <p:nvSpPr>
          <p:cNvPr id="270" name="Google Shape;270;p14"/>
          <p:cNvSpPr/>
          <p:nvPr/>
        </p:nvSpPr>
        <p:spPr>
          <a:xfrm>
            <a:off x="10058400" y="2834640"/>
            <a:ext cx="1417320" cy="1417320"/>
          </a:xfrm>
          <a:prstGeom prst="ellipse">
            <a:avLst/>
          </a:prstGeom>
          <a:solidFill>
            <a:srgbClr val="EFF5F2"/>
          </a:solidFill>
          <a:ln cap="flat" cmpd="sng" w="12700">
            <a:solidFill>
              <a:srgbClr val="BCD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10204704" y="3291840"/>
            <a:ext cx="11247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NEXT</a:t>
            </a:r>
            <a:endParaRPr b="0" i="0" sz="12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20"/>
              <a:buFont typeface="Arial"/>
              <a:buNone/>
            </a:pPr>
            <a:r>
              <a:rPr b="1" i="0" lang="en-US" sz="1220" u="none" cap="none" strike="noStrike">
                <a:solidFill>
                  <a:srgbClr val="1F2937"/>
                </a:solidFill>
                <a:latin typeface="Arial"/>
                <a:ea typeface="Arial"/>
                <a:cs typeface="Arial"/>
                <a:sym typeface="Arial"/>
              </a:rPr>
              <a:t>DECISION</a:t>
            </a:r>
            <a:endParaRPr b="0" i="0" sz="1220" u="none" cap="none" strike="noStrike">
              <a:solidFill>
                <a:schemeClr val="dk1"/>
              </a:solidFill>
              <a:latin typeface="Arial"/>
              <a:ea typeface="Arial"/>
              <a:cs typeface="Arial"/>
              <a:sym typeface="Arial"/>
            </a:endParaRPr>
          </a:p>
        </p:txBody>
      </p:sp>
      <p:sp>
        <p:nvSpPr>
          <p:cNvPr id="272" name="Google Shape;272;p14"/>
          <p:cNvSpPr/>
          <p:nvPr/>
        </p:nvSpPr>
        <p:spPr>
          <a:xfrm>
            <a:off x="1508760" y="5029200"/>
            <a:ext cx="9144000" cy="640080"/>
          </a:xfrm>
          <a:prstGeom prst="roundRect">
            <a:avLst>
              <a:gd fmla="val 11429" name="adj"/>
            </a:avLst>
          </a:prstGeom>
          <a:solidFill>
            <a:srgbClr val="FFF7F7"/>
          </a:solidFill>
          <a:ln cap="flat" cmpd="sng" w="12700">
            <a:solidFill>
              <a:srgbClr val="EBC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1783080" y="5257800"/>
            <a:ext cx="8595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0E15"/>
              </a:buClr>
              <a:buSzPts val="1600"/>
              <a:buFont typeface="Arial"/>
              <a:buNone/>
            </a:pPr>
            <a:r>
              <a:rPr b="1" i="0" lang="en-US" sz="1600" u="none" cap="none" strike="noStrike">
                <a:solidFill>
                  <a:srgbClr val="8F0E15"/>
                </a:solidFill>
                <a:latin typeface="Arial"/>
                <a:ea typeface="Arial"/>
                <a:cs typeface="Arial"/>
                <a:sym typeface="Arial"/>
              </a:rPr>
              <a:t>If ASPEN is weeks behind, students are making decisions with old information.</a:t>
            </a:r>
            <a:endParaRPr b="0" i="0" sz="1600" u="none" cap="none" strike="noStrike">
              <a:solidFill>
                <a:schemeClr val="dk1"/>
              </a:solidFill>
              <a:latin typeface="Arial"/>
              <a:ea typeface="Arial"/>
              <a:cs typeface="Arial"/>
              <a:sym typeface="Arial"/>
            </a:endParaRPr>
          </a:p>
        </p:txBody>
      </p:sp>
      <p:sp>
        <p:nvSpPr>
          <p:cNvPr id="274" name="Google Shape;274;p14"/>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15"/>
          <p:cNvSpPr/>
          <p:nvPr/>
        </p:nvSpPr>
        <p:spPr>
          <a:xfrm>
            <a:off x="0" y="0"/>
            <a:ext cx="12191700" cy="109800"/>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5"/>
          <p:cNvSpPr txBox="1"/>
          <p:nvPr>
            <p:ph type="title"/>
          </p:nvPr>
        </p:nvSpPr>
        <p:spPr>
          <a:xfrm>
            <a:off x="530352" y="400050"/>
            <a:ext cx="11018400" cy="552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F2937"/>
                </a:solidFill>
                <a:latin typeface="Arial"/>
                <a:ea typeface="Arial"/>
                <a:cs typeface="Arial"/>
                <a:sym typeface="Arial"/>
              </a:rPr>
              <a:t>How to create special codes</a:t>
            </a:r>
            <a:endParaRPr b="1" sz="2800">
              <a:solidFill>
                <a:srgbClr val="1F2937"/>
              </a:solidFill>
              <a:latin typeface="Arial"/>
              <a:ea typeface="Arial"/>
              <a:cs typeface="Arial"/>
              <a:sym typeface="Arial"/>
            </a:endParaRPr>
          </a:p>
        </p:txBody>
      </p:sp>
      <p:sp>
        <p:nvSpPr>
          <p:cNvPr id="281" name="Google Shape;281;p15"/>
          <p:cNvSpPr txBox="1"/>
          <p:nvPr/>
        </p:nvSpPr>
        <p:spPr>
          <a:xfrm>
            <a:off x="530352" y="1009650"/>
            <a:ext cx="108813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475569"/>
                </a:solidFill>
                <a:latin typeface="Arial"/>
                <a:ea typeface="Arial"/>
                <a:cs typeface="Arial"/>
                <a:sym typeface="Arial"/>
              </a:rPr>
              <a:t>Standardiz</a:t>
            </a:r>
            <a:r>
              <a:rPr lang="en-US" sz="1600">
                <a:solidFill>
                  <a:srgbClr val="475569"/>
                </a:solidFill>
              </a:rPr>
              <a:t>ing </a:t>
            </a:r>
            <a:r>
              <a:rPr b="0" lang="en-US" sz="1600">
                <a:solidFill>
                  <a:srgbClr val="475569"/>
                </a:solidFill>
                <a:latin typeface="Arial"/>
                <a:ea typeface="Arial"/>
                <a:cs typeface="Arial"/>
                <a:sym typeface="Arial"/>
              </a:rPr>
              <a:t>gradebook </a:t>
            </a:r>
            <a:r>
              <a:rPr lang="en-US" sz="1600">
                <a:solidFill>
                  <a:srgbClr val="475569"/>
                </a:solidFill>
              </a:rPr>
              <a:t>codes across NBHS</a:t>
            </a:r>
            <a:endParaRPr b="0" sz="1600">
              <a:solidFill>
                <a:srgbClr val="475569"/>
              </a:solidFill>
              <a:latin typeface="Arial"/>
              <a:ea typeface="Arial"/>
              <a:cs typeface="Arial"/>
              <a:sym typeface="Arial"/>
            </a:endParaRPr>
          </a:p>
        </p:txBody>
      </p:sp>
      <p:grpSp>
        <p:nvGrpSpPr>
          <p:cNvPr id="282" name="Google Shape;282;p15"/>
          <p:cNvGrpSpPr/>
          <p:nvPr/>
        </p:nvGrpSpPr>
        <p:grpSpPr>
          <a:xfrm>
            <a:off x="502920" y="6473952"/>
            <a:ext cx="8046600" cy="164700"/>
            <a:chOff x="0" y="0"/>
            <a:chExt cx="8046600" cy="164700"/>
          </a:xfrm>
        </p:grpSpPr>
        <p:sp>
          <p:nvSpPr>
            <p:cNvPr id="283" name="Google Shape;283;p15"/>
            <p:cNvSpPr/>
            <p:nvPr/>
          </p:nvSpPr>
          <p:spPr>
            <a:xfrm>
              <a:off x="0" y="0"/>
              <a:ext cx="8046600" cy="164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5"/>
            <p:cNvSpPr txBox="1"/>
            <p:nvPr/>
          </p:nvSpPr>
          <p:spPr>
            <a:xfrm>
              <a:off x="0" y="0"/>
              <a:ext cx="8046600" cy="1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6B7280"/>
                  </a:solidFill>
                  <a:latin typeface="Arial"/>
                  <a:ea typeface="Arial"/>
                  <a:cs typeface="Arial"/>
                  <a:sym typeface="Arial"/>
                </a:rPr>
                <a:t>NEW BEDFORD HIGH SCHOOL • FEEDBACK THAT MOVES LEARNING</a:t>
              </a:r>
              <a:endParaRPr b="1" sz="850">
                <a:solidFill>
                  <a:srgbClr val="6B7280"/>
                </a:solidFill>
                <a:latin typeface="Arial"/>
                <a:ea typeface="Arial"/>
                <a:cs typeface="Arial"/>
                <a:sym typeface="Arial"/>
              </a:endParaRPr>
            </a:p>
          </p:txBody>
        </p:sp>
      </p:grpSp>
      <p:grpSp>
        <p:nvGrpSpPr>
          <p:cNvPr id="285" name="Google Shape;285;p15"/>
          <p:cNvGrpSpPr/>
          <p:nvPr/>
        </p:nvGrpSpPr>
        <p:grpSpPr>
          <a:xfrm>
            <a:off x="10533888" y="6419088"/>
            <a:ext cx="1005900" cy="201300"/>
            <a:chOff x="0" y="0"/>
            <a:chExt cx="1005900" cy="201300"/>
          </a:xfrm>
        </p:grpSpPr>
        <p:sp>
          <p:nvSpPr>
            <p:cNvPr id="286" name="Google Shape;286;p15"/>
            <p:cNvSpPr/>
            <p:nvPr/>
          </p:nvSpPr>
          <p:spPr>
            <a:xfrm>
              <a:off x="0" y="0"/>
              <a:ext cx="10059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5"/>
            <p:cNvSpPr txBox="1"/>
            <p:nvPr/>
          </p:nvSpPr>
          <p:spPr>
            <a:xfrm>
              <a:off x="0" y="0"/>
              <a:ext cx="1005900" cy="201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850">
                  <a:solidFill>
                    <a:srgbClr val="B5121B"/>
                  </a:solidFill>
                  <a:latin typeface="Arial"/>
                  <a:ea typeface="Arial"/>
                  <a:cs typeface="Arial"/>
                  <a:sym typeface="Arial"/>
                </a:rPr>
                <a:t>ROW 200</a:t>
              </a:r>
              <a:endParaRPr b="1" sz="850">
                <a:solidFill>
                  <a:srgbClr val="B5121B"/>
                </a:solidFill>
                <a:latin typeface="Arial"/>
                <a:ea typeface="Arial"/>
                <a:cs typeface="Arial"/>
                <a:sym typeface="Arial"/>
              </a:endParaRPr>
            </a:p>
          </p:txBody>
        </p:sp>
      </p:grpSp>
      <p:sp>
        <p:nvSpPr>
          <p:cNvPr id="288" name="Google Shape;288;p15"/>
          <p:cNvSpPr txBox="1"/>
          <p:nvPr/>
        </p:nvSpPr>
        <p:spPr>
          <a:xfrm>
            <a:off x="847775" y="5468350"/>
            <a:ext cx="8400600" cy="1170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Step 4: Under special codes, click the “option” button and then choose “add”</a:t>
            </a:r>
            <a:endParaRPr/>
          </a:p>
        </p:txBody>
      </p:sp>
      <p:graphicFrame>
        <p:nvGraphicFramePr>
          <p:cNvPr id="289" name="Google Shape;289;p15"/>
          <p:cNvGraphicFramePr/>
          <p:nvPr/>
        </p:nvGraphicFramePr>
        <p:xfrm>
          <a:off x="335525" y="1516775"/>
          <a:ext cx="3000000" cy="3000000"/>
        </p:xfrm>
        <a:graphic>
          <a:graphicData uri="http://schemas.openxmlformats.org/drawingml/2006/table">
            <a:tbl>
              <a:tblPr>
                <a:noFill/>
                <a:tableStyleId>{996C247A-C7C3-4DCA-8C11-727131008B91}</a:tableStyleId>
              </a:tblPr>
              <a:tblGrid>
                <a:gridCol w="5784225"/>
                <a:gridCol w="5784225"/>
              </a:tblGrid>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1: Login to Aspen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2: On the homepage of Aspen, navigate to the “Tools” option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3: Click “Special Codes” on the left column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290" name="Google Shape;290;p15" title="Step 2.png"/>
          <p:cNvPicPr preferRelativeResize="0"/>
          <p:nvPr/>
        </p:nvPicPr>
        <p:blipFill>
          <a:blip r:embed="rId4">
            <a:alphaModFix/>
          </a:blip>
          <a:stretch>
            <a:fillRect/>
          </a:stretch>
        </p:blipFill>
        <p:spPr>
          <a:xfrm>
            <a:off x="6256000" y="2049649"/>
            <a:ext cx="5448300" cy="20431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4" name="Shape 294"/>
        <p:cNvGrpSpPr/>
        <p:nvPr/>
      </p:nvGrpSpPr>
      <p:grpSpPr>
        <a:xfrm>
          <a:off x="0" y="0"/>
          <a:ext cx="0" cy="0"/>
          <a:chOff x="0" y="0"/>
          <a:chExt cx="0" cy="0"/>
        </a:xfrm>
      </p:grpSpPr>
      <p:sp>
        <p:nvSpPr>
          <p:cNvPr id="295" name="Google Shape;295;p16"/>
          <p:cNvSpPr/>
          <p:nvPr/>
        </p:nvSpPr>
        <p:spPr>
          <a:xfrm>
            <a:off x="0" y="0"/>
            <a:ext cx="12191700" cy="109800"/>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6"/>
          <p:cNvSpPr txBox="1"/>
          <p:nvPr>
            <p:ph type="title"/>
          </p:nvPr>
        </p:nvSpPr>
        <p:spPr>
          <a:xfrm>
            <a:off x="530352" y="400050"/>
            <a:ext cx="11018400" cy="552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F2937"/>
                </a:solidFill>
                <a:latin typeface="Arial"/>
                <a:ea typeface="Arial"/>
                <a:cs typeface="Arial"/>
                <a:sym typeface="Arial"/>
              </a:rPr>
              <a:t>How to create special codes</a:t>
            </a:r>
            <a:endParaRPr b="1" sz="2800">
              <a:solidFill>
                <a:srgbClr val="1F2937"/>
              </a:solidFill>
              <a:latin typeface="Arial"/>
              <a:ea typeface="Arial"/>
              <a:cs typeface="Arial"/>
              <a:sym typeface="Arial"/>
            </a:endParaRPr>
          </a:p>
        </p:txBody>
      </p:sp>
      <p:sp>
        <p:nvSpPr>
          <p:cNvPr id="297" name="Google Shape;297;p16"/>
          <p:cNvSpPr txBox="1"/>
          <p:nvPr/>
        </p:nvSpPr>
        <p:spPr>
          <a:xfrm>
            <a:off x="530352" y="1009650"/>
            <a:ext cx="108813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475569"/>
                </a:solidFill>
                <a:latin typeface="Arial"/>
                <a:ea typeface="Arial"/>
                <a:cs typeface="Arial"/>
                <a:sym typeface="Arial"/>
              </a:rPr>
              <a:t>Standardiz</a:t>
            </a:r>
            <a:r>
              <a:rPr lang="en-US" sz="1600">
                <a:solidFill>
                  <a:srgbClr val="475569"/>
                </a:solidFill>
              </a:rPr>
              <a:t>ing </a:t>
            </a:r>
            <a:r>
              <a:rPr b="0" lang="en-US" sz="1600">
                <a:solidFill>
                  <a:srgbClr val="475569"/>
                </a:solidFill>
                <a:latin typeface="Arial"/>
                <a:ea typeface="Arial"/>
                <a:cs typeface="Arial"/>
                <a:sym typeface="Arial"/>
              </a:rPr>
              <a:t>gradebook </a:t>
            </a:r>
            <a:r>
              <a:rPr lang="en-US" sz="1600">
                <a:solidFill>
                  <a:srgbClr val="475569"/>
                </a:solidFill>
              </a:rPr>
              <a:t>codes across NBHS</a:t>
            </a:r>
            <a:endParaRPr b="0" sz="1600">
              <a:solidFill>
                <a:srgbClr val="475569"/>
              </a:solidFill>
              <a:latin typeface="Arial"/>
              <a:ea typeface="Arial"/>
              <a:cs typeface="Arial"/>
              <a:sym typeface="Arial"/>
            </a:endParaRPr>
          </a:p>
        </p:txBody>
      </p:sp>
      <p:grpSp>
        <p:nvGrpSpPr>
          <p:cNvPr id="298" name="Google Shape;298;p16"/>
          <p:cNvGrpSpPr/>
          <p:nvPr/>
        </p:nvGrpSpPr>
        <p:grpSpPr>
          <a:xfrm>
            <a:off x="502920" y="6473952"/>
            <a:ext cx="8046600" cy="164700"/>
            <a:chOff x="0" y="0"/>
            <a:chExt cx="8046600" cy="164700"/>
          </a:xfrm>
        </p:grpSpPr>
        <p:sp>
          <p:nvSpPr>
            <p:cNvPr id="299" name="Google Shape;299;p16"/>
            <p:cNvSpPr/>
            <p:nvPr/>
          </p:nvSpPr>
          <p:spPr>
            <a:xfrm>
              <a:off x="0" y="0"/>
              <a:ext cx="8046600" cy="164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6"/>
            <p:cNvSpPr txBox="1"/>
            <p:nvPr/>
          </p:nvSpPr>
          <p:spPr>
            <a:xfrm>
              <a:off x="0" y="0"/>
              <a:ext cx="8046600" cy="1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6B7280"/>
                  </a:solidFill>
                  <a:latin typeface="Arial"/>
                  <a:ea typeface="Arial"/>
                  <a:cs typeface="Arial"/>
                  <a:sym typeface="Arial"/>
                </a:rPr>
                <a:t>NEW BEDFORD HIGH SCHOOL • FEEDBACK THAT MOVES LEARNING</a:t>
              </a:r>
              <a:endParaRPr b="1" sz="850">
                <a:solidFill>
                  <a:srgbClr val="6B7280"/>
                </a:solidFill>
                <a:latin typeface="Arial"/>
                <a:ea typeface="Arial"/>
                <a:cs typeface="Arial"/>
                <a:sym typeface="Arial"/>
              </a:endParaRPr>
            </a:p>
          </p:txBody>
        </p:sp>
      </p:grpSp>
      <p:grpSp>
        <p:nvGrpSpPr>
          <p:cNvPr id="301" name="Google Shape;301;p16"/>
          <p:cNvGrpSpPr/>
          <p:nvPr/>
        </p:nvGrpSpPr>
        <p:grpSpPr>
          <a:xfrm>
            <a:off x="10533888" y="6419088"/>
            <a:ext cx="1005900" cy="201300"/>
            <a:chOff x="0" y="0"/>
            <a:chExt cx="1005900" cy="201300"/>
          </a:xfrm>
        </p:grpSpPr>
        <p:sp>
          <p:nvSpPr>
            <p:cNvPr id="302" name="Google Shape;302;p16"/>
            <p:cNvSpPr/>
            <p:nvPr/>
          </p:nvSpPr>
          <p:spPr>
            <a:xfrm>
              <a:off x="0" y="0"/>
              <a:ext cx="10059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6"/>
            <p:cNvSpPr txBox="1"/>
            <p:nvPr/>
          </p:nvSpPr>
          <p:spPr>
            <a:xfrm>
              <a:off x="0" y="0"/>
              <a:ext cx="1005900" cy="201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850">
                  <a:solidFill>
                    <a:srgbClr val="B5121B"/>
                  </a:solidFill>
                  <a:latin typeface="Arial"/>
                  <a:ea typeface="Arial"/>
                  <a:cs typeface="Arial"/>
                  <a:sym typeface="Arial"/>
                </a:rPr>
                <a:t>ROW 200</a:t>
              </a:r>
              <a:endParaRPr b="1" sz="850">
                <a:solidFill>
                  <a:srgbClr val="B5121B"/>
                </a:solidFill>
                <a:latin typeface="Arial"/>
                <a:ea typeface="Arial"/>
                <a:cs typeface="Arial"/>
                <a:sym typeface="Arial"/>
              </a:endParaRPr>
            </a:p>
          </p:txBody>
        </p:sp>
      </p:grpSp>
      <p:graphicFrame>
        <p:nvGraphicFramePr>
          <p:cNvPr id="304" name="Google Shape;304;p16"/>
          <p:cNvGraphicFramePr/>
          <p:nvPr/>
        </p:nvGraphicFramePr>
        <p:xfrm>
          <a:off x="335525" y="1516775"/>
          <a:ext cx="3000000" cy="3000000"/>
        </p:xfrm>
        <a:graphic>
          <a:graphicData uri="http://schemas.openxmlformats.org/drawingml/2006/table">
            <a:tbl>
              <a:tblPr>
                <a:noFill/>
                <a:tableStyleId>{996C247A-C7C3-4DCA-8C11-727131008B91}</a:tableStyleId>
              </a:tblPr>
              <a:tblGrid>
                <a:gridCol w="5784225"/>
                <a:gridCol w="5784225"/>
              </a:tblGrid>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4: Under special codes, click the “option” button and then choose “add”</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5: On the homepage of Aspen, navigate to the “Tools” option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317500" lvl="0" marL="457200" rtl="0" algn="l">
                        <a:spcBef>
                          <a:spcPts val="0"/>
                        </a:spcBef>
                        <a:spcAft>
                          <a:spcPts val="0"/>
                        </a:spcAft>
                        <a:buClr>
                          <a:schemeClr val="dk1"/>
                        </a:buClr>
                        <a:buSzPts val="1400"/>
                        <a:buChar char="●"/>
                      </a:pPr>
                      <a:r>
                        <a:rPr lang="en-US">
                          <a:solidFill>
                            <a:schemeClr val="dk1"/>
                          </a:solidFill>
                        </a:rPr>
                        <a:t>Step 3: Click “Special Codes” on the left column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305" name="Google Shape;305;p16" title="Step 2.png"/>
          <p:cNvPicPr preferRelativeResize="0"/>
          <p:nvPr/>
        </p:nvPicPr>
        <p:blipFill>
          <a:blip r:embed="rId4">
            <a:alphaModFix/>
          </a:blip>
          <a:stretch>
            <a:fillRect/>
          </a:stretch>
        </p:blipFill>
        <p:spPr>
          <a:xfrm>
            <a:off x="6256000" y="2049649"/>
            <a:ext cx="5448300" cy="20431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9" name="Shape 309"/>
        <p:cNvGrpSpPr/>
        <p:nvPr/>
      </p:nvGrpSpPr>
      <p:grpSpPr>
        <a:xfrm>
          <a:off x="0" y="0"/>
          <a:ext cx="0" cy="0"/>
          <a:chOff x="0" y="0"/>
          <a:chExt cx="0" cy="0"/>
        </a:xfrm>
      </p:grpSpPr>
      <p:sp>
        <p:nvSpPr>
          <p:cNvPr id="310" name="Google Shape;310;p17"/>
          <p:cNvSpPr/>
          <p:nvPr/>
        </p:nvSpPr>
        <p:spPr>
          <a:xfrm>
            <a:off x="0" y="0"/>
            <a:ext cx="12191700" cy="109800"/>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7"/>
          <p:cNvSpPr txBox="1"/>
          <p:nvPr>
            <p:ph type="title"/>
          </p:nvPr>
        </p:nvSpPr>
        <p:spPr>
          <a:xfrm>
            <a:off x="530352" y="400050"/>
            <a:ext cx="11018400" cy="552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F2937"/>
                </a:solidFill>
                <a:latin typeface="Arial"/>
                <a:ea typeface="Arial"/>
                <a:cs typeface="Arial"/>
                <a:sym typeface="Arial"/>
              </a:rPr>
              <a:t>Grading Codes</a:t>
            </a:r>
            <a:endParaRPr b="1" sz="2800">
              <a:solidFill>
                <a:srgbClr val="1F2937"/>
              </a:solidFill>
              <a:latin typeface="Arial"/>
              <a:ea typeface="Arial"/>
              <a:cs typeface="Arial"/>
              <a:sym typeface="Arial"/>
            </a:endParaRPr>
          </a:p>
        </p:txBody>
      </p:sp>
      <p:sp>
        <p:nvSpPr>
          <p:cNvPr id="312" name="Google Shape;312;p17"/>
          <p:cNvSpPr txBox="1"/>
          <p:nvPr/>
        </p:nvSpPr>
        <p:spPr>
          <a:xfrm>
            <a:off x="530352" y="1009650"/>
            <a:ext cx="108813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475569"/>
                </a:solidFill>
                <a:latin typeface="Arial"/>
                <a:ea typeface="Arial"/>
                <a:cs typeface="Arial"/>
                <a:sym typeface="Arial"/>
              </a:rPr>
              <a:t>Standardized gradebook entries and their calculation rules in ASPEN</a:t>
            </a:r>
            <a:endParaRPr b="0" sz="1600">
              <a:solidFill>
                <a:srgbClr val="475569"/>
              </a:solidFill>
              <a:latin typeface="Arial"/>
              <a:ea typeface="Arial"/>
              <a:cs typeface="Arial"/>
              <a:sym typeface="Arial"/>
            </a:endParaRPr>
          </a:p>
        </p:txBody>
      </p:sp>
      <p:grpSp>
        <p:nvGrpSpPr>
          <p:cNvPr id="313" name="Google Shape;313;p17"/>
          <p:cNvGrpSpPr/>
          <p:nvPr/>
        </p:nvGrpSpPr>
        <p:grpSpPr>
          <a:xfrm>
            <a:off x="571500" y="1714500"/>
            <a:ext cx="3429000" cy="4000500"/>
            <a:chOff x="0" y="0"/>
            <a:chExt cx="3429000" cy="4000500"/>
          </a:xfrm>
        </p:grpSpPr>
        <p:sp>
          <p:nvSpPr>
            <p:cNvPr id="314" name="Google Shape;314;p17"/>
            <p:cNvSpPr/>
            <p:nvPr/>
          </p:nvSpPr>
          <p:spPr>
            <a:xfrm>
              <a:off x="0" y="0"/>
              <a:ext cx="3429000" cy="4000500"/>
            </a:xfrm>
            <a:prstGeom prst="roundRect">
              <a:avLst>
                <a:gd fmla="val 2222" name="adj"/>
              </a:avLst>
            </a:prstGeom>
            <a:solidFill>
              <a:srgbClr val="FFFFFF"/>
            </a:solidFill>
            <a:ln cap="flat" cmpd="sng" w="12700">
              <a:solidFill>
                <a:srgbClr val="D9DE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17"/>
            <p:cNvSpPr/>
            <p:nvPr/>
          </p:nvSpPr>
          <p:spPr>
            <a:xfrm>
              <a:off x="0" y="0"/>
              <a:ext cx="3429000" cy="76200"/>
            </a:xfrm>
            <a:prstGeom prst="roundRect">
              <a:avLst>
                <a:gd fmla="val 50000" name="adj"/>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7"/>
            <p:cNvSpPr/>
            <p:nvPr/>
          </p:nvSpPr>
          <p:spPr>
            <a:xfrm>
              <a:off x="1143000" y="428625"/>
              <a:ext cx="1143000" cy="609600"/>
            </a:xfrm>
            <a:prstGeom prst="roundRect">
              <a:avLst>
                <a:gd fmla="val 12500" name="adj"/>
              </a:avLst>
            </a:prstGeom>
            <a:solidFill>
              <a:srgbClr val="F1F5F9"/>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7"/>
            <p:cNvSpPr txBox="1"/>
            <p:nvPr/>
          </p:nvSpPr>
          <p:spPr>
            <a:xfrm>
              <a:off x="0" y="428625"/>
              <a:ext cx="34290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1F2937"/>
                  </a:solidFill>
                  <a:latin typeface="Arial"/>
                  <a:ea typeface="Arial"/>
                  <a:cs typeface="Arial"/>
                  <a:sym typeface="Arial"/>
                </a:rPr>
                <a:t>Abs</a:t>
              </a:r>
              <a:endParaRPr b="1" sz="2600">
                <a:solidFill>
                  <a:srgbClr val="1F2937"/>
                </a:solidFill>
                <a:latin typeface="Arial"/>
                <a:ea typeface="Arial"/>
                <a:cs typeface="Arial"/>
                <a:sym typeface="Arial"/>
              </a:endParaRPr>
            </a:p>
          </p:txBody>
        </p:sp>
        <p:sp>
          <p:nvSpPr>
            <p:cNvPr id="318" name="Google Shape;318;p17"/>
            <p:cNvSpPr txBox="1"/>
            <p:nvPr/>
          </p:nvSpPr>
          <p:spPr>
            <a:xfrm>
              <a:off x="228600" y="1285875"/>
              <a:ext cx="2971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F2937"/>
                  </a:solidFill>
                  <a:latin typeface="Arial"/>
                  <a:ea typeface="Arial"/>
                  <a:cs typeface="Arial"/>
                  <a:sym typeface="Arial"/>
                </a:rPr>
                <a:t>Absent</a:t>
              </a:r>
              <a:endParaRPr b="1" sz="2000">
                <a:solidFill>
                  <a:srgbClr val="1F2937"/>
                </a:solidFill>
                <a:latin typeface="Arial"/>
                <a:ea typeface="Arial"/>
                <a:cs typeface="Arial"/>
                <a:sym typeface="Arial"/>
              </a:endParaRPr>
            </a:p>
          </p:txBody>
        </p:sp>
        <p:cxnSp>
          <p:nvCxnSpPr>
            <p:cNvPr id="319" name="Google Shape;319;p17"/>
            <p:cNvCxnSpPr/>
            <p:nvPr/>
          </p:nvCxnSpPr>
          <p:spPr>
            <a:xfrm>
              <a:off x="285750" y="1905000"/>
              <a:ext cx="2857500" cy="0"/>
            </a:xfrm>
            <a:prstGeom prst="straightConnector1">
              <a:avLst/>
            </a:prstGeom>
            <a:solidFill>
              <a:srgbClr val="FFFFFF"/>
            </a:solidFill>
            <a:ln cap="flat" cmpd="sng" w="12700">
              <a:solidFill>
                <a:srgbClr val="E6E9EC"/>
              </a:solidFill>
              <a:prstDash val="solid"/>
              <a:round/>
              <a:headEnd len="sm" w="sm" type="none"/>
              <a:tailEnd len="sm" w="sm" type="none"/>
            </a:ln>
          </p:spPr>
        </p:cxnSp>
        <p:sp>
          <p:nvSpPr>
            <p:cNvPr id="320" name="Google Shape;320;p17"/>
            <p:cNvSpPr/>
            <p:nvPr/>
          </p:nvSpPr>
          <p:spPr>
            <a:xfrm>
              <a:off x="228600" y="2190750"/>
              <a:ext cx="2971800" cy="666900"/>
            </a:xfrm>
            <a:prstGeom prst="roundRect">
              <a:avLst>
                <a:gd fmla="val 8571" name="adj"/>
              </a:avLst>
            </a:prstGeom>
            <a:solidFill>
              <a:srgbClr val="FFF7F7"/>
            </a:solidFill>
            <a:ln cap="flat" cmpd="sng" w="12700">
              <a:solidFill>
                <a:srgbClr val="EAC7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17"/>
            <p:cNvSpPr txBox="1"/>
            <p:nvPr/>
          </p:nvSpPr>
          <p:spPr>
            <a:xfrm>
              <a:off x="323850" y="2238375"/>
              <a:ext cx="27813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8F0E15"/>
                  </a:solidFill>
                  <a:latin typeface="Arial"/>
                  <a:ea typeface="Arial"/>
                  <a:cs typeface="Arial"/>
                  <a:sym typeface="Arial"/>
                </a:rPr>
                <a:t>NOT EXEMPT</a:t>
              </a:r>
              <a:endParaRPr b="1" sz="1200">
                <a:solidFill>
                  <a:srgbClr val="8F0E15"/>
                </a:solidFill>
                <a:latin typeface="Arial"/>
                <a:ea typeface="Arial"/>
                <a:cs typeface="Arial"/>
                <a:sym typeface="Arial"/>
              </a:endParaRPr>
            </a:p>
            <a:p>
              <a:pPr indent="0" lvl="0" marL="0" rtl="0" algn="ctr">
                <a:spcBef>
                  <a:spcPts val="300"/>
                </a:spcBef>
                <a:spcAft>
                  <a:spcPts val="0"/>
                </a:spcAft>
                <a:buNone/>
              </a:pPr>
              <a:r>
                <a:rPr b="0" lang="en-US" sz="1000">
                  <a:solidFill>
                    <a:srgbClr val="8F0E15"/>
                  </a:solidFill>
                  <a:latin typeface="Arial"/>
                  <a:ea typeface="Arial"/>
                  <a:cs typeface="Arial"/>
                  <a:sym typeface="Arial"/>
                </a:rPr>
                <a:t>from calculation</a:t>
              </a:r>
              <a:endParaRPr b="0" sz="1000">
                <a:solidFill>
                  <a:srgbClr val="8F0E15"/>
                </a:solidFill>
                <a:latin typeface="Arial"/>
                <a:ea typeface="Arial"/>
                <a:cs typeface="Arial"/>
                <a:sym typeface="Arial"/>
              </a:endParaRPr>
            </a:p>
          </p:txBody>
        </p:sp>
        <p:sp>
          <p:nvSpPr>
            <p:cNvPr id="322" name="Google Shape;322;p17"/>
            <p:cNvSpPr txBox="1"/>
            <p:nvPr/>
          </p:nvSpPr>
          <p:spPr>
            <a:xfrm>
              <a:off x="285750" y="3095625"/>
              <a:ext cx="2857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6B7280"/>
                  </a:solidFill>
                  <a:latin typeface="Arial"/>
                  <a:ea typeface="Arial"/>
                  <a:cs typeface="Arial"/>
                  <a:sym typeface="Arial"/>
                </a:rPr>
                <a:t>Student was absent for the assessment and needs to complete it.</a:t>
              </a:r>
              <a:endParaRPr b="0" sz="1100">
                <a:solidFill>
                  <a:srgbClr val="6B7280"/>
                </a:solidFill>
                <a:latin typeface="Arial"/>
                <a:ea typeface="Arial"/>
                <a:cs typeface="Arial"/>
                <a:sym typeface="Arial"/>
              </a:endParaRPr>
            </a:p>
          </p:txBody>
        </p:sp>
      </p:grpSp>
      <p:grpSp>
        <p:nvGrpSpPr>
          <p:cNvPr id="323" name="Google Shape;323;p17"/>
          <p:cNvGrpSpPr/>
          <p:nvPr/>
        </p:nvGrpSpPr>
        <p:grpSpPr>
          <a:xfrm>
            <a:off x="4381500" y="1714500"/>
            <a:ext cx="3429000" cy="4000500"/>
            <a:chOff x="0" y="0"/>
            <a:chExt cx="3429000" cy="4000500"/>
          </a:xfrm>
        </p:grpSpPr>
        <p:sp>
          <p:nvSpPr>
            <p:cNvPr id="324" name="Google Shape;324;p17"/>
            <p:cNvSpPr/>
            <p:nvPr/>
          </p:nvSpPr>
          <p:spPr>
            <a:xfrm>
              <a:off x="0" y="0"/>
              <a:ext cx="3429000" cy="4000500"/>
            </a:xfrm>
            <a:prstGeom prst="roundRect">
              <a:avLst>
                <a:gd fmla="val 2222" name="adj"/>
              </a:avLst>
            </a:prstGeom>
            <a:solidFill>
              <a:srgbClr val="FFFFFF"/>
            </a:solidFill>
            <a:ln cap="flat" cmpd="sng" w="12700">
              <a:solidFill>
                <a:srgbClr val="D9DE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7"/>
            <p:cNvSpPr/>
            <p:nvPr/>
          </p:nvSpPr>
          <p:spPr>
            <a:xfrm>
              <a:off x="0" y="0"/>
              <a:ext cx="3429000" cy="76200"/>
            </a:xfrm>
            <a:prstGeom prst="roundRect">
              <a:avLst>
                <a:gd fmla="val 50000" name="adj"/>
              </a:avLst>
            </a:prstGeom>
            <a:solidFill>
              <a:srgbClr val="1F7A5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7"/>
            <p:cNvSpPr/>
            <p:nvPr/>
          </p:nvSpPr>
          <p:spPr>
            <a:xfrm>
              <a:off x="1143000" y="428625"/>
              <a:ext cx="1143000" cy="609600"/>
            </a:xfrm>
            <a:prstGeom prst="roundRect">
              <a:avLst>
                <a:gd fmla="val 12500" name="adj"/>
              </a:avLst>
            </a:prstGeom>
            <a:solidFill>
              <a:srgbClr val="EFF5F2"/>
            </a:solidFill>
            <a:ln cap="flat" cmpd="sng" w="12700">
              <a:solidFill>
                <a:srgbClr val="BCD8C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17"/>
            <p:cNvSpPr txBox="1"/>
            <p:nvPr/>
          </p:nvSpPr>
          <p:spPr>
            <a:xfrm>
              <a:off x="0" y="428625"/>
              <a:ext cx="34290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1F7A5A"/>
                  </a:solidFill>
                  <a:latin typeface="Arial"/>
                  <a:ea typeface="Arial"/>
                  <a:cs typeface="Arial"/>
                  <a:sym typeface="Arial"/>
                </a:rPr>
                <a:t>E</a:t>
              </a:r>
              <a:endParaRPr b="1" sz="2600">
                <a:solidFill>
                  <a:srgbClr val="1F7A5A"/>
                </a:solidFill>
                <a:latin typeface="Arial"/>
                <a:ea typeface="Arial"/>
                <a:cs typeface="Arial"/>
                <a:sym typeface="Arial"/>
              </a:endParaRPr>
            </a:p>
          </p:txBody>
        </p:sp>
        <p:sp>
          <p:nvSpPr>
            <p:cNvPr id="328" name="Google Shape;328;p17"/>
            <p:cNvSpPr txBox="1"/>
            <p:nvPr/>
          </p:nvSpPr>
          <p:spPr>
            <a:xfrm>
              <a:off x="228600" y="1285875"/>
              <a:ext cx="2971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F2937"/>
                  </a:solidFill>
                  <a:latin typeface="Arial"/>
                  <a:ea typeface="Arial"/>
                  <a:cs typeface="Arial"/>
                  <a:sym typeface="Arial"/>
                </a:rPr>
                <a:t>Excused</a:t>
              </a:r>
              <a:endParaRPr b="1" sz="2000">
                <a:solidFill>
                  <a:srgbClr val="1F2937"/>
                </a:solidFill>
                <a:latin typeface="Arial"/>
                <a:ea typeface="Arial"/>
                <a:cs typeface="Arial"/>
                <a:sym typeface="Arial"/>
              </a:endParaRPr>
            </a:p>
          </p:txBody>
        </p:sp>
        <p:cxnSp>
          <p:nvCxnSpPr>
            <p:cNvPr id="329" name="Google Shape;329;p17"/>
            <p:cNvCxnSpPr/>
            <p:nvPr/>
          </p:nvCxnSpPr>
          <p:spPr>
            <a:xfrm>
              <a:off x="285750" y="1905000"/>
              <a:ext cx="2857500" cy="0"/>
            </a:xfrm>
            <a:prstGeom prst="straightConnector1">
              <a:avLst/>
            </a:prstGeom>
            <a:solidFill>
              <a:srgbClr val="FFFFFF"/>
            </a:solidFill>
            <a:ln cap="flat" cmpd="sng" w="12700">
              <a:solidFill>
                <a:srgbClr val="E6E9EC"/>
              </a:solidFill>
              <a:prstDash val="solid"/>
              <a:round/>
              <a:headEnd len="sm" w="sm" type="none"/>
              <a:tailEnd len="sm" w="sm" type="none"/>
            </a:ln>
          </p:spPr>
        </p:cxnSp>
        <p:sp>
          <p:nvSpPr>
            <p:cNvPr id="330" name="Google Shape;330;p17"/>
            <p:cNvSpPr/>
            <p:nvPr/>
          </p:nvSpPr>
          <p:spPr>
            <a:xfrm>
              <a:off x="228600" y="2190750"/>
              <a:ext cx="2971800" cy="666900"/>
            </a:xfrm>
            <a:prstGeom prst="roundRect">
              <a:avLst>
                <a:gd fmla="val 8571" name="adj"/>
              </a:avLst>
            </a:prstGeom>
            <a:solidFill>
              <a:srgbClr val="F5F9F7"/>
            </a:solidFill>
            <a:ln cap="flat" cmpd="sng" w="12700">
              <a:solidFill>
                <a:srgbClr val="BCD9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7"/>
            <p:cNvSpPr txBox="1"/>
            <p:nvPr/>
          </p:nvSpPr>
          <p:spPr>
            <a:xfrm>
              <a:off x="323850" y="2238375"/>
              <a:ext cx="27813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1F7A5A"/>
                  </a:solidFill>
                  <a:latin typeface="Arial"/>
                  <a:ea typeface="Arial"/>
                  <a:cs typeface="Arial"/>
                  <a:sym typeface="Arial"/>
                </a:rPr>
                <a:t>EXEMPT</a:t>
              </a:r>
              <a:endParaRPr b="1" sz="1200">
                <a:solidFill>
                  <a:srgbClr val="1F7A5A"/>
                </a:solidFill>
                <a:latin typeface="Arial"/>
                <a:ea typeface="Arial"/>
                <a:cs typeface="Arial"/>
                <a:sym typeface="Arial"/>
              </a:endParaRPr>
            </a:p>
            <a:p>
              <a:pPr indent="0" lvl="0" marL="0" rtl="0" algn="ctr">
                <a:spcBef>
                  <a:spcPts val="300"/>
                </a:spcBef>
                <a:spcAft>
                  <a:spcPts val="0"/>
                </a:spcAft>
                <a:buNone/>
              </a:pPr>
              <a:r>
                <a:rPr b="0" lang="en-US" sz="1000">
                  <a:solidFill>
                    <a:srgbClr val="1F7A5A"/>
                  </a:solidFill>
                  <a:latin typeface="Arial"/>
                  <a:ea typeface="Arial"/>
                  <a:cs typeface="Arial"/>
                  <a:sym typeface="Arial"/>
                </a:rPr>
                <a:t>from calculation</a:t>
              </a:r>
              <a:endParaRPr b="0" sz="1000">
                <a:solidFill>
                  <a:srgbClr val="1F7A5A"/>
                </a:solidFill>
                <a:latin typeface="Arial"/>
                <a:ea typeface="Arial"/>
                <a:cs typeface="Arial"/>
                <a:sym typeface="Arial"/>
              </a:endParaRPr>
            </a:p>
          </p:txBody>
        </p:sp>
        <p:sp>
          <p:nvSpPr>
            <p:cNvPr id="332" name="Google Shape;332;p17"/>
            <p:cNvSpPr txBox="1"/>
            <p:nvPr/>
          </p:nvSpPr>
          <p:spPr>
            <a:xfrm>
              <a:off x="285750" y="3095625"/>
              <a:ext cx="2857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6B7280"/>
                  </a:solidFill>
                  <a:latin typeface="Arial"/>
                  <a:ea typeface="Arial"/>
                  <a:cs typeface="Arial"/>
                  <a:sym typeface="Arial"/>
                </a:rPr>
                <a:t>Assignment is excused and does not impact the overall grade calculation.</a:t>
              </a:r>
              <a:endParaRPr b="0" sz="1100">
                <a:solidFill>
                  <a:srgbClr val="6B7280"/>
                </a:solidFill>
                <a:latin typeface="Arial"/>
                <a:ea typeface="Arial"/>
                <a:cs typeface="Arial"/>
                <a:sym typeface="Arial"/>
              </a:endParaRPr>
            </a:p>
          </p:txBody>
        </p:sp>
      </p:grpSp>
      <p:grpSp>
        <p:nvGrpSpPr>
          <p:cNvPr id="333" name="Google Shape;333;p17"/>
          <p:cNvGrpSpPr/>
          <p:nvPr/>
        </p:nvGrpSpPr>
        <p:grpSpPr>
          <a:xfrm>
            <a:off x="8191500" y="1714500"/>
            <a:ext cx="3429000" cy="4000500"/>
            <a:chOff x="0" y="0"/>
            <a:chExt cx="3429000" cy="4000500"/>
          </a:xfrm>
        </p:grpSpPr>
        <p:sp>
          <p:nvSpPr>
            <p:cNvPr id="334" name="Google Shape;334;p17"/>
            <p:cNvSpPr/>
            <p:nvPr/>
          </p:nvSpPr>
          <p:spPr>
            <a:xfrm>
              <a:off x="0" y="0"/>
              <a:ext cx="3429000" cy="4000500"/>
            </a:xfrm>
            <a:prstGeom prst="roundRect">
              <a:avLst>
                <a:gd fmla="val 2222" name="adj"/>
              </a:avLst>
            </a:prstGeom>
            <a:solidFill>
              <a:srgbClr val="FFFFFF"/>
            </a:solidFill>
            <a:ln cap="flat" cmpd="sng" w="12700">
              <a:solidFill>
                <a:srgbClr val="D9DE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7"/>
            <p:cNvSpPr/>
            <p:nvPr/>
          </p:nvSpPr>
          <p:spPr>
            <a:xfrm>
              <a:off x="0" y="0"/>
              <a:ext cx="3429000" cy="76200"/>
            </a:xfrm>
            <a:prstGeom prst="roundRect">
              <a:avLst>
                <a:gd fmla="val 50000" name="adj"/>
              </a:avLst>
            </a:prstGeom>
            <a:solidFill>
              <a:srgbClr val="B5121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17"/>
            <p:cNvSpPr/>
            <p:nvPr/>
          </p:nvSpPr>
          <p:spPr>
            <a:xfrm>
              <a:off x="1143000" y="428625"/>
              <a:ext cx="1143000" cy="609600"/>
            </a:xfrm>
            <a:prstGeom prst="roundRect">
              <a:avLst>
                <a:gd fmla="val 12500" name="adj"/>
              </a:avLst>
            </a:prstGeom>
            <a:solidFill>
              <a:srgbClr val="FFF8F8"/>
            </a:solidFill>
            <a:ln cap="flat" cmpd="sng" w="12700">
              <a:solidFill>
                <a:srgbClr val="E8BFC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17"/>
            <p:cNvSpPr txBox="1"/>
            <p:nvPr/>
          </p:nvSpPr>
          <p:spPr>
            <a:xfrm>
              <a:off x="0" y="428625"/>
              <a:ext cx="34290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B5121B"/>
                  </a:solidFill>
                  <a:latin typeface="Arial"/>
                  <a:ea typeface="Arial"/>
                  <a:cs typeface="Arial"/>
                  <a:sym typeface="Arial"/>
                </a:rPr>
                <a:t>M</a:t>
              </a:r>
              <a:endParaRPr b="1" sz="2600">
                <a:solidFill>
                  <a:srgbClr val="B5121B"/>
                </a:solidFill>
                <a:latin typeface="Arial"/>
                <a:ea typeface="Arial"/>
                <a:cs typeface="Arial"/>
                <a:sym typeface="Arial"/>
              </a:endParaRPr>
            </a:p>
          </p:txBody>
        </p:sp>
        <p:sp>
          <p:nvSpPr>
            <p:cNvPr id="338" name="Google Shape;338;p17"/>
            <p:cNvSpPr txBox="1"/>
            <p:nvPr/>
          </p:nvSpPr>
          <p:spPr>
            <a:xfrm>
              <a:off x="228600" y="1285875"/>
              <a:ext cx="2971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1F2937"/>
                  </a:solidFill>
                  <a:latin typeface="Arial"/>
                  <a:ea typeface="Arial"/>
                  <a:cs typeface="Arial"/>
                  <a:sym typeface="Arial"/>
                </a:rPr>
                <a:t>Missing Grade</a:t>
              </a:r>
              <a:endParaRPr b="1" sz="2000">
                <a:solidFill>
                  <a:srgbClr val="1F2937"/>
                </a:solidFill>
                <a:latin typeface="Arial"/>
                <a:ea typeface="Arial"/>
                <a:cs typeface="Arial"/>
                <a:sym typeface="Arial"/>
              </a:endParaRPr>
            </a:p>
          </p:txBody>
        </p:sp>
        <p:cxnSp>
          <p:nvCxnSpPr>
            <p:cNvPr id="339" name="Google Shape;339;p17"/>
            <p:cNvCxnSpPr/>
            <p:nvPr/>
          </p:nvCxnSpPr>
          <p:spPr>
            <a:xfrm>
              <a:off x="285750" y="1905000"/>
              <a:ext cx="2857500" cy="0"/>
            </a:xfrm>
            <a:prstGeom prst="straightConnector1">
              <a:avLst/>
            </a:prstGeom>
            <a:solidFill>
              <a:srgbClr val="FFFFFF"/>
            </a:solidFill>
            <a:ln cap="flat" cmpd="sng" w="12700">
              <a:solidFill>
                <a:srgbClr val="E6E9EC"/>
              </a:solidFill>
              <a:prstDash val="solid"/>
              <a:round/>
              <a:headEnd len="sm" w="sm" type="none"/>
              <a:tailEnd len="sm" w="sm" type="none"/>
            </a:ln>
          </p:spPr>
        </p:cxnSp>
        <p:sp>
          <p:nvSpPr>
            <p:cNvPr id="340" name="Google Shape;340;p17"/>
            <p:cNvSpPr/>
            <p:nvPr/>
          </p:nvSpPr>
          <p:spPr>
            <a:xfrm>
              <a:off x="228600" y="2190750"/>
              <a:ext cx="2971800" cy="666900"/>
            </a:xfrm>
            <a:prstGeom prst="roundRect">
              <a:avLst>
                <a:gd fmla="val 8571" name="adj"/>
              </a:avLst>
            </a:prstGeom>
            <a:solidFill>
              <a:srgbClr val="FFF7F7"/>
            </a:solidFill>
            <a:ln cap="flat" cmpd="sng" w="12700">
              <a:solidFill>
                <a:srgbClr val="EAC7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17"/>
            <p:cNvSpPr txBox="1"/>
            <p:nvPr/>
          </p:nvSpPr>
          <p:spPr>
            <a:xfrm>
              <a:off x="323850" y="2238375"/>
              <a:ext cx="27813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8F0E15"/>
                  </a:solidFill>
                  <a:latin typeface="Arial"/>
                  <a:ea typeface="Arial"/>
                  <a:cs typeface="Arial"/>
                  <a:sym typeface="Arial"/>
                </a:rPr>
                <a:t>NOT EXEMPT</a:t>
              </a:r>
              <a:endParaRPr b="1" sz="1200">
                <a:solidFill>
                  <a:srgbClr val="8F0E15"/>
                </a:solidFill>
                <a:latin typeface="Arial"/>
                <a:ea typeface="Arial"/>
                <a:cs typeface="Arial"/>
                <a:sym typeface="Arial"/>
              </a:endParaRPr>
            </a:p>
            <a:p>
              <a:pPr indent="0" lvl="0" marL="0" rtl="0" algn="ctr">
                <a:spcBef>
                  <a:spcPts val="300"/>
                </a:spcBef>
                <a:spcAft>
                  <a:spcPts val="0"/>
                </a:spcAft>
                <a:buNone/>
              </a:pPr>
              <a:r>
                <a:rPr b="0" lang="en-US" sz="1000">
                  <a:solidFill>
                    <a:srgbClr val="8F0E15"/>
                  </a:solidFill>
                  <a:latin typeface="Arial"/>
                  <a:ea typeface="Arial"/>
                  <a:cs typeface="Arial"/>
                  <a:sym typeface="Arial"/>
                </a:rPr>
                <a:t>from calculation</a:t>
              </a:r>
              <a:endParaRPr b="0" sz="1000">
                <a:solidFill>
                  <a:srgbClr val="8F0E15"/>
                </a:solidFill>
                <a:latin typeface="Arial"/>
                <a:ea typeface="Arial"/>
                <a:cs typeface="Arial"/>
                <a:sym typeface="Arial"/>
              </a:endParaRPr>
            </a:p>
          </p:txBody>
        </p:sp>
        <p:sp>
          <p:nvSpPr>
            <p:cNvPr id="342" name="Google Shape;342;p17"/>
            <p:cNvSpPr txBox="1"/>
            <p:nvPr/>
          </p:nvSpPr>
          <p:spPr>
            <a:xfrm>
              <a:off x="285750" y="3095625"/>
              <a:ext cx="2857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6B7280"/>
                  </a:solidFill>
                  <a:latin typeface="Arial"/>
                  <a:ea typeface="Arial"/>
                  <a:cs typeface="Arial"/>
                  <a:sym typeface="Arial"/>
                </a:rPr>
                <a:t>Work was not turned in when due and currently counts against the average.</a:t>
              </a:r>
              <a:endParaRPr b="0" sz="1100">
                <a:solidFill>
                  <a:srgbClr val="6B7280"/>
                </a:solidFill>
                <a:latin typeface="Arial"/>
                <a:ea typeface="Arial"/>
                <a:cs typeface="Arial"/>
                <a:sym typeface="Arial"/>
              </a:endParaRPr>
            </a:p>
          </p:txBody>
        </p:sp>
      </p:grpSp>
      <p:grpSp>
        <p:nvGrpSpPr>
          <p:cNvPr id="343" name="Google Shape;343;p17"/>
          <p:cNvGrpSpPr/>
          <p:nvPr/>
        </p:nvGrpSpPr>
        <p:grpSpPr>
          <a:xfrm>
            <a:off x="502920" y="6473952"/>
            <a:ext cx="8046600" cy="164700"/>
            <a:chOff x="0" y="0"/>
            <a:chExt cx="8046600" cy="164700"/>
          </a:xfrm>
        </p:grpSpPr>
        <p:sp>
          <p:nvSpPr>
            <p:cNvPr id="344" name="Google Shape;344;p17"/>
            <p:cNvSpPr/>
            <p:nvPr/>
          </p:nvSpPr>
          <p:spPr>
            <a:xfrm>
              <a:off x="0" y="0"/>
              <a:ext cx="8046600" cy="164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7"/>
            <p:cNvSpPr txBox="1"/>
            <p:nvPr/>
          </p:nvSpPr>
          <p:spPr>
            <a:xfrm>
              <a:off x="0" y="0"/>
              <a:ext cx="8046600" cy="1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6B7280"/>
                  </a:solidFill>
                  <a:latin typeface="Arial"/>
                  <a:ea typeface="Arial"/>
                  <a:cs typeface="Arial"/>
                  <a:sym typeface="Arial"/>
                </a:rPr>
                <a:t>NEW BEDFORD HIGH SCHOOL • FEEDBACK THAT MOVES LEARNING</a:t>
              </a:r>
              <a:endParaRPr b="1" sz="850">
                <a:solidFill>
                  <a:srgbClr val="6B7280"/>
                </a:solidFill>
                <a:latin typeface="Arial"/>
                <a:ea typeface="Arial"/>
                <a:cs typeface="Arial"/>
                <a:sym typeface="Arial"/>
              </a:endParaRPr>
            </a:p>
          </p:txBody>
        </p:sp>
      </p:grpSp>
      <p:grpSp>
        <p:nvGrpSpPr>
          <p:cNvPr id="346" name="Google Shape;346;p17"/>
          <p:cNvGrpSpPr/>
          <p:nvPr/>
        </p:nvGrpSpPr>
        <p:grpSpPr>
          <a:xfrm>
            <a:off x="10533888" y="6419088"/>
            <a:ext cx="1005900" cy="201300"/>
            <a:chOff x="0" y="0"/>
            <a:chExt cx="1005900" cy="201300"/>
          </a:xfrm>
        </p:grpSpPr>
        <p:sp>
          <p:nvSpPr>
            <p:cNvPr id="347" name="Google Shape;347;p17"/>
            <p:cNvSpPr/>
            <p:nvPr/>
          </p:nvSpPr>
          <p:spPr>
            <a:xfrm>
              <a:off x="0" y="0"/>
              <a:ext cx="10059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17"/>
            <p:cNvSpPr txBox="1"/>
            <p:nvPr/>
          </p:nvSpPr>
          <p:spPr>
            <a:xfrm>
              <a:off x="0" y="0"/>
              <a:ext cx="1005900" cy="201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850">
                  <a:solidFill>
                    <a:srgbClr val="B5121B"/>
                  </a:solidFill>
                  <a:latin typeface="Arial"/>
                  <a:ea typeface="Arial"/>
                  <a:cs typeface="Arial"/>
                  <a:sym typeface="Arial"/>
                </a:rPr>
                <a:t>ROW 200</a:t>
              </a:r>
              <a:endParaRPr b="1" sz="850">
                <a:solidFill>
                  <a:srgbClr val="B5121B"/>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8"/>
          <p:cNvSpPr/>
          <p:nvPr/>
        </p:nvSpPr>
        <p:spPr>
          <a:xfrm>
            <a:off x="586740" y="301748"/>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Two gradebooks. Two different messages.</a:t>
            </a:r>
            <a:endParaRPr b="0" i="0" sz="2800" u="none" cap="none" strike="noStrike">
              <a:solidFill>
                <a:schemeClr val="dk1"/>
              </a:solidFill>
              <a:latin typeface="Arial"/>
              <a:ea typeface="Arial"/>
              <a:cs typeface="Arial"/>
              <a:sym typeface="Arial"/>
            </a:endParaRPr>
          </a:p>
        </p:txBody>
      </p:sp>
      <p:sp>
        <p:nvSpPr>
          <p:cNvPr id="355" name="Google Shape;355;p18"/>
          <p:cNvSpPr/>
          <p:nvPr/>
        </p:nvSpPr>
        <p:spPr>
          <a:xfrm>
            <a:off x="655302" y="1051595"/>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2350" u="none" cap="none" strike="noStrike">
                <a:solidFill>
                  <a:srgbClr val="475569"/>
                </a:solidFill>
                <a:latin typeface="Arial"/>
                <a:ea typeface="Arial"/>
                <a:cs typeface="Arial"/>
                <a:sym typeface="Arial"/>
              </a:rPr>
              <a:t>What can the student accurately conclude from each one?</a:t>
            </a:r>
            <a:endParaRPr b="0" i="0" sz="2350" u="none" cap="none" strike="noStrike">
              <a:solidFill>
                <a:schemeClr val="dk1"/>
              </a:solidFill>
              <a:latin typeface="Arial"/>
              <a:ea typeface="Arial"/>
              <a:cs typeface="Arial"/>
              <a:sym typeface="Arial"/>
            </a:endParaRPr>
          </a:p>
        </p:txBody>
      </p:sp>
      <p:sp>
        <p:nvSpPr>
          <p:cNvPr id="356" name="Google Shape;356;p18"/>
          <p:cNvSpPr/>
          <p:nvPr/>
        </p:nvSpPr>
        <p:spPr>
          <a:xfrm>
            <a:off x="658368" y="1965960"/>
            <a:ext cx="5074920" cy="3429000"/>
          </a:xfrm>
          <a:prstGeom prst="roundRect">
            <a:avLst>
              <a:gd fmla="val 2133"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658368" y="1965960"/>
            <a:ext cx="5074920" cy="502920"/>
          </a:xfrm>
          <a:prstGeom prst="rect">
            <a:avLst/>
          </a:prstGeom>
          <a:solidFill>
            <a:srgbClr val="1F7A5A"/>
          </a:solidFill>
          <a:ln cap="flat" cmpd="sng" w="12700">
            <a:solidFill>
              <a:srgbClr val="1F7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822960" y="2139696"/>
            <a:ext cx="4754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CURRENT + CLEAR</a:t>
            </a:r>
            <a:endParaRPr b="0" i="0" sz="1200" u="none" cap="none" strike="noStrike">
              <a:solidFill>
                <a:schemeClr val="dk1"/>
              </a:solidFill>
              <a:latin typeface="Arial"/>
              <a:ea typeface="Arial"/>
              <a:cs typeface="Arial"/>
              <a:sym typeface="Arial"/>
            </a:endParaRPr>
          </a:p>
        </p:txBody>
      </p:sp>
      <p:sp>
        <p:nvSpPr>
          <p:cNvPr id="359" name="Google Shape;359;p18"/>
          <p:cNvSpPr/>
          <p:nvPr/>
        </p:nvSpPr>
        <p:spPr>
          <a:xfrm>
            <a:off x="6199632" y="1965960"/>
            <a:ext cx="5074920" cy="3429000"/>
          </a:xfrm>
          <a:prstGeom prst="roundRect">
            <a:avLst>
              <a:gd fmla="val 2133"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p:nvPr/>
        </p:nvSpPr>
        <p:spPr>
          <a:xfrm>
            <a:off x="6199632" y="1965960"/>
            <a:ext cx="5074920" cy="502920"/>
          </a:xfrm>
          <a:prstGeom prst="rect">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6364224" y="2139696"/>
            <a:ext cx="4754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STALE + UNCLEAR</a:t>
            </a:r>
            <a:endParaRPr b="0" i="0" sz="1200" u="none" cap="none" strike="noStrike">
              <a:solidFill>
                <a:schemeClr val="dk1"/>
              </a:solidFill>
              <a:latin typeface="Arial"/>
              <a:ea typeface="Arial"/>
              <a:cs typeface="Arial"/>
              <a:sym typeface="Arial"/>
            </a:endParaRPr>
          </a:p>
        </p:txBody>
      </p:sp>
      <p:sp>
        <p:nvSpPr>
          <p:cNvPr id="362" name="Google Shape;362;p18"/>
          <p:cNvSpPr/>
          <p:nvPr/>
        </p:nvSpPr>
        <p:spPr>
          <a:xfrm>
            <a:off x="841248" y="2670048"/>
            <a:ext cx="658368"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DATE</a:t>
            </a:r>
            <a:endParaRPr b="0" i="0" sz="900" u="none" cap="none" strike="noStrike">
              <a:solidFill>
                <a:schemeClr val="dk1"/>
              </a:solidFill>
              <a:latin typeface="Arial"/>
              <a:ea typeface="Arial"/>
              <a:cs typeface="Arial"/>
              <a:sym typeface="Arial"/>
            </a:endParaRPr>
          </a:p>
        </p:txBody>
      </p:sp>
      <p:sp>
        <p:nvSpPr>
          <p:cNvPr id="363" name="Google Shape;363;p18"/>
          <p:cNvSpPr/>
          <p:nvPr/>
        </p:nvSpPr>
        <p:spPr>
          <a:xfrm>
            <a:off x="1591056" y="2670048"/>
            <a:ext cx="3035808"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ASSIGNMENT</a:t>
            </a:r>
            <a:endParaRPr b="0" i="0" sz="900" u="none" cap="none" strike="noStrike">
              <a:solidFill>
                <a:schemeClr val="dk1"/>
              </a:solidFill>
              <a:latin typeface="Arial"/>
              <a:ea typeface="Arial"/>
              <a:cs typeface="Arial"/>
              <a:sym typeface="Arial"/>
            </a:endParaRPr>
          </a:p>
        </p:txBody>
      </p:sp>
      <p:sp>
        <p:nvSpPr>
          <p:cNvPr id="364" name="Google Shape;364;p18"/>
          <p:cNvSpPr/>
          <p:nvPr/>
        </p:nvSpPr>
        <p:spPr>
          <a:xfrm>
            <a:off x="4736592" y="2670048"/>
            <a:ext cx="868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GRADE</a:t>
            </a:r>
            <a:endParaRPr b="0" i="0" sz="900" u="none" cap="none" strike="noStrike">
              <a:solidFill>
                <a:schemeClr val="dk1"/>
              </a:solidFill>
              <a:latin typeface="Arial"/>
              <a:ea typeface="Arial"/>
              <a:cs typeface="Arial"/>
              <a:sym typeface="Arial"/>
            </a:endParaRPr>
          </a:p>
        </p:txBody>
      </p:sp>
      <p:cxnSp>
        <p:nvCxnSpPr>
          <p:cNvPr id="365" name="Google Shape;365;p18"/>
          <p:cNvCxnSpPr/>
          <p:nvPr/>
        </p:nvCxnSpPr>
        <p:spPr>
          <a:xfrm>
            <a:off x="841248" y="3300984"/>
            <a:ext cx="4663440" cy="0"/>
          </a:xfrm>
          <a:prstGeom prst="straightConnector1">
            <a:avLst/>
          </a:prstGeom>
          <a:noFill/>
          <a:ln cap="flat" cmpd="sng" w="12700">
            <a:solidFill>
              <a:srgbClr val="E6E9EC"/>
            </a:solidFill>
            <a:prstDash val="solid"/>
            <a:round/>
            <a:headEnd len="sm" w="sm" type="none"/>
            <a:tailEnd len="sm" w="sm" type="none"/>
          </a:ln>
        </p:spPr>
      </p:cxnSp>
      <p:sp>
        <p:nvSpPr>
          <p:cNvPr id="366" name="Google Shape;366;p18"/>
          <p:cNvSpPr/>
          <p:nvPr/>
        </p:nvSpPr>
        <p:spPr>
          <a:xfrm>
            <a:off x="841248" y="299008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9/8</a:t>
            </a:r>
            <a:endParaRPr b="0" i="0" sz="1050" u="none" cap="none" strike="noStrike">
              <a:solidFill>
                <a:schemeClr val="dk1"/>
              </a:solidFill>
              <a:latin typeface="Arial"/>
              <a:ea typeface="Arial"/>
              <a:cs typeface="Arial"/>
              <a:sym typeface="Arial"/>
            </a:endParaRPr>
          </a:p>
        </p:txBody>
      </p:sp>
      <p:sp>
        <p:nvSpPr>
          <p:cNvPr id="367" name="Google Shape;367;p18"/>
          <p:cNvSpPr/>
          <p:nvPr/>
        </p:nvSpPr>
        <p:spPr>
          <a:xfrm>
            <a:off x="1591056" y="2990088"/>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Quiz: Linear Functions</a:t>
            </a:r>
            <a:endParaRPr b="0" i="0" sz="1050" u="none" cap="none" strike="noStrike">
              <a:solidFill>
                <a:schemeClr val="dk1"/>
              </a:solidFill>
              <a:latin typeface="Arial"/>
              <a:ea typeface="Arial"/>
              <a:cs typeface="Arial"/>
              <a:sym typeface="Arial"/>
            </a:endParaRPr>
          </a:p>
        </p:txBody>
      </p:sp>
      <p:sp>
        <p:nvSpPr>
          <p:cNvPr id="368" name="Google Shape;368;p18"/>
          <p:cNvSpPr/>
          <p:nvPr/>
        </p:nvSpPr>
        <p:spPr>
          <a:xfrm>
            <a:off x="4736592" y="2990088"/>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1050"/>
              <a:buFont typeface="Arial"/>
              <a:buNone/>
            </a:pPr>
            <a:r>
              <a:rPr b="1" i="0" lang="en-US" sz="1050" u="none" cap="none" strike="noStrike">
                <a:solidFill>
                  <a:srgbClr val="1F2937"/>
                </a:solidFill>
                <a:latin typeface="Arial"/>
                <a:ea typeface="Arial"/>
                <a:cs typeface="Arial"/>
                <a:sym typeface="Arial"/>
              </a:rPr>
              <a:t>84</a:t>
            </a:r>
            <a:endParaRPr b="0" i="0" sz="1050" u="none" cap="none" strike="noStrike">
              <a:solidFill>
                <a:schemeClr val="dk1"/>
              </a:solidFill>
              <a:latin typeface="Arial"/>
              <a:ea typeface="Arial"/>
              <a:cs typeface="Arial"/>
              <a:sym typeface="Arial"/>
            </a:endParaRPr>
          </a:p>
        </p:txBody>
      </p:sp>
      <p:cxnSp>
        <p:nvCxnSpPr>
          <p:cNvPr id="369" name="Google Shape;369;p18"/>
          <p:cNvCxnSpPr/>
          <p:nvPr/>
        </p:nvCxnSpPr>
        <p:spPr>
          <a:xfrm>
            <a:off x="841248" y="3739896"/>
            <a:ext cx="4663440" cy="0"/>
          </a:xfrm>
          <a:prstGeom prst="straightConnector1">
            <a:avLst/>
          </a:prstGeom>
          <a:noFill/>
          <a:ln cap="flat" cmpd="sng" w="12700">
            <a:solidFill>
              <a:srgbClr val="E6E9EC"/>
            </a:solidFill>
            <a:prstDash val="solid"/>
            <a:round/>
            <a:headEnd len="sm" w="sm" type="none"/>
            <a:tailEnd len="sm" w="sm" type="none"/>
          </a:ln>
        </p:spPr>
      </p:cxnSp>
      <p:sp>
        <p:nvSpPr>
          <p:cNvPr id="370" name="Google Shape;370;p18"/>
          <p:cNvSpPr/>
          <p:nvPr/>
        </p:nvSpPr>
        <p:spPr>
          <a:xfrm>
            <a:off x="841248" y="3429000"/>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9/10</a:t>
            </a:r>
            <a:endParaRPr b="0" i="0" sz="1050" u="none" cap="none" strike="noStrike">
              <a:solidFill>
                <a:schemeClr val="dk1"/>
              </a:solidFill>
              <a:latin typeface="Arial"/>
              <a:ea typeface="Arial"/>
              <a:cs typeface="Arial"/>
              <a:sym typeface="Arial"/>
            </a:endParaRPr>
          </a:p>
        </p:txBody>
      </p:sp>
      <p:sp>
        <p:nvSpPr>
          <p:cNvPr id="371" name="Google Shape;371;p18"/>
          <p:cNvSpPr/>
          <p:nvPr/>
        </p:nvSpPr>
        <p:spPr>
          <a:xfrm>
            <a:off x="1591056" y="3429000"/>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Practice: Graphing</a:t>
            </a:r>
            <a:endParaRPr b="0" i="0" sz="1050" u="none" cap="none" strike="noStrike">
              <a:solidFill>
                <a:schemeClr val="dk1"/>
              </a:solidFill>
              <a:latin typeface="Arial"/>
              <a:ea typeface="Arial"/>
              <a:cs typeface="Arial"/>
              <a:sym typeface="Arial"/>
            </a:endParaRPr>
          </a:p>
        </p:txBody>
      </p:sp>
      <p:sp>
        <p:nvSpPr>
          <p:cNvPr id="372" name="Google Shape;372;p18"/>
          <p:cNvSpPr/>
          <p:nvPr/>
        </p:nvSpPr>
        <p:spPr>
          <a:xfrm>
            <a:off x="4736592" y="3429000"/>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5121B"/>
              </a:buClr>
              <a:buSzPts val="1050"/>
              <a:buFont typeface="Arial"/>
              <a:buNone/>
            </a:pPr>
            <a:r>
              <a:rPr b="1" i="0" lang="en-US" sz="1050" u="none" cap="none" strike="noStrike">
                <a:solidFill>
                  <a:srgbClr val="B5121B"/>
                </a:solidFill>
                <a:latin typeface="Arial"/>
                <a:ea typeface="Arial"/>
                <a:cs typeface="Arial"/>
                <a:sym typeface="Arial"/>
              </a:rPr>
              <a:t>MISSING</a:t>
            </a:r>
            <a:endParaRPr b="0" i="0" sz="1050" u="none" cap="none" strike="noStrike">
              <a:solidFill>
                <a:schemeClr val="dk1"/>
              </a:solidFill>
              <a:latin typeface="Arial"/>
              <a:ea typeface="Arial"/>
              <a:cs typeface="Arial"/>
              <a:sym typeface="Arial"/>
            </a:endParaRPr>
          </a:p>
        </p:txBody>
      </p:sp>
      <p:cxnSp>
        <p:nvCxnSpPr>
          <p:cNvPr id="373" name="Google Shape;373;p18"/>
          <p:cNvCxnSpPr/>
          <p:nvPr/>
        </p:nvCxnSpPr>
        <p:spPr>
          <a:xfrm>
            <a:off x="841248" y="4178808"/>
            <a:ext cx="4663440" cy="0"/>
          </a:xfrm>
          <a:prstGeom prst="straightConnector1">
            <a:avLst/>
          </a:prstGeom>
          <a:noFill/>
          <a:ln cap="flat" cmpd="sng" w="12700">
            <a:solidFill>
              <a:srgbClr val="E6E9EC"/>
            </a:solidFill>
            <a:prstDash val="solid"/>
            <a:round/>
            <a:headEnd len="sm" w="sm" type="none"/>
            <a:tailEnd len="sm" w="sm" type="none"/>
          </a:ln>
        </p:spPr>
      </p:cxnSp>
      <p:sp>
        <p:nvSpPr>
          <p:cNvPr id="374" name="Google Shape;374;p18"/>
          <p:cNvSpPr/>
          <p:nvPr/>
        </p:nvSpPr>
        <p:spPr>
          <a:xfrm>
            <a:off x="841248" y="3867912"/>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9/12</a:t>
            </a:r>
            <a:endParaRPr b="0" i="0" sz="1050" u="none" cap="none" strike="noStrike">
              <a:solidFill>
                <a:schemeClr val="dk1"/>
              </a:solidFill>
              <a:latin typeface="Arial"/>
              <a:ea typeface="Arial"/>
              <a:cs typeface="Arial"/>
              <a:sym typeface="Arial"/>
            </a:endParaRPr>
          </a:p>
        </p:txBody>
      </p:sp>
      <p:sp>
        <p:nvSpPr>
          <p:cNvPr id="375" name="Google Shape;375;p18"/>
          <p:cNvSpPr/>
          <p:nvPr/>
        </p:nvSpPr>
        <p:spPr>
          <a:xfrm>
            <a:off x="1591056" y="3867912"/>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Problem Set #2</a:t>
            </a:r>
            <a:endParaRPr b="0" i="0" sz="1050" u="none" cap="none" strike="noStrike">
              <a:solidFill>
                <a:schemeClr val="dk1"/>
              </a:solidFill>
              <a:latin typeface="Arial"/>
              <a:ea typeface="Arial"/>
              <a:cs typeface="Arial"/>
              <a:sym typeface="Arial"/>
            </a:endParaRPr>
          </a:p>
        </p:txBody>
      </p:sp>
      <p:sp>
        <p:nvSpPr>
          <p:cNvPr id="376" name="Google Shape;376;p18"/>
          <p:cNvSpPr/>
          <p:nvPr/>
        </p:nvSpPr>
        <p:spPr>
          <a:xfrm>
            <a:off x="4736592" y="3867912"/>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1050"/>
              <a:buFont typeface="Arial"/>
              <a:buNone/>
            </a:pPr>
            <a:r>
              <a:rPr b="1" i="0" lang="en-US" sz="1050" u="none" cap="none" strike="noStrike">
                <a:solidFill>
                  <a:srgbClr val="1F2937"/>
                </a:solidFill>
                <a:latin typeface="Arial"/>
                <a:ea typeface="Arial"/>
                <a:cs typeface="Arial"/>
                <a:sym typeface="Arial"/>
              </a:rPr>
              <a:t>92</a:t>
            </a:r>
            <a:endParaRPr b="0" i="0" sz="1050" u="none" cap="none" strike="noStrike">
              <a:solidFill>
                <a:schemeClr val="dk1"/>
              </a:solidFill>
              <a:latin typeface="Arial"/>
              <a:ea typeface="Arial"/>
              <a:cs typeface="Arial"/>
              <a:sym typeface="Arial"/>
            </a:endParaRPr>
          </a:p>
        </p:txBody>
      </p:sp>
      <p:cxnSp>
        <p:nvCxnSpPr>
          <p:cNvPr id="377" name="Google Shape;377;p18"/>
          <p:cNvCxnSpPr/>
          <p:nvPr/>
        </p:nvCxnSpPr>
        <p:spPr>
          <a:xfrm>
            <a:off x="841248" y="4617720"/>
            <a:ext cx="4663440" cy="0"/>
          </a:xfrm>
          <a:prstGeom prst="straightConnector1">
            <a:avLst/>
          </a:prstGeom>
          <a:noFill/>
          <a:ln cap="flat" cmpd="sng" w="12700">
            <a:solidFill>
              <a:srgbClr val="E6E9EC"/>
            </a:solidFill>
            <a:prstDash val="solid"/>
            <a:round/>
            <a:headEnd len="sm" w="sm" type="none"/>
            <a:tailEnd len="sm" w="sm" type="none"/>
          </a:ln>
        </p:spPr>
      </p:cxnSp>
      <p:sp>
        <p:nvSpPr>
          <p:cNvPr id="378" name="Google Shape;378;p18"/>
          <p:cNvSpPr/>
          <p:nvPr/>
        </p:nvSpPr>
        <p:spPr>
          <a:xfrm>
            <a:off x="841248" y="4306824"/>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9/15</a:t>
            </a:r>
            <a:endParaRPr b="0" i="0" sz="1050" u="none" cap="none" strike="noStrike">
              <a:solidFill>
                <a:schemeClr val="dk1"/>
              </a:solidFill>
              <a:latin typeface="Arial"/>
              <a:ea typeface="Arial"/>
              <a:cs typeface="Arial"/>
              <a:sym typeface="Arial"/>
            </a:endParaRPr>
          </a:p>
        </p:txBody>
      </p:sp>
      <p:sp>
        <p:nvSpPr>
          <p:cNvPr id="379" name="Google Shape;379;p18"/>
          <p:cNvSpPr/>
          <p:nvPr/>
        </p:nvSpPr>
        <p:spPr>
          <a:xfrm>
            <a:off x="1591056" y="4306824"/>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Retake: Quiz</a:t>
            </a:r>
            <a:endParaRPr b="0" i="0" sz="1050" u="none" cap="none" strike="noStrike">
              <a:solidFill>
                <a:schemeClr val="dk1"/>
              </a:solidFill>
              <a:latin typeface="Arial"/>
              <a:ea typeface="Arial"/>
              <a:cs typeface="Arial"/>
              <a:sym typeface="Arial"/>
            </a:endParaRPr>
          </a:p>
        </p:txBody>
      </p:sp>
      <p:sp>
        <p:nvSpPr>
          <p:cNvPr id="380" name="Google Shape;380;p18"/>
          <p:cNvSpPr/>
          <p:nvPr/>
        </p:nvSpPr>
        <p:spPr>
          <a:xfrm>
            <a:off x="4736592" y="4306824"/>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1050"/>
              <a:buFont typeface="Arial"/>
              <a:buNone/>
            </a:pPr>
            <a:r>
              <a:rPr b="1" i="0" lang="en-US" sz="1050" u="none" cap="none" strike="noStrike">
                <a:solidFill>
                  <a:srgbClr val="1F2937"/>
                </a:solidFill>
                <a:latin typeface="Arial"/>
                <a:ea typeface="Arial"/>
                <a:cs typeface="Arial"/>
                <a:sym typeface="Arial"/>
              </a:rPr>
              <a:t>91</a:t>
            </a:r>
            <a:endParaRPr b="0" i="0" sz="1050" u="none" cap="none" strike="noStrike">
              <a:solidFill>
                <a:schemeClr val="dk1"/>
              </a:solidFill>
              <a:latin typeface="Arial"/>
              <a:ea typeface="Arial"/>
              <a:cs typeface="Arial"/>
              <a:sym typeface="Arial"/>
            </a:endParaRPr>
          </a:p>
        </p:txBody>
      </p:sp>
      <p:cxnSp>
        <p:nvCxnSpPr>
          <p:cNvPr id="381" name="Google Shape;381;p18"/>
          <p:cNvCxnSpPr/>
          <p:nvPr/>
        </p:nvCxnSpPr>
        <p:spPr>
          <a:xfrm>
            <a:off x="841248" y="5056632"/>
            <a:ext cx="4663440" cy="0"/>
          </a:xfrm>
          <a:prstGeom prst="straightConnector1">
            <a:avLst/>
          </a:prstGeom>
          <a:noFill/>
          <a:ln cap="flat" cmpd="sng" w="12700">
            <a:solidFill>
              <a:srgbClr val="E6E9EC"/>
            </a:solidFill>
            <a:prstDash val="solid"/>
            <a:round/>
            <a:headEnd len="sm" w="sm" type="none"/>
            <a:tailEnd len="sm" w="sm" type="none"/>
          </a:ln>
        </p:spPr>
      </p:cxnSp>
      <p:sp>
        <p:nvSpPr>
          <p:cNvPr id="382" name="Google Shape;382;p18"/>
          <p:cNvSpPr/>
          <p:nvPr/>
        </p:nvSpPr>
        <p:spPr>
          <a:xfrm>
            <a:off x="841248" y="47457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9/18</a:t>
            </a:r>
            <a:endParaRPr b="0" i="0" sz="1050" u="none" cap="none" strike="noStrike">
              <a:solidFill>
                <a:schemeClr val="dk1"/>
              </a:solidFill>
              <a:latin typeface="Arial"/>
              <a:ea typeface="Arial"/>
              <a:cs typeface="Arial"/>
              <a:sym typeface="Arial"/>
            </a:endParaRPr>
          </a:p>
        </p:txBody>
      </p:sp>
      <p:sp>
        <p:nvSpPr>
          <p:cNvPr id="383" name="Google Shape;383;p18"/>
          <p:cNvSpPr/>
          <p:nvPr/>
        </p:nvSpPr>
        <p:spPr>
          <a:xfrm>
            <a:off x="1591056" y="4745736"/>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Exit Ticket</a:t>
            </a:r>
            <a:endParaRPr b="0" i="0" sz="1050" u="none" cap="none" strike="noStrike">
              <a:solidFill>
                <a:schemeClr val="dk1"/>
              </a:solidFill>
              <a:latin typeface="Arial"/>
              <a:ea typeface="Arial"/>
              <a:cs typeface="Arial"/>
              <a:sym typeface="Arial"/>
            </a:endParaRPr>
          </a:p>
        </p:txBody>
      </p:sp>
      <p:sp>
        <p:nvSpPr>
          <p:cNvPr id="384" name="Google Shape;384;p18"/>
          <p:cNvSpPr/>
          <p:nvPr/>
        </p:nvSpPr>
        <p:spPr>
          <a:xfrm>
            <a:off x="4736592" y="4745736"/>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1050"/>
              <a:buFont typeface="Arial"/>
              <a:buNone/>
            </a:pPr>
            <a:r>
              <a:rPr b="1" i="0" lang="en-US" sz="1050" u="none" cap="none" strike="noStrike">
                <a:solidFill>
                  <a:srgbClr val="1F2937"/>
                </a:solidFill>
                <a:latin typeface="Arial"/>
                <a:ea typeface="Arial"/>
                <a:cs typeface="Arial"/>
                <a:sym typeface="Arial"/>
              </a:rPr>
              <a:t>88</a:t>
            </a:r>
            <a:endParaRPr b="0" i="0" sz="1050" u="none" cap="none" strike="noStrike">
              <a:solidFill>
                <a:schemeClr val="dk1"/>
              </a:solidFill>
              <a:latin typeface="Arial"/>
              <a:ea typeface="Arial"/>
              <a:cs typeface="Arial"/>
              <a:sym typeface="Arial"/>
            </a:endParaRPr>
          </a:p>
        </p:txBody>
      </p:sp>
      <p:sp>
        <p:nvSpPr>
          <p:cNvPr id="385" name="Google Shape;385;p18"/>
          <p:cNvSpPr/>
          <p:nvPr/>
        </p:nvSpPr>
        <p:spPr>
          <a:xfrm>
            <a:off x="6382512" y="2670048"/>
            <a:ext cx="658368"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DATE</a:t>
            </a:r>
            <a:endParaRPr b="0" i="0" sz="900" u="none" cap="none" strike="noStrike">
              <a:solidFill>
                <a:schemeClr val="dk1"/>
              </a:solidFill>
              <a:latin typeface="Arial"/>
              <a:ea typeface="Arial"/>
              <a:cs typeface="Arial"/>
              <a:sym typeface="Arial"/>
            </a:endParaRPr>
          </a:p>
        </p:txBody>
      </p:sp>
      <p:sp>
        <p:nvSpPr>
          <p:cNvPr id="386" name="Google Shape;386;p18"/>
          <p:cNvSpPr/>
          <p:nvPr/>
        </p:nvSpPr>
        <p:spPr>
          <a:xfrm>
            <a:off x="7132320" y="2670048"/>
            <a:ext cx="3035808"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ASSIGNMENT</a:t>
            </a:r>
            <a:endParaRPr b="0" i="0" sz="900" u="none" cap="none" strike="noStrike">
              <a:solidFill>
                <a:schemeClr val="dk1"/>
              </a:solidFill>
              <a:latin typeface="Arial"/>
              <a:ea typeface="Arial"/>
              <a:cs typeface="Arial"/>
              <a:sym typeface="Arial"/>
            </a:endParaRPr>
          </a:p>
        </p:txBody>
      </p:sp>
      <p:sp>
        <p:nvSpPr>
          <p:cNvPr id="387" name="Google Shape;387;p18"/>
          <p:cNvSpPr/>
          <p:nvPr/>
        </p:nvSpPr>
        <p:spPr>
          <a:xfrm>
            <a:off x="10277856" y="2670048"/>
            <a:ext cx="868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1" i="0" lang="en-US" sz="900" u="none" cap="none" strike="noStrike">
                <a:solidFill>
                  <a:srgbClr val="6B7280"/>
                </a:solidFill>
                <a:latin typeface="Arial"/>
                <a:ea typeface="Arial"/>
                <a:cs typeface="Arial"/>
                <a:sym typeface="Arial"/>
              </a:rPr>
              <a:t>GRADE</a:t>
            </a:r>
            <a:endParaRPr b="0" i="0" sz="900" u="none" cap="none" strike="noStrike">
              <a:solidFill>
                <a:schemeClr val="dk1"/>
              </a:solidFill>
              <a:latin typeface="Arial"/>
              <a:ea typeface="Arial"/>
              <a:cs typeface="Arial"/>
              <a:sym typeface="Arial"/>
            </a:endParaRPr>
          </a:p>
        </p:txBody>
      </p:sp>
      <p:cxnSp>
        <p:nvCxnSpPr>
          <p:cNvPr id="388" name="Google Shape;388;p18"/>
          <p:cNvCxnSpPr/>
          <p:nvPr/>
        </p:nvCxnSpPr>
        <p:spPr>
          <a:xfrm>
            <a:off x="6382512" y="3300984"/>
            <a:ext cx="4663440" cy="0"/>
          </a:xfrm>
          <a:prstGeom prst="straightConnector1">
            <a:avLst/>
          </a:prstGeom>
          <a:noFill/>
          <a:ln cap="flat" cmpd="sng" w="12700">
            <a:solidFill>
              <a:srgbClr val="E6E9EC"/>
            </a:solidFill>
            <a:prstDash val="solid"/>
            <a:round/>
            <a:headEnd len="sm" w="sm" type="none"/>
            <a:tailEnd len="sm" w="sm" type="none"/>
          </a:ln>
        </p:spPr>
      </p:cxnSp>
      <p:sp>
        <p:nvSpPr>
          <p:cNvPr id="389" name="Google Shape;389;p18"/>
          <p:cNvSpPr/>
          <p:nvPr/>
        </p:nvSpPr>
        <p:spPr>
          <a:xfrm>
            <a:off x="6382512" y="299008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9/8</a:t>
            </a:r>
            <a:endParaRPr b="0" i="0" sz="1050" u="none" cap="none" strike="noStrike">
              <a:solidFill>
                <a:schemeClr val="dk1"/>
              </a:solidFill>
              <a:latin typeface="Arial"/>
              <a:ea typeface="Arial"/>
              <a:cs typeface="Arial"/>
              <a:sym typeface="Arial"/>
            </a:endParaRPr>
          </a:p>
        </p:txBody>
      </p:sp>
      <p:sp>
        <p:nvSpPr>
          <p:cNvPr id="390" name="Google Shape;390;p18"/>
          <p:cNvSpPr/>
          <p:nvPr/>
        </p:nvSpPr>
        <p:spPr>
          <a:xfrm>
            <a:off x="7132320" y="2990088"/>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Quiz</a:t>
            </a:r>
            <a:endParaRPr b="0" i="0" sz="1050" u="none" cap="none" strike="noStrike">
              <a:solidFill>
                <a:schemeClr val="dk1"/>
              </a:solidFill>
              <a:latin typeface="Arial"/>
              <a:ea typeface="Arial"/>
              <a:cs typeface="Arial"/>
              <a:sym typeface="Arial"/>
            </a:endParaRPr>
          </a:p>
        </p:txBody>
      </p:sp>
      <p:sp>
        <p:nvSpPr>
          <p:cNvPr id="391" name="Google Shape;391;p18"/>
          <p:cNvSpPr/>
          <p:nvPr/>
        </p:nvSpPr>
        <p:spPr>
          <a:xfrm>
            <a:off x="10277856" y="2990088"/>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1050"/>
              <a:buFont typeface="Arial"/>
              <a:buNone/>
            </a:pPr>
            <a:r>
              <a:rPr b="1" i="0" lang="en-US" sz="1050" u="none" cap="none" strike="noStrike">
                <a:solidFill>
                  <a:srgbClr val="1F2937"/>
                </a:solidFill>
                <a:latin typeface="Arial"/>
                <a:ea typeface="Arial"/>
                <a:cs typeface="Arial"/>
                <a:sym typeface="Arial"/>
              </a:rPr>
              <a:t>84</a:t>
            </a:r>
            <a:endParaRPr b="0" i="0" sz="1050" u="none" cap="none" strike="noStrike">
              <a:solidFill>
                <a:schemeClr val="dk1"/>
              </a:solidFill>
              <a:latin typeface="Arial"/>
              <a:ea typeface="Arial"/>
              <a:cs typeface="Arial"/>
              <a:sym typeface="Arial"/>
            </a:endParaRPr>
          </a:p>
        </p:txBody>
      </p:sp>
      <p:cxnSp>
        <p:nvCxnSpPr>
          <p:cNvPr id="392" name="Google Shape;392;p18"/>
          <p:cNvCxnSpPr/>
          <p:nvPr/>
        </p:nvCxnSpPr>
        <p:spPr>
          <a:xfrm>
            <a:off x="6382512" y="3739896"/>
            <a:ext cx="4663440" cy="0"/>
          </a:xfrm>
          <a:prstGeom prst="straightConnector1">
            <a:avLst/>
          </a:prstGeom>
          <a:noFill/>
          <a:ln cap="flat" cmpd="sng" w="12700">
            <a:solidFill>
              <a:srgbClr val="E6E9EC"/>
            </a:solidFill>
            <a:prstDash val="solid"/>
            <a:round/>
            <a:headEnd len="sm" w="sm" type="none"/>
            <a:tailEnd len="sm" w="sm" type="none"/>
          </a:ln>
        </p:spPr>
      </p:cxnSp>
      <p:sp>
        <p:nvSpPr>
          <p:cNvPr id="393" name="Google Shape;393;p18"/>
          <p:cNvSpPr/>
          <p:nvPr/>
        </p:nvSpPr>
        <p:spPr>
          <a:xfrm>
            <a:off x="6382512" y="3429000"/>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9/10</a:t>
            </a:r>
            <a:endParaRPr b="0" i="0" sz="1050" u="none" cap="none" strike="noStrike">
              <a:solidFill>
                <a:schemeClr val="dk1"/>
              </a:solidFill>
              <a:latin typeface="Arial"/>
              <a:ea typeface="Arial"/>
              <a:cs typeface="Arial"/>
              <a:sym typeface="Arial"/>
            </a:endParaRPr>
          </a:p>
        </p:txBody>
      </p:sp>
      <p:sp>
        <p:nvSpPr>
          <p:cNvPr id="394" name="Google Shape;394;p18"/>
          <p:cNvSpPr/>
          <p:nvPr/>
        </p:nvSpPr>
        <p:spPr>
          <a:xfrm>
            <a:off x="7132320" y="3429000"/>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Assignment</a:t>
            </a:r>
            <a:endParaRPr b="0" i="0" sz="1050" u="none" cap="none" strike="noStrike">
              <a:solidFill>
                <a:schemeClr val="dk1"/>
              </a:solidFill>
              <a:latin typeface="Arial"/>
              <a:ea typeface="Arial"/>
              <a:cs typeface="Arial"/>
              <a:sym typeface="Arial"/>
            </a:endParaRPr>
          </a:p>
        </p:txBody>
      </p:sp>
      <p:sp>
        <p:nvSpPr>
          <p:cNvPr id="395" name="Google Shape;395;p18"/>
          <p:cNvSpPr/>
          <p:nvPr/>
        </p:nvSpPr>
        <p:spPr>
          <a:xfrm>
            <a:off x="10277856" y="3429000"/>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50"/>
              <a:buFont typeface="Arial"/>
              <a:buNone/>
            </a:pPr>
            <a:r>
              <a:rPr b="1" i="0" lang="en-US" sz="1050" u="none" cap="none" strike="noStrike">
                <a:solidFill>
                  <a:srgbClr val="6B7280"/>
                </a:solidFill>
                <a:latin typeface="Arial"/>
                <a:ea typeface="Arial"/>
                <a:cs typeface="Arial"/>
                <a:sym typeface="Arial"/>
              </a:rPr>
              <a:t>—</a:t>
            </a:r>
            <a:endParaRPr b="0" i="0" sz="1050" u="none" cap="none" strike="noStrike">
              <a:solidFill>
                <a:schemeClr val="dk1"/>
              </a:solidFill>
              <a:latin typeface="Arial"/>
              <a:ea typeface="Arial"/>
              <a:cs typeface="Arial"/>
              <a:sym typeface="Arial"/>
            </a:endParaRPr>
          </a:p>
        </p:txBody>
      </p:sp>
      <p:cxnSp>
        <p:nvCxnSpPr>
          <p:cNvPr id="396" name="Google Shape;396;p18"/>
          <p:cNvCxnSpPr/>
          <p:nvPr/>
        </p:nvCxnSpPr>
        <p:spPr>
          <a:xfrm>
            <a:off x="6382512" y="4178808"/>
            <a:ext cx="4663440" cy="0"/>
          </a:xfrm>
          <a:prstGeom prst="straightConnector1">
            <a:avLst/>
          </a:prstGeom>
          <a:noFill/>
          <a:ln cap="flat" cmpd="sng" w="12700">
            <a:solidFill>
              <a:srgbClr val="E6E9EC"/>
            </a:solidFill>
            <a:prstDash val="solid"/>
            <a:round/>
            <a:headEnd len="sm" w="sm" type="none"/>
            <a:tailEnd len="sm" w="sm" type="none"/>
          </a:ln>
        </p:spPr>
      </p:cxnSp>
      <p:sp>
        <p:nvSpPr>
          <p:cNvPr id="397" name="Google Shape;397;p18"/>
          <p:cNvSpPr/>
          <p:nvPr/>
        </p:nvSpPr>
        <p:spPr>
          <a:xfrm>
            <a:off x="6382512" y="3867912"/>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9/12</a:t>
            </a:r>
            <a:endParaRPr b="0" i="0" sz="1050" u="none" cap="none" strike="noStrike">
              <a:solidFill>
                <a:schemeClr val="dk1"/>
              </a:solidFill>
              <a:latin typeface="Arial"/>
              <a:ea typeface="Arial"/>
              <a:cs typeface="Arial"/>
              <a:sym typeface="Arial"/>
            </a:endParaRPr>
          </a:p>
        </p:txBody>
      </p:sp>
      <p:sp>
        <p:nvSpPr>
          <p:cNvPr id="398" name="Google Shape;398;p18"/>
          <p:cNvSpPr/>
          <p:nvPr/>
        </p:nvSpPr>
        <p:spPr>
          <a:xfrm>
            <a:off x="7132320" y="3867912"/>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Assignment</a:t>
            </a:r>
            <a:endParaRPr b="0" i="0" sz="1050" u="none" cap="none" strike="noStrike">
              <a:solidFill>
                <a:schemeClr val="dk1"/>
              </a:solidFill>
              <a:latin typeface="Arial"/>
              <a:ea typeface="Arial"/>
              <a:cs typeface="Arial"/>
              <a:sym typeface="Arial"/>
            </a:endParaRPr>
          </a:p>
        </p:txBody>
      </p:sp>
      <p:sp>
        <p:nvSpPr>
          <p:cNvPr id="399" name="Google Shape;399;p18"/>
          <p:cNvSpPr/>
          <p:nvPr/>
        </p:nvSpPr>
        <p:spPr>
          <a:xfrm>
            <a:off x="10277856" y="3867912"/>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50"/>
              <a:buFont typeface="Arial"/>
              <a:buNone/>
            </a:pPr>
            <a:r>
              <a:rPr b="1" i="0" lang="en-US" sz="1050" u="none" cap="none" strike="noStrike">
                <a:solidFill>
                  <a:srgbClr val="6B7280"/>
                </a:solidFill>
                <a:latin typeface="Arial"/>
                <a:ea typeface="Arial"/>
                <a:cs typeface="Arial"/>
                <a:sym typeface="Arial"/>
              </a:rPr>
              <a:t>—</a:t>
            </a:r>
            <a:endParaRPr b="0" i="0" sz="1050" u="none" cap="none" strike="noStrike">
              <a:solidFill>
                <a:schemeClr val="dk1"/>
              </a:solidFill>
              <a:latin typeface="Arial"/>
              <a:ea typeface="Arial"/>
              <a:cs typeface="Arial"/>
              <a:sym typeface="Arial"/>
            </a:endParaRPr>
          </a:p>
        </p:txBody>
      </p:sp>
      <p:cxnSp>
        <p:nvCxnSpPr>
          <p:cNvPr id="400" name="Google Shape;400;p18"/>
          <p:cNvCxnSpPr/>
          <p:nvPr/>
        </p:nvCxnSpPr>
        <p:spPr>
          <a:xfrm>
            <a:off x="6382512" y="4617720"/>
            <a:ext cx="4663440" cy="0"/>
          </a:xfrm>
          <a:prstGeom prst="straightConnector1">
            <a:avLst/>
          </a:prstGeom>
          <a:noFill/>
          <a:ln cap="flat" cmpd="sng" w="12700">
            <a:solidFill>
              <a:srgbClr val="E6E9EC"/>
            </a:solidFill>
            <a:prstDash val="solid"/>
            <a:round/>
            <a:headEnd len="sm" w="sm" type="none"/>
            <a:tailEnd len="sm" w="sm" type="none"/>
          </a:ln>
        </p:spPr>
      </p:cxnSp>
      <p:sp>
        <p:nvSpPr>
          <p:cNvPr id="401" name="Google Shape;401;p18"/>
          <p:cNvSpPr/>
          <p:nvPr/>
        </p:nvSpPr>
        <p:spPr>
          <a:xfrm>
            <a:off x="6382512" y="4306824"/>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9/15</a:t>
            </a:r>
            <a:endParaRPr b="0" i="0" sz="1050" u="none" cap="none" strike="noStrike">
              <a:solidFill>
                <a:schemeClr val="dk1"/>
              </a:solidFill>
              <a:latin typeface="Arial"/>
              <a:ea typeface="Arial"/>
              <a:cs typeface="Arial"/>
              <a:sym typeface="Arial"/>
            </a:endParaRPr>
          </a:p>
        </p:txBody>
      </p:sp>
      <p:sp>
        <p:nvSpPr>
          <p:cNvPr id="402" name="Google Shape;402;p18"/>
          <p:cNvSpPr/>
          <p:nvPr/>
        </p:nvSpPr>
        <p:spPr>
          <a:xfrm>
            <a:off x="7132320" y="4306824"/>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Quiz</a:t>
            </a:r>
            <a:endParaRPr b="0" i="0" sz="1050" u="none" cap="none" strike="noStrike">
              <a:solidFill>
                <a:schemeClr val="dk1"/>
              </a:solidFill>
              <a:latin typeface="Arial"/>
              <a:ea typeface="Arial"/>
              <a:cs typeface="Arial"/>
              <a:sym typeface="Arial"/>
            </a:endParaRPr>
          </a:p>
        </p:txBody>
      </p:sp>
      <p:sp>
        <p:nvSpPr>
          <p:cNvPr id="403" name="Google Shape;403;p18"/>
          <p:cNvSpPr/>
          <p:nvPr/>
        </p:nvSpPr>
        <p:spPr>
          <a:xfrm>
            <a:off x="10277856" y="4306824"/>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50"/>
              <a:buFont typeface="Arial"/>
              <a:buNone/>
            </a:pPr>
            <a:r>
              <a:rPr b="1" i="0" lang="en-US" sz="1050" u="none" cap="none" strike="noStrike">
                <a:solidFill>
                  <a:srgbClr val="6B7280"/>
                </a:solidFill>
                <a:latin typeface="Arial"/>
                <a:ea typeface="Arial"/>
                <a:cs typeface="Arial"/>
                <a:sym typeface="Arial"/>
              </a:rPr>
              <a:t>—</a:t>
            </a:r>
            <a:endParaRPr b="0" i="0" sz="1050" u="none" cap="none" strike="noStrike">
              <a:solidFill>
                <a:schemeClr val="dk1"/>
              </a:solidFill>
              <a:latin typeface="Arial"/>
              <a:ea typeface="Arial"/>
              <a:cs typeface="Arial"/>
              <a:sym typeface="Arial"/>
            </a:endParaRPr>
          </a:p>
        </p:txBody>
      </p:sp>
      <p:cxnSp>
        <p:nvCxnSpPr>
          <p:cNvPr id="404" name="Google Shape;404;p18"/>
          <p:cNvCxnSpPr/>
          <p:nvPr/>
        </p:nvCxnSpPr>
        <p:spPr>
          <a:xfrm>
            <a:off x="6382512" y="5056632"/>
            <a:ext cx="4663440" cy="0"/>
          </a:xfrm>
          <a:prstGeom prst="straightConnector1">
            <a:avLst/>
          </a:prstGeom>
          <a:noFill/>
          <a:ln cap="flat" cmpd="sng" w="12700">
            <a:solidFill>
              <a:srgbClr val="E6E9EC"/>
            </a:solidFill>
            <a:prstDash val="solid"/>
            <a:round/>
            <a:headEnd len="sm" w="sm" type="none"/>
            <a:tailEnd len="sm" w="sm" type="none"/>
          </a:ln>
        </p:spPr>
      </p:cxnSp>
      <p:sp>
        <p:nvSpPr>
          <p:cNvPr id="405" name="Google Shape;405;p18"/>
          <p:cNvSpPr/>
          <p:nvPr/>
        </p:nvSpPr>
        <p:spPr>
          <a:xfrm>
            <a:off x="6382512" y="47457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9/18</a:t>
            </a:r>
            <a:endParaRPr b="0" i="0" sz="1050" u="none" cap="none" strike="noStrike">
              <a:solidFill>
                <a:schemeClr val="dk1"/>
              </a:solidFill>
              <a:latin typeface="Arial"/>
              <a:ea typeface="Arial"/>
              <a:cs typeface="Arial"/>
              <a:sym typeface="Arial"/>
            </a:endParaRPr>
          </a:p>
        </p:txBody>
      </p:sp>
      <p:sp>
        <p:nvSpPr>
          <p:cNvPr id="406" name="Google Shape;406;p18"/>
          <p:cNvSpPr/>
          <p:nvPr/>
        </p:nvSpPr>
        <p:spPr>
          <a:xfrm>
            <a:off x="7132320" y="4745736"/>
            <a:ext cx="2971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50"/>
              <a:buFont typeface="Arial"/>
              <a:buNone/>
            </a:pPr>
            <a:r>
              <a:rPr b="0" i="0" lang="en-US" sz="1050" u="none" cap="none" strike="noStrike">
                <a:solidFill>
                  <a:srgbClr val="1F2937"/>
                </a:solidFill>
                <a:latin typeface="Arial"/>
                <a:ea typeface="Arial"/>
                <a:cs typeface="Arial"/>
                <a:sym typeface="Arial"/>
              </a:rPr>
              <a:t>Exit Ticket</a:t>
            </a:r>
            <a:endParaRPr b="0" i="0" sz="1050" u="none" cap="none" strike="noStrike">
              <a:solidFill>
                <a:schemeClr val="dk1"/>
              </a:solidFill>
              <a:latin typeface="Arial"/>
              <a:ea typeface="Arial"/>
              <a:cs typeface="Arial"/>
              <a:sym typeface="Arial"/>
            </a:endParaRPr>
          </a:p>
        </p:txBody>
      </p:sp>
      <p:sp>
        <p:nvSpPr>
          <p:cNvPr id="407" name="Google Shape;407;p18"/>
          <p:cNvSpPr/>
          <p:nvPr/>
        </p:nvSpPr>
        <p:spPr>
          <a:xfrm>
            <a:off x="10277856" y="4745736"/>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50"/>
              <a:buFont typeface="Arial"/>
              <a:buNone/>
            </a:pPr>
            <a:r>
              <a:rPr b="1" i="0" lang="en-US" sz="1050" u="none" cap="none" strike="noStrike">
                <a:solidFill>
                  <a:srgbClr val="6B7280"/>
                </a:solidFill>
                <a:latin typeface="Arial"/>
                <a:ea typeface="Arial"/>
                <a:cs typeface="Arial"/>
                <a:sym typeface="Arial"/>
              </a:rPr>
              <a:t>—</a:t>
            </a:r>
            <a:endParaRPr b="0" i="0" sz="1050" u="none" cap="none" strike="noStrike">
              <a:solidFill>
                <a:schemeClr val="dk1"/>
              </a:solidFill>
              <a:latin typeface="Arial"/>
              <a:ea typeface="Arial"/>
              <a:cs typeface="Arial"/>
              <a:sym typeface="Arial"/>
            </a:endParaRPr>
          </a:p>
        </p:txBody>
      </p:sp>
      <p:sp>
        <p:nvSpPr>
          <p:cNvPr id="408" name="Google Shape;408;p18"/>
          <p:cNvSpPr/>
          <p:nvPr/>
        </p:nvSpPr>
        <p:spPr>
          <a:xfrm>
            <a:off x="1371600" y="5742432"/>
            <a:ext cx="946404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Which one helps a student answer: “Where am I? What needs my attention?”</a:t>
            </a:r>
            <a:endParaRPr b="0" i="0" sz="1600" u="none" cap="none" strike="noStrike">
              <a:solidFill>
                <a:schemeClr val="dk1"/>
              </a:solidFill>
              <a:latin typeface="Arial"/>
              <a:ea typeface="Arial"/>
              <a:cs typeface="Arial"/>
              <a:sym typeface="Arial"/>
            </a:endParaRPr>
          </a:p>
        </p:txBody>
      </p:sp>
      <p:sp>
        <p:nvSpPr>
          <p:cNvPr id="409" name="Google Shape;409;p18"/>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9"/>
          <p:cNvSpPr/>
          <p:nvPr/>
        </p:nvSpPr>
        <p:spPr>
          <a:xfrm>
            <a:off x="461765" y="438923"/>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Gradebook check</a:t>
            </a:r>
            <a:endParaRPr b="0" i="0" sz="2800" u="none" cap="none" strike="noStrike">
              <a:solidFill>
                <a:schemeClr val="dk1"/>
              </a:solidFill>
              <a:latin typeface="Arial"/>
              <a:ea typeface="Arial"/>
              <a:cs typeface="Arial"/>
              <a:sym typeface="Arial"/>
            </a:endParaRPr>
          </a:p>
        </p:txBody>
      </p:sp>
      <p:sp>
        <p:nvSpPr>
          <p:cNvPr id="416" name="Google Shape;416;p19"/>
          <p:cNvSpPr/>
          <p:nvPr/>
        </p:nvSpPr>
        <p:spPr>
          <a:xfrm>
            <a:off x="530302" y="1097270"/>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850" u="none" cap="none" strike="noStrike">
                <a:solidFill>
                  <a:srgbClr val="475569"/>
                </a:solidFill>
                <a:latin typeface="Arial"/>
                <a:ea typeface="Arial"/>
                <a:cs typeface="Arial"/>
                <a:sym typeface="Arial"/>
              </a:rPr>
              <a:t>Open ASPEN. Look at your gradebook through the eyes of a student or family member.</a:t>
            </a:r>
            <a:endParaRPr b="0" i="0" sz="1850" u="none" cap="none" strike="noStrike">
              <a:solidFill>
                <a:schemeClr val="dk1"/>
              </a:solidFill>
              <a:latin typeface="Arial"/>
              <a:ea typeface="Arial"/>
              <a:cs typeface="Arial"/>
              <a:sym typeface="Arial"/>
            </a:endParaRPr>
          </a:p>
        </p:txBody>
      </p:sp>
      <p:sp>
        <p:nvSpPr>
          <p:cNvPr id="417" name="Google Shape;417;p19"/>
          <p:cNvSpPr/>
          <p:nvPr/>
        </p:nvSpPr>
        <p:spPr>
          <a:xfrm>
            <a:off x="713232" y="2048256"/>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18" name="Google Shape;418;p19"/>
          <p:cNvSpPr/>
          <p:nvPr/>
        </p:nvSpPr>
        <p:spPr>
          <a:xfrm>
            <a:off x="877824" y="2221992"/>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19" name="Google Shape;419;p19"/>
          <p:cNvSpPr/>
          <p:nvPr/>
        </p:nvSpPr>
        <p:spPr>
          <a:xfrm>
            <a:off x="1280160" y="2212848"/>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Can I tell what I have completed?</a:t>
            </a:r>
            <a:endParaRPr b="0" i="0" sz="2020" u="none" cap="none" strike="noStrike">
              <a:solidFill>
                <a:schemeClr val="dk1"/>
              </a:solidFill>
              <a:latin typeface="Arial"/>
              <a:ea typeface="Arial"/>
              <a:cs typeface="Arial"/>
              <a:sym typeface="Arial"/>
            </a:endParaRPr>
          </a:p>
        </p:txBody>
      </p:sp>
      <p:sp>
        <p:nvSpPr>
          <p:cNvPr id="420" name="Google Shape;420;p19"/>
          <p:cNvSpPr/>
          <p:nvPr/>
        </p:nvSpPr>
        <p:spPr>
          <a:xfrm>
            <a:off x="6291072" y="2048256"/>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1" name="Google Shape;421;p19"/>
          <p:cNvSpPr/>
          <p:nvPr/>
        </p:nvSpPr>
        <p:spPr>
          <a:xfrm>
            <a:off x="6455664" y="2221992"/>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2" name="Google Shape;422;p19"/>
          <p:cNvSpPr/>
          <p:nvPr/>
        </p:nvSpPr>
        <p:spPr>
          <a:xfrm>
            <a:off x="6858000" y="2212848"/>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Can I tell what is missing?</a:t>
            </a:r>
            <a:endParaRPr b="0" i="0" sz="2020" u="none" cap="none" strike="noStrike">
              <a:solidFill>
                <a:schemeClr val="dk1"/>
              </a:solidFill>
              <a:latin typeface="Arial"/>
              <a:ea typeface="Arial"/>
              <a:cs typeface="Arial"/>
              <a:sym typeface="Arial"/>
            </a:endParaRPr>
          </a:p>
        </p:txBody>
      </p:sp>
      <p:sp>
        <p:nvSpPr>
          <p:cNvPr id="423" name="Google Shape;423;p19"/>
          <p:cNvSpPr/>
          <p:nvPr/>
        </p:nvSpPr>
        <p:spPr>
          <a:xfrm>
            <a:off x="713232" y="2980944"/>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4" name="Google Shape;424;p19"/>
          <p:cNvSpPr/>
          <p:nvPr/>
        </p:nvSpPr>
        <p:spPr>
          <a:xfrm>
            <a:off x="877824" y="3154680"/>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5" name="Google Shape;425;p19"/>
          <p:cNvSpPr/>
          <p:nvPr/>
        </p:nvSpPr>
        <p:spPr>
          <a:xfrm>
            <a:off x="1280160" y="3145536"/>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Does my current grade reflect current evidence?</a:t>
            </a:r>
            <a:endParaRPr b="0" i="0" sz="2020" u="none" cap="none" strike="noStrike">
              <a:solidFill>
                <a:schemeClr val="dk1"/>
              </a:solidFill>
              <a:latin typeface="Arial"/>
              <a:ea typeface="Arial"/>
              <a:cs typeface="Arial"/>
              <a:sym typeface="Arial"/>
            </a:endParaRPr>
          </a:p>
        </p:txBody>
      </p:sp>
      <p:sp>
        <p:nvSpPr>
          <p:cNvPr id="426" name="Google Shape;426;p19"/>
          <p:cNvSpPr/>
          <p:nvPr/>
        </p:nvSpPr>
        <p:spPr>
          <a:xfrm>
            <a:off x="6291072" y="2980944"/>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7" name="Google Shape;427;p19"/>
          <p:cNvSpPr/>
          <p:nvPr/>
        </p:nvSpPr>
        <p:spPr>
          <a:xfrm>
            <a:off x="6455664" y="3154680"/>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8" name="Google Shape;428;p19"/>
          <p:cNvSpPr/>
          <p:nvPr/>
        </p:nvSpPr>
        <p:spPr>
          <a:xfrm>
            <a:off x="6858000" y="3145536"/>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Are there assignments waiting to be entered?</a:t>
            </a:r>
            <a:endParaRPr b="0" i="0" sz="2020" u="none" cap="none" strike="noStrike">
              <a:solidFill>
                <a:schemeClr val="dk1"/>
              </a:solidFill>
              <a:latin typeface="Arial"/>
              <a:ea typeface="Arial"/>
              <a:cs typeface="Arial"/>
              <a:sym typeface="Arial"/>
            </a:endParaRPr>
          </a:p>
        </p:txBody>
      </p:sp>
      <p:sp>
        <p:nvSpPr>
          <p:cNvPr id="429" name="Google Shape;429;p19"/>
          <p:cNvSpPr/>
          <p:nvPr/>
        </p:nvSpPr>
        <p:spPr>
          <a:xfrm>
            <a:off x="713232" y="3913632"/>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30" name="Google Shape;430;p19"/>
          <p:cNvSpPr/>
          <p:nvPr/>
        </p:nvSpPr>
        <p:spPr>
          <a:xfrm>
            <a:off x="877824" y="4087368"/>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31" name="Google Shape;431;p19"/>
          <p:cNvSpPr/>
          <p:nvPr/>
        </p:nvSpPr>
        <p:spPr>
          <a:xfrm>
            <a:off x="1280160" y="4078224"/>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Are assignment titles clear enough to understand?</a:t>
            </a:r>
            <a:endParaRPr b="0" i="0" sz="2020" u="none" cap="none" strike="noStrike">
              <a:solidFill>
                <a:schemeClr val="dk1"/>
              </a:solidFill>
              <a:latin typeface="Arial"/>
              <a:ea typeface="Arial"/>
              <a:cs typeface="Arial"/>
              <a:sym typeface="Arial"/>
            </a:endParaRPr>
          </a:p>
        </p:txBody>
      </p:sp>
      <p:sp>
        <p:nvSpPr>
          <p:cNvPr id="432" name="Google Shape;432;p19"/>
          <p:cNvSpPr/>
          <p:nvPr/>
        </p:nvSpPr>
        <p:spPr>
          <a:xfrm>
            <a:off x="6291072" y="3913632"/>
            <a:ext cx="5138928" cy="658368"/>
          </a:xfrm>
          <a:prstGeom prst="roundRect">
            <a:avLst>
              <a:gd fmla="val 8333" name="adj"/>
            </a:avLst>
          </a:prstGeom>
          <a:solidFill>
            <a:srgbClr val="FFFFFF"/>
          </a:solidFill>
          <a:ln cap="flat" cmpd="sng" w="12700">
            <a:solidFill>
              <a:srgbClr val="D9DE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33" name="Google Shape;433;p19"/>
          <p:cNvSpPr/>
          <p:nvPr/>
        </p:nvSpPr>
        <p:spPr>
          <a:xfrm>
            <a:off x="6455664" y="4087368"/>
            <a:ext cx="256032" cy="256032"/>
          </a:xfrm>
          <a:prstGeom prst="rect">
            <a:avLst/>
          </a:prstGeom>
          <a:solidFill>
            <a:srgbClr val="FFFFFF"/>
          </a:solidFill>
          <a:ln cap="flat" cmpd="sng" w="12700">
            <a:solidFill>
              <a:srgbClr val="AEB6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34" name="Google Shape;434;p19"/>
          <p:cNvSpPr/>
          <p:nvPr/>
        </p:nvSpPr>
        <p:spPr>
          <a:xfrm>
            <a:off x="6858000" y="4078224"/>
            <a:ext cx="433425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20"/>
              <a:buFont typeface="Arial"/>
              <a:buNone/>
            </a:pPr>
            <a:r>
              <a:rPr b="1" i="0" lang="en-US" sz="2020" u="none" cap="none" strike="noStrike">
                <a:solidFill>
                  <a:srgbClr val="1F2937"/>
                </a:solidFill>
                <a:latin typeface="Arial"/>
                <a:ea typeface="Arial"/>
                <a:cs typeface="Arial"/>
                <a:sym typeface="Arial"/>
              </a:rPr>
              <a:t>Are revisions / retakes reflected when appropriate?</a:t>
            </a:r>
            <a:endParaRPr b="0" i="0" sz="2020" u="none" cap="none" strike="noStrike">
              <a:solidFill>
                <a:schemeClr val="dk1"/>
              </a:solidFill>
              <a:latin typeface="Arial"/>
              <a:ea typeface="Arial"/>
              <a:cs typeface="Arial"/>
              <a:sym typeface="Arial"/>
            </a:endParaRPr>
          </a:p>
        </p:txBody>
      </p:sp>
      <p:sp>
        <p:nvSpPr>
          <p:cNvPr id="435" name="Google Shape;435;p19"/>
          <p:cNvSpPr/>
          <p:nvPr/>
        </p:nvSpPr>
        <p:spPr>
          <a:xfrm>
            <a:off x="1828800" y="5138928"/>
            <a:ext cx="8549640" cy="731520"/>
          </a:xfrm>
          <a:prstGeom prst="roundRect">
            <a:avLst>
              <a:gd fmla="val 10000" name="adj"/>
            </a:avLst>
          </a:prstGeom>
          <a:solidFill>
            <a:srgbClr val="FFF7F7"/>
          </a:solidFill>
          <a:ln cap="flat" cmpd="sng" w="12700">
            <a:solidFill>
              <a:srgbClr val="EAC7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36" name="Google Shape;436;p19"/>
          <p:cNvSpPr/>
          <p:nvPr/>
        </p:nvSpPr>
        <p:spPr>
          <a:xfrm>
            <a:off x="2148840" y="5358384"/>
            <a:ext cx="790956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0E15"/>
              </a:buClr>
              <a:buSzPts val="1550"/>
              <a:buFont typeface="Arial"/>
              <a:buNone/>
            </a:pPr>
            <a:r>
              <a:rPr b="1" i="0" lang="en-US" sz="1950" u="none" cap="none" strike="noStrike">
                <a:solidFill>
                  <a:srgbClr val="8F0E15"/>
                </a:solidFill>
                <a:latin typeface="Arial"/>
                <a:ea typeface="Arial"/>
                <a:cs typeface="Arial"/>
                <a:sym typeface="Arial"/>
              </a:rPr>
              <a:t>Take one concrete action now: enter, correct, clarify, or identify what you need to update next.</a:t>
            </a:r>
            <a:endParaRPr b="0" i="0" sz="1950" u="none" cap="none" strike="noStrike">
              <a:solidFill>
                <a:schemeClr val="dk1"/>
              </a:solidFill>
              <a:latin typeface="Arial"/>
              <a:ea typeface="Arial"/>
              <a:cs typeface="Arial"/>
              <a:sym typeface="Arial"/>
            </a:endParaRPr>
          </a:p>
        </p:txBody>
      </p:sp>
      <p:sp>
        <p:nvSpPr>
          <p:cNvPr id="437" name="Google Shape;437;p19"/>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0"/>
          <p:cNvSpPr/>
          <p:nvPr/>
        </p:nvSpPr>
        <p:spPr>
          <a:xfrm>
            <a:off x="525777" y="421798"/>
            <a:ext cx="11018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What students should experience across NBHS</a:t>
            </a:r>
            <a:endParaRPr b="0" i="0" sz="2800" u="none" cap="none" strike="noStrike">
              <a:solidFill>
                <a:schemeClr val="dk1"/>
              </a:solidFill>
              <a:latin typeface="Arial"/>
              <a:ea typeface="Arial"/>
              <a:cs typeface="Arial"/>
              <a:sym typeface="Arial"/>
            </a:endParaRPr>
          </a:p>
        </p:txBody>
      </p:sp>
      <p:sp>
        <p:nvSpPr>
          <p:cNvPr id="444" name="Google Shape;444;p20"/>
          <p:cNvSpPr/>
          <p:nvPr/>
        </p:nvSpPr>
        <p:spPr>
          <a:xfrm>
            <a:off x="914400" y="1920240"/>
            <a:ext cx="438912" cy="438912"/>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45" name="Google Shape;445;p20"/>
          <p:cNvSpPr/>
          <p:nvPr/>
        </p:nvSpPr>
        <p:spPr>
          <a:xfrm>
            <a:off x="1042416" y="2029968"/>
            <a:ext cx="1828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2000" u="none" cap="none" strike="noStrike">
                <a:solidFill>
                  <a:srgbClr val="FFFFFF"/>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446" name="Google Shape;446;p20"/>
          <p:cNvSpPr/>
          <p:nvPr/>
        </p:nvSpPr>
        <p:spPr>
          <a:xfrm>
            <a:off x="1600200" y="1965960"/>
            <a:ext cx="8869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0" i="0" lang="en-US" sz="2000" u="none" cap="none" strike="noStrike">
                <a:solidFill>
                  <a:srgbClr val="1F2937"/>
                </a:solidFill>
                <a:latin typeface="Arial"/>
                <a:ea typeface="Arial"/>
                <a:cs typeface="Arial"/>
                <a:sym typeface="Arial"/>
              </a:rPr>
              <a:t>I know what quality looks like.</a:t>
            </a:r>
            <a:endParaRPr b="0" i="0" sz="2000" u="none" cap="none" strike="noStrike">
              <a:solidFill>
                <a:schemeClr val="dk1"/>
              </a:solidFill>
              <a:latin typeface="Arial"/>
              <a:ea typeface="Arial"/>
              <a:cs typeface="Arial"/>
              <a:sym typeface="Arial"/>
            </a:endParaRPr>
          </a:p>
        </p:txBody>
      </p:sp>
      <p:sp>
        <p:nvSpPr>
          <p:cNvPr id="447" name="Google Shape;447;p20"/>
          <p:cNvSpPr/>
          <p:nvPr/>
        </p:nvSpPr>
        <p:spPr>
          <a:xfrm>
            <a:off x="914400" y="2670048"/>
            <a:ext cx="438912" cy="438912"/>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48" name="Google Shape;448;p20"/>
          <p:cNvSpPr/>
          <p:nvPr/>
        </p:nvSpPr>
        <p:spPr>
          <a:xfrm>
            <a:off x="1042416" y="2779776"/>
            <a:ext cx="1828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2000" u="none" cap="none" strike="noStrike">
                <a:solidFill>
                  <a:srgbClr val="FFFFFF"/>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449" name="Google Shape;449;p20"/>
          <p:cNvSpPr/>
          <p:nvPr/>
        </p:nvSpPr>
        <p:spPr>
          <a:xfrm>
            <a:off x="1600200" y="2715768"/>
            <a:ext cx="8869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0" i="0" lang="en-US" sz="2000" u="none" cap="none" strike="noStrike">
                <a:solidFill>
                  <a:srgbClr val="1F2937"/>
                </a:solidFill>
                <a:latin typeface="Arial"/>
                <a:ea typeface="Arial"/>
                <a:cs typeface="Arial"/>
                <a:sym typeface="Arial"/>
              </a:rPr>
              <a:t>I receive feedback that is specific enough to use.</a:t>
            </a:r>
            <a:endParaRPr b="0" i="0" sz="2000" u="none" cap="none" strike="noStrike">
              <a:solidFill>
                <a:schemeClr val="dk1"/>
              </a:solidFill>
              <a:latin typeface="Arial"/>
              <a:ea typeface="Arial"/>
              <a:cs typeface="Arial"/>
              <a:sym typeface="Arial"/>
            </a:endParaRPr>
          </a:p>
        </p:txBody>
      </p:sp>
      <p:sp>
        <p:nvSpPr>
          <p:cNvPr id="450" name="Google Shape;450;p20"/>
          <p:cNvSpPr/>
          <p:nvPr/>
        </p:nvSpPr>
        <p:spPr>
          <a:xfrm>
            <a:off x="914400" y="3419856"/>
            <a:ext cx="438912" cy="438912"/>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51" name="Google Shape;451;p20"/>
          <p:cNvSpPr/>
          <p:nvPr/>
        </p:nvSpPr>
        <p:spPr>
          <a:xfrm>
            <a:off x="1042416" y="3529584"/>
            <a:ext cx="1828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2000" u="none" cap="none" strike="noStrike">
                <a:solidFill>
                  <a:srgbClr val="FFFFFF"/>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452" name="Google Shape;452;p20"/>
          <p:cNvSpPr/>
          <p:nvPr/>
        </p:nvSpPr>
        <p:spPr>
          <a:xfrm>
            <a:off x="1600200" y="3465576"/>
            <a:ext cx="8869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0" i="0" lang="en-US" sz="2000" u="none" cap="none" strike="noStrike">
                <a:solidFill>
                  <a:srgbClr val="1F2937"/>
                </a:solidFill>
                <a:latin typeface="Arial"/>
                <a:ea typeface="Arial"/>
                <a:cs typeface="Arial"/>
                <a:sym typeface="Arial"/>
              </a:rPr>
              <a:t>I am expected to act on feedback—not just receive it.</a:t>
            </a:r>
            <a:endParaRPr b="0" i="0" sz="2000" u="none" cap="none" strike="noStrike">
              <a:solidFill>
                <a:schemeClr val="dk1"/>
              </a:solidFill>
              <a:latin typeface="Arial"/>
              <a:ea typeface="Arial"/>
              <a:cs typeface="Arial"/>
              <a:sym typeface="Arial"/>
            </a:endParaRPr>
          </a:p>
        </p:txBody>
      </p:sp>
      <p:sp>
        <p:nvSpPr>
          <p:cNvPr id="453" name="Google Shape;453;p20"/>
          <p:cNvSpPr/>
          <p:nvPr/>
        </p:nvSpPr>
        <p:spPr>
          <a:xfrm>
            <a:off x="914400" y="4169664"/>
            <a:ext cx="438912" cy="438912"/>
          </a:xfrm>
          <a:prstGeom prst="ellipse">
            <a:avLst/>
          </a:prstGeom>
          <a:solidFill>
            <a:srgbClr val="1F2937"/>
          </a:solidFill>
          <a:ln cap="flat" cmpd="sng" w="12700">
            <a:solidFill>
              <a:srgbClr val="1F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54" name="Google Shape;454;p20"/>
          <p:cNvSpPr/>
          <p:nvPr/>
        </p:nvSpPr>
        <p:spPr>
          <a:xfrm>
            <a:off x="1042416" y="4279392"/>
            <a:ext cx="1828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2000" u="none" cap="none" strike="noStrike">
                <a:solidFill>
                  <a:srgbClr val="FFFFFF"/>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455" name="Google Shape;455;p20"/>
          <p:cNvSpPr/>
          <p:nvPr/>
        </p:nvSpPr>
        <p:spPr>
          <a:xfrm>
            <a:off x="1600200" y="4215384"/>
            <a:ext cx="8869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0" i="0" lang="en-US" sz="2000" u="none" cap="none" strike="noStrike">
                <a:solidFill>
                  <a:srgbClr val="1F2937"/>
                </a:solidFill>
                <a:latin typeface="Arial"/>
                <a:ea typeface="Arial"/>
                <a:cs typeface="Arial"/>
                <a:sym typeface="Arial"/>
              </a:rPr>
              <a:t>My teacher uses the most efficient feedback method for the need.</a:t>
            </a:r>
            <a:endParaRPr b="0" i="0" sz="2000" u="none" cap="none" strike="noStrike">
              <a:solidFill>
                <a:schemeClr val="dk1"/>
              </a:solidFill>
              <a:latin typeface="Arial"/>
              <a:ea typeface="Arial"/>
              <a:cs typeface="Arial"/>
              <a:sym typeface="Arial"/>
            </a:endParaRPr>
          </a:p>
        </p:txBody>
      </p:sp>
      <p:sp>
        <p:nvSpPr>
          <p:cNvPr id="456" name="Google Shape;456;p20"/>
          <p:cNvSpPr/>
          <p:nvPr/>
        </p:nvSpPr>
        <p:spPr>
          <a:xfrm>
            <a:off x="914400" y="4919472"/>
            <a:ext cx="438912" cy="438912"/>
          </a:xfrm>
          <a:prstGeom prst="ellipse">
            <a:avLst/>
          </a:prstGeom>
          <a:solidFill>
            <a:srgbClr val="B5121B"/>
          </a:solidFill>
          <a:ln cap="flat" cmpd="sng" w="12700">
            <a:solidFill>
              <a:srgbClr val="B512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57" name="Google Shape;457;p20"/>
          <p:cNvSpPr/>
          <p:nvPr/>
        </p:nvSpPr>
        <p:spPr>
          <a:xfrm>
            <a:off x="1042416" y="5029200"/>
            <a:ext cx="1828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2000" u="none" cap="none" strike="noStrike">
                <a:solidFill>
                  <a:srgbClr val="FFFFFF"/>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458" name="Google Shape;458;p20"/>
          <p:cNvSpPr/>
          <p:nvPr/>
        </p:nvSpPr>
        <p:spPr>
          <a:xfrm>
            <a:off x="1600200" y="4965192"/>
            <a:ext cx="8869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5121B"/>
              </a:buClr>
              <a:buSzPts val="1700"/>
              <a:buFont typeface="Arial"/>
              <a:buNone/>
            </a:pPr>
            <a:r>
              <a:rPr b="1" i="0" lang="en-US" sz="2000" u="none" cap="none" strike="noStrike">
                <a:solidFill>
                  <a:srgbClr val="B5121B"/>
                </a:solidFill>
                <a:latin typeface="Arial"/>
                <a:ea typeface="Arial"/>
                <a:cs typeface="Arial"/>
                <a:sym typeface="Arial"/>
              </a:rPr>
              <a:t>ASPEN gives me a current, understandable picture of my progress.</a:t>
            </a:r>
            <a:endParaRPr b="0" i="0" sz="2000" u="none" cap="none" strike="noStrike">
              <a:solidFill>
                <a:schemeClr val="dk1"/>
              </a:solidFill>
              <a:latin typeface="Arial"/>
              <a:ea typeface="Arial"/>
              <a:cs typeface="Arial"/>
              <a:sym typeface="Arial"/>
            </a:endParaRPr>
          </a:p>
        </p:txBody>
      </p:sp>
      <p:sp>
        <p:nvSpPr>
          <p:cNvPr id="459" name="Google Shape;459;p20"/>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1"/>
          <p:cNvSpPr/>
          <p:nvPr/>
        </p:nvSpPr>
        <p:spPr>
          <a:xfrm>
            <a:off x="530352" y="841248"/>
            <a:ext cx="11018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Arial"/>
              <a:buNone/>
            </a:pPr>
            <a:r>
              <a:rPr b="1" i="0" lang="en-US" sz="2800" u="none" cap="none" strike="noStrike">
                <a:solidFill>
                  <a:srgbClr val="1F2937"/>
                </a:solidFill>
                <a:latin typeface="Arial"/>
                <a:ea typeface="Arial"/>
                <a:cs typeface="Arial"/>
                <a:sym typeface="Arial"/>
              </a:rPr>
              <a:t>One shift</a:t>
            </a:r>
            <a:r>
              <a:rPr b="1" lang="en-US" sz="2800">
                <a:solidFill>
                  <a:srgbClr val="1F2937"/>
                </a:solidFill>
              </a:rPr>
              <a:t>…</a:t>
            </a:r>
            <a:endParaRPr b="0" i="0" sz="2800" u="none" cap="none" strike="noStrike">
              <a:solidFill>
                <a:schemeClr val="dk1"/>
              </a:solidFill>
              <a:latin typeface="Arial"/>
              <a:ea typeface="Arial"/>
              <a:cs typeface="Arial"/>
              <a:sym typeface="Arial"/>
            </a:endParaRPr>
          </a:p>
        </p:txBody>
      </p:sp>
      <p:sp>
        <p:nvSpPr>
          <p:cNvPr id="466" name="Google Shape;466;p21"/>
          <p:cNvSpPr/>
          <p:nvPr/>
        </p:nvSpPr>
        <p:spPr>
          <a:xfrm>
            <a:off x="530352" y="1417320"/>
            <a:ext cx="10881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50"/>
              <a:buFont typeface="Arial"/>
              <a:buNone/>
            </a:pPr>
            <a:r>
              <a:rPr b="0" i="0" lang="en-US" sz="1750" u="none" cap="none" strike="noStrike">
                <a:solidFill>
                  <a:srgbClr val="475569"/>
                </a:solidFill>
                <a:latin typeface="Arial"/>
                <a:ea typeface="Arial"/>
                <a:cs typeface="Arial"/>
                <a:sym typeface="Arial"/>
              </a:rPr>
              <a:t>Small, visible changes create a more useful feedback system for students.</a:t>
            </a:r>
            <a:endParaRPr b="0" i="0" sz="1750" u="none" cap="none" strike="noStrike">
              <a:solidFill>
                <a:schemeClr val="dk1"/>
              </a:solidFill>
              <a:latin typeface="Arial"/>
              <a:ea typeface="Arial"/>
              <a:cs typeface="Arial"/>
              <a:sym typeface="Arial"/>
            </a:endParaRPr>
          </a:p>
        </p:txBody>
      </p:sp>
      <p:sp>
        <p:nvSpPr>
          <p:cNvPr id="467" name="Google Shape;467;p21"/>
          <p:cNvSpPr/>
          <p:nvPr/>
        </p:nvSpPr>
        <p:spPr>
          <a:xfrm>
            <a:off x="960125" y="2148853"/>
            <a:ext cx="4892100" cy="3024300"/>
          </a:xfrm>
          <a:prstGeom prst="roundRect">
            <a:avLst>
              <a:gd fmla="val 3200" name="adj"/>
            </a:avLst>
          </a:prstGeom>
          <a:solidFill>
            <a:srgbClr val="FFFFFF"/>
          </a:solidFill>
          <a:ln cap="flat" cmpd="sng" w="12700">
            <a:solidFill>
              <a:srgbClr val="D9DEE5"/>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468" name="Google Shape;468;p21"/>
          <p:cNvSpPr/>
          <p:nvPr/>
        </p:nvSpPr>
        <p:spPr>
          <a:xfrm>
            <a:off x="6355075" y="2148853"/>
            <a:ext cx="4892100" cy="2919600"/>
          </a:xfrm>
          <a:prstGeom prst="roundRect">
            <a:avLst>
              <a:gd fmla="val 3200" name="adj"/>
            </a:avLst>
          </a:prstGeom>
          <a:solidFill>
            <a:srgbClr val="FFF8F8"/>
          </a:solidFill>
          <a:ln cap="flat" cmpd="sng" w="12700">
            <a:solidFill>
              <a:srgbClr val="E8C1C4"/>
            </a:solidFill>
            <a:prstDash val="solid"/>
            <a:round/>
            <a:headEnd len="sm" w="sm" type="none"/>
            <a:tailEnd len="sm" w="sm" type="none"/>
          </a:ln>
          <a:effectLst>
            <a:outerShdw blurRad="12700" rotWithShape="0" algn="bl" dir="2700000" dist="508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469" name="Google Shape;469;p21"/>
          <p:cNvSpPr/>
          <p:nvPr/>
        </p:nvSpPr>
        <p:spPr>
          <a:xfrm>
            <a:off x="1293900" y="2386767"/>
            <a:ext cx="4224600" cy="41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Arial"/>
              <a:buNone/>
            </a:pPr>
            <a:r>
              <a:rPr b="1" i="0" lang="en-US" sz="2400" u="none" cap="none" strike="noStrike">
                <a:solidFill>
                  <a:srgbClr val="1F2937"/>
                </a:solidFill>
                <a:latin typeface="Arial"/>
                <a:ea typeface="Arial"/>
                <a:cs typeface="Arial"/>
                <a:sym typeface="Arial"/>
              </a:rPr>
              <a:t>MY FEEDBACK SHIFT</a:t>
            </a:r>
            <a:endParaRPr b="0" i="0" sz="2400" u="none" cap="none" strike="noStrike">
              <a:solidFill>
                <a:schemeClr val="dk1"/>
              </a:solidFill>
              <a:latin typeface="Arial"/>
              <a:ea typeface="Arial"/>
              <a:cs typeface="Arial"/>
              <a:sym typeface="Arial"/>
            </a:endParaRPr>
          </a:p>
        </p:txBody>
      </p:sp>
      <p:sp>
        <p:nvSpPr>
          <p:cNvPr id="470" name="Google Shape;470;p21"/>
          <p:cNvSpPr/>
          <p:nvPr/>
        </p:nvSpPr>
        <p:spPr>
          <a:xfrm>
            <a:off x="1371600" y="3063255"/>
            <a:ext cx="40692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000"/>
              <a:buFont typeface="Arial"/>
              <a:buNone/>
            </a:pPr>
            <a:r>
              <a:rPr b="1" i="0" lang="en-US" sz="3000" u="none" cap="none" strike="noStrike">
                <a:solidFill>
                  <a:srgbClr val="1F2937"/>
                </a:solidFill>
                <a:latin typeface="Arial"/>
                <a:ea typeface="Arial"/>
                <a:cs typeface="Arial"/>
                <a:sym typeface="Arial"/>
              </a:rPr>
              <a:t>Tomorrow, one change I will make to the way I provide feedback is…</a:t>
            </a:r>
            <a:endParaRPr b="0" i="0" sz="3000" u="none" cap="none" strike="noStrike">
              <a:solidFill>
                <a:schemeClr val="dk1"/>
              </a:solidFill>
              <a:latin typeface="Arial"/>
              <a:ea typeface="Arial"/>
              <a:cs typeface="Arial"/>
              <a:sym typeface="Arial"/>
            </a:endParaRPr>
          </a:p>
        </p:txBody>
      </p:sp>
      <p:sp>
        <p:nvSpPr>
          <p:cNvPr id="471" name="Google Shape;471;p21"/>
          <p:cNvSpPr/>
          <p:nvPr/>
        </p:nvSpPr>
        <p:spPr>
          <a:xfrm>
            <a:off x="6693408" y="2542032"/>
            <a:ext cx="422452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121B"/>
              </a:buClr>
              <a:buSzPts val="1400"/>
              <a:buFont typeface="Arial"/>
              <a:buNone/>
            </a:pPr>
            <a:r>
              <a:rPr b="1" i="0" lang="en-US" sz="2400" u="none" cap="none" strike="noStrike">
                <a:solidFill>
                  <a:srgbClr val="B5121B"/>
                </a:solidFill>
                <a:latin typeface="Arial"/>
                <a:ea typeface="Arial"/>
                <a:cs typeface="Arial"/>
                <a:sym typeface="Arial"/>
              </a:rPr>
              <a:t>MY ASPEN ACTION</a:t>
            </a:r>
            <a:endParaRPr b="0" i="0" sz="2400" u="none" cap="none" strike="noStrike">
              <a:solidFill>
                <a:schemeClr val="dk1"/>
              </a:solidFill>
              <a:latin typeface="Arial"/>
              <a:ea typeface="Arial"/>
              <a:cs typeface="Arial"/>
              <a:sym typeface="Arial"/>
            </a:endParaRPr>
          </a:p>
        </p:txBody>
      </p:sp>
      <p:sp>
        <p:nvSpPr>
          <p:cNvPr id="472" name="Google Shape;472;p21"/>
          <p:cNvSpPr/>
          <p:nvPr/>
        </p:nvSpPr>
        <p:spPr>
          <a:xfrm>
            <a:off x="6876288" y="3063240"/>
            <a:ext cx="38404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000"/>
              <a:buFont typeface="Arial"/>
              <a:buNone/>
            </a:pPr>
            <a:r>
              <a:rPr b="1" i="0" lang="en-US" sz="3000" u="none" cap="none" strike="noStrike">
                <a:solidFill>
                  <a:srgbClr val="1F2937"/>
                </a:solidFill>
                <a:latin typeface="Arial"/>
                <a:ea typeface="Arial"/>
                <a:cs typeface="Arial"/>
                <a:sym typeface="Arial"/>
              </a:rPr>
              <a:t>One action I need to take in ASPEN is…</a:t>
            </a:r>
            <a:endParaRPr b="0" i="0" sz="3000" u="none" cap="none" strike="noStrike">
              <a:solidFill>
                <a:schemeClr val="dk1"/>
              </a:solidFill>
              <a:latin typeface="Arial"/>
              <a:ea typeface="Arial"/>
              <a:cs typeface="Arial"/>
              <a:sym typeface="Arial"/>
            </a:endParaRPr>
          </a:p>
        </p:txBody>
      </p:sp>
      <p:sp>
        <p:nvSpPr>
          <p:cNvPr id="473" name="Google Shape;473;p21"/>
          <p:cNvSpPr txBox="1"/>
          <p:nvPr>
            <p:ph idx="4294967295" type="sldNum"/>
          </p:nvPr>
        </p:nvSpPr>
        <p:spPr>
          <a:xfrm>
            <a:off x="11631168" y="6409944"/>
            <a:ext cx="228600" cy="18288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50" u="none" cap="none" strike="noStrike">
                <a:solidFill>
                  <a:srgbClr val="6B7280"/>
                </a:solidFill>
                <a:latin typeface="Arial"/>
                <a:ea typeface="Arial"/>
                <a:cs typeface="Arial"/>
                <a:sym typeface="Arial"/>
              </a:rPr>
              <a:t>‹#›</a:t>
            </a:fld>
            <a:endParaRPr b="0" i="0" sz="850" u="none" cap="none" strike="noStrike">
              <a:solidFill>
                <a:srgbClr val="6B7280"/>
              </a:solidFill>
              <a:latin typeface="Arial"/>
              <a:ea typeface="Arial"/>
              <a:cs typeface="Arial"/>
              <a:sym typeface="Arial"/>
            </a:endParaRPr>
          </a:p>
        </p:txBody>
      </p:sp>
      <p:pic>
        <p:nvPicPr>
          <p:cNvPr id="474" name="Google Shape;474;p21" title="Screenshot 2026-09-29 at 4.28.03 PM.png"/>
          <p:cNvPicPr preferRelativeResize="0"/>
          <p:nvPr/>
        </p:nvPicPr>
        <p:blipFill>
          <a:blip r:embed="rId3">
            <a:alphaModFix/>
          </a:blip>
          <a:stretch>
            <a:fillRect/>
          </a:stretch>
        </p:blipFill>
        <p:spPr>
          <a:xfrm>
            <a:off x="8863775" y="246088"/>
            <a:ext cx="1740571" cy="1757242"/>
          </a:xfrm>
          <a:prstGeom prst="rect">
            <a:avLst/>
          </a:prstGeom>
          <a:noFill/>
          <a:ln>
            <a:noFill/>
          </a:ln>
        </p:spPr>
      </p:pic>
      <p:sp>
        <p:nvSpPr>
          <p:cNvPr id="475" name="Google Shape;475;p21"/>
          <p:cNvSpPr txBox="1"/>
          <p:nvPr/>
        </p:nvSpPr>
        <p:spPr>
          <a:xfrm>
            <a:off x="10764815" y="845178"/>
            <a:ext cx="915300" cy="462300"/>
          </a:xfrm>
          <a:prstGeom prst="rect">
            <a:avLst/>
          </a:prstGeom>
          <a:noFill/>
          <a:ln>
            <a:noFill/>
          </a:ln>
        </p:spPr>
        <p:txBody>
          <a:bodyPr anchorCtr="0" anchor="t" bIns="70400" lIns="70400" spcFirstLastPara="1" rIns="70400" wrap="square" tIns="70400">
            <a:spAutoFit/>
          </a:bodyPr>
          <a:lstStyle/>
          <a:p>
            <a:pPr indent="0" lvl="0" marL="0" rtl="0" algn="l">
              <a:spcBef>
                <a:spcPts val="0"/>
              </a:spcBef>
              <a:spcAft>
                <a:spcPts val="0"/>
              </a:spcAft>
              <a:buNone/>
            </a:pPr>
            <a:r>
              <a:rPr lang="en-US" sz="2079" u="sng">
                <a:solidFill>
                  <a:schemeClr val="hlink"/>
                </a:solidFill>
                <a:hlinkClick r:id="rId4"/>
              </a:rPr>
              <a:t>Padlet</a:t>
            </a:r>
            <a:endParaRPr sz="2079"/>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
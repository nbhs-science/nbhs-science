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6256000" cy="9144000"/>
  <p:notesSz cx="9144000" cy="16256000"/>
  <p:embeddedFontLst>
    <p:embeddedFont>
      <p:font typeface="Inter" charset="-122" pitchFamily="34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department"/>
          <p:cNvSpPr/>
          <p:nvPr/>
        </p:nvSpPr>
        <p:spPr>
          <a:xfrm>
            <a:off x="609600" y="431800"/>
            <a:ext cx="660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SCIENCE DEPARTMENT</a:t>
            </a:r>
            <a:endParaRPr lang="en-US" sz="1400" dirty="0"/>
          </a:p>
        </p:txBody>
      </p:sp>
      <p:sp>
        <p:nvSpPr>
          <p:cNvPr id="4" name="accent"/>
          <p:cNvSpPr/>
          <p:nvPr/>
        </p:nvSpPr>
        <p:spPr>
          <a:xfrm>
            <a:off x="609600" y="1295400"/>
            <a:ext cx="152400" cy="4622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itle"/>
          <p:cNvSpPr/>
          <p:nvPr/>
        </p:nvSpPr>
        <p:spPr>
          <a:xfrm>
            <a:off x="1117600" y="1422400"/>
            <a:ext cx="8890000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62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That</a:t>
            </a:r>
            <a:endParaRPr lang="en-US" sz="6200" dirty="0"/>
          </a:p>
          <a:p>
            <a:pPr algn="l" indent="0" marL="0">
              <a:buNone/>
            </a:pPr>
            <a:r>
              <a:rPr lang="en-US" altLang="en-US" sz="62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Moves Learning</a:t>
            </a:r>
            <a:endParaRPr lang="en-US" sz="6200" dirty="0"/>
          </a:p>
        </p:txBody>
      </p:sp>
      <p:sp>
        <p:nvSpPr>
          <p:cNvPr id="6" name="sub"/>
          <p:cNvSpPr/>
          <p:nvPr/>
        </p:nvSpPr>
        <p:spPr>
          <a:xfrm>
            <a:off x="1117600" y="3835400"/>
            <a:ext cx="80645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Effective feedback • student ownership • current evidence in ASPEN</a:t>
            </a:r>
            <a:endParaRPr lang="en-US" sz="2500" dirty="0"/>
          </a:p>
          <a:p>
            <a:pPr algn="l" indent="0" marL="0">
              <a:spcBef>
                <a:spcPts val="1200"/>
              </a:spcBef>
              <a:buNone/>
            </a:pPr>
            <a:r>
              <a:rPr lang="en-US" altLang="en-US" sz="25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should know where they are, what is working, and what to do next.</a:t>
            </a:r>
            <a:endParaRPr lang="en-US" sz="2500" dirty="0"/>
          </a:p>
        </p:txBody>
      </p:sp>
      <p:sp>
        <p:nvSpPr>
          <p:cNvPr id="7" name="date-box"/>
          <p:cNvSpPr/>
          <p:nvPr/>
        </p:nvSpPr>
        <p:spPr>
          <a:xfrm>
            <a:off x="10922000" y="1473200"/>
            <a:ext cx="4318000" cy="3733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8" name="date-label"/>
          <p:cNvSpPr/>
          <p:nvPr/>
        </p:nvSpPr>
        <p:spPr>
          <a:xfrm>
            <a:off x="11328400" y="1955800"/>
            <a:ext cx="330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DEPARTMENT PD</a:t>
            </a:r>
            <a:endParaRPr lang="en-US" sz="1500" dirty="0"/>
          </a:p>
        </p:txBody>
      </p:sp>
      <p:sp>
        <p:nvSpPr>
          <p:cNvPr id="9" name="date"/>
          <p:cNvSpPr/>
          <p:nvPr/>
        </p:nvSpPr>
        <p:spPr>
          <a:xfrm>
            <a:off x="11328400" y="2590800"/>
            <a:ext cx="3302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</a:t>
            </a:r>
            <a:endParaRPr lang="en-US" sz="3600" dirty="0"/>
          </a:p>
          <a:p>
            <a:pPr algn="l" indent="0" marL="0">
              <a:buNone/>
            </a:pPr>
            <a:r>
              <a:rPr lang="en-US" alt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30</a:t>
            </a:r>
            <a:endParaRPr lang="en-US" sz="3600" dirty="0"/>
          </a:p>
        </p:txBody>
      </p:sp>
      <p:sp>
        <p:nvSpPr>
          <p:cNvPr id="10" name="white-rule"/>
          <p:cNvSpPr/>
          <p:nvPr/>
        </p:nvSpPr>
        <p:spPr>
          <a:xfrm>
            <a:off x="11328400" y="4089400"/>
            <a:ext cx="2921000" cy="25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focus"/>
          <p:cNvSpPr/>
          <p:nvPr/>
        </p:nvSpPr>
        <p:spPr>
          <a:xfrm>
            <a:off x="11328400" y="4368800"/>
            <a:ext cx="317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message for Science students.</a:t>
            </a:r>
            <a:endParaRPr lang="en-US" sz="2000" dirty="0"/>
          </a:p>
        </p:txBody>
      </p:sp>
      <p:sp>
        <p:nvSpPr>
          <p:cNvPr id="12" name="bottom-line"/>
          <p:cNvSpPr/>
          <p:nvPr/>
        </p:nvSpPr>
        <p:spPr>
          <a:xfrm>
            <a:off x="609600" y="7924800"/>
            <a:ext cx="14630400" cy="12700"/>
          </a:xfrm>
          <a:prstGeom prst="rect">
            <a:avLst/>
          </a:prstGeom>
          <a:solidFill>
            <a:srgbClr val="D4D4D4"/>
          </a:solidFill>
          <a:ln/>
        </p:spPr>
      </p:sp>
      <p:sp>
        <p:nvSpPr>
          <p:cNvPr id="13" name="footer"/>
          <p:cNvSpPr/>
          <p:nvPr/>
        </p:nvSpPr>
        <p:spPr>
          <a:xfrm>
            <a:off x="609600" y="8255000"/>
            <a:ext cx="1016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FEEDBACK THAT MOVES LEARNING</a:t>
            </a:r>
            <a:endParaRPr lang="en-US" sz="1400" dirty="0"/>
          </a:p>
        </p:txBody>
      </p:sp>
      <p:sp>
        <p:nvSpPr>
          <p:cNvPr id="14" name="row-number"/>
          <p:cNvSpPr/>
          <p:nvPr/>
        </p:nvSpPr>
        <p:spPr>
          <a:xfrm>
            <a:off x="13081000" y="8255000"/>
            <a:ext cx="215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 200  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department"/>
          <p:cNvSpPr/>
          <p:nvPr/>
        </p:nvSpPr>
        <p:spPr>
          <a:xfrm>
            <a:off x="609600" y="38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NBHS SCIENCE DEPARTMENT • FEEDBACK THAT MOVES LEARNING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609600" y="889000"/>
            <a:ext cx="1231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Today: one shared language for feedback</a:t>
            </a:r>
            <a:endParaRPr lang="en-US" sz="3800" dirty="0"/>
          </a:p>
        </p:txBody>
      </p:sp>
      <p:sp>
        <p:nvSpPr>
          <p:cNvPr id="5" name="sub"/>
          <p:cNvSpPr/>
          <p:nvPr/>
        </p:nvSpPr>
        <p:spPr>
          <a:xfrm>
            <a:off x="609600" y="1574800"/>
            <a:ext cx="1143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 is consistency for students across every Science classroom.</a:t>
            </a:r>
            <a:endParaRPr lang="en-US" sz="2000" dirty="0"/>
          </a:p>
        </p:txBody>
      </p:sp>
      <p:sp>
        <p:nvSpPr>
          <p:cNvPr id="6" name="card1"/>
          <p:cNvSpPr/>
          <p:nvPr/>
        </p:nvSpPr>
        <p:spPr>
          <a:xfrm>
            <a:off x="609600" y="2489200"/>
            <a:ext cx="6858000" cy="2184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num1"/>
          <p:cNvSpPr/>
          <p:nvPr/>
        </p:nvSpPr>
        <p:spPr>
          <a:xfrm>
            <a:off x="965200" y="2819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8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4800" dirty="0"/>
          </a:p>
        </p:txBody>
      </p:sp>
      <p:sp>
        <p:nvSpPr>
          <p:cNvPr id="8" name="card1text"/>
          <p:cNvSpPr/>
          <p:nvPr/>
        </p:nvSpPr>
        <p:spPr>
          <a:xfrm>
            <a:off x="1981200" y="2844800"/>
            <a:ext cx="4826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Recognize</a:t>
            </a:r>
            <a:endParaRPr lang="en-US" sz="2300" dirty="0"/>
          </a:p>
          <a:p>
            <a:pPr algn="l" indent="0" marL="0">
              <a:spcBef>
                <a:spcPts val="800"/>
              </a:spcBef>
              <a:buNone/>
            </a:pPr>
            <a:r>
              <a:rPr lang="en-US" altLang="en-US" sz="23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feedback useful to a student</a:t>
            </a:r>
            <a:endParaRPr lang="en-US" sz="2300" dirty="0"/>
          </a:p>
        </p:txBody>
      </p:sp>
      <p:sp>
        <p:nvSpPr>
          <p:cNvPr id="9" name="card2"/>
          <p:cNvSpPr/>
          <p:nvPr/>
        </p:nvSpPr>
        <p:spPr>
          <a:xfrm>
            <a:off x="8178800" y="2489200"/>
            <a:ext cx="6858000" cy="2184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0" name="num2"/>
          <p:cNvSpPr/>
          <p:nvPr/>
        </p:nvSpPr>
        <p:spPr>
          <a:xfrm>
            <a:off x="8534400" y="2819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8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4800" dirty="0"/>
          </a:p>
        </p:txBody>
      </p:sp>
      <p:sp>
        <p:nvSpPr>
          <p:cNvPr id="11" name="card2text"/>
          <p:cNvSpPr/>
          <p:nvPr/>
        </p:nvSpPr>
        <p:spPr>
          <a:xfrm>
            <a:off x="9550400" y="2844800"/>
            <a:ext cx="4826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</a:t>
            </a:r>
            <a:endParaRPr lang="en-US" sz="2300" dirty="0"/>
          </a:p>
          <a:p>
            <a:pPr algn="l" indent="0" marL="0">
              <a:spcBef>
                <a:spcPts val="800"/>
              </a:spcBef>
              <a:buNone/>
            </a:pPr>
            <a:r>
              <a:rPr lang="en-US" altLang="en-US" sz="23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vague comments into actionable next steps</a:t>
            </a:r>
            <a:endParaRPr lang="en-US" sz="2300" dirty="0"/>
          </a:p>
        </p:txBody>
      </p:sp>
      <p:sp>
        <p:nvSpPr>
          <p:cNvPr id="12" name="card3"/>
          <p:cNvSpPr/>
          <p:nvPr/>
        </p:nvSpPr>
        <p:spPr>
          <a:xfrm>
            <a:off x="609600" y="5029200"/>
            <a:ext cx="6858000" cy="2184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3" name="num3"/>
          <p:cNvSpPr/>
          <p:nvPr/>
        </p:nvSpPr>
        <p:spPr>
          <a:xfrm>
            <a:off x="965200" y="5359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8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card3text"/>
          <p:cNvSpPr/>
          <p:nvPr/>
        </p:nvSpPr>
        <p:spPr>
          <a:xfrm>
            <a:off x="1981200" y="5384800"/>
            <a:ext cx="4826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</a:t>
            </a:r>
            <a:endParaRPr lang="en-US" sz="2300" dirty="0"/>
          </a:p>
          <a:p>
            <a:pPr algn="l" indent="0" marL="0">
              <a:spcBef>
                <a:spcPts val="800"/>
              </a:spcBef>
              <a:buNone/>
            </a:pPr>
            <a:r>
              <a:rPr lang="en-US" altLang="en-US" sz="23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feedback method to the learning need</a:t>
            </a:r>
            <a:endParaRPr lang="en-US" sz="2300" dirty="0"/>
          </a:p>
        </p:txBody>
      </p:sp>
      <p:sp>
        <p:nvSpPr>
          <p:cNvPr id="15" name="card4"/>
          <p:cNvSpPr/>
          <p:nvPr/>
        </p:nvSpPr>
        <p:spPr>
          <a:xfrm>
            <a:off x="8178800" y="5029200"/>
            <a:ext cx="6858000" cy="2184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6" name="num4"/>
          <p:cNvSpPr/>
          <p:nvPr/>
        </p:nvSpPr>
        <p:spPr>
          <a:xfrm>
            <a:off x="8534400" y="5359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8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4800" dirty="0"/>
          </a:p>
        </p:txBody>
      </p:sp>
      <p:sp>
        <p:nvSpPr>
          <p:cNvPr id="17" name="card4text"/>
          <p:cNvSpPr/>
          <p:nvPr/>
        </p:nvSpPr>
        <p:spPr>
          <a:xfrm>
            <a:off x="9550400" y="5384800"/>
            <a:ext cx="4953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</a:t>
            </a:r>
            <a:endParaRPr lang="en-US" sz="2300" dirty="0"/>
          </a:p>
          <a:p>
            <a:pPr algn="l" indent="0" marL="0">
              <a:spcBef>
                <a:spcPts val="800"/>
              </a:spcBef>
              <a:buNone/>
            </a:pPr>
            <a:r>
              <a:rPr lang="en-US" altLang="en-US" sz="23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classroom feedback to an accurate, current ASPEN gradebook</a:t>
            </a:r>
            <a:endParaRPr lang="en-US" sz="2300" dirty="0"/>
          </a:p>
        </p:txBody>
      </p:sp>
      <p:sp>
        <p:nvSpPr>
          <p:cNvPr id="18" name="footer"/>
          <p:cNvSpPr/>
          <p:nvPr/>
        </p:nvSpPr>
        <p:spPr>
          <a:xfrm>
            <a:off x="609600" y="8559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FEEDBACK THAT MOVES LEARNING</a:t>
            </a:r>
            <a:endParaRPr lang="en-US" sz="1400" dirty="0"/>
          </a:p>
        </p:txBody>
      </p:sp>
      <p:sp>
        <p:nvSpPr>
          <p:cNvPr id="19" name="row-number"/>
          <p:cNvSpPr/>
          <p:nvPr/>
        </p:nvSpPr>
        <p:spPr>
          <a:xfrm>
            <a:off x="13081000" y="8559800"/>
            <a:ext cx="215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 200   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department"/>
          <p:cNvSpPr/>
          <p:nvPr/>
        </p:nvSpPr>
        <p:spPr>
          <a:xfrm>
            <a:off x="609600" y="38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NBHS SCIENCE DEPARTMENT • FEEDBACK THAT MOVES LEARNING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609600" y="889000"/>
            <a:ext cx="11430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Would this help a student improve?</a:t>
            </a:r>
            <a:endParaRPr lang="en-US" sz="3800" dirty="0"/>
          </a:p>
        </p:txBody>
      </p:sp>
      <p:sp>
        <p:nvSpPr>
          <p:cNvPr id="5" name="directions"/>
          <p:cNvSpPr/>
          <p:nvPr/>
        </p:nvSpPr>
        <p:spPr>
          <a:xfrm>
            <a:off x="609600" y="1574800"/>
            <a:ext cx="13716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your table, decide whether each comment gives a student a usable next step.</a:t>
            </a:r>
            <a:endParaRPr lang="en-US" sz="2000" dirty="0"/>
          </a:p>
        </p:txBody>
      </p:sp>
      <p:sp>
        <p:nvSpPr>
          <p:cNvPr id="6" name="c1"/>
          <p:cNvSpPr/>
          <p:nvPr/>
        </p:nvSpPr>
        <p:spPr>
          <a:xfrm>
            <a:off x="609600" y="2438400"/>
            <a:ext cx="6807200" cy="10668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t1"/>
          <p:cNvSpPr/>
          <p:nvPr/>
        </p:nvSpPr>
        <p:spPr>
          <a:xfrm>
            <a:off x="965200" y="2743200"/>
            <a:ext cx="5461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“Good job!”</a:t>
            </a:r>
            <a:endParaRPr lang="en-US" sz="2400" dirty="0"/>
          </a:p>
        </p:txBody>
      </p:sp>
      <p:sp>
        <p:nvSpPr>
          <p:cNvPr id="8" name="q1"/>
          <p:cNvSpPr/>
          <p:nvPr/>
        </p:nvSpPr>
        <p:spPr>
          <a:xfrm>
            <a:off x="6705600" y="2717800"/>
            <a:ext cx="40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400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3400" dirty="0"/>
          </a:p>
        </p:txBody>
      </p:sp>
      <p:sp>
        <p:nvSpPr>
          <p:cNvPr id="9" name="c2"/>
          <p:cNvSpPr/>
          <p:nvPr/>
        </p:nvSpPr>
        <p:spPr>
          <a:xfrm>
            <a:off x="8178800" y="2438400"/>
            <a:ext cx="6807200" cy="10668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0" name="t2"/>
          <p:cNvSpPr/>
          <p:nvPr/>
        </p:nvSpPr>
        <p:spPr>
          <a:xfrm>
            <a:off x="8534400" y="2743200"/>
            <a:ext cx="5461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“Check #4.”</a:t>
            </a:r>
            <a:endParaRPr lang="en-US" sz="2400" dirty="0"/>
          </a:p>
        </p:txBody>
      </p:sp>
      <p:sp>
        <p:nvSpPr>
          <p:cNvPr id="11" name="q2"/>
          <p:cNvSpPr/>
          <p:nvPr/>
        </p:nvSpPr>
        <p:spPr>
          <a:xfrm>
            <a:off x="14274800" y="2717800"/>
            <a:ext cx="40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400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3400" dirty="0"/>
          </a:p>
        </p:txBody>
      </p:sp>
      <p:sp>
        <p:nvSpPr>
          <p:cNvPr id="12" name="c3"/>
          <p:cNvSpPr/>
          <p:nvPr/>
        </p:nvSpPr>
        <p:spPr>
          <a:xfrm>
            <a:off x="609600" y="3860800"/>
            <a:ext cx="6807200" cy="1320800"/>
          </a:xfrm>
          <a:prstGeom prst="rect">
            <a:avLst/>
          </a:prstGeom>
          <a:solidFill>
            <a:srgbClr val="FFF5F6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3"/>
          <p:cNvSpPr/>
          <p:nvPr/>
        </p:nvSpPr>
        <p:spPr>
          <a:xfrm>
            <a:off x="965200" y="4114800"/>
            <a:ext cx="5486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“Your claim is clear. Now explain how the evidence proves it.”</a:t>
            </a:r>
            <a:endParaRPr lang="en-US" sz="2100" dirty="0"/>
          </a:p>
        </p:txBody>
      </p:sp>
      <p:sp>
        <p:nvSpPr>
          <p:cNvPr id="14" name="yes1"/>
          <p:cNvSpPr/>
          <p:nvPr/>
        </p:nvSpPr>
        <p:spPr>
          <a:xfrm>
            <a:off x="6705600" y="4241800"/>
            <a:ext cx="40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3200" dirty="0"/>
          </a:p>
        </p:txBody>
      </p:sp>
      <p:sp>
        <p:nvSpPr>
          <p:cNvPr id="15" name="c4"/>
          <p:cNvSpPr/>
          <p:nvPr/>
        </p:nvSpPr>
        <p:spPr>
          <a:xfrm>
            <a:off x="8178800" y="3860800"/>
            <a:ext cx="6807200" cy="13208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6" name="t4"/>
          <p:cNvSpPr/>
          <p:nvPr/>
        </p:nvSpPr>
        <p:spPr>
          <a:xfrm>
            <a:off x="8534400" y="4241800"/>
            <a:ext cx="5461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“82%”</a:t>
            </a:r>
            <a:endParaRPr lang="en-US" sz="2400" dirty="0"/>
          </a:p>
        </p:txBody>
      </p:sp>
      <p:sp>
        <p:nvSpPr>
          <p:cNvPr id="17" name="q4"/>
          <p:cNvSpPr/>
          <p:nvPr/>
        </p:nvSpPr>
        <p:spPr>
          <a:xfrm>
            <a:off x="14274800" y="4140200"/>
            <a:ext cx="40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400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3400" dirty="0"/>
          </a:p>
        </p:txBody>
      </p:sp>
      <p:sp>
        <p:nvSpPr>
          <p:cNvPr id="18" name="c5"/>
          <p:cNvSpPr/>
          <p:nvPr/>
        </p:nvSpPr>
        <p:spPr>
          <a:xfrm>
            <a:off x="609600" y="5537200"/>
            <a:ext cx="6807200" cy="10668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t5"/>
          <p:cNvSpPr/>
          <p:nvPr/>
        </p:nvSpPr>
        <p:spPr>
          <a:xfrm>
            <a:off x="965200" y="5842000"/>
            <a:ext cx="5461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need more detail.”</a:t>
            </a:r>
            <a:endParaRPr lang="en-US" sz="2400" dirty="0"/>
          </a:p>
        </p:txBody>
      </p:sp>
      <p:sp>
        <p:nvSpPr>
          <p:cNvPr id="20" name="q5"/>
          <p:cNvSpPr/>
          <p:nvPr/>
        </p:nvSpPr>
        <p:spPr>
          <a:xfrm>
            <a:off x="6705600" y="5816600"/>
            <a:ext cx="40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400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3400" dirty="0"/>
          </a:p>
        </p:txBody>
      </p:sp>
      <p:sp>
        <p:nvSpPr>
          <p:cNvPr id="21" name="c6"/>
          <p:cNvSpPr/>
          <p:nvPr/>
        </p:nvSpPr>
        <p:spPr>
          <a:xfrm>
            <a:off x="8178800" y="5537200"/>
            <a:ext cx="6807200" cy="1066800"/>
          </a:xfrm>
          <a:prstGeom prst="rect">
            <a:avLst/>
          </a:prstGeom>
          <a:solidFill>
            <a:srgbClr val="FFF5F6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6"/>
          <p:cNvSpPr/>
          <p:nvPr/>
        </p:nvSpPr>
        <p:spPr>
          <a:xfrm>
            <a:off x="8534400" y="5740400"/>
            <a:ext cx="546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“Your setup is correct. Recheck the sign before solving.”</a:t>
            </a:r>
            <a:endParaRPr lang="en-US" sz="2100" dirty="0"/>
          </a:p>
        </p:txBody>
      </p:sp>
      <p:sp>
        <p:nvSpPr>
          <p:cNvPr id="23" name="yes2"/>
          <p:cNvSpPr/>
          <p:nvPr/>
        </p:nvSpPr>
        <p:spPr>
          <a:xfrm>
            <a:off x="14274800" y="5816600"/>
            <a:ext cx="40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3200" dirty="0"/>
          </a:p>
        </p:txBody>
      </p:sp>
      <p:sp>
        <p:nvSpPr>
          <p:cNvPr id="24" name="prompt"/>
          <p:cNvSpPr/>
          <p:nvPr/>
        </p:nvSpPr>
        <p:spPr>
          <a:xfrm>
            <a:off x="609600" y="7188200"/>
            <a:ext cx="14376400" cy="889000"/>
          </a:xfrm>
          <a:prstGeom prst="rect">
            <a:avLst/>
          </a:prstGeom>
          <a:solidFill>
            <a:srgbClr val="171717"/>
          </a:solidFill>
          <a:ln/>
        </p:spPr>
      </p:sp>
      <p:sp>
        <p:nvSpPr>
          <p:cNvPr id="25" name="prompttext"/>
          <p:cNvSpPr/>
          <p:nvPr/>
        </p:nvSpPr>
        <p:spPr>
          <a:xfrm>
            <a:off x="965200" y="7442200"/>
            <a:ext cx="137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question:</a:t>
            </a:r>
            <a:r>
              <a:rPr lang="en-US" alt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Could the student do something different or better because of this feedback?</a:t>
            </a:r>
            <a:endParaRPr lang="en-US" sz="2200" dirty="0"/>
          </a:p>
        </p:txBody>
      </p:sp>
      <p:sp>
        <p:nvSpPr>
          <p:cNvPr id="26" name="footer"/>
          <p:cNvSpPr/>
          <p:nvPr/>
        </p:nvSpPr>
        <p:spPr>
          <a:xfrm>
            <a:off x="609600" y="8559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FEEDBACK THAT MOVES LEARNING</a:t>
            </a:r>
            <a:endParaRPr lang="en-US" sz="1400" dirty="0"/>
          </a:p>
        </p:txBody>
      </p:sp>
      <p:sp>
        <p:nvSpPr>
          <p:cNvPr id="27" name="row-number"/>
          <p:cNvSpPr/>
          <p:nvPr/>
        </p:nvSpPr>
        <p:spPr>
          <a:xfrm>
            <a:off x="13081000" y="8559800"/>
            <a:ext cx="215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 200   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department"/>
          <p:cNvSpPr/>
          <p:nvPr/>
        </p:nvSpPr>
        <p:spPr>
          <a:xfrm>
            <a:off x="609600" y="38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NBHS SCIENCE DEPARTMENT • FEEDBACK THAT MOVES LEARNING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609600" y="889000"/>
            <a:ext cx="11430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Effective feedback has four qualities</a:t>
            </a:r>
            <a:endParaRPr lang="en-US" sz="3800" dirty="0"/>
          </a:p>
        </p:txBody>
      </p:sp>
      <p:sp>
        <p:nvSpPr>
          <p:cNvPr id="5" name="sub"/>
          <p:cNvSpPr/>
          <p:nvPr/>
        </p:nvSpPr>
        <p:spPr>
          <a:xfrm>
            <a:off x="609600" y="1574800"/>
            <a:ext cx="1143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does not need to be long—but it should move the learning forward.</a:t>
            </a:r>
            <a:endParaRPr lang="en-US" sz="2000" dirty="0"/>
          </a:p>
        </p:txBody>
      </p:sp>
      <p:sp>
        <p:nvSpPr>
          <p:cNvPr id="6" name="v1"/>
          <p:cNvSpPr/>
          <p:nvPr/>
        </p:nvSpPr>
        <p:spPr>
          <a:xfrm>
            <a:off x="609600" y="2641600"/>
            <a:ext cx="3251200" cy="31496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q1"/>
          <p:cNvSpPr/>
          <p:nvPr/>
        </p:nvSpPr>
        <p:spPr>
          <a:xfrm>
            <a:off x="914400" y="2997200"/>
            <a:ext cx="254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7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TIMELY</a:t>
            </a:r>
            <a:endParaRPr lang="en-US" sz="2700" dirty="0"/>
          </a:p>
        </p:txBody>
      </p:sp>
      <p:sp>
        <p:nvSpPr>
          <p:cNvPr id="8" name="b1"/>
          <p:cNvSpPr/>
          <p:nvPr/>
        </p:nvSpPr>
        <p:spPr>
          <a:xfrm>
            <a:off x="914400" y="36576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enough to the learning that the student can still use it.</a:t>
            </a:r>
            <a:endParaRPr lang="en-US" sz="2100" dirty="0"/>
          </a:p>
        </p:txBody>
      </p:sp>
      <p:sp>
        <p:nvSpPr>
          <p:cNvPr id="9" name="v2"/>
          <p:cNvSpPr/>
          <p:nvPr/>
        </p:nvSpPr>
        <p:spPr>
          <a:xfrm>
            <a:off x="4165600" y="2641600"/>
            <a:ext cx="3251200" cy="31496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0" name="q2"/>
          <p:cNvSpPr/>
          <p:nvPr/>
        </p:nvSpPr>
        <p:spPr>
          <a:xfrm>
            <a:off x="4470400" y="2997200"/>
            <a:ext cx="254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7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</a:t>
            </a:r>
            <a:endParaRPr lang="en-US" sz="2700" dirty="0"/>
          </a:p>
        </p:txBody>
      </p:sp>
      <p:sp>
        <p:nvSpPr>
          <p:cNvPr id="11" name="b2"/>
          <p:cNvSpPr/>
          <p:nvPr/>
        </p:nvSpPr>
        <p:spPr>
          <a:xfrm>
            <a:off x="4470400" y="36576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Names what is working or what needs attention.</a:t>
            </a:r>
            <a:endParaRPr lang="en-US" sz="2100" dirty="0"/>
          </a:p>
        </p:txBody>
      </p:sp>
      <p:sp>
        <p:nvSpPr>
          <p:cNvPr id="12" name="v3"/>
          <p:cNvSpPr/>
          <p:nvPr/>
        </p:nvSpPr>
        <p:spPr>
          <a:xfrm>
            <a:off x="7721600" y="2641600"/>
            <a:ext cx="3251200" cy="31496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3" name="q3"/>
          <p:cNvSpPr/>
          <p:nvPr/>
        </p:nvSpPr>
        <p:spPr>
          <a:xfrm>
            <a:off x="8026400" y="2997200"/>
            <a:ext cx="254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7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ACTIONABLE</a:t>
            </a:r>
            <a:endParaRPr lang="en-US" sz="2700" dirty="0"/>
          </a:p>
        </p:txBody>
      </p:sp>
      <p:sp>
        <p:nvSpPr>
          <p:cNvPr id="14" name="b3"/>
          <p:cNvSpPr/>
          <p:nvPr/>
        </p:nvSpPr>
        <p:spPr>
          <a:xfrm>
            <a:off x="8026400" y="36576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Gives the student a clear next step.</a:t>
            </a:r>
            <a:endParaRPr lang="en-US" sz="2100" dirty="0"/>
          </a:p>
        </p:txBody>
      </p:sp>
      <p:sp>
        <p:nvSpPr>
          <p:cNvPr id="15" name="v4"/>
          <p:cNvSpPr/>
          <p:nvPr/>
        </p:nvSpPr>
        <p:spPr>
          <a:xfrm>
            <a:off x="11277600" y="2641600"/>
            <a:ext cx="3251200" cy="31496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6" name="q4"/>
          <p:cNvSpPr/>
          <p:nvPr/>
        </p:nvSpPr>
        <p:spPr>
          <a:xfrm>
            <a:off x="11582400" y="2997200"/>
            <a:ext cx="254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7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CONNECTED</a:t>
            </a:r>
            <a:endParaRPr lang="en-US" sz="2700" dirty="0"/>
          </a:p>
        </p:txBody>
      </p:sp>
      <p:sp>
        <p:nvSpPr>
          <p:cNvPr id="17" name="b4"/>
          <p:cNvSpPr/>
          <p:nvPr/>
        </p:nvSpPr>
        <p:spPr>
          <a:xfrm>
            <a:off x="11582400" y="36576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to the learning goal, skill, criteria, rubric, or standard.</a:t>
            </a:r>
            <a:endParaRPr lang="en-US" sz="2100" dirty="0"/>
          </a:p>
        </p:txBody>
      </p:sp>
      <p:sp>
        <p:nvSpPr>
          <p:cNvPr id="18" name="note"/>
          <p:cNvSpPr/>
          <p:nvPr/>
        </p:nvSpPr>
        <p:spPr>
          <a:xfrm>
            <a:off x="609600" y="6553200"/>
            <a:ext cx="13919200" cy="1092200"/>
          </a:xfrm>
          <a:prstGeom prst="rect">
            <a:avLst/>
          </a:prstGeom>
          <a:solidFill>
            <a:srgbClr val="FFF5F6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note1"/>
          <p:cNvSpPr/>
          <p:nvPr/>
        </p:nvSpPr>
        <p:spPr>
          <a:xfrm>
            <a:off x="965200" y="6781800"/>
            <a:ext cx="1231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Praise has value. Feedback changes the work.</a:t>
            </a:r>
            <a:endParaRPr lang="en-US" sz="2100" dirty="0"/>
          </a:p>
        </p:txBody>
      </p:sp>
      <p:sp>
        <p:nvSpPr>
          <p:cNvPr id="20" name="note2"/>
          <p:cNvSpPr/>
          <p:nvPr/>
        </p:nvSpPr>
        <p:spPr>
          <a:xfrm>
            <a:off x="965200" y="7175500"/>
            <a:ext cx="1282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worked hard on this.” → “Your evidence is strong; now explain how it supports your claim.”</a:t>
            </a:r>
            <a:endParaRPr lang="en-US" sz="1900" dirty="0"/>
          </a:p>
        </p:txBody>
      </p:sp>
      <p:sp>
        <p:nvSpPr>
          <p:cNvPr id="21" name="footer"/>
          <p:cNvSpPr/>
          <p:nvPr/>
        </p:nvSpPr>
        <p:spPr>
          <a:xfrm>
            <a:off x="609600" y="8559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FEEDBACK THAT MOVES LEARNING</a:t>
            </a:r>
            <a:endParaRPr lang="en-US" sz="1400" dirty="0"/>
          </a:p>
        </p:txBody>
      </p:sp>
      <p:sp>
        <p:nvSpPr>
          <p:cNvPr id="22" name="row-number"/>
          <p:cNvSpPr/>
          <p:nvPr/>
        </p:nvSpPr>
        <p:spPr>
          <a:xfrm>
            <a:off x="13081000" y="8559800"/>
            <a:ext cx="215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 200   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department"/>
          <p:cNvSpPr/>
          <p:nvPr/>
        </p:nvSpPr>
        <p:spPr>
          <a:xfrm>
            <a:off x="609600" y="38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NBHS SCIENCE DEPARTMENT • FEEDBACK THAT MOVES LEARNING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609600" y="889000"/>
            <a:ext cx="12065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does not always look the same</a:t>
            </a:r>
            <a:endParaRPr lang="en-US" sz="3800" dirty="0"/>
          </a:p>
        </p:txBody>
      </p:sp>
      <p:sp>
        <p:nvSpPr>
          <p:cNvPr id="5" name="sub"/>
          <p:cNvSpPr/>
          <p:nvPr/>
        </p:nvSpPr>
        <p:spPr>
          <a:xfrm>
            <a:off x="609600" y="1574800"/>
            <a:ext cx="1270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method that gives the student the clearest, most efficient information.</a:t>
            </a:r>
            <a:endParaRPr lang="en-US" sz="2000" dirty="0"/>
          </a:p>
        </p:txBody>
      </p:sp>
      <p:sp>
        <p:nvSpPr>
          <p:cNvPr id="6" name="c1"/>
          <p:cNvSpPr/>
          <p:nvPr/>
        </p:nvSpPr>
        <p:spPr>
          <a:xfrm>
            <a:off x="609600" y="2413000"/>
            <a:ext cx="4470400" cy="1905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h1"/>
          <p:cNvSpPr/>
          <p:nvPr/>
        </p:nvSpPr>
        <p:spPr>
          <a:xfrm>
            <a:off x="914400" y="2717800"/>
            <a:ext cx="330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IN-THE-MOMENT VERBAL</a:t>
            </a:r>
            <a:endParaRPr lang="en-US" sz="1600" dirty="0"/>
          </a:p>
        </p:txBody>
      </p:sp>
      <p:sp>
        <p:nvSpPr>
          <p:cNvPr id="8" name="b1"/>
          <p:cNvSpPr/>
          <p:nvPr/>
        </p:nvSpPr>
        <p:spPr>
          <a:xfrm>
            <a:off x="914400" y="3276600"/>
            <a:ext cx="3683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prompt, correction, or question during learning.</a:t>
            </a:r>
            <a:endParaRPr lang="en-US" sz="2000" dirty="0"/>
          </a:p>
        </p:txBody>
      </p:sp>
      <p:sp>
        <p:nvSpPr>
          <p:cNvPr id="9" name="c2"/>
          <p:cNvSpPr/>
          <p:nvPr/>
        </p:nvSpPr>
        <p:spPr>
          <a:xfrm>
            <a:off x="5384800" y="2413000"/>
            <a:ext cx="4470400" cy="1905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0" name="h2"/>
          <p:cNvSpPr/>
          <p:nvPr/>
        </p:nvSpPr>
        <p:spPr>
          <a:xfrm>
            <a:off x="5689600" y="2717800"/>
            <a:ext cx="330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</a:t>
            </a:r>
            <a:endParaRPr lang="en-US" sz="1600" dirty="0"/>
          </a:p>
        </p:txBody>
      </p:sp>
      <p:sp>
        <p:nvSpPr>
          <p:cNvPr id="11" name="b2"/>
          <p:cNvSpPr/>
          <p:nvPr/>
        </p:nvSpPr>
        <p:spPr>
          <a:xfrm>
            <a:off x="5689600" y="3276600"/>
            <a:ext cx="3683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or two high-leverage comments on student work.</a:t>
            </a:r>
            <a:endParaRPr lang="en-US" sz="2000" dirty="0"/>
          </a:p>
        </p:txBody>
      </p:sp>
      <p:sp>
        <p:nvSpPr>
          <p:cNvPr id="12" name="c3"/>
          <p:cNvSpPr/>
          <p:nvPr/>
        </p:nvSpPr>
        <p:spPr>
          <a:xfrm>
            <a:off x="10160000" y="2413000"/>
            <a:ext cx="4470400" cy="1905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3" name="h3"/>
          <p:cNvSpPr/>
          <p:nvPr/>
        </p:nvSpPr>
        <p:spPr>
          <a:xfrm>
            <a:off x="10464800" y="2717800"/>
            <a:ext cx="330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WHOLE-CLASS</a:t>
            </a:r>
            <a:endParaRPr lang="en-US" sz="1600" dirty="0"/>
          </a:p>
        </p:txBody>
      </p:sp>
      <p:sp>
        <p:nvSpPr>
          <p:cNvPr id="14" name="b3"/>
          <p:cNvSpPr/>
          <p:nvPr/>
        </p:nvSpPr>
        <p:spPr>
          <a:xfrm>
            <a:off x="10464800" y="3276600"/>
            <a:ext cx="3683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a common misconception efficiently.</a:t>
            </a:r>
            <a:endParaRPr lang="en-US" sz="2000" dirty="0"/>
          </a:p>
        </p:txBody>
      </p:sp>
      <p:sp>
        <p:nvSpPr>
          <p:cNvPr id="15" name="c4"/>
          <p:cNvSpPr/>
          <p:nvPr/>
        </p:nvSpPr>
        <p:spPr>
          <a:xfrm>
            <a:off x="609600" y="4699000"/>
            <a:ext cx="4470400" cy="1905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6" name="h4"/>
          <p:cNvSpPr/>
          <p:nvPr/>
        </p:nvSpPr>
        <p:spPr>
          <a:xfrm>
            <a:off x="914400" y="5003800"/>
            <a:ext cx="330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PEER-TO-PEER</a:t>
            </a:r>
            <a:endParaRPr lang="en-US" sz="1600" dirty="0"/>
          </a:p>
        </p:txBody>
      </p:sp>
      <p:sp>
        <p:nvSpPr>
          <p:cNvPr id="17" name="b4"/>
          <p:cNvSpPr/>
          <p:nvPr/>
        </p:nvSpPr>
        <p:spPr>
          <a:xfrm>
            <a:off x="914400" y="5562600"/>
            <a:ext cx="3683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use clear criteria to respond to one another.</a:t>
            </a:r>
            <a:endParaRPr lang="en-US" sz="2000" dirty="0"/>
          </a:p>
        </p:txBody>
      </p:sp>
      <p:sp>
        <p:nvSpPr>
          <p:cNvPr id="18" name="c5"/>
          <p:cNvSpPr/>
          <p:nvPr/>
        </p:nvSpPr>
        <p:spPr>
          <a:xfrm>
            <a:off x="5384800" y="4699000"/>
            <a:ext cx="4470400" cy="1905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h5"/>
          <p:cNvSpPr/>
          <p:nvPr/>
        </p:nvSpPr>
        <p:spPr>
          <a:xfrm>
            <a:off x="5689600" y="5003800"/>
            <a:ext cx="330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SELF-FEEDBACK</a:t>
            </a:r>
            <a:endParaRPr lang="en-US" sz="1600" dirty="0"/>
          </a:p>
        </p:txBody>
      </p:sp>
      <p:sp>
        <p:nvSpPr>
          <p:cNvPr id="20" name="b5"/>
          <p:cNvSpPr/>
          <p:nvPr/>
        </p:nvSpPr>
        <p:spPr>
          <a:xfrm>
            <a:off x="5689600" y="5562600"/>
            <a:ext cx="3683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assess their work against criteria before submitting.</a:t>
            </a:r>
            <a:endParaRPr lang="en-US" sz="2000" dirty="0"/>
          </a:p>
        </p:txBody>
      </p:sp>
      <p:sp>
        <p:nvSpPr>
          <p:cNvPr id="21" name="c6"/>
          <p:cNvSpPr/>
          <p:nvPr/>
        </p:nvSpPr>
        <p:spPr>
          <a:xfrm>
            <a:off x="10160000" y="4699000"/>
            <a:ext cx="4470400" cy="1905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2" name="h6"/>
          <p:cNvSpPr/>
          <p:nvPr/>
        </p:nvSpPr>
        <p:spPr>
          <a:xfrm>
            <a:off x="10464800" y="5003800"/>
            <a:ext cx="330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ASPEN / GRADEBOOK</a:t>
            </a:r>
            <a:endParaRPr lang="en-US" sz="1600" dirty="0"/>
          </a:p>
        </p:txBody>
      </p:sp>
      <p:sp>
        <p:nvSpPr>
          <p:cNvPr id="23" name="b6"/>
          <p:cNvSpPr/>
          <p:nvPr/>
        </p:nvSpPr>
        <p:spPr>
          <a:xfrm>
            <a:off x="10464800" y="5562600"/>
            <a:ext cx="3683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Communicates current evidence of learning over time.</a:t>
            </a:r>
            <a:endParaRPr lang="en-US" sz="2000" dirty="0"/>
          </a:p>
        </p:txBody>
      </p:sp>
      <p:sp>
        <p:nvSpPr>
          <p:cNvPr id="24" name="footer"/>
          <p:cNvSpPr/>
          <p:nvPr/>
        </p:nvSpPr>
        <p:spPr>
          <a:xfrm>
            <a:off x="609600" y="8559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FEEDBACK THAT MOVES LEARNING</a:t>
            </a:r>
            <a:endParaRPr lang="en-US" sz="1400" dirty="0"/>
          </a:p>
        </p:txBody>
      </p:sp>
      <p:sp>
        <p:nvSpPr>
          <p:cNvPr id="25" name="row-number"/>
          <p:cNvSpPr/>
          <p:nvPr/>
        </p:nvSpPr>
        <p:spPr>
          <a:xfrm>
            <a:off x="13081000" y="8559800"/>
            <a:ext cx="215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 200   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department"/>
          <p:cNvSpPr/>
          <p:nvPr/>
        </p:nvSpPr>
        <p:spPr>
          <a:xfrm>
            <a:off x="609600" y="38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NBHS SCIENCE DEPARTMENT • FEEDBACK THAT MOVES LEARNING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609600" y="889000"/>
            <a:ext cx="11430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the feedback to the need</a:t>
            </a:r>
            <a:endParaRPr lang="en-US" sz="3800" dirty="0"/>
          </a:p>
        </p:txBody>
      </p:sp>
      <p:sp>
        <p:nvSpPr>
          <p:cNvPr id="5" name="sub"/>
          <p:cNvSpPr/>
          <p:nvPr/>
        </p:nvSpPr>
        <p:spPr>
          <a:xfrm>
            <a:off x="609600" y="1574800"/>
            <a:ext cx="1143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Efficiency matters. The goal is not more comments—it is more useful information.</a:t>
            </a:r>
            <a:endParaRPr lang="en-US" sz="2000" dirty="0"/>
          </a:p>
        </p:txBody>
      </p:sp>
      <p:sp>
        <p:nvSpPr>
          <p:cNvPr id="6" name="s1"/>
          <p:cNvSpPr/>
          <p:nvPr/>
        </p:nvSpPr>
        <p:spPr>
          <a:xfrm>
            <a:off x="609600" y="3073400"/>
            <a:ext cx="2489200" cy="23876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s1h"/>
          <p:cNvSpPr/>
          <p:nvPr/>
        </p:nvSpPr>
        <p:spPr>
          <a:xfrm>
            <a:off x="863600" y="3378200"/>
            <a:ext cx="203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STUDENT IS STUCK</a:t>
            </a:r>
            <a:endParaRPr lang="en-US" sz="2000" dirty="0"/>
          </a:p>
        </p:txBody>
      </p:sp>
      <p:sp>
        <p:nvSpPr>
          <p:cNvPr id="8" name="s1b"/>
          <p:cNvSpPr/>
          <p:nvPr/>
        </p:nvSpPr>
        <p:spPr>
          <a:xfrm>
            <a:off x="863600" y="44450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 prompt or conference</a:t>
            </a:r>
            <a:endParaRPr lang="en-US" sz="1900" dirty="0"/>
          </a:p>
        </p:txBody>
      </p:sp>
      <p:sp>
        <p:nvSpPr>
          <p:cNvPr id="9" name="a1"/>
          <p:cNvSpPr/>
          <p:nvPr/>
        </p:nvSpPr>
        <p:spPr>
          <a:xfrm>
            <a:off x="32766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0" name="s2"/>
          <p:cNvSpPr/>
          <p:nvPr/>
        </p:nvSpPr>
        <p:spPr>
          <a:xfrm>
            <a:off x="3886200" y="3073400"/>
            <a:ext cx="2489200" cy="23876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1" name="s2h"/>
          <p:cNvSpPr/>
          <p:nvPr/>
        </p:nvSpPr>
        <p:spPr>
          <a:xfrm>
            <a:off x="4140200" y="3378200"/>
            <a:ext cx="203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 TO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</a:t>
            </a:r>
            <a:endParaRPr lang="en-US" sz="1800" dirty="0"/>
          </a:p>
        </p:txBody>
      </p:sp>
      <p:sp>
        <p:nvSpPr>
          <p:cNvPr id="12" name="s2b"/>
          <p:cNvSpPr/>
          <p:nvPr/>
        </p:nvSpPr>
        <p:spPr>
          <a:xfrm>
            <a:off x="4140200" y="45466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Whole-class feedback + model</a:t>
            </a:r>
            <a:endParaRPr lang="en-US" sz="1900" dirty="0"/>
          </a:p>
        </p:txBody>
      </p:sp>
      <p:sp>
        <p:nvSpPr>
          <p:cNvPr id="13" name="a2"/>
          <p:cNvSpPr/>
          <p:nvPr/>
        </p:nvSpPr>
        <p:spPr>
          <a:xfrm>
            <a:off x="65532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4" name="s3"/>
          <p:cNvSpPr/>
          <p:nvPr/>
        </p:nvSpPr>
        <p:spPr>
          <a:xfrm>
            <a:off x="7162800" y="3073400"/>
            <a:ext cx="2489200" cy="23876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5" name="s3h"/>
          <p:cNvSpPr/>
          <p:nvPr/>
        </p:nvSpPr>
        <p:spPr>
          <a:xfrm>
            <a:off x="7416800" y="3378200"/>
            <a:ext cx="203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IS STILL IN PROGRESS</a:t>
            </a:r>
            <a:endParaRPr lang="en-US" sz="2000" dirty="0"/>
          </a:p>
        </p:txBody>
      </p:sp>
      <p:sp>
        <p:nvSpPr>
          <p:cNvPr id="16" name="s3b"/>
          <p:cNvSpPr/>
          <p:nvPr/>
        </p:nvSpPr>
        <p:spPr>
          <a:xfrm>
            <a:off x="7416800" y="44450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Verbal or written next step</a:t>
            </a:r>
            <a:endParaRPr lang="en-US" sz="1900" dirty="0"/>
          </a:p>
        </p:txBody>
      </p:sp>
      <p:sp>
        <p:nvSpPr>
          <p:cNvPr id="17" name="a3"/>
          <p:cNvSpPr/>
          <p:nvPr/>
        </p:nvSpPr>
        <p:spPr>
          <a:xfrm>
            <a:off x="9829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8" name="s4"/>
          <p:cNvSpPr/>
          <p:nvPr/>
        </p:nvSpPr>
        <p:spPr>
          <a:xfrm>
            <a:off x="10439400" y="3073400"/>
            <a:ext cx="2489200" cy="23876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s4h"/>
          <p:cNvSpPr/>
          <p:nvPr/>
        </p:nvSpPr>
        <p:spPr>
          <a:xfrm>
            <a:off x="10693400" y="3378200"/>
            <a:ext cx="203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CRITERIA ARE CLEAR</a:t>
            </a:r>
            <a:endParaRPr lang="en-US" sz="2000" dirty="0"/>
          </a:p>
        </p:txBody>
      </p:sp>
      <p:sp>
        <p:nvSpPr>
          <p:cNvPr id="20" name="s4b"/>
          <p:cNvSpPr/>
          <p:nvPr/>
        </p:nvSpPr>
        <p:spPr>
          <a:xfrm>
            <a:off x="10693400" y="44450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 or self-feedback</a:t>
            </a:r>
            <a:endParaRPr lang="en-US" sz="1900" dirty="0"/>
          </a:p>
        </p:txBody>
      </p:sp>
      <p:sp>
        <p:nvSpPr>
          <p:cNvPr id="21" name="a4"/>
          <p:cNvSpPr/>
          <p:nvPr/>
        </p:nvSpPr>
        <p:spPr>
          <a:xfrm>
            <a:off x="131064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22" name="s5"/>
          <p:cNvSpPr/>
          <p:nvPr/>
        </p:nvSpPr>
        <p:spPr>
          <a:xfrm>
            <a:off x="13716000" y="3073400"/>
            <a:ext cx="1930400" cy="2387600"/>
          </a:xfrm>
          <a:prstGeom prst="rect">
            <a:avLst/>
          </a:prstGeom>
          <a:solidFill>
            <a:srgbClr val="FFF5F6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3" name="s5h"/>
          <p:cNvSpPr/>
          <p:nvPr/>
        </p:nvSpPr>
        <p:spPr>
          <a:xfrm>
            <a:off x="13944600" y="3378200"/>
            <a:ext cx="152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PROGRESS OVER TIME</a:t>
            </a:r>
            <a:endParaRPr lang="en-US" sz="2000" dirty="0"/>
          </a:p>
        </p:txBody>
      </p:sp>
      <p:sp>
        <p:nvSpPr>
          <p:cNvPr id="24" name="s5b"/>
          <p:cNvSpPr/>
          <p:nvPr/>
        </p:nvSpPr>
        <p:spPr>
          <a:xfrm>
            <a:off x="13944600" y="4445000"/>
            <a:ext cx="1498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ASPEN + current evidence</a:t>
            </a:r>
            <a:endParaRPr lang="en-US" sz="1900" dirty="0"/>
          </a:p>
        </p:txBody>
      </p:sp>
      <p:sp>
        <p:nvSpPr>
          <p:cNvPr id="25" name="note"/>
          <p:cNvSpPr/>
          <p:nvPr/>
        </p:nvSpPr>
        <p:spPr>
          <a:xfrm>
            <a:off x="609600" y="6629400"/>
            <a:ext cx="15036800" cy="914400"/>
          </a:xfrm>
          <a:prstGeom prst="rect">
            <a:avLst/>
          </a:prstGeom>
          <a:solidFill>
            <a:srgbClr val="171717"/>
          </a:solidFill>
          <a:ln/>
        </p:spPr>
      </p:sp>
      <p:sp>
        <p:nvSpPr>
          <p:cNvPr id="26" name="note-text"/>
          <p:cNvSpPr/>
          <p:nvPr/>
        </p:nvSpPr>
        <p:spPr>
          <a:xfrm>
            <a:off x="965200" y="6883400"/>
            <a:ext cx="1435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misconception repeated 15 times does not require 15 identical written comments.</a:t>
            </a:r>
            <a:endParaRPr lang="en-US" sz="2100" dirty="0"/>
          </a:p>
        </p:txBody>
      </p:sp>
      <p:sp>
        <p:nvSpPr>
          <p:cNvPr id="27" name="footer"/>
          <p:cNvSpPr/>
          <p:nvPr/>
        </p:nvSpPr>
        <p:spPr>
          <a:xfrm>
            <a:off x="609600" y="8559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FEEDBACK THAT MOVES LEARNING</a:t>
            </a:r>
            <a:endParaRPr lang="en-US" sz="1400" dirty="0"/>
          </a:p>
        </p:txBody>
      </p:sp>
      <p:sp>
        <p:nvSpPr>
          <p:cNvPr id="28" name="row-number"/>
          <p:cNvSpPr/>
          <p:nvPr/>
        </p:nvSpPr>
        <p:spPr>
          <a:xfrm>
            <a:off x="13081000" y="8559800"/>
            <a:ext cx="215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 200   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department"/>
          <p:cNvSpPr/>
          <p:nvPr/>
        </p:nvSpPr>
        <p:spPr>
          <a:xfrm>
            <a:off x="609600" y="381000"/>
            <a:ext cx="660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SCIENCE DEPARTMENT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609600" y="889000"/>
            <a:ext cx="13462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Practice: Make Science Feedback Actionable</a:t>
            </a:r>
            <a:endParaRPr lang="en-US" sz="3800" dirty="0"/>
          </a:p>
        </p:txBody>
      </p:sp>
      <p:sp>
        <p:nvSpPr>
          <p:cNvPr id="5" name="directions"/>
          <p:cNvSpPr/>
          <p:nvPr/>
        </p:nvSpPr>
        <p:spPr>
          <a:xfrm>
            <a:off x="609600" y="1574800"/>
            <a:ext cx="1422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</a:t>
            </a:r>
            <a:r>
              <a:rPr lang="en-US" altLang="en-US" sz="20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</a:t>
            </a: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examples. Rewrite each so a science student knows the evidence, thinking, or action to take next.</a:t>
            </a:r>
            <a:endParaRPr lang="en-US" sz="2000" dirty="0"/>
          </a:p>
        </p:txBody>
      </p:sp>
      <p:sp>
        <p:nvSpPr>
          <p:cNvPr id="6" name="c1"/>
          <p:cNvSpPr/>
          <p:nvPr/>
        </p:nvSpPr>
        <p:spPr>
          <a:xfrm>
            <a:off x="609600" y="2311400"/>
            <a:ext cx="4699000" cy="16002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l1"/>
          <p:cNvSpPr/>
          <p:nvPr/>
        </p:nvSpPr>
        <p:spPr>
          <a:xfrm>
            <a:off x="863600" y="25654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EXPLANATION</a:t>
            </a:r>
            <a:endParaRPr lang="en-US" sz="1500" dirty="0"/>
          </a:p>
        </p:txBody>
      </p:sp>
      <p:sp>
        <p:nvSpPr>
          <p:cNvPr id="8" name="b1"/>
          <p:cNvSpPr/>
          <p:nvPr/>
        </p:nvSpPr>
        <p:spPr>
          <a:xfrm>
            <a:off x="863600" y="3098800"/>
            <a:ext cx="3810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“Explain more.”</a:t>
            </a:r>
            <a:endParaRPr lang="en-US" sz="2400" dirty="0"/>
          </a:p>
        </p:txBody>
      </p:sp>
      <p:sp>
        <p:nvSpPr>
          <p:cNvPr id="9" name="c2"/>
          <p:cNvSpPr/>
          <p:nvPr/>
        </p:nvSpPr>
        <p:spPr>
          <a:xfrm>
            <a:off x="5778500" y="2311400"/>
            <a:ext cx="4699000" cy="16002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0" name="l2"/>
          <p:cNvSpPr/>
          <p:nvPr/>
        </p:nvSpPr>
        <p:spPr>
          <a:xfrm>
            <a:off x="6032500" y="25654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EVIDENCE</a:t>
            </a:r>
            <a:endParaRPr lang="en-US" sz="1500" dirty="0"/>
          </a:p>
        </p:txBody>
      </p:sp>
      <p:sp>
        <p:nvSpPr>
          <p:cNvPr id="11" name="b2"/>
          <p:cNvSpPr/>
          <p:nvPr/>
        </p:nvSpPr>
        <p:spPr>
          <a:xfrm>
            <a:off x="6032500" y="3098800"/>
            <a:ext cx="3810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“Add evidence.”</a:t>
            </a:r>
            <a:endParaRPr lang="en-US" sz="2400" dirty="0"/>
          </a:p>
        </p:txBody>
      </p:sp>
      <p:sp>
        <p:nvSpPr>
          <p:cNvPr id="12" name="c3"/>
          <p:cNvSpPr/>
          <p:nvPr/>
        </p:nvSpPr>
        <p:spPr>
          <a:xfrm>
            <a:off x="10947400" y="2311400"/>
            <a:ext cx="4699000" cy="16002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3" name="l3"/>
          <p:cNvSpPr/>
          <p:nvPr/>
        </p:nvSpPr>
        <p:spPr>
          <a:xfrm>
            <a:off x="11201400" y="25654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GRAPHING</a:t>
            </a:r>
            <a:endParaRPr lang="en-US" sz="1500" dirty="0"/>
          </a:p>
        </p:txBody>
      </p:sp>
      <p:sp>
        <p:nvSpPr>
          <p:cNvPr id="14" name="b3"/>
          <p:cNvSpPr/>
          <p:nvPr/>
        </p:nvSpPr>
        <p:spPr>
          <a:xfrm>
            <a:off x="11201400" y="3098800"/>
            <a:ext cx="3810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“Look at your data again.”</a:t>
            </a:r>
            <a:endParaRPr lang="en-US" sz="2400" dirty="0"/>
          </a:p>
        </p:txBody>
      </p:sp>
      <p:sp>
        <p:nvSpPr>
          <p:cNvPr id="15" name="c4"/>
          <p:cNvSpPr/>
          <p:nvPr/>
        </p:nvSpPr>
        <p:spPr>
          <a:xfrm>
            <a:off x="609600" y="4267200"/>
            <a:ext cx="4699000" cy="16002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6" name="l4"/>
          <p:cNvSpPr/>
          <p:nvPr/>
        </p:nvSpPr>
        <p:spPr>
          <a:xfrm>
            <a:off x="863600" y="45212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MODELS / DIAGRAMS</a:t>
            </a:r>
            <a:endParaRPr lang="en-US" sz="1500" dirty="0"/>
          </a:p>
        </p:txBody>
      </p:sp>
      <p:sp>
        <p:nvSpPr>
          <p:cNvPr id="17" name="b4"/>
          <p:cNvSpPr/>
          <p:nvPr/>
        </p:nvSpPr>
        <p:spPr>
          <a:xfrm>
            <a:off x="863600" y="5054600"/>
            <a:ext cx="3810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“Fix your model.”</a:t>
            </a:r>
            <a:endParaRPr lang="en-US" sz="2400" dirty="0"/>
          </a:p>
        </p:txBody>
      </p:sp>
      <p:sp>
        <p:nvSpPr>
          <p:cNvPr id="18" name="c5"/>
          <p:cNvSpPr/>
          <p:nvPr/>
        </p:nvSpPr>
        <p:spPr>
          <a:xfrm>
            <a:off x="5778500" y="4267200"/>
            <a:ext cx="4699000" cy="16002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l5"/>
          <p:cNvSpPr/>
          <p:nvPr/>
        </p:nvSpPr>
        <p:spPr>
          <a:xfrm>
            <a:off x="6032500" y="45212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/ INVESTIGATION</a:t>
            </a:r>
            <a:endParaRPr lang="en-US" sz="1500" dirty="0"/>
          </a:p>
        </p:txBody>
      </p:sp>
      <p:sp>
        <p:nvSpPr>
          <p:cNvPr id="20" name="b5"/>
          <p:cNvSpPr/>
          <p:nvPr/>
        </p:nvSpPr>
        <p:spPr>
          <a:xfrm>
            <a:off x="6032500" y="5054600"/>
            <a:ext cx="3810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“Not done correctly.”</a:t>
            </a:r>
            <a:endParaRPr lang="en-US" sz="2400" dirty="0"/>
          </a:p>
        </p:txBody>
      </p:sp>
      <p:sp>
        <p:nvSpPr>
          <p:cNvPr id="21" name="c6"/>
          <p:cNvSpPr/>
          <p:nvPr/>
        </p:nvSpPr>
        <p:spPr>
          <a:xfrm>
            <a:off x="10947400" y="4267200"/>
            <a:ext cx="4699000" cy="16002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2" name="l6"/>
          <p:cNvSpPr/>
          <p:nvPr/>
        </p:nvSpPr>
        <p:spPr>
          <a:xfrm>
            <a:off x="11201400" y="45212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DISCUSSION</a:t>
            </a:r>
            <a:endParaRPr lang="en-US" sz="1500" dirty="0"/>
          </a:p>
        </p:txBody>
      </p:sp>
      <p:sp>
        <p:nvSpPr>
          <p:cNvPr id="23" name="b6"/>
          <p:cNvSpPr/>
          <p:nvPr/>
        </p:nvSpPr>
        <p:spPr>
          <a:xfrm>
            <a:off x="11201400" y="5054600"/>
            <a:ext cx="3810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“Good response.”</a:t>
            </a:r>
            <a:endParaRPr lang="en-US" sz="2400" dirty="0"/>
          </a:p>
        </p:txBody>
      </p:sp>
      <p:sp>
        <p:nvSpPr>
          <p:cNvPr id="24" name="frame"/>
          <p:cNvSpPr/>
          <p:nvPr/>
        </p:nvSpPr>
        <p:spPr>
          <a:xfrm>
            <a:off x="2159000" y="6629400"/>
            <a:ext cx="11938000" cy="1397000"/>
          </a:xfrm>
          <a:prstGeom prst="rect">
            <a:avLst/>
          </a:prstGeom>
          <a:solidFill>
            <a:srgbClr val="FFF5F6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5" name="frame-label"/>
          <p:cNvSpPr/>
          <p:nvPr/>
        </p:nvSpPr>
        <p:spPr>
          <a:xfrm>
            <a:off x="2590800" y="68834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THIS FRAME IF HELPFUL:</a:t>
            </a:r>
            <a:endParaRPr lang="en-US" sz="1500" dirty="0"/>
          </a:p>
        </p:txBody>
      </p:sp>
      <p:sp>
        <p:nvSpPr>
          <p:cNvPr id="26" name="frame-text"/>
          <p:cNvSpPr/>
          <p:nvPr/>
        </p:nvSpPr>
        <p:spPr>
          <a:xfrm>
            <a:off x="2590800" y="7264400"/>
            <a:ext cx="1066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doing ________. Next, ________.”</a:t>
            </a:r>
            <a:endParaRPr lang="en-US" sz="2500" dirty="0"/>
          </a:p>
        </p:txBody>
      </p:sp>
      <p:sp>
        <p:nvSpPr>
          <p:cNvPr id="27" name="frame-note"/>
          <p:cNvSpPr/>
          <p:nvPr/>
        </p:nvSpPr>
        <p:spPr>
          <a:xfrm>
            <a:off x="2590800" y="7696200"/>
            <a:ext cx="1066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evidence or thinking move; then name the specific student action.</a:t>
            </a:r>
            <a:endParaRPr lang="en-US" sz="1500" dirty="0"/>
          </a:p>
        </p:txBody>
      </p:sp>
      <p:sp>
        <p:nvSpPr>
          <p:cNvPr id="28" name="footer"/>
          <p:cNvSpPr/>
          <p:nvPr/>
        </p:nvSpPr>
        <p:spPr>
          <a:xfrm>
            <a:off x="609600" y="8559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FEEDBACK THAT MOVES LEARNING</a:t>
            </a:r>
            <a:endParaRPr lang="en-US" sz="1400" dirty="0"/>
          </a:p>
        </p:txBody>
      </p:sp>
      <p:sp>
        <p:nvSpPr>
          <p:cNvPr id="29" name="row-number"/>
          <p:cNvSpPr/>
          <p:nvPr/>
        </p:nvSpPr>
        <p:spPr>
          <a:xfrm>
            <a:off x="13081000" y="8559800"/>
            <a:ext cx="215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 200   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department"/>
          <p:cNvSpPr/>
          <p:nvPr/>
        </p:nvSpPr>
        <p:spPr>
          <a:xfrm>
            <a:off x="609600" y="38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NBHS SCIENCE DEPARTMENT • FEEDBACK THAT MOVES LEARNING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609600" y="889000"/>
            <a:ext cx="12446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feedback that returns the thinking</a:t>
            </a:r>
            <a:endParaRPr lang="en-US" sz="3800" dirty="0"/>
          </a:p>
        </p:txBody>
      </p:sp>
      <p:sp>
        <p:nvSpPr>
          <p:cNvPr id="5" name="sub"/>
          <p:cNvSpPr/>
          <p:nvPr/>
        </p:nvSpPr>
        <p:spPr>
          <a:xfrm>
            <a:off x="609600" y="1574800"/>
            <a:ext cx="1320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Notice: the feedback points to the next move without doing the thinking for the student.</a:t>
            </a:r>
            <a:endParaRPr lang="en-US" sz="2000" dirty="0"/>
          </a:p>
        </p:txBody>
      </p:sp>
      <p:sp>
        <p:nvSpPr>
          <p:cNvPr id="6" name="h1"/>
          <p:cNvSpPr/>
          <p:nvPr/>
        </p:nvSpPr>
        <p:spPr>
          <a:xfrm>
            <a:off x="609600" y="2413000"/>
            <a:ext cx="4267200" cy="533400"/>
          </a:xfrm>
          <a:prstGeom prst="rect">
            <a:avLst/>
          </a:prstGeom>
          <a:solidFill>
            <a:srgbClr val="171717"/>
          </a:solidFill>
          <a:ln/>
        </p:spPr>
      </p:sp>
      <p:sp>
        <p:nvSpPr>
          <p:cNvPr id="7" name="ht1"/>
          <p:cNvSpPr/>
          <p:nvPr/>
        </p:nvSpPr>
        <p:spPr>
          <a:xfrm>
            <a:off x="863600" y="2565400"/>
            <a:ext cx="355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EXPLANATION</a:t>
            </a:r>
            <a:endParaRPr lang="en-US" sz="1500" dirty="0"/>
          </a:p>
        </p:txBody>
      </p:sp>
      <p:sp>
        <p:nvSpPr>
          <p:cNvPr id="8" name="e1"/>
          <p:cNvSpPr/>
          <p:nvPr/>
        </p:nvSpPr>
        <p:spPr>
          <a:xfrm>
            <a:off x="609600" y="2946400"/>
            <a:ext cx="4267200" cy="2159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9" name="et1"/>
          <p:cNvSpPr/>
          <p:nvPr/>
        </p:nvSpPr>
        <p:spPr>
          <a:xfrm>
            <a:off x="914400" y="3251200"/>
            <a:ext cx="3581400" cy="144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identified the pattern. Use the collision model to explain why it happened.”</a:t>
            </a:r>
            <a:endParaRPr lang="en-US" sz="2000" dirty="0"/>
          </a:p>
        </p:txBody>
      </p:sp>
      <p:sp>
        <p:nvSpPr>
          <p:cNvPr id="10" name="h2"/>
          <p:cNvSpPr/>
          <p:nvPr/>
        </p:nvSpPr>
        <p:spPr>
          <a:xfrm>
            <a:off x="5181600" y="2413000"/>
            <a:ext cx="4267200" cy="533400"/>
          </a:xfrm>
          <a:prstGeom prst="rect">
            <a:avLst/>
          </a:prstGeom>
          <a:solidFill>
            <a:srgbClr val="171717"/>
          </a:solidFill>
          <a:ln/>
        </p:spPr>
      </p:sp>
      <p:sp>
        <p:nvSpPr>
          <p:cNvPr id="11" name="ht2"/>
          <p:cNvSpPr/>
          <p:nvPr/>
        </p:nvSpPr>
        <p:spPr>
          <a:xfrm>
            <a:off x="5435600" y="2565400"/>
            <a:ext cx="355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GRAPHING</a:t>
            </a:r>
            <a:endParaRPr lang="en-US" sz="1500" dirty="0"/>
          </a:p>
        </p:txBody>
      </p:sp>
      <p:sp>
        <p:nvSpPr>
          <p:cNvPr id="12" name="e2"/>
          <p:cNvSpPr/>
          <p:nvPr/>
        </p:nvSpPr>
        <p:spPr>
          <a:xfrm>
            <a:off x="5181600" y="2946400"/>
            <a:ext cx="4267200" cy="2159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3" name="et2"/>
          <p:cNvSpPr/>
          <p:nvPr/>
        </p:nvSpPr>
        <p:spPr>
          <a:xfrm>
            <a:off x="5486400" y="3251200"/>
            <a:ext cx="3581400" cy="144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“Your graph shows a trend. Add a sentence explaining what the trend means for the investigation.”</a:t>
            </a:r>
            <a:endParaRPr lang="en-US" sz="2000" dirty="0"/>
          </a:p>
        </p:txBody>
      </p:sp>
      <p:sp>
        <p:nvSpPr>
          <p:cNvPr id="14" name="h3"/>
          <p:cNvSpPr/>
          <p:nvPr/>
        </p:nvSpPr>
        <p:spPr>
          <a:xfrm>
            <a:off x="9753600" y="2413000"/>
            <a:ext cx="5283200" cy="533400"/>
          </a:xfrm>
          <a:prstGeom prst="rect">
            <a:avLst/>
          </a:prstGeom>
          <a:solidFill>
            <a:srgbClr val="171717"/>
          </a:solidFill>
          <a:ln/>
        </p:spPr>
      </p:sp>
      <p:sp>
        <p:nvSpPr>
          <p:cNvPr id="15" name="ht3"/>
          <p:cNvSpPr/>
          <p:nvPr/>
        </p:nvSpPr>
        <p:spPr>
          <a:xfrm>
            <a:off x="10007600" y="2565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/ INVESTIGATION</a:t>
            </a:r>
            <a:endParaRPr lang="en-US" sz="1500" dirty="0"/>
          </a:p>
        </p:txBody>
      </p:sp>
      <p:sp>
        <p:nvSpPr>
          <p:cNvPr id="16" name="e3"/>
          <p:cNvSpPr/>
          <p:nvPr/>
        </p:nvSpPr>
        <p:spPr>
          <a:xfrm>
            <a:off x="9753600" y="2946400"/>
            <a:ext cx="5283200" cy="2159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7" name="et3"/>
          <p:cNvSpPr/>
          <p:nvPr/>
        </p:nvSpPr>
        <p:spPr>
          <a:xfrm>
            <a:off x="10058400" y="3251200"/>
            <a:ext cx="4572000" cy="144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“Your procedure is clear. Identify the variable you controlled and explain why that matters.”</a:t>
            </a:r>
            <a:endParaRPr lang="en-US" sz="2000" dirty="0"/>
          </a:p>
        </p:txBody>
      </p:sp>
      <p:sp>
        <p:nvSpPr>
          <p:cNvPr id="18" name="h4"/>
          <p:cNvSpPr/>
          <p:nvPr/>
        </p:nvSpPr>
        <p:spPr>
          <a:xfrm>
            <a:off x="609600" y="5740400"/>
            <a:ext cx="6807200" cy="5334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9" name="ht4"/>
          <p:cNvSpPr/>
          <p:nvPr/>
        </p:nvSpPr>
        <p:spPr>
          <a:xfrm>
            <a:off x="863600" y="5892800"/>
            <a:ext cx="584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DISCUSSION</a:t>
            </a:r>
            <a:endParaRPr lang="en-US" sz="1500" dirty="0"/>
          </a:p>
        </p:txBody>
      </p:sp>
      <p:sp>
        <p:nvSpPr>
          <p:cNvPr id="20" name="e4"/>
          <p:cNvSpPr/>
          <p:nvPr/>
        </p:nvSpPr>
        <p:spPr>
          <a:xfrm>
            <a:off x="609600" y="6273800"/>
            <a:ext cx="6807200" cy="1346200"/>
          </a:xfrm>
          <a:prstGeom prst="rect">
            <a:avLst/>
          </a:prstGeom>
          <a:solidFill>
            <a:srgbClr val="FFF5F6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1" name="et4"/>
          <p:cNvSpPr/>
          <p:nvPr/>
        </p:nvSpPr>
        <p:spPr>
          <a:xfrm>
            <a:off x="914400" y="6604000"/>
            <a:ext cx="596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made a claim. Use one observation or data point to support it before you respond to a classmate.”</a:t>
            </a:r>
            <a:endParaRPr lang="en-US" sz="2000" dirty="0"/>
          </a:p>
        </p:txBody>
      </p:sp>
      <p:sp>
        <p:nvSpPr>
          <p:cNvPr id="22" name="take"/>
          <p:cNvSpPr/>
          <p:nvPr/>
        </p:nvSpPr>
        <p:spPr>
          <a:xfrm>
            <a:off x="7924800" y="5740400"/>
            <a:ext cx="7112000" cy="1879600"/>
          </a:xfrm>
          <a:prstGeom prst="rect">
            <a:avLst/>
          </a:prstGeom>
          <a:solidFill>
            <a:srgbClr val="171717"/>
          </a:solidFill>
          <a:ln/>
        </p:spPr>
      </p:sp>
      <p:sp>
        <p:nvSpPr>
          <p:cNvPr id="23" name="takeh"/>
          <p:cNvSpPr/>
          <p:nvPr/>
        </p:nvSpPr>
        <p:spPr>
          <a:xfrm>
            <a:off x="8280400" y="6045200"/>
            <a:ext cx="635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STUDENT ACTION IS VISIBLE</a:t>
            </a:r>
            <a:endParaRPr lang="en-US" sz="1600" dirty="0"/>
          </a:p>
        </p:txBody>
      </p:sp>
      <p:sp>
        <p:nvSpPr>
          <p:cNvPr id="24" name="takeb"/>
          <p:cNvSpPr/>
          <p:nvPr/>
        </p:nvSpPr>
        <p:spPr>
          <a:xfrm>
            <a:off x="8280400" y="6629400"/>
            <a:ext cx="5969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• add evidence • interpret data • identify a variable • support a claim</a:t>
            </a:r>
            <a:endParaRPr lang="en-US" sz="2200" dirty="0"/>
          </a:p>
        </p:txBody>
      </p:sp>
      <p:sp>
        <p:nvSpPr>
          <p:cNvPr id="25" name="footer"/>
          <p:cNvSpPr/>
          <p:nvPr/>
        </p:nvSpPr>
        <p:spPr>
          <a:xfrm>
            <a:off x="609600" y="8559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FEEDBACK THAT MOVES LEARNING</a:t>
            </a:r>
            <a:endParaRPr lang="en-US" sz="1400" dirty="0"/>
          </a:p>
        </p:txBody>
      </p:sp>
      <p:sp>
        <p:nvSpPr>
          <p:cNvPr id="26" name="row-number"/>
          <p:cNvSpPr/>
          <p:nvPr/>
        </p:nvSpPr>
        <p:spPr>
          <a:xfrm>
            <a:off x="13081000" y="8559800"/>
            <a:ext cx="215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 200   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department"/>
          <p:cNvSpPr/>
          <p:nvPr/>
        </p:nvSpPr>
        <p:spPr>
          <a:xfrm>
            <a:off x="609600" y="38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NBHS SCIENCE DEPARTMENT • FEEDBACK THAT MOVES LEARNING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609600" y="889000"/>
            <a:ext cx="13335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should release the thinking back to students</a:t>
            </a:r>
            <a:endParaRPr lang="en-US" sz="3800" dirty="0"/>
          </a:p>
        </p:txBody>
      </p:sp>
      <p:sp>
        <p:nvSpPr>
          <p:cNvPr id="5" name="sub"/>
          <p:cNvSpPr/>
          <p:nvPr/>
        </p:nvSpPr>
        <p:spPr>
          <a:xfrm>
            <a:off x="609600" y="1574800"/>
            <a:ext cx="1270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fix the work for them. Point them toward the thinking they need to do.</a:t>
            </a:r>
            <a:endParaRPr lang="en-US" sz="2000" dirty="0"/>
          </a:p>
        </p:txBody>
      </p:sp>
      <p:sp>
        <p:nvSpPr>
          <p:cNvPr id="6" name="left"/>
          <p:cNvSpPr/>
          <p:nvPr/>
        </p:nvSpPr>
        <p:spPr>
          <a:xfrm>
            <a:off x="609600" y="2794000"/>
            <a:ext cx="6807200" cy="3683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lh"/>
          <p:cNvSpPr/>
          <p:nvPr/>
        </p:nvSpPr>
        <p:spPr>
          <a:xfrm>
            <a:off x="1016000" y="3200400"/>
            <a:ext cx="508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THAT TAKES OVER</a:t>
            </a:r>
            <a:endParaRPr lang="en-US" sz="1600" dirty="0"/>
          </a:p>
        </p:txBody>
      </p:sp>
      <p:sp>
        <p:nvSpPr>
          <p:cNvPr id="8" name="lquote"/>
          <p:cNvSpPr/>
          <p:nvPr/>
        </p:nvSpPr>
        <p:spPr>
          <a:xfrm>
            <a:off x="1016000" y="3987800"/>
            <a:ext cx="508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“Change your sentence to: The evidence demonstrates that…”</a:t>
            </a:r>
            <a:endParaRPr lang="en-US" sz="2500" dirty="0"/>
          </a:p>
        </p:txBody>
      </p:sp>
      <p:sp>
        <p:nvSpPr>
          <p:cNvPr id="9" name="lline"/>
          <p:cNvSpPr/>
          <p:nvPr/>
        </p:nvSpPr>
        <p:spPr>
          <a:xfrm>
            <a:off x="1016000" y="5334000"/>
            <a:ext cx="4826000" cy="12700"/>
          </a:xfrm>
          <a:prstGeom prst="rect">
            <a:avLst/>
          </a:prstGeom>
          <a:solidFill>
            <a:srgbClr val="D4D4D4"/>
          </a:solidFill>
          <a:ln/>
        </p:spPr>
      </p:sp>
      <p:sp>
        <p:nvSpPr>
          <p:cNvPr id="10" name="lresult"/>
          <p:cNvSpPr/>
          <p:nvPr/>
        </p:nvSpPr>
        <p:spPr>
          <a:xfrm>
            <a:off x="1016000" y="5613400"/>
            <a:ext cx="5080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does the revision. Student copies the thinking.</a:t>
            </a:r>
            <a:endParaRPr lang="en-US" sz="2000" dirty="0"/>
          </a:p>
        </p:txBody>
      </p:sp>
      <p:sp>
        <p:nvSpPr>
          <p:cNvPr id="11" name="right"/>
          <p:cNvSpPr/>
          <p:nvPr/>
        </p:nvSpPr>
        <p:spPr>
          <a:xfrm>
            <a:off x="8229600" y="2794000"/>
            <a:ext cx="6807200" cy="3683000"/>
          </a:xfrm>
          <a:prstGeom prst="rect">
            <a:avLst/>
          </a:prstGeom>
          <a:solidFill>
            <a:srgbClr val="FFF5F6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rh"/>
          <p:cNvSpPr/>
          <p:nvPr/>
        </p:nvSpPr>
        <p:spPr>
          <a:xfrm>
            <a:off x="8636000" y="3200400"/>
            <a:ext cx="533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THAT RETURNS THE WORK</a:t>
            </a:r>
            <a:endParaRPr lang="en-US" sz="1600" dirty="0"/>
          </a:p>
        </p:txBody>
      </p:sp>
      <p:sp>
        <p:nvSpPr>
          <p:cNvPr id="13" name="rquote"/>
          <p:cNvSpPr/>
          <p:nvPr/>
        </p:nvSpPr>
        <p:spPr>
          <a:xfrm>
            <a:off x="8636000" y="3987800"/>
            <a:ext cx="533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“Your evidence is strong. Explain how it proves your claim.”</a:t>
            </a:r>
            <a:endParaRPr lang="en-US" sz="2500" dirty="0"/>
          </a:p>
        </p:txBody>
      </p:sp>
      <p:sp>
        <p:nvSpPr>
          <p:cNvPr id="14" name="rline"/>
          <p:cNvSpPr/>
          <p:nvPr/>
        </p:nvSpPr>
        <p:spPr>
          <a:xfrm>
            <a:off x="8636000" y="5334000"/>
            <a:ext cx="5080000" cy="127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5" name="rresult"/>
          <p:cNvSpPr/>
          <p:nvPr/>
        </p:nvSpPr>
        <p:spPr>
          <a:xfrm>
            <a:off x="8636000" y="5613400"/>
            <a:ext cx="5334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identifies the leverage point. Student does the thinking.</a:t>
            </a:r>
            <a:endParaRPr lang="en-US" sz="2000" dirty="0"/>
          </a:p>
        </p:txBody>
      </p:sp>
      <p:sp>
        <p:nvSpPr>
          <p:cNvPr id="16" name="bottom"/>
          <p:cNvSpPr/>
          <p:nvPr/>
        </p:nvSpPr>
        <p:spPr>
          <a:xfrm>
            <a:off x="609600" y="7289800"/>
            <a:ext cx="14427200" cy="558800"/>
          </a:xfrm>
          <a:prstGeom prst="rect">
            <a:avLst/>
          </a:prstGeom>
          <a:solidFill>
            <a:srgbClr val="171717"/>
          </a:solidFill>
          <a:ln/>
        </p:spPr>
      </p:sp>
      <p:sp>
        <p:nvSpPr>
          <p:cNvPr id="17" name="bottomtext"/>
          <p:cNvSpPr/>
          <p:nvPr/>
        </p:nvSpPr>
        <p:spPr>
          <a:xfrm>
            <a:off x="914400" y="7442200"/>
            <a:ext cx="1371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 WHAT THINKING CAN THE STUDENT DO NEXT?</a:t>
            </a:r>
            <a:endParaRPr lang="en-US" sz="1600" dirty="0"/>
          </a:p>
        </p:txBody>
      </p:sp>
      <p:sp>
        <p:nvSpPr>
          <p:cNvPr id="18" name="footer"/>
          <p:cNvSpPr/>
          <p:nvPr/>
        </p:nvSpPr>
        <p:spPr>
          <a:xfrm>
            <a:off x="609600" y="8559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FEEDBACK THAT MOVES LEARNING</a:t>
            </a:r>
            <a:endParaRPr lang="en-US" sz="1400" dirty="0"/>
          </a:p>
        </p:txBody>
      </p:sp>
      <p:sp>
        <p:nvSpPr>
          <p:cNvPr id="19" name="row-number"/>
          <p:cNvSpPr/>
          <p:nvPr/>
        </p:nvSpPr>
        <p:spPr>
          <a:xfrm>
            <a:off x="13081000" y="8559800"/>
            <a:ext cx="215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 200   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department"/>
          <p:cNvSpPr/>
          <p:nvPr/>
        </p:nvSpPr>
        <p:spPr>
          <a:xfrm>
            <a:off x="609600" y="38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NBHS SCIENCE DEPARTMENT • FEEDBACK THAT MOVES LEARNING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609600" y="889000"/>
            <a:ext cx="10795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ASPEN is part of the feedback system</a:t>
            </a:r>
            <a:endParaRPr lang="en-US" sz="3800" dirty="0"/>
          </a:p>
        </p:txBody>
      </p:sp>
      <p:sp>
        <p:nvSpPr>
          <p:cNvPr id="5" name="sub"/>
          <p:cNvSpPr/>
          <p:nvPr/>
        </p:nvSpPr>
        <p:spPr>
          <a:xfrm>
            <a:off x="609600" y="1574800"/>
            <a:ext cx="1333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updated gradebook helps students and families see the same story we are telling in class.</a:t>
            </a:r>
            <a:endParaRPr lang="en-US" sz="2000" dirty="0"/>
          </a:p>
        </p:txBody>
      </p:sp>
      <p:sp>
        <p:nvSpPr>
          <p:cNvPr id="6" name="central"/>
          <p:cNvSpPr/>
          <p:nvPr/>
        </p:nvSpPr>
        <p:spPr>
          <a:xfrm>
            <a:off x="6146800" y="3683000"/>
            <a:ext cx="3962400" cy="1346200"/>
          </a:xfrm>
          <a:prstGeom prst="rect">
            <a:avLst/>
          </a:prstGeom>
          <a:solidFill>
            <a:srgbClr val="FFF5F6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7" name="central-text"/>
          <p:cNvSpPr/>
          <p:nvPr/>
        </p:nvSpPr>
        <p:spPr>
          <a:xfrm>
            <a:off x="6527800" y="4038600"/>
            <a:ext cx="330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STUDENT</a:t>
            </a:r>
            <a:endParaRPr lang="en-US" sz="2500" dirty="0"/>
          </a:p>
          <a:p>
            <a:pPr algn="l" indent="0" marL="0">
              <a:buNone/>
            </a:pPr>
            <a:r>
              <a:rPr lang="en-US" altLang="en-US" sz="25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EVIDENCE</a:t>
            </a:r>
            <a:endParaRPr lang="en-US" sz="2500" dirty="0"/>
          </a:p>
        </p:txBody>
      </p:sp>
      <p:sp>
        <p:nvSpPr>
          <p:cNvPr id="8" name="one"/>
          <p:cNvSpPr/>
          <p:nvPr/>
        </p:nvSpPr>
        <p:spPr>
          <a:xfrm>
            <a:off x="609600" y="2819400"/>
            <a:ext cx="3175000" cy="1168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9" name="one-text"/>
          <p:cNvSpPr/>
          <p:nvPr/>
        </p:nvSpPr>
        <p:spPr>
          <a:xfrm>
            <a:off x="914400" y="3124200"/>
            <a:ext cx="2413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</a:t>
            </a:r>
            <a:endParaRPr lang="en-US" sz="2200" dirty="0"/>
          </a:p>
          <a:p>
            <a:pPr algn="l" indent="0" marL="0">
              <a:buNone/>
            </a:pPr>
            <a:r>
              <a:rPr lang="en-US" altLang="en-US" sz="22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10" name="two"/>
          <p:cNvSpPr/>
          <p:nvPr/>
        </p:nvSpPr>
        <p:spPr>
          <a:xfrm>
            <a:off x="609600" y="5562600"/>
            <a:ext cx="3175000" cy="1168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1" name="two-text"/>
          <p:cNvSpPr/>
          <p:nvPr/>
        </p:nvSpPr>
        <p:spPr>
          <a:xfrm>
            <a:off x="914400" y="5867400"/>
            <a:ext cx="2413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</a:t>
            </a:r>
            <a:endParaRPr lang="en-US" sz="2200" dirty="0"/>
          </a:p>
          <a:p>
            <a:pPr algn="l" indent="0" marL="0">
              <a:buNone/>
            </a:pPr>
            <a:r>
              <a:rPr lang="en-US" altLang="en-US" sz="22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</a:t>
            </a:r>
            <a:endParaRPr lang="en-US" sz="2200" dirty="0"/>
          </a:p>
        </p:txBody>
      </p:sp>
      <p:sp>
        <p:nvSpPr>
          <p:cNvPr id="12" name="three"/>
          <p:cNvSpPr/>
          <p:nvPr/>
        </p:nvSpPr>
        <p:spPr>
          <a:xfrm>
            <a:off x="12471400" y="2819400"/>
            <a:ext cx="2565400" cy="1168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3" name="three-text"/>
          <p:cNvSpPr/>
          <p:nvPr/>
        </p:nvSpPr>
        <p:spPr>
          <a:xfrm>
            <a:off x="12776200" y="3124200"/>
            <a:ext cx="1955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ASPEN</a:t>
            </a:r>
            <a:endParaRPr lang="en-US" sz="2200" dirty="0"/>
          </a:p>
          <a:p>
            <a:pPr algn="l" indent="0" marL="0">
              <a:buNone/>
            </a:pPr>
            <a:r>
              <a:rPr lang="en-US" altLang="en-US" sz="22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updated</a:t>
            </a:r>
            <a:endParaRPr lang="en-US" sz="2200" dirty="0"/>
          </a:p>
        </p:txBody>
      </p:sp>
      <p:sp>
        <p:nvSpPr>
          <p:cNvPr id="14" name="four"/>
          <p:cNvSpPr/>
          <p:nvPr/>
        </p:nvSpPr>
        <p:spPr>
          <a:xfrm>
            <a:off x="12471400" y="5562600"/>
            <a:ext cx="2565400" cy="1168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5" name="four-text"/>
          <p:cNvSpPr/>
          <p:nvPr/>
        </p:nvSpPr>
        <p:spPr>
          <a:xfrm>
            <a:off x="12776200" y="5867400"/>
            <a:ext cx="1955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</a:t>
            </a:r>
            <a:endParaRPr lang="en-US" sz="2200" dirty="0"/>
          </a:p>
          <a:p>
            <a:pPr algn="l" indent="0" marL="0">
              <a:buNone/>
            </a:pPr>
            <a:r>
              <a:rPr lang="en-US" altLang="en-US" sz="22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</a:t>
            </a:r>
            <a:endParaRPr lang="en-US" sz="2200" dirty="0"/>
          </a:p>
        </p:txBody>
      </p:sp>
      <p:sp>
        <p:nvSpPr>
          <p:cNvPr id="16" name="a1"/>
          <p:cNvSpPr/>
          <p:nvPr/>
        </p:nvSpPr>
        <p:spPr>
          <a:xfrm>
            <a:off x="3784600" y="3403600"/>
            <a:ext cx="2362200" cy="863600"/>
          </a:xfrm>
          <a:prstGeom prst="line">
            <a:avLst/>
          </a:prstGeom>
          <a:ln w="381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7" name="a2"/>
          <p:cNvSpPr/>
          <p:nvPr/>
        </p:nvSpPr>
        <p:spPr>
          <a:xfrm flipV="1">
            <a:off x="3784600" y="5029200"/>
            <a:ext cx="2362200" cy="1117600"/>
          </a:xfrm>
          <a:prstGeom prst="line">
            <a:avLst/>
          </a:prstGeom>
          <a:ln w="381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8" name="a3"/>
          <p:cNvSpPr/>
          <p:nvPr/>
        </p:nvSpPr>
        <p:spPr>
          <a:xfrm flipV="1">
            <a:off x="10109200" y="3403600"/>
            <a:ext cx="2362200" cy="863600"/>
          </a:xfrm>
          <a:prstGeom prst="line">
            <a:avLst/>
          </a:prstGeom>
          <a:ln w="381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9" name="a4"/>
          <p:cNvSpPr/>
          <p:nvPr/>
        </p:nvSpPr>
        <p:spPr>
          <a:xfrm>
            <a:off x="10109200" y="5029200"/>
            <a:ext cx="2362200" cy="1117600"/>
          </a:xfrm>
          <a:prstGeom prst="line">
            <a:avLst/>
          </a:prstGeom>
          <a:ln w="381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20" name="note"/>
          <p:cNvSpPr/>
          <p:nvPr/>
        </p:nvSpPr>
        <p:spPr>
          <a:xfrm>
            <a:off x="609600" y="7645400"/>
            <a:ext cx="14427200" cy="508000"/>
          </a:xfrm>
          <a:prstGeom prst="rect">
            <a:avLst/>
          </a:prstGeom>
          <a:solidFill>
            <a:srgbClr val="171717"/>
          </a:solidFill>
          <a:ln/>
        </p:spPr>
      </p:sp>
      <p:sp>
        <p:nvSpPr>
          <p:cNvPr id="21" name="note-text"/>
          <p:cNvSpPr/>
          <p:nvPr/>
        </p:nvSpPr>
        <p:spPr>
          <a:xfrm>
            <a:off x="914400" y="7785100"/>
            <a:ext cx="1371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ASPEN IS WEEKS BEHIND, STUDENTS ARE MAKING DECISIONS WITH OLD INFORMATION.</a:t>
            </a:r>
            <a:endParaRPr lang="en-US" sz="1600" dirty="0"/>
          </a:p>
        </p:txBody>
      </p:sp>
      <p:sp>
        <p:nvSpPr>
          <p:cNvPr id="22" name="footer"/>
          <p:cNvSpPr/>
          <p:nvPr/>
        </p:nvSpPr>
        <p:spPr>
          <a:xfrm>
            <a:off x="609600" y="8559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FEEDBACK THAT MOVES LEARNING</a:t>
            </a:r>
            <a:endParaRPr lang="en-US" sz="1400" dirty="0"/>
          </a:p>
        </p:txBody>
      </p:sp>
      <p:sp>
        <p:nvSpPr>
          <p:cNvPr id="23" name="row-number"/>
          <p:cNvSpPr/>
          <p:nvPr/>
        </p:nvSpPr>
        <p:spPr>
          <a:xfrm>
            <a:off x="13081000" y="8559800"/>
            <a:ext cx="215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 200   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department"/>
          <p:cNvSpPr/>
          <p:nvPr/>
        </p:nvSpPr>
        <p:spPr>
          <a:xfrm>
            <a:off x="609600" y="381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NBHS SCIENCE DEPARTMENT • FEEDBACK THAT MOVES LEARNING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609600" y="889000"/>
            <a:ext cx="11938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ASPEN Gradebook: make progress visible</a:t>
            </a:r>
            <a:endParaRPr lang="en-US" sz="3800" dirty="0"/>
          </a:p>
        </p:txBody>
      </p:sp>
      <p:sp>
        <p:nvSpPr>
          <p:cNvPr id="5" name="sub"/>
          <p:cNvSpPr/>
          <p:nvPr/>
        </p:nvSpPr>
        <p:spPr>
          <a:xfrm>
            <a:off x="609600" y="1574800"/>
            <a:ext cx="1333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 at the gradebook through the eyes of a student or family member.</a:t>
            </a:r>
            <a:endParaRPr lang="en-US" sz="2000" dirty="0"/>
          </a:p>
        </p:txBody>
      </p:sp>
      <p:sp>
        <p:nvSpPr>
          <p:cNvPr id="6" name="col1"/>
          <p:cNvSpPr/>
          <p:nvPr/>
        </p:nvSpPr>
        <p:spPr>
          <a:xfrm>
            <a:off x="609600" y="2489200"/>
            <a:ext cx="4267200" cy="4572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col1h"/>
          <p:cNvSpPr/>
          <p:nvPr/>
        </p:nvSpPr>
        <p:spPr>
          <a:xfrm>
            <a:off x="914400" y="2794000"/>
            <a:ext cx="342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CODES</a:t>
            </a:r>
            <a:endParaRPr lang="en-US" sz="1600" dirty="0"/>
          </a:p>
        </p:txBody>
      </p:sp>
      <p:sp>
        <p:nvSpPr>
          <p:cNvPr id="8" name="abs"/>
          <p:cNvSpPr/>
          <p:nvPr/>
        </p:nvSpPr>
        <p:spPr>
          <a:xfrm>
            <a:off x="914400" y="3378200"/>
            <a:ext cx="3429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 — Absent</a:t>
            </a:r>
            <a:endParaRPr lang="en-US" sz="1900" dirty="0"/>
          </a:p>
          <a:p>
            <a:pPr algn="l" indent="0" marL="0">
              <a:buNone/>
            </a:pPr>
            <a:r>
              <a:rPr lang="en-US" altLang="en-US" sz="19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exempt; assessment needs completion.</a:t>
            </a:r>
            <a:endParaRPr lang="en-US" sz="1900" dirty="0"/>
          </a:p>
        </p:txBody>
      </p:sp>
      <p:sp>
        <p:nvSpPr>
          <p:cNvPr id="9" name="line1"/>
          <p:cNvSpPr/>
          <p:nvPr/>
        </p:nvSpPr>
        <p:spPr>
          <a:xfrm>
            <a:off x="914400" y="4343400"/>
            <a:ext cx="3352800" cy="12700"/>
          </a:xfrm>
          <a:prstGeom prst="rect">
            <a:avLst/>
          </a:prstGeom>
          <a:solidFill>
            <a:srgbClr val="D4D4D4"/>
          </a:solidFill>
          <a:ln/>
        </p:spPr>
      </p:sp>
      <p:sp>
        <p:nvSpPr>
          <p:cNvPr id="10" name="exc"/>
          <p:cNvSpPr/>
          <p:nvPr/>
        </p:nvSpPr>
        <p:spPr>
          <a:xfrm>
            <a:off x="914400" y="4572000"/>
            <a:ext cx="3429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 — Excused</a:t>
            </a:r>
            <a:endParaRPr lang="en-US" sz="1900" dirty="0"/>
          </a:p>
          <a:p>
            <a:pPr algn="l" indent="0" marL="0">
              <a:buNone/>
            </a:pPr>
            <a:r>
              <a:rPr lang="en-US" altLang="en-US" sz="19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Exempt; does not impact calculation.</a:t>
            </a:r>
            <a:endParaRPr lang="en-US" sz="1900" dirty="0"/>
          </a:p>
        </p:txBody>
      </p:sp>
      <p:sp>
        <p:nvSpPr>
          <p:cNvPr id="11" name="line2"/>
          <p:cNvSpPr/>
          <p:nvPr/>
        </p:nvSpPr>
        <p:spPr>
          <a:xfrm>
            <a:off x="914400" y="5537200"/>
            <a:ext cx="3352800" cy="12700"/>
          </a:xfrm>
          <a:prstGeom prst="rect">
            <a:avLst/>
          </a:prstGeom>
          <a:solidFill>
            <a:srgbClr val="D4D4D4"/>
          </a:solidFill>
          <a:ln/>
        </p:spPr>
      </p:sp>
      <p:sp>
        <p:nvSpPr>
          <p:cNvPr id="12" name="missing"/>
          <p:cNvSpPr/>
          <p:nvPr/>
        </p:nvSpPr>
        <p:spPr>
          <a:xfrm>
            <a:off x="914400" y="5765800"/>
            <a:ext cx="3429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 — Missing Grade</a:t>
            </a:r>
            <a:endParaRPr lang="en-US" sz="1900" dirty="0"/>
          </a:p>
          <a:p>
            <a:pPr algn="l" indent="0" marL="0">
              <a:buNone/>
            </a:pPr>
            <a:r>
              <a:rPr lang="en-US" altLang="en-US" sz="19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exempt; currently counts against the average.</a:t>
            </a:r>
            <a:endParaRPr lang="en-US" sz="1900" dirty="0"/>
          </a:p>
        </p:txBody>
      </p:sp>
      <p:sp>
        <p:nvSpPr>
          <p:cNvPr id="13" name="col2"/>
          <p:cNvSpPr/>
          <p:nvPr/>
        </p:nvSpPr>
        <p:spPr>
          <a:xfrm>
            <a:off x="5283200" y="2489200"/>
            <a:ext cx="5080000" cy="4572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4" name="col2h"/>
          <p:cNvSpPr/>
          <p:nvPr/>
        </p:nvSpPr>
        <p:spPr>
          <a:xfrm>
            <a:off x="5588000" y="2794000"/>
            <a:ext cx="419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+ CLEAR</a:t>
            </a:r>
            <a:endParaRPr lang="en-US" sz="1600" dirty="0"/>
          </a:p>
        </p:txBody>
      </p:sp>
      <p:sp>
        <p:nvSpPr>
          <p:cNvPr id="15" name="checklist"/>
          <p:cNvSpPr/>
          <p:nvPr/>
        </p:nvSpPr>
        <p:spPr>
          <a:xfrm>
            <a:off x="5588000" y="3378200"/>
            <a:ext cx="4191000" cy="309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01625" indent="-301625"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tell what I have completed?</a:t>
            </a:r>
            <a:endParaRPr lang="en-US" sz="1900" dirty="0"/>
          </a:p>
          <a:p>
            <a:pPr algn="l" marL="301625" indent="-301625"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tell what is missing?</a:t>
            </a:r>
            <a:endParaRPr lang="en-US" sz="1900" dirty="0"/>
          </a:p>
          <a:p>
            <a:pPr algn="l" marL="301625" indent="-301625"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my current grade reflect current evidence?</a:t>
            </a:r>
            <a:endParaRPr lang="en-US" sz="1900" dirty="0"/>
          </a:p>
          <a:p>
            <a:pPr algn="l" marL="301625" indent="-301625"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assignment titles clear enough to understand?</a:t>
            </a:r>
            <a:endParaRPr lang="en-US" sz="1900" dirty="0"/>
          </a:p>
          <a:p>
            <a:pPr algn="l" marL="301625" indent="-301625">
              <a:spcBef>
                <a:spcPts val="10"/>
              </a:spcBef>
              <a:buSzPct val="100000"/>
              <a:buChar char="•"/>
            </a:pPr>
            <a:r>
              <a:rPr lang="en-US" altLang="en-US" sz="19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revisions or retakes reflected when appropriate?</a:t>
            </a:r>
            <a:endParaRPr lang="en-US" sz="1900" dirty="0"/>
          </a:p>
        </p:txBody>
      </p:sp>
      <p:sp>
        <p:nvSpPr>
          <p:cNvPr id="16" name="col3"/>
          <p:cNvSpPr/>
          <p:nvPr/>
        </p:nvSpPr>
        <p:spPr>
          <a:xfrm>
            <a:off x="10769600" y="2489200"/>
            <a:ext cx="4267200" cy="4572000"/>
          </a:xfrm>
          <a:prstGeom prst="rect">
            <a:avLst/>
          </a:prstGeom>
          <a:solidFill>
            <a:srgbClr val="FFF5F6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col3h"/>
          <p:cNvSpPr/>
          <p:nvPr/>
        </p:nvSpPr>
        <p:spPr>
          <a:xfrm>
            <a:off x="11074400" y="2794000"/>
            <a:ext cx="342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ONE ACTION NOW</a:t>
            </a:r>
            <a:endParaRPr lang="en-US" sz="1600" dirty="0"/>
          </a:p>
        </p:txBody>
      </p:sp>
      <p:sp>
        <p:nvSpPr>
          <p:cNvPr id="18" name="action"/>
          <p:cNvSpPr/>
          <p:nvPr/>
        </p:nvSpPr>
        <p:spPr>
          <a:xfrm>
            <a:off x="11074400" y="3530600"/>
            <a:ext cx="330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</a:t>
            </a:r>
            <a:endParaRPr lang="en-US" sz="2500" dirty="0"/>
          </a:p>
          <a:p>
            <a:pPr algn="l" indent="0" marL="0">
              <a:buNone/>
            </a:pPr>
            <a:r>
              <a:rPr lang="en-US" altLang="en-US" sz="25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</a:t>
            </a:r>
            <a:endParaRPr lang="en-US" sz="2500" dirty="0"/>
          </a:p>
          <a:p>
            <a:pPr algn="l" indent="0" marL="0">
              <a:buNone/>
            </a:pPr>
            <a:r>
              <a:rPr lang="en-US" altLang="en-US" sz="25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Clarify</a:t>
            </a:r>
            <a:endParaRPr lang="en-US" sz="2500" dirty="0"/>
          </a:p>
          <a:p>
            <a:pPr algn="l" indent="0" marL="0">
              <a:buNone/>
            </a:pPr>
            <a:r>
              <a:rPr lang="en-US" altLang="en-US" sz="25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the next update</a:t>
            </a:r>
            <a:endParaRPr lang="en-US" sz="2500" dirty="0"/>
          </a:p>
        </p:txBody>
      </p:sp>
      <p:sp>
        <p:nvSpPr>
          <p:cNvPr id="19" name="actionnote"/>
          <p:cNvSpPr/>
          <p:nvPr/>
        </p:nvSpPr>
        <p:spPr>
          <a:xfrm>
            <a:off x="11074400" y="5943600"/>
            <a:ext cx="330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accuracy and current information—not public sharing of grades.</a:t>
            </a:r>
            <a:endParaRPr lang="en-US" sz="1900" dirty="0"/>
          </a:p>
        </p:txBody>
      </p:sp>
      <p:sp>
        <p:nvSpPr>
          <p:cNvPr id="20" name="bottom"/>
          <p:cNvSpPr/>
          <p:nvPr/>
        </p:nvSpPr>
        <p:spPr>
          <a:xfrm>
            <a:off x="609600" y="7543800"/>
            <a:ext cx="14427200" cy="533400"/>
          </a:xfrm>
          <a:prstGeom prst="rect">
            <a:avLst/>
          </a:prstGeom>
          <a:solidFill>
            <a:srgbClr val="171717"/>
          </a:solidFill>
          <a:ln/>
        </p:spPr>
      </p:sp>
      <p:sp>
        <p:nvSpPr>
          <p:cNvPr id="21" name="bottomtext"/>
          <p:cNvSpPr/>
          <p:nvPr/>
        </p:nvSpPr>
        <p:spPr>
          <a:xfrm>
            <a:off x="914400" y="7696200"/>
            <a:ext cx="134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CURRENT GRADEBOOK HELPS STUDENTS ANSWER: “WHERE AM I? WHAT NEEDS MY ATTENTION?”</a:t>
            </a:r>
            <a:endParaRPr lang="en-US" sz="1600" dirty="0"/>
          </a:p>
        </p:txBody>
      </p:sp>
      <p:sp>
        <p:nvSpPr>
          <p:cNvPr id="22" name="footer"/>
          <p:cNvSpPr/>
          <p:nvPr/>
        </p:nvSpPr>
        <p:spPr>
          <a:xfrm>
            <a:off x="609600" y="8559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FEEDBACK THAT MOVES LEARNING</a:t>
            </a:r>
            <a:endParaRPr lang="en-US" sz="1400" dirty="0"/>
          </a:p>
        </p:txBody>
      </p:sp>
      <p:sp>
        <p:nvSpPr>
          <p:cNvPr id="23" name="row-number"/>
          <p:cNvSpPr/>
          <p:nvPr/>
        </p:nvSpPr>
        <p:spPr>
          <a:xfrm>
            <a:off x="13081000" y="8559800"/>
            <a:ext cx="215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 200   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department"/>
          <p:cNvSpPr/>
          <p:nvPr/>
        </p:nvSpPr>
        <p:spPr>
          <a:xfrm>
            <a:off x="609600" y="431800"/>
            <a:ext cx="660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SCIENCE DEPARTMENT</a:t>
            </a:r>
            <a:endParaRPr lang="en-US" sz="1400" dirty="0"/>
          </a:p>
        </p:txBody>
      </p:sp>
      <p:sp>
        <p:nvSpPr>
          <p:cNvPr id="4" name="accent"/>
          <p:cNvSpPr/>
          <p:nvPr/>
        </p:nvSpPr>
        <p:spPr>
          <a:xfrm>
            <a:off x="609600" y="1219200"/>
            <a:ext cx="152400" cy="58166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title"/>
          <p:cNvSpPr/>
          <p:nvPr/>
        </p:nvSpPr>
        <p:spPr>
          <a:xfrm>
            <a:off x="1117600" y="1320800"/>
            <a:ext cx="9652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5400" b="1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shift for tomorrow</a:t>
            </a:r>
            <a:endParaRPr lang="en-US" sz="5400" dirty="0"/>
          </a:p>
        </p:txBody>
      </p:sp>
      <p:sp>
        <p:nvSpPr>
          <p:cNvPr id="6" name="sub"/>
          <p:cNvSpPr/>
          <p:nvPr/>
        </p:nvSpPr>
        <p:spPr>
          <a:xfrm>
            <a:off x="1117600" y="2336800"/>
            <a:ext cx="863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visible changes create a more useful feedback system for Science students.</a:t>
            </a:r>
            <a:endParaRPr lang="en-US" sz="2400" dirty="0"/>
          </a:p>
        </p:txBody>
      </p:sp>
      <p:sp>
        <p:nvSpPr>
          <p:cNvPr id="7" name="feedback-card"/>
          <p:cNvSpPr/>
          <p:nvPr/>
        </p:nvSpPr>
        <p:spPr>
          <a:xfrm>
            <a:off x="1117600" y="3810000"/>
            <a:ext cx="6248400" cy="27178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feedback-label"/>
          <p:cNvSpPr/>
          <p:nvPr/>
        </p:nvSpPr>
        <p:spPr>
          <a:xfrm>
            <a:off x="1524000" y="4191000"/>
            <a:ext cx="406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FEEDBACK SHIFT</a:t>
            </a:r>
            <a:endParaRPr lang="en-US" sz="1600" dirty="0"/>
          </a:p>
        </p:txBody>
      </p:sp>
      <p:sp>
        <p:nvSpPr>
          <p:cNvPr id="9" name="feedback-prompt"/>
          <p:cNvSpPr/>
          <p:nvPr/>
        </p:nvSpPr>
        <p:spPr>
          <a:xfrm>
            <a:off x="1524000" y="4851400"/>
            <a:ext cx="4953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Tomorrow, one change I will make to the way I provide feedback is…</a:t>
            </a:r>
            <a:endParaRPr lang="en-US" sz="2500" dirty="0"/>
          </a:p>
        </p:txBody>
      </p:sp>
      <p:sp>
        <p:nvSpPr>
          <p:cNvPr id="10" name="aspen-card"/>
          <p:cNvSpPr/>
          <p:nvPr/>
        </p:nvSpPr>
        <p:spPr>
          <a:xfrm>
            <a:off x="7874000" y="3810000"/>
            <a:ext cx="6248400" cy="2717800"/>
          </a:xfrm>
          <a:prstGeom prst="rect">
            <a:avLst/>
          </a:prstGeom>
          <a:solidFill>
            <a:srgbClr val="FFF5F6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aspen-label"/>
          <p:cNvSpPr/>
          <p:nvPr/>
        </p:nvSpPr>
        <p:spPr>
          <a:xfrm>
            <a:off x="8280400" y="4191000"/>
            <a:ext cx="406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ASPEN ACTION</a:t>
            </a:r>
            <a:endParaRPr lang="en-US" sz="1600" dirty="0"/>
          </a:p>
        </p:txBody>
      </p:sp>
      <p:sp>
        <p:nvSpPr>
          <p:cNvPr id="12" name="aspen-prompt"/>
          <p:cNvSpPr/>
          <p:nvPr/>
        </p:nvSpPr>
        <p:spPr>
          <a:xfrm>
            <a:off x="8280400" y="4851400"/>
            <a:ext cx="4953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1717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action I need to take in ASPEN is…</a:t>
            </a:r>
            <a:endParaRPr lang="en-US" sz="2500" dirty="0"/>
          </a:p>
        </p:txBody>
      </p:sp>
      <p:sp>
        <p:nvSpPr>
          <p:cNvPr id="13" name="expect"/>
          <p:cNvSpPr/>
          <p:nvPr/>
        </p:nvSpPr>
        <p:spPr>
          <a:xfrm>
            <a:off x="1117600" y="7213600"/>
            <a:ext cx="13004800" cy="711200"/>
          </a:xfrm>
          <a:prstGeom prst="rect">
            <a:avLst/>
          </a:prstGeom>
          <a:solidFill>
            <a:srgbClr val="171717"/>
          </a:solidFill>
          <a:ln/>
        </p:spPr>
      </p:sp>
      <p:sp>
        <p:nvSpPr>
          <p:cNvPr id="14" name="expect-text"/>
          <p:cNvSpPr/>
          <p:nvPr/>
        </p:nvSpPr>
        <p:spPr>
          <a:xfrm>
            <a:off x="1473200" y="7391400"/>
            <a:ext cx="1219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should receive feedback they can use—and a current, understandable picture of their progress.</a:t>
            </a:r>
            <a:endParaRPr lang="en-US" sz="2000" dirty="0"/>
          </a:p>
        </p:txBody>
      </p:sp>
      <p:sp>
        <p:nvSpPr>
          <p:cNvPr id="15" name="footer"/>
          <p:cNvSpPr/>
          <p:nvPr/>
        </p:nvSpPr>
        <p:spPr>
          <a:xfrm>
            <a:off x="609600" y="8559800"/>
            <a:ext cx="1016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• FEEDBACK THAT MOVES LEARNING</a:t>
            </a:r>
            <a:endParaRPr lang="en-US" sz="1400" dirty="0"/>
          </a:p>
        </p:txBody>
      </p:sp>
      <p:sp>
        <p:nvSpPr>
          <p:cNvPr id="16" name="row-number"/>
          <p:cNvSpPr/>
          <p:nvPr/>
        </p:nvSpPr>
        <p:spPr>
          <a:xfrm>
            <a:off x="13081000" y="8559800"/>
            <a:ext cx="215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5252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ROW 200   12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Science Department: Feedback That Moves Learning</dc:title>
  <dc:subject>Science Department: Feedback That Moves Learning</dc:subject>
  <dc:creator>Manus</dc:creator>
  <cp:lastModifiedBy>Manus</cp:lastModifiedBy>
  <cp:revision>1</cp:revision>
  <dcterms:created xsi:type="dcterms:W3CDTF">2026-09-28T13:39:50Z</dcterms:created>
  <dcterms:modified xsi:type="dcterms:W3CDTF">2026-09-28T13:39:50Z</dcterms:modified>
</cp:coreProperties>
</file>
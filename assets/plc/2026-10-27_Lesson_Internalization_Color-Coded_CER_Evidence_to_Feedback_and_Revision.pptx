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6256000" cy="9144000"/>
  <p:notesSz cx="9144000" cy="16256000"/>
  <p:embeddedFontLst>
    <p:embeddedFont>
      <p:font typeface="Inter" charset="-122" pitchFamily="34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0" y="0"/>
            <a:ext cx="16256000" cy="1168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cover-shape-2"/>
          <p:cNvSpPr/>
          <p:nvPr/>
        </p:nvSpPr>
        <p:spPr>
          <a:xfrm>
            <a:off x="0" y="1168400"/>
            <a:ext cx="16256000" cy="1016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4" name="kicker"/>
          <p:cNvSpPr/>
          <p:nvPr/>
        </p:nvSpPr>
        <p:spPr>
          <a:xfrm>
            <a:off x="736600" y="381000"/>
            <a:ext cx="1143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  •  TUESDAY, OCTOBER 27, 2026  •  41 MINUTES</a:t>
            </a:r>
            <a:endParaRPr lang="en-US" sz="1600" dirty="0"/>
          </a:p>
        </p:txBody>
      </p:sp>
      <p:sp>
        <p:nvSpPr>
          <p:cNvPr id="5" name="title"/>
          <p:cNvSpPr/>
          <p:nvPr/>
        </p:nvSpPr>
        <p:spPr>
          <a:xfrm>
            <a:off x="736600" y="1917700"/>
            <a:ext cx="11811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52"/>
              </a:lnSpc>
              <a:buNone/>
            </a:pPr>
            <a:r>
              <a:rPr lang="en-US" altLang="en-US" sz="4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Benchmark Reflection</a:t>
            </a:r>
            <a:endParaRPr lang="en-US" sz="4400" dirty="0"/>
          </a:p>
          <a:p>
            <a:pPr algn="l" indent="0" marL="0">
              <a:lnSpc>
                <a:spcPts val="4752"/>
              </a:lnSpc>
              <a:buNone/>
            </a:pPr>
            <a:r>
              <a:rPr lang="en-US" altLang="en-US" sz="4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Lesson Planning for Learning</a:t>
            </a:r>
            <a:endParaRPr lang="en-US" sz="4400" dirty="0"/>
          </a:p>
        </p:txBody>
      </p:sp>
      <p:sp>
        <p:nvSpPr>
          <p:cNvPr id="6" name="subtitle"/>
          <p:cNvSpPr/>
          <p:nvPr/>
        </p:nvSpPr>
        <p:spPr>
          <a:xfrm>
            <a:off x="736600" y="3797300"/>
            <a:ext cx="1082040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altLang="en-US" sz="25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Monday’s task analysis, completed response, anticipated student mistakes, and questions to plan learning, access, facilitation, written feedback, and revision.</a:t>
            </a:r>
            <a:endParaRPr lang="en-US" sz="2500" dirty="0"/>
          </a:p>
        </p:txBody>
      </p:sp>
      <p:sp>
        <p:nvSpPr>
          <p:cNvPr id="7" name="cover-shape-6"/>
          <p:cNvSpPr/>
          <p:nvPr/>
        </p:nvSpPr>
        <p:spPr>
          <a:xfrm>
            <a:off x="12242800" y="2057400"/>
            <a:ext cx="3200400" cy="29845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8" name="outcome-label"/>
          <p:cNvSpPr/>
          <p:nvPr/>
        </p:nvSpPr>
        <p:spPr>
          <a:xfrm>
            <a:off x="12573000" y="2438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4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OUTCOME</a:t>
            </a:r>
            <a:endParaRPr lang="en-US" sz="1400" dirty="0"/>
          </a:p>
        </p:txBody>
      </p:sp>
      <p:sp>
        <p:nvSpPr>
          <p:cNvPr id="9" name="outcome"/>
          <p:cNvSpPr/>
          <p:nvPr/>
        </p:nvSpPr>
        <p:spPr>
          <a:xfrm>
            <a:off x="12547600" y="3035300"/>
            <a:ext cx="25908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lesson plan with a clear mastery bar, access supports, feedback, and a revision step.</a:t>
            </a:r>
            <a:endParaRPr lang="en-US" sz="2000" dirty="0"/>
          </a:p>
        </p:txBody>
      </p:sp>
      <p:sp>
        <p:nvSpPr>
          <p:cNvPr id="10" name="cover-shape-9"/>
          <p:cNvSpPr/>
          <p:nvPr/>
        </p:nvSpPr>
        <p:spPr>
          <a:xfrm>
            <a:off x="736600" y="5842000"/>
            <a:ext cx="14706600" cy="1422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anchor"/>
          <p:cNvSpPr/>
          <p:nvPr/>
        </p:nvSpPr>
        <p:spPr>
          <a:xfrm>
            <a:off x="1117600" y="6172200"/>
            <a:ext cx="13919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4"/>
              </a:lnSpc>
              <a:buNone/>
            </a:pPr>
            <a:r>
              <a:rPr lang="en-US" altLang="en-US" sz="22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standard visible:</a:t>
            </a: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the Biology benchmark as the shared model, then apply the same planning moves to the appropriate task in each science course.</a:t>
            </a:r>
            <a:endParaRPr lang="en-US" sz="2200" dirty="0"/>
          </a:p>
        </p:txBody>
      </p:sp>
      <p:sp>
        <p:nvSpPr>
          <p:cNvPr id="12" name="footer"/>
          <p:cNvSpPr/>
          <p:nvPr/>
        </p:nvSpPr>
        <p:spPr>
          <a:xfrm>
            <a:off x="736600" y="7975600"/>
            <a:ext cx="12827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Internalization Tool:</a:t>
            </a: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Every Day Questions 1, 3, and 4; Team Deep Dive Steps 2–4.</a:t>
            </a:r>
            <a:endParaRPr lang="en-US" sz="2100" dirty="0"/>
          </a:p>
        </p:txBody>
      </p:sp>
      <p:sp>
        <p:nvSpPr>
          <p:cNvPr id="13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cover-shape-13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ryforward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What Monday Revealed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3208000" y="35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  •  4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97000"/>
            <a:ext cx="1460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gave teams a learner’s view of the benchmark. Today turns that experience into instructional decisions before students complete their own task.</a:t>
            </a:r>
            <a:endParaRPr lang="en-US" sz="2300" dirty="0"/>
          </a:p>
        </p:txBody>
      </p:sp>
      <p:sp>
        <p:nvSpPr>
          <p:cNvPr id="6" name="carryforward-shape-5"/>
          <p:cNvSpPr/>
          <p:nvPr/>
        </p:nvSpPr>
        <p:spPr>
          <a:xfrm>
            <a:off x="508000" y="2921000"/>
            <a:ext cx="3238500" cy="32004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7" name="block1"/>
          <p:cNvSpPr/>
          <p:nvPr/>
        </p:nvSpPr>
        <p:spPr>
          <a:xfrm>
            <a:off x="800100" y="3276600"/>
            <a:ext cx="26670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altLang="en-US" sz="15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</a:t>
            </a:r>
            <a:endParaRPr lang="en-US" sz="2000" dirty="0"/>
          </a:p>
          <a:p>
            <a:pPr algn="l" indent="0" marL="0">
              <a:lnSpc>
                <a:spcPts val="2928"/>
              </a:lnSpc>
              <a:spcBef>
                <a:spcPts val="1200"/>
              </a:spcBef>
              <a:buNone/>
            </a:pPr>
            <a:r>
              <a:rPr lang="en-US" altLang="en-US" sz="24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task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1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benchmark, task/text analysis, CUBS, color-coded CER.</a:t>
            </a:r>
            <a:endParaRPr lang="en-US" sz="2000" dirty="0"/>
          </a:p>
        </p:txBody>
      </p:sp>
      <p:sp>
        <p:nvSpPr>
          <p:cNvPr id="8" name="arrow1"/>
          <p:cNvSpPr/>
          <p:nvPr/>
        </p:nvSpPr>
        <p:spPr>
          <a:xfrm>
            <a:off x="3810000" y="4318000"/>
            <a:ext cx="60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5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500" dirty="0"/>
          </a:p>
        </p:txBody>
      </p:sp>
      <p:sp>
        <p:nvSpPr>
          <p:cNvPr id="9" name="carryforward-shape-8"/>
          <p:cNvSpPr/>
          <p:nvPr/>
        </p:nvSpPr>
        <p:spPr>
          <a:xfrm>
            <a:off x="4483100" y="2921000"/>
            <a:ext cx="323850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block2"/>
          <p:cNvSpPr/>
          <p:nvPr/>
        </p:nvSpPr>
        <p:spPr>
          <a:xfrm>
            <a:off x="4775200" y="3276600"/>
            <a:ext cx="26670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altLang="en-US" sz="15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2000" dirty="0"/>
          </a:p>
          <a:p>
            <a:pPr algn="l" indent="0" marL="0">
              <a:lnSpc>
                <a:spcPts val="2928"/>
              </a:lnSpc>
              <a:spcBef>
                <a:spcPts val="1200"/>
              </a:spcBef>
              <a:buNone/>
            </a:pPr>
            <a:r>
              <a:rPr lang="en-US" altLang="en-US" sz="24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Anticipated response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1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Likely claims, evidence, reasoning, questions, and mistakes.</a:t>
            </a:r>
            <a:endParaRPr lang="en-US" sz="2000" dirty="0"/>
          </a:p>
        </p:txBody>
      </p:sp>
      <p:sp>
        <p:nvSpPr>
          <p:cNvPr id="11" name="arrow2"/>
          <p:cNvSpPr/>
          <p:nvPr/>
        </p:nvSpPr>
        <p:spPr>
          <a:xfrm>
            <a:off x="7785100" y="4318000"/>
            <a:ext cx="60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5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500" dirty="0"/>
          </a:p>
        </p:txBody>
      </p:sp>
      <p:sp>
        <p:nvSpPr>
          <p:cNvPr id="12" name="carryforward-shape-11"/>
          <p:cNvSpPr/>
          <p:nvPr/>
        </p:nvSpPr>
        <p:spPr>
          <a:xfrm>
            <a:off x="8458200" y="2921000"/>
            <a:ext cx="323850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block3"/>
          <p:cNvSpPr/>
          <p:nvPr/>
        </p:nvSpPr>
        <p:spPr>
          <a:xfrm>
            <a:off x="8750300" y="3276600"/>
            <a:ext cx="26670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altLang="en-US" sz="15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2000" dirty="0"/>
          </a:p>
          <a:p>
            <a:pPr algn="l" indent="0" marL="0">
              <a:lnSpc>
                <a:spcPts val="2928"/>
              </a:lnSpc>
              <a:spcBef>
                <a:spcPts val="1200"/>
              </a:spcBef>
              <a:buNone/>
            </a:pPr>
            <a:r>
              <a:rPr lang="en-US" altLang="en-US" sz="24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learning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100"/>
              </a:spcBef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arc, access, facilitation, written feedback, and revision.</a:t>
            </a:r>
            <a:endParaRPr lang="en-US" sz="2000" dirty="0"/>
          </a:p>
        </p:txBody>
      </p:sp>
      <p:sp>
        <p:nvSpPr>
          <p:cNvPr id="14" name="arrow3"/>
          <p:cNvSpPr/>
          <p:nvPr/>
        </p:nvSpPr>
        <p:spPr>
          <a:xfrm>
            <a:off x="11760200" y="4318000"/>
            <a:ext cx="60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35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3500" dirty="0"/>
          </a:p>
        </p:txBody>
      </p:sp>
      <p:sp>
        <p:nvSpPr>
          <p:cNvPr id="15" name="carryforward-shape-14"/>
          <p:cNvSpPr/>
          <p:nvPr/>
        </p:nvSpPr>
        <p:spPr>
          <a:xfrm>
            <a:off x="12433300" y="2921000"/>
            <a:ext cx="3314700" cy="32004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6" name="block4"/>
          <p:cNvSpPr/>
          <p:nvPr/>
        </p:nvSpPr>
        <p:spPr>
          <a:xfrm>
            <a:off x="12725400" y="3276600"/>
            <a:ext cx="27305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altLang="en-US" sz="15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+ COLLECT</a:t>
            </a:r>
            <a:endParaRPr lang="en-US" sz="2000" dirty="0"/>
          </a:p>
          <a:p>
            <a:pPr algn="l" indent="0" marL="0">
              <a:lnSpc>
                <a:spcPts val="2928"/>
              </a:lnSpc>
              <a:spcBef>
                <a:spcPts val="1200"/>
              </a:spcBef>
              <a:buNone/>
            </a:pPr>
            <a:r>
              <a:rPr lang="en-US" alt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Friday evidence</a:t>
            </a:r>
            <a:endParaRPr lang="en-US" sz="2000" dirty="0"/>
          </a:p>
          <a:p>
            <a:pPr algn="l" indent="0" marL="0">
              <a:lnSpc>
                <a:spcPts val="2440"/>
              </a:lnSpc>
              <a:spcBef>
                <a:spcPts val="1100"/>
              </a:spcBef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student writing and feedback will guide the next step.</a:t>
            </a:r>
            <a:endParaRPr lang="en-US" sz="2000" dirty="0"/>
          </a:p>
        </p:txBody>
      </p:sp>
      <p:sp>
        <p:nvSpPr>
          <p:cNvPr id="17" name="carryforward-shape-16"/>
          <p:cNvSpPr/>
          <p:nvPr/>
        </p:nvSpPr>
        <p:spPr>
          <a:xfrm>
            <a:off x="508000" y="6959600"/>
            <a:ext cx="15240000" cy="9398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8" name="anchor"/>
          <p:cNvSpPr/>
          <p:nvPr/>
        </p:nvSpPr>
        <p:spPr>
          <a:xfrm>
            <a:off x="863600" y="7213600"/>
            <a:ext cx="14224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Anchor:</a:t>
            </a:r>
            <a:r>
              <a:rPr lang="en-US" altLang="en-US" sz="2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Teacher reflection is evidence for planning; it does not predict or label individual students.</a:t>
            </a:r>
            <a:endParaRPr lang="en-US" sz="2100" dirty="0"/>
          </a:p>
        </p:txBody>
      </p:sp>
      <p:sp>
        <p:nvSpPr>
          <p:cNvPr id="19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carryforward-shape-19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ed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the Learning Arc Toward Standard Mastery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3208000" y="355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4:00–10:00  •  6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97000"/>
            <a:ext cx="143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Monday’s reflection to make the learning goal and mastery bar visible before selecting supports. Start with the science thinking—not a list of activities.</a:t>
            </a:r>
            <a:endParaRPr lang="en-US" sz="2300" dirty="0"/>
          </a:p>
        </p:txBody>
      </p:sp>
      <p:sp>
        <p:nvSpPr>
          <p:cNvPr id="6" name="need-shape-5"/>
          <p:cNvSpPr/>
          <p:nvPr/>
        </p:nvSpPr>
        <p:spPr>
          <a:xfrm>
            <a:off x="508000" y="2870200"/>
            <a:ext cx="4508500" cy="3733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notice-title"/>
          <p:cNvSpPr/>
          <p:nvPr/>
        </p:nvSpPr>
        <p:spPr>
          <a:xfrm>
            <a:off x="838200" y="3225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NAME THE TARGET</a:t>
            </a:r>
            <a:endParaRPr lang="en-US" sz="2500" dirty="0"/>
          </a:p>
        </p:txBody>
      </p:sp>
      <p:sp>
        <p:nvSpPr>
          <p:cNvPr id="8" name="notice-body"/>
          <p:cNvSpPr/>
          <p:nvPr/>
        </p:nvSpPr>
        <p:spPr>
          <a:xfrm>
            <a:off x="838200" y="3987800"/>
            <a:ext cx="35814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3375" indent="-333375">
              <a:lnSpc>
                <a:spcPts val="2688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standard and science idea</a:t>
            </a:r>
            <a:endParaRPr lang="en-US" sz="2100" dirty="0"/>
          </a:p>
          <a:p>
            <a:pPr algn="l" marL="333375" indent="-333375">
              <a:lnSpc>
                <a:spcPts val="2688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will read, analyze, model, or explain</a:t>
            </a:r>
            <a:endParaRPr lang="en-US" sz="2100" dirty="0"/>
          </a:p>
          <a:p>
            <a:pPr algn="l" marL="333375" indent="-333375">
              <a:lnSpc>
                <a:spcPts val="2688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mastery must look like in the product</a:t>
            </a:r>
            <a:endParaRPr lang="en-US" sz="2100" dirty="0"/>
          </a:p>
        </p:txBody>
      </p:sp>
      <p:sp>
        <p:nvSpPr>
          <p:cNvPr id="9" name="need-shape-8"/>
          <p:cNvSpPr/>
          <p:nvPr/>
        </p:nvSpPr>
        <p:spPr>
          <a:xfrm>
            <a:off x="5880100" y="2870200"/>
            <a:ext cx="4508500" cy="37338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0" name="choose-title"/>
          <p:cNvSpPr/>
          <p:nvPr/>
        </p:nvSpPr>
        <p:spPr>
          <a:xfrm>
            <a:off x="6210300" y="3225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PLAN THE ARC</a:t>
            </a:r>
            <a:endParaRPr lang="en-US" sz="2500" dirty="0"/>
          </a:p>
        </p:txBody>
      </p:sp>
      <p:sp>
        <p:nvSpPr>
          <p:cNvPr id="11" name="choose-body"/>
          <p:cNvSpPr/>
          <p:nvPr/>
        </p:nvSpPr>
        <p:spPr>
          <a:xfrm>
            <a:off x="6210300" y="3987800"/>
            <a:ext cx="35814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and analyze</a:t>
            </a:r>
            <a:endParaRPr lang="en-US" sz="21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 and test ideas</a:t>
            </a:r>
            <a:endParaRPr lang="en-US" sz="21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Write/construct CER</a:t>
            </a:r>
            <a:endParaRPr lang="en-US" sz="2100" dirty="0"/>
          </a:p>
          <a:p>
            <a:pPr algn="l" indent="0" marL="0">
              <a:lnSpc>
                <a:spcPts val="2688"/>
              </a:lnSpc>
              <a:buNone/>
            </a:pPr>
            <a:r>
              <a:rPr lang="en-US" altLang="en-US" sz="21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Revise from feedback</a:t>
            </a:r>
            <a:endParaRPr lang="en-US" sz="2100" dirty="0"/>
          </a:p>
        </p:txBody>
      </p:sp>
      <p:sp>
        <p:nvSpPr>
          <p:cNvPr id="12" name="need-shape-11"/>
          <p:cNvSpPr/>
          <p:nvPr/>
        </p:nvSpPr>
        <p:spPr>
          <a:xfrm>
            <a:off x="11252200" y="2870200"/>
            <a:ext cx="4495800" cy="37338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check-title"/>
          <p:cNvSpPr/>
          <p:nvPr/>
        </p:nvSpPr>
        <p:spPr>
          <a:xfrm>
            <a:off x="11582400" y="32258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5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CHECK THE FIT</a:t>
            </a:r>
            <a:endParaRPr lang="en-US" sz="2500" dirty="0"/>
          </a:p>
        </p:txBody>
      </p:sp>
      <p:sp>
        <p:nvSpPr>
          <p:cNvPr id="14" name="check-body"/>
          <p:cNvSpPr/>
          <p:nvPr/>
        </p:nvSpPr>
        <p:spPr>
          <a:xfrm>
            <a:off x="11582400" y="3987800"/>
            <a:ext cx="35560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3375" indent="-333375">
              <a:lnSpc>
                <a:spcPts val="2688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each step build toward the standard?</a:t>
            </a:r>
            <a:endParaRPr lang="en-US" sz="2100" dirty="0"/>
          </a:p>
          <a:p>
            <a:pPr algn="l" marL="333375" indent="-333375">
              <a:lnSpc>
                <a:spcPts val="2688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students have time to grapple?</a:t>
            </a:r>
            <a:endParaRPr lang="en-US" sz="2100" dirty="0"/>
          </a:p>
          <a:p>
            <a:pPr algn="l" marL="333375" indent="-333375">
              <a:lnSpc>
                <a:spcPts val="2688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 the benchmark demand remain visible?</a:t>
            </a:r>
            <a:endParaRPr lang="en-US" sz="2100" dirty="0"/>
          </a:p>
        </p:txBody>
      </p:sp>
      <p:sp>
        <p:nvSpPr>
          <p:cNvPr id="15" name="need-shape-14"/>
          <p:cNvSpPr/>
          <p:nvPr/>
        </p:nvSpPr>
        <p:spPr>
          <a:xfrm>
            <a:off x="508000" y="7175500"/>
            <a:ext cx="15240000" cy="7366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6" name="decision"/>
          <p:cNvSpPr/>
          <p:nvPr/>
        </p:nvSpPr>
        <p:spPr>
          <a:xfrm>
            <a:off x="812800" y="7366000"/>
            <a:ext cx="1409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decision: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“Students will ______ so they can demonstrate ______ in the standards-aligned response.”</a:t>
            </a:r>
            <a:endParaRPr lang="en-US" sz="2000" dirty="0"/>
          </a:p>
        </p:txBody>
      </p:sp>
      <p:sp>
        <p:nvSpPr>
          <p:cNvPr id="17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need-shape-1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eedback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811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Access and Facilitation Without Lowering Rigor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3081000" y="3556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10:00–18:00  •  8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97000"/>
            <a:ext cx="1435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Monday’s anticipated mistakes and questions to plan how students will enter the task, engage with evidence, and explain their thinking—not to simplify the science demand.</a:t>
            </a:r>
            <a:endParaRPr lang="en-US" sz="2300" dirty="0"/>
          </a:p>
        </p:txBody>
      </p:sp>
      <p:sp>
        <p:nvSpPr>
          <p:cNvPr id="6" name="feedback-shape-5"/>
          <p:cNvSpPr/>
          <p:nvPr/>
        </p:nvSpPr>
        <p:spPr>
          <a:xfrm>
            <a:off x="508000" y="2844800"/>
            <a:ext cx="6959600" cy="37084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7" name="not-title"/>
          <p:cNvSpPr/>
          <p:nvPr/>
        </p:nvSpPr>
        <p:spPr>
          <a:xfrm>
            <a:off x="863600" y="3213100"/>
            <a:ext cx="558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AVOID: REMOVING THE THINKING</a:t>
            </a:r>
            <a:endParaRPr lang="en-US" sz="2600" dirty="0"/>
          </a:p>
        </p:txBody>
      </p:sp>
      <p:sp>
        <p:nvSpPr>
          <p:cNvPr id="8" name="not-quote"/>
          <p:cNvSpPr/>
          <p:nvPr/>
        </p:nvSpPr>
        <p:spPr>
          <a:xfrm>
            <a:off x="863600" y="41021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altLang="en-US" sz="24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“Here is the answer. Copy this evidence and this explanation.”</a:t>
            </a:r>
            <a:endParaRPr lang="en-US" sz="2400" dirty="0"/>
          </a:p>
        </p:txBody>
      </p:sp>
      <p:sp>
        <p:nvSpPr>
          <p:cNvPr id="9" name="not-body"/>
          <p:cNvSpPr/>
          <p:nvPr/>
        </p:nvSpPr>
        <p:spPr>
          <a:xfrm>
            <a:off x="863600" y="56134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support may finish the task, but it does not build independent analysis, evidence use, or reasoning.</a:t>
            </a:r>
            <a:endParaRPr lang="en-US" sz="2000" dirty="0"/>
          </a:p>
        </p:txBody>
      </p:sp>
      <p:sp>
        <p:nvSpPr>
          <p:cNvPr id="10" name="feedback-shape-9"/>
          <p:cNvSpPr/>
          <p:nvPr/>
        </p:nvSpPr>
        <p:spPr>
          <a:xfrm>
            <a:off x="8280400" y="2844800"/>
            <a:ext cx="7467600" cy="3708400"/>
          </a:xfrm>
          <a:prstGeom prst="rect">
            <a:avLst/>
          </a:prstGeom>
          <a:solidFill>
            <a:srgbClr val="EAF5EC"/>
          </a:solidFill>
          <a:ln w="25400">
            <a:solidFill>
              <a:srgbClr val="238636"/>
            </a:solidFill>
            <a:prstDash val="solid"/>
          </a:ln>
        </p:spPr>
      </p:sp>
      <p:sp>
        <p:nvSpPr>
          <p:cNvPr id="11" name="do-title"/>
          <p:cNvSpPr/>
          <p:nvPr/>
        </p:nvSpPr>
        <p:spPr>
          <a:xfrm>
            <a:off x="8636000" y="32131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dirty="0">
                <a:solidFill>
                  <a:srgbClr val="2386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USE: ACCESS + FACILITATION</a:t>
            </a:r>
            <a:endParaRPr lang="en-US" sz="2600" dirty="0"/>
          </a:p>
        </p:txBody>
      </p:sp>
      <p:sp>
        <p:nvSpPr>
          <p:cNvPr id="12" name="do-quote"/>
          <p:cNvSpPr/>
          <p:nvPr/>
        </p:nvSpPr>
        <p:spPr>
          <a:xfrm>
            <a:off x="8636000" y="4102100"/>
            <a:ext cx="615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altLang="en-US" sz="23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“Use CUBS to mark the graph and food-web details. Which detail is most relevant to your prediction? Explain your choice to a partner before writing.”</a:t>
            </a:r>
            <a:endParaRPr lang="en-US" sz="2300" dirty="0"/>
          </a:p>
        </p:txBody>
      </p:sp>
      <p:sp>
        <p:nvSpPr>
          <p:cNvPr id="13" name="do-body"/>
          <p:cNvSpPr/>
          <p:nvPr/>
        </p:nvSpPr>
        <p:spPr>
          <a:xfrm>
            <a:off x="8636000" y="5613400"/>
            <a:ext cx="6159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support gives students a way into the evidence while preserving the explanation they must construct.</a:t>
            </a:r>
            <a:endParaRPr lang="en-US" sz="2000" dirty="0"/>
          </a:p>
        </p:txBody>
      </p:sp>
      <p:sp>
        <p:nvSpPr>
          <p:cNvPr id="14" name="feedback-shape-13"/>
          <p:cNvSpPr/>
          <p:nvPr/>
        </p:nvSpPr>
        <p:spPr>
          <a:xfrm>
            <a:off x="508000" y="7239000"/>
            <a:ext cx="15240000" cy="6731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5" name="formula"/>
          <p:cNvSpPr/>
          <p:nvPr/>
        </p:nvSpPr>
        <p:spPr>
          <a:xfrm>
            <a:off x="812800" y="7416800"/>
            <a:ext cx="1409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Plan: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anticipated barrier → access routine or facilitation question → student thinking move → observable evidence.</a:t>
            </a:r>
            <a:endParaRPr lang="en-US" sz="20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feedback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tim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168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Lesson-Planning Work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954000" y="3556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18:00–31:00  •  13 MIN</a:t>
            </a:r>
            <a:endParaRPr lang="en-US" sz="1600" dirty="0"/>
          </a:p>
        </p:txBody>
      </p:sp>
      <p:sp>
        <p:nvSpPr>
          <p:cNvPr id="5" name="worktime-shape-4"/>
          <p:cNvSpPr/>
          <p:nvPr/>
        </p:nvSpPr>
        <p:spPr>
          <a:xfrm>
            <a:off x="508000" y="1574800"/>
            <a:ext cx="3810000" cy="5613400"/>
          </a:xfrm>
          <a:prstGeom prst="rect">
            <a:avLst/>
          </a:prstGeom>
          <a:solidFill>
            <a:srgbClr val="C41220"/>
          </a:solidFill>
          <a:ln/>
        </p:spPr>
      </p:sp>
      <p:sp>
        <p:nvSpPr>
          <p:cNvPr id="6" name="timer-label"/>
          <p:cNvSpPr/>
          <p:nvPr/>
        </p:nvSpPr>
        <p:spPr>
          <a:xfrm>
            <a:off x="863600" y="22479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dirty="0">
                <a:solidFill>
                  <a:srgbClr val="FDEC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INDIVIDUAL-FIRST WORK</a:t>
            </a:r>
            <a:endParaRPr lang="en-US" sz="1800" dirty="0"/>
          </a:p>
        </p:txBody>
      </p:sp>
      <p:sp>
        <p:nvSpPr>
          <p:cNvPr id="7" name="timer"/>
          <p:cNvSpPr/>
          <p:nvPr/>
        </p:nvSpPr>
        <p:spPr>
          <a:xfrm>
            <a:off x="889000" y="292100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7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min</a:t>
            </a:r>
            <a:endParaRPr lang="en-US" sz="7400" dirty="0"/>
          </a:p>
        </p:txBody>
      </p:sp>
      <p:sp>
        <p:nvSpPr>
          <p:cNvPr id="8" name="worktime-shape-7"/>
          <p:cNvSpPr/>
          <p:nvPr/>
        </p:nvSpPr>
        <p:spPr>
          <a:xfrm>
            <a:off x="1041400" y="4978400"/>
            <a:ext cx="2743200" cy="9144"/>
          </a:xfrm>
          <a:prstGeom prst="line">
            <a:avLst/>
          </a:prstGeom>
          <a:ln w="25400">
            <a:solidFill>
              <a:srgbClr val="F6B4BA"/>
            </a:solidFill>
            <a:prstDash val="solid"/>
          </a:ln>
        </p:spPr>
      </p:sp>
      <p:sp>
        <p:nvSpPr>
          <p:cNvPr id="9" name="timer-sub"/>
          <p:cNvSpPr/>
          <p:nvPr/>
        </p:nvSpPr>
        <p:spPr>
          <a:xfrm>
            <a:off x="850900" y="5384800"/>
            <a:ext cx="35306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40"/>
              </a:lnSpc>
              <a:buNone/>
            </a:pP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independently first. Then use colleagues to check rigor, clarity, access, and student responsibility.</a:t>
            </a:r>
            <a:endParaRPr lang="en-US" sz="2000" dirty="0"/>
          </a:p>
        </p:txBody>
      </p:sp>
      <p:sp>
        <p:nvSpPr>
          <p:cNvPr id="10" name="worktime-shape-9"/>
          <p:cNvSpPr/>
          <p:nvPr/>
        </p:nvSpPr>
        <p:spPr>
          <a:xfrm>
            <a:off x="4826000" y="1574800"/>
            <a:ext cx="10922000" cy="149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do1"/>
          <p:cNvSpPr/>
          <p:nvPr/>
        </p:nvSpPr>
        <p:spPr>
          <a:xfrm>
            <a:off x="5181600" y="1854200"/>
            <a:ext cx="9842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Plan the learning experience.</a:t>
            </a: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Map the student task, source/visual analysis, academic talk, writing, and a checkpoint toward the mastery bar.</a:t>
            </a:r>
            <a:endParaRPr lang="en-US" sz="2100" dirty="0"/>
          </a:p>
        </p:txBody>
      </p:sp>
      <p:sp>
        <p:nvSpPr>
          <p:cNvPr id="12" name="worktime-shape-11"/>
          <p:cNvSpPr/>
          <p:nvPr/>
        </p:nvSpPr>
        <p:spPr>
          <a:xfrm>
            <a:off x="4826000" y="3403600"/>
            <a:ext cx="10922000" cy="1498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do2"/>
          <p:cNvSpPr/>
          <p:nvPr/>
        </p:nvSpPr>
        <p:spPr>
          <a:xfrm>
            <a:off x="5181600" y="3683000"/>
            <a:ext cx="98425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Plan written feedback + revision.</a:t>
            </a: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Write one comment or prompt that names a criterion and asks students to select evidence, explain reasoning, or revise—not copy an answer.</a:t>
            </a:r>
            <a:endParaRPr lang="en-US" sz="2100" dirty="0"/>
          </a:p>
        </p:txBody>
      </p:sp>
      <p:sp>
        <p:nvSpPr>
          <p:cNvPr id="14" name="worktime-shape-13"/>
          <p:cNvSpPr/>
          <p:nvPr/>
        </p:nvSpPr>
        <p:spPr>
          <a:xfrm>
            <a:off x="4826000" y="5232400"/>
            <a:ext cx="10922000" cy="19558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sp>
        <p:nvSpPr>
          <p:cNvPr id="15" name="do3"/>
          <p:cNvSpPr/>
          <p:nvPr/>
        </p:nvSpPr>
        <p:spPr>
          <a:xfrm>
            <a:off x="5181600" y="5537200"/>
            <a:ext cx="9842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altLang="en-US" sz="21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Plan the evidence look-for.</a:t>
            </a:r>
            <a:r>
              <a:rPr lang="en-US" altLang="en-US" sz="21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 what a completed or revised response will show about the priority standard and what you will bring to Friday’s student-work analysis.</a:t>
            </a:r>
            <a:endParaRPr lang="en-US" sz="2100" dirty="0"/>
          </a:p>
        </p:txBody>
      </p:sp>
      <p:sp>
        <p:nvSpPr>
          <p:cNvPr id="16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worktime-shape-16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dpreview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header-title"/>
          <p:cNvSpPr/>
          <p:nvPr/>
        </p:nvSpPr>
        <p:spPr>
          <a:xfrm>
            <a:off x="508000" y="292100"/>
            <a:ext cx="1219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a Student-Facing Strategy for Wednesday PD</a:t>
            </a:r>
            <a:endParaRPr lang="en-US" sz="3000" dirty="0"/>
          </a:p>
        </p:txBody>
      </p:sp>
      <p:sp>
        <p:nvSpPr>
          <p:cNvPr id="4" name="time"/>
          <p:cNvSpPr/>
          <p:nvPr/>
        </p:nvSpPr>
        <p:spPr>
          <a:xfrm>
            <a:off x="12954000" y="355600"/>
            <a:ext cx="279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31:00–36:00  •  5 MIN</a:t>
            </a:r>
            <a:endParaRPr lang="en-US" sz="1600" dirty="0"/>
          </a:p>
        </p:txBody>
      </p:sp>
      <p:sp>
        <p:nvSpPr>
          <p:cNvPr id="5" name="intro"/>
          <p:cNvSpPr/>
          <p:nvPr/>
        </p:nvSpPr>
        <p:spPr>
          <a:xfrm>
            <a:off x="508000" y="1397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authentic science article, text, data display, model, investigation prompt, or constructed-response task that students can analyze using CUBS and color-coded CER.</a:t>
            </a:r>
            <a:endParaRPr lang="en-US" sz="2300" dirty="0"/>
          </a:p>
        </p:txBody>
      </p:sp>
      <p:sp>
        <p:nvSpPr>
          <p:cNvPr id="6" name="pdpreview-shape-5"/>
          <p:cNvSpPr/>
          <p:nvPr/>
        </p:nvSpPr>
        <p:spPr>
          <a:xfrm>
            <a:off x="508000" y="2921000"/>
            <a:ext cx="4572000" cy="3784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7" name="pdpreview-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00" y="3302000"/>
            <a:ext cx="533400" cy="533400"/>
          </a:xfrm>
          <a:prstGeom prst="rect">
            <a:avLst/>
          </a:prstGeom>
        </p:spPr>
      </p:pic>
      <p:sp>
        <p:nvSpPr>
          <p:cNvPr id="8" name="sample1"/>
          <p:cNvSpPr/>
          <p:nvPr/>
        </p:nvSpPr>
        <p:spPr>
          <a:xfrm>
            <a:off x="863600" y="4140200"/>
            <a:ext cx="3683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source or task</a:t>
            </a:r>
            <a:endParaRPr lang="en-US" sz="2200" dirty="0"/>
          </a:p>
          <a:p>
            <a:pPr algn="l" indent="0" marL="0">
              <a:lnSpc>
                <a:spcPts val="2750"/>
              </a:lnSpc>
              <a:spcBef>
                <a:spcPts val="1200"/>
              </a:spcBef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Article, visual, graph, data set, model, investigation prompt, or written-response question.</a:t>
            </a:r>
            <a:endParaRPr lang="en-US" sz="2200" dirty="0"/>
          </a:p>
        </p:txBody>
      </p:sp>
      <p:sp>
        <p:nvSpPr>
          <p:cNvPr id="9" name="pdpreview-shape-8"/>
          <p:cNvSpPr/>
          <p:nvPr/>
        </p:nvSpPr>
        <p:spPr>
          <a:xfrm>
            <a:off x="5842000" y="2921000"/>
            <a:ext cx="4572000" cy="3784600"/>
          </a:xfrm>
          <a:prstGeom prst="rect">
            <a:avLst/>
          </a:prstGeom>
          <a:solidFill>
            <a:srgbClr val="FCE8EA"/>
          </a:solidFill>
          <a:ln w="25400">
            <a:solidFill>
              <a:srgbClr val="C41220"/>
            </a:solidFill>
            <a:prstDash val="solid"/>
          </a:ln>
        </p:spPr>
      </p:sp>
      <p:pic>
        <p:nvPicPr>
          <p:cNvPr id="10" name="pdpreview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3302000"/>
            <a:ext cx="533400" cy="533400"/>
          </a:xfrm>
          <a:prstGeom prst="rect">
            <a:avLst/>
          </a:prstGeom>
        </p:spPr>
      </p:pic>
      <p:sp>
        <p:nvSpPr>
          <p:cNvPr id="11" name="sample2"/>
          <p:cNvSpPr/>
          <p:nvPr/>
        </p:nvSpPr>
        <p:spPr>
          <a:xfrm>
            <a:off x="6197600" y="4140200"/>
            <a:ext cx="3683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student routine</a:t>
            </a:r>
            <a:endParaRPr lang="en-US" sz="2200" dirty="0"/>
          </a:p>
          <a:p>
            <a:pPr algn="l" indent="0" marL="0">
              <a:lnSpc>
                <a:spcPts val="2750"/>
              </a:lnSpc>
              <a:spcBef>
                <a:spcPts val="1200"/>
              </a:spcBef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students circle, underline, box, summarize, color-code, or explain?</a:t>
            </a:r>
            <a:endParaRPr lang="en-US" sz="2200" dirty="0"/>
          </a:p>
        </p:txBody>
      </p:sp>
      <p:sp>
        <p:nvSpPr>
          <p:cNvPr id="12" name="pdpreview-shape-11"/>
          <p:cNvSpPr/>
          <p:nvPr/>
        </p:nvSpPr>
        <p:spPr>
          <a:xfrm>
            <a:off x="11176000" y="2921000"/>
            <a:ext cx="4572000" cy="3784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13" name="pdpreview-icon-1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1600" y="3302000"/>
            <a:ext cx="533400" cy="533400"/>
          </a:xfrm>
          <a:prstGeom prst="rect">
            <a:avLst/>
          </a:prstGeom>
        </p:spPr>
      </p:pic>
      <p:sp>
        <p:nvSpPr>
          <p:cNvPr id="14" name="sample3"/>
          <p:cNvSpPr/>
          <p:nvPr/>
        </p:nvSpPr>
        <p:spPr>
          <a:xfrm>
            <a:off x="11531600" y="4140200"/>
            <a:ext cx="3683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altLang="en-US" sz="22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check for understanding</a:t>
            </a:r>
            <a:endParaRPr lang="en-US" sz="2200" dirty="0"/>
          </a:p>
          <a:p>
            <a:pPr algn="l" indent="0" marL="0">
              <a:lnSpc>
                <a:spcPts val="2750"/>
              </a:lnSpc>
              <a:spcBef>
                <a:spcPts val="1200"/>
              </a:spcBef>
              <a:buNone/>
            </a:pP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prompt, partner talk, annotation check, or short written response that makes thinking visible.</a:t>
            </a:r>
            <a:endParaRPr lang="en-US" sz="2200" dirty="0"/>
          </a:p>
        </p:txBody>
      </p:sp>
      <p:sp>
        <p:nvSpPr>
          <p:cNvPr id="15" name="pdpreview-shape-14"/>
          <p:cNvSpPr/>
          <p:nvPr/>
        </p:nvSpPr>
        <p:spPr>
          <a:xfrm>
            <a:off x="508000" y="7289800"/>
            <a:ext cx="15240000" cy="6223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16" name="pd-note"/>
          <p:cNvSpPr/>
          <p:nvPr/>
        </p:nvSpPr>
        <p:spPr>
          <a:xfrm>
            <a:off x="812800" y="7454900"/>
            <a:ext cx="14097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F6B4B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Wednesday purpose:</a:t>
            </a:r>
            <a:r>
              <a:rPr lang="en-US" alt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 and rehearse student-facing science-literacy routines; adapt them to your own course task.</a:t>
            </a:r>
            <a:endParaRPr lang="en-US" sz="1900" dirty="0"/>
          </a:p>
        </p:txBody>
      </p:sp>
      <p:sp>
        <p:nvSpPr>
          <p:cNvPr id="17" name="page"/>
          <p:cNvSpPr/>
          <p:nvPr/>
        </p:nvSpPr>
        <p:spPr>
          <a:xfrm>
            <a:off x="14986000" y="84455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pdpreview-shape-17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e-shape-1"/>
          <p:cNvSpPr/>
          <p:nvPr/>
        </p:nvSpPr>
        <p:spPr>
          <a:xfrm>
            <a:off x="0" y="0"/>
            <a:ext cx="16256000" cy="1016000"/>
          </a:xfrm>
          <a:prstGeom prst="rect">
            <a:avLst/>
          </a:prstGeom>
          <a:solidFill>
            <a:srgbClr val="202124"/>
          </a:solidFill>
          <a:ln/>
        </p:spPr>
      </p:sp>
      <p:sp>
        <p:nvSpPr>
          <p:cNvPr id="3" name="kicker"/>
          <p:cNvSpPr/>
          <p:nvPr/>
        </p:nvSpPr>
        <p:spPr>
          <a:xfrm>
            <a:off x="736600" y="342900"/>
            <a:ext cx="1143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600" dirty="0">
                <a:solidFill>
                  <a:srgbClr val="F1F3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+ PREPARE  •  36:00–41:00  •  5 MIN</a:t>
            </a:r>
            <a:endParaRPr lang="en-US" sz="1600" dirty="0"/>
          </a:p>
        </p:txBody>
      </p:sp>
      <p:sp>
        <p:nvSpPr>
          <p:cNvPr id="4" name="title"/>
          <p:cNvSpPr/>
          <p:nvPr/>
        </p:nvSpPr>
        <p:spPr>
          <a:xfrm>
            <a:off x="736600" y="1689100"/>
            <a:ext cx="13081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4300" dirty="0">
                <a:solidFill>
                  <a:srgbClr val="2021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the task. Use the routine. Make student thinking visible.</a:t>
            </a:r>
            <a:endParaRPr lang="en-US" sz="4300" dirty="0"/>
          </a:p>
        </p:txBody>
      </p:sp>
      <p:sp>
        <p:nvSpPr>
          <p:cNvPr id="5" name="close-shape-4"/>
          <p:cNvSpPr/>
          <p:nvPr/>
        </p:nvSpPr>
        <p:spPr>
          <a:xfrm>
            <a:off x="736600" y="3136900"/>
            <a:ext cx="14706600" cy="350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close-shape-5"/>
          <p:cNvSpPr/>
          <p:nvPr/>
        </p:nvSpPr>
        <p:spPr>
          <a:xfrm>
            <a:off x="1092200" y="3543300"/>
            <a:ext cx="4292600" cy="2324100"/>
          </a:xfrm>
          <a:prstGeom prst="rect">
            <a:avLst/>
          </a:prstGeom>
          <a:solidFill>
            <a:srgbClr val="FCE8EA"/>
          </a:solidFill>
          <a:ln w="12700">
            <a:solidFill>
              <a:srgbClr val="C41220"/>
            </a:solidFill>
            <a:prstDash val="solid"/>
          </a:ln>
        </p:spPr>
      </p:sp>
      <p:sp>
        <p:nvSpPr>
          <p:cNvPr id="7" name="close-shape-6"/>
          <p:cNvSpPr/>
          <p:nvPr/>
        </p:nvSpPr>
        <p:spPr>
          <a:xfrm>
            <a:off x="5981700" y="3543300"/>
            <a:ext cx="4292600" cy="23241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close-shape-7"/>
          <p:cNvSpPr/>
          <p:nvPr/>
        </p:nvSpPr>
        <p:spPr>
          <a:xfrm>
            <a:off x="10871200" y="3543300"/>
            <a:ext cx="4216400" cy="2324100"/>
          </a:xfrm>
          <a:prstGeom prst="rect">
            <a:avLst/>
          </a:prstGeom>
          <a:solidFill>
            <a:srgbClr val="F8F9FA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item1"/>
          <p:cNvSpPr/>
          <p:nvPr/>
        </p:nvSpPr>
        <p:spPr>
          <a:xfrm>
            <a:off x="1346200" y="3835400"/>
            <a:ext cx="3784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WEDNESDAY PD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900"/>
              </a:spcBef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one source/task and a student-facing CUBS/CER plan.</a:t>
            </a:r>
            <a:endParaRPr lang="en-US" sz="2000" dirty="0"/>
          </a:p>
        </p:txBody>
      </p:sp>
      <p:sp>
        <p:nvSpPr>
          <p:cNvPr id="10" name="item2"/>
          <p:cNvSpPr/>
          <p:nvPr/>
        </p:nvSpPr>
        <p:spPr>
          <a:xfrm>
            <a:off x="6235700" y="3835400"/>
            <a:ext cx="37846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900"/>
              </a:spcBef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 the planned learning experience and feedback/revision step.</a:t>
            </a:r>
            <a:endParaRPr lang="en-US" sz="2000" dirty="0"/>
          </a:p>
        </p:txBody>
      </p:sp>
      <p:sp>
        <p:nvSpPr>
          <p:cNvPr id="11" name="item3"/>
          <p:cNvSpPr/>
          <p:nvPr/>
        </p:nvSpPr>
        <p:spPr>
          <a:xfrm>
            <a:off x="11125200" y="3835400"/>
            <a:ext cx="3708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altLang="en-US" sz="14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</a:t>
            </a:r>
            <a:endParaRPr lang="en-US" sz="2000" dirty="0"/>
          </a:p>
          <a:p>
            <a:pPr algn="l" indent="0" marL="0">
              <a:lnSpc>
                <a:spcPts val="2400"/>
              </a:lnSpc>
              <a:spcBef>
                <a:spcPts val="900"/>
              </a:spcBef>
              <a:buNone/>
            </a:pPr>
            <a:r>
              <a:rPr lang="en-US" altLang="en-US" sz="2000" b="1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completed student writing and evidence for a mastery-focused next step.</a:t>
            </a:r>
            <a:endParaRPr lang="en-US" sz="2000" dirty="0"/>
          </a:p>
        </p:txBody>
      </p:sp>
      <p:sp>
        <p:nvSpPr>
          <p:cNvPr id="12" name="footer"/>
          <p:cNvSpPr/>
          <p:nvPr/>
        </p:nvSpPr>
        <p:spPr>
          <a:xfrm>
            <a:off x="736600" y="7289800"/>
            <a:ext cx="1419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2200" b="1" dirty="0">
                <a:solidFill>
                  <a:srgbClr val="C4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Friday:</a:t>
            </a:r>
            <a:r>
              <a:rPr lang="en-US" altLang="en-US" sz="2200" dirty="0">
                <a:solidFill>
                  <a:srgbClr val="3C40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examine completed benchmark writing, give written feedback, and plan a narrow next learning experience for the standard.</a:t>
            </a:r>
            <a:endParaRPr lang="en-US" sz="2200" dirty="0"/>
          </a:p>
        </p:txBody>
      </p:sp>
      <p:sp>
        <p:nvSpPr>
          <p:cNvPr id="13" name="page"/>
          <p:cNvSpPr/>
          <p:nvPr/>
        </p:nvSpPr>
        <p:spPr>
          <a:xfrm>
            <a:off x="14732000" y="8432800"/>
            <a:ext cx="73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300" dirty="0"/>
          </a:p>
        </p:txBody>
      </p:sp>
      <p:sp>
        <p:nvSpPr>
          <p:cNvPr id="14" name="close-shape-13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12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Tuesday, October 27 PLC — Feedback and Student Action</dc:title>
  <dc:subject>Tuesday, October 27 PLC — Feedback and Student Action</dc:subject>
  <dc:creator>Manus</dc:creator>
  <cp:lastModifiedBy>Manus</cp:lastModifiedBy>
  <cp:revision>1</cp:revision>
  <dcterms:created xsi:type="dcterms:W3CDTF">2026-10-23T18:09:22Z</dcterms:created>
  <dcterms:modified xsi:type="dcterms:W3CDTF">2026-10-23T18:09:22Z</dcterms:modified>
</cp:coreProperties>
</file>
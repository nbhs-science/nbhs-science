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6256000" cy="9144000"/>
  <p:notesSz cx="9144000" cy="16256000"/>
  <p:embeddedFontLst>
    <p:embeddedFont>
      <p:font typeface="Inter" charset="-122" pitchFamily="34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889000" y="1168400"/>
            <a:ext cx="1905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cover-kicker"/>
          <p:cNvSpPr/>
          <p:nvPr/>
        </p:nvSpPr>
        <p:spPr>
          <a:xfrm>
            <a:off x="889000" y="1600200"/>
            <a:ext cx="1206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DEPARTMENT PLC  •  TUESDAY, OCTOBER 27, 2026  •  41 MINUTES</a:t>
            </a:r>
            <a:endParaRPr lang="en-US" sz="1700" dirty="0"/>
          </a:p>
        </p:txBody>
      </p:sp>
      <p:sp>
        <p:nvSpPr>
          <p:cNvPr id="5" name="cover-title"/>
          <p:cNvSpPr/>
          <p:nvPr/>
        </p:nvSpPr>
        <p:spPr>
          <a:xfrm>
            <a:off x="889000" y="2387600"/>
            <a:ext cx="12954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Refine Feedback + Revision</a:t>
            </a:r>
            <a:endParaRPr lang="en-US" sz="4500" dirty="0"/>
          </a:p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the Same Writing Benchmark</a:t>
            </a:r>
            <a:endParaRPr lang="en-US" sz="4500" dirty="0"/>
          </a:p>
        </p:txBody>
      </p:sp>
      <p:sp>
        <p:nvSpPr>
          <p:cNvPr id="6" name="cover-shape-5"/>
          <p:cNvSpPr/>
          <p:nvPr/>
        </p:nvSpPr>
        <p:spPr>
          <a:xfrm>
            <a:off x="889000" y="4597400"/>
            <a:ext cx="12954000" cy="9144"/>
          </a:xfrm>
          <a:prstGeom prst="line">
            <a:avLst/>
          </a:prstGeom>
          <a:ln w="12700">
            <a:solidFill>
              <a:srgbClr val="72777D"/>
            </a:solidFill>
            <a:prstDash val="solid"/>
          </a:ln>
        </p:spPr>
      </p:sp>
      <p:sp>
        <p:nvSpPr>
          <p:cNvPr id="7" name="cover-subtitle"/>
          <p:cNvSpPr/>
          <p:nvPr/>
        </p:nvSpPr>
        <p:spPr>
          <a:xfrm>
            <a:off x="889000" y="5016500"/>
            <a:ext cx="10668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altLang="en-US" sz="25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Monday’s anticipated student need into one criterion-based prompt, one explicit student action, and one evidence look-for.</a:t>
            </a:r>
            <a:endParaRPr lang="en-US" sz="2500" dirty="0"/>
          </a:p>
        </p:txBody>
      </p:sp>
      <p:sp>
        <p:nvSpPr>
          <p:cNvPr id="8" name="cover-shape-7"/>
          <p:cNvSpPr/>
          <p:nvPr/>
        </p:nvSpPr>
        <p:spPr>
          <a:xfrm>
            <a:off x="11912600" y="5308600"/>
            <a:ext cx="3098800" cy="17272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9" name="cover-outcome-label"/>
          <p:cNvSpPr/>
          <p:nvPr/>
        </p:nvSpPr>
        <p:spPr>
          <a:xfrm>
            <a:off x="12166600" y="5588000"/>
            <a:ext cx="2590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OUTCOME</a:t>
            </a:r>
            <a:endParaRPr lang="en-US" sz="1300" dirty="0"/>
          </a:p>
        </p:txBody>
      </p:sp>
      <p:sp>
        <p:nvSpPr>
          <p:cNvPr id="10" name="cover-outcome"/>
          <p:cNvSpPr/>
          <p:nvPr/>
        </p:nvSpPr>
        <p:spPr>
          <a:xfrm>
            <a:off x="12141200" y="5969000"/>
            <a:ext cx="264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72"/>
              </a:lnSpc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criterion, one feedback prompt, one student action, and one evidence look-for.</a:t>
            </a:r>
            <a:endParaRPr lang="en-US" sz="1700" dirty="0"/>
          </a:p>
        </p:txBody>
      </p:sp>
      <p:sp>
        <p:nvSpPr>
          <p:cNvPr id="11" name="cover-footer"/>
          <p:cNvSpPr/>
          <p:nvPr/>
        </p:nvSpPr>
        <p:spPr>
          <a:xfrm>
            <a:off x="889000" y="7493000"/>
            <a:ext cx="1244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altLang="en-US" sz="22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3 and 4; Team Deep Dive Steps 3–5.</a:t>
            </a:r>
            <a:endParaRPr lang="en-US" sz="2200" dirty="0"/>
          </a:p>
        </p:txBody>
      </p:sp>
      <p:sp>
        <p:nvSpPr>
          <p:cNvPr id="12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cover-shape-1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ryforward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Carry Forward the Same Writing Benchmark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3208000" y="355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0:00–4:00  •  4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605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priority standard, writing task, source/evidence, and criterion remain the same. Today sharpens the response students will make after feedback.</a:t>
            </a:r>
            <a:endParaRPr lang="en-US" sz="2300" dirty="0"/>
          </a:p>
        </p:txBody>
      </p:sp>
      <p:sp>
        <p:nvSpPr>
          <p:cNvPr id="6" name="carryforward-shape-5"/>
          <p:cNvSpPr/>
          <p:nvPr/>
        </p:nvSpPr>
        <p:spPr>
          <a:xfrm>
            <a:off x="508000" y="2921000"/>
            <a:ext cx="3238500" cy="3200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7" name="block1"/>
          <p:cNvSpPr/>
          <p:nvPr/>
        </p:nvSpPr>
        <p:spPr>
          <a:xfrm>
            <a:off x="800100" y="3276600"/>
            <a:ext cx="26670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2000" dirty="0"/>
          </a:p>
          <a:p>
            <a:pPr algn="l" indent="0" marL="0">
              <a:lnSpc>
                <a:spcPts val="2928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Internalize task</a:t>
            </a:r>
            <a:endParaRPr lang="en-US" sz="2000" dirty="0"/>
          </a:p>
          <a:p>
            <a:pPr algn="l" indent="0" marL="0">
              <a:lnSpc>
                <a:spcPts val="2440"/>
              </a:lnSpc>
              <a:spcBef>
                <a:spcPts val="11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Benchmark, criteria, source, anticipated thinking, and feedback idea.</a:t>
            </a:r>
            <a:endParaRPr lang="en-US" sz="2000" dirty="0"/>
          </a:p>
        </p:txBody>
      </p:sp>
      <p:sp>
        <p:nvSpPr>
          <p:cNvPr id="8" name="arrow1"/>
          <p:cNvSpPr/>
          <p:nvPr/>
        </p:nvSpPr>
        <p:spPr>
          <a:xfrm>
            <a:off x="3810000" y="4318000"/>
            <a:ext cx="60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5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500" dirty="0"/>
          </a:p>
        </p:txBody>
      </p:sp>
      <p:sp>
        <p:nvSpPr>
          <p:cNvPr id="9" name="carryforward-shape-8"/>
          <p:cNvSpPr/>
          <p:nvPr/>
        </p:nvSpPr>
        <p:spPr>
          <a:xfrm>
            <a:off x="4483100" y="2921000"/>
            <a:ext cx="3238500" cy="3200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block2"/>
          <p:cNvSpPr/>
          <p:nvPr/>
        </p:nvSpPr>
        <p:spPr>
          <a:xfrm>
            <a:off x="4775200" y="3276600"/>
            <a:ext cx="26670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2000" dirty="0"/>
          </a:p>
          <a:p>
            <a:pPr algn="l" indent="0" marL="0">
              <a:lnSpc>
                <a:spcPts val="2928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+ action</a:t>
            </a:r>
            <a:endParaRPr lang="en-US" sz="2000" dirty="0"/>
          </a:p>
          <a:p>
            <a:pPr algn="l" indent="0" marL="0">
              <a:lnSpc>
                <a:spcPts val="2440"/>
              </a:lnSpc>
              <a:spcBef>
                <a:spcPts val="11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criterion, a prompt, a student move, and revised evidence.</a:t>
            </a:r>
            <a:endParaRPr lang="en-US" sz="2000" dirty="0"/>
          </a:p>
        </p:txBody>
      </p:sp>
      <p:sp>
        <p:nvSpPr>
          <p:cNvPr id="11" name="arrow2"/>
          <p:cNvSpPr/>
          <p:nvPr/>
        </p:nvSpPr>
        <p:spPr>
          <a:xfrm>
            <a:off x="7785100" y="4318000"/>
            <a:ext cx="60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5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500" dirty="0"/>
          </a:p>
        </p:txBody>
      </p:sp>
      <p:sp>
        <p:nvSpPr>
          <p:cNvPr id="12" name="carryforward-shape-11"/>
          <p:cNvSpPr/>
          <p:nvPr/>
        </p:nvSpPr>
        <p:spPr>
          <a:xfrm>
            <a:off x="8458200" y="2921000"/>
            <a:ext cx="3238500" cy="3200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block3"/>
          <p:cNvSpPr/>
          <p:nvPr/>
        </p:nvSpPr>
        <p:spPr>
          <a:xfrm>
            <a:off x="8750300" y="3276600"/>
            <a:ext cx="26670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PD</a:t>
            </a:r>
            <a:endParaRPr lang="en-US" sz="2000" dirty="0"/>
          </a:p>
          <a:p>
            <a:pPr algn="l" indent="0" marL="0">
              <a:lnSpc>
                <a:spcPts val="2928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the bar</a:t>
            </a:r>
            <a:endParaRPr lang="en-US" sz="2000" dirty="0"/>
          </a:p>
          <a:p>
            <a:pPr algn="l" indent="0" marL="0">
              <a:lnSpc>
                <a:spcPts val="2440"/>
              </a:lnSpc>
              <a:spcBef>
                <a:spcPts val="11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small sample or anticipated response to compare expectations.</a:t>
            </a:r>
            <a:endParaRPr lang="en-US" sz="2000" dirty="0"/>
          </a:p>
        </p:txBody>
      </p:sp>
      <p:sp>
        <p:nvSpPr>
          <p:cNvPr id="14" name="arrow3"/>
          <p:cNvSpPr/>
          <p:nvPr/>
        </p:nvSpPr>
        <p:spPr>
          <a:xfrm>
            <a:off x="11760200" y="4318000"/>
            <a:ext cx="60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5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500" dirty="0"/>
          </a:p>
        </p:txBody>
      </p:sp>
      <p:sp>
        <p:nvSpPr>
          <p:cNvPr id="15" name="carryforward-shape-14"/>
          <p:cNvSpPr/>
          <p:nvPr/>
        </p:nvSpPr>
        <p:spPr>
          <a:xfrm>
            <a:off x="12433300" y="2921000"/>
            <a:ext cx="3314700" cy="3200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block4"/>
          <p:cNvSpPr/>
          <p:nvPr/>
        </p:nvSpPr>
        <p:spPr>
          <a:xfrm>
            <a:off x="12725400" y="3276600"/>
            <a:ext cx="27305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altLang="en-US" sz="15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000" dirty="0"/>
          </a:p>
          <a:p>
            <a:pPr algn="l" indent="0" marL="0">
              <a:lnSpc>
                <a:spcPts val="2928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evidence</a:t>
            </a:r>
            <a:endParaRPr lang="en-US" sz="2000" dirty="0"/>
          </a:p>
          <a:p>
            <a:pPr algn="l" indent="0" marL="0">
              <a:lnSpc>
                <a:spcPts val="2440"/>
              </a:lnSpc>
              <a:spcBef>
                <a:spcPts val="1100"/>
              </a:spcBef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samples and unit-test evidence where available inform the next lesson.</a:t>
            </a:r>
            <a:endParaRPr lang="en-US" sz="2000" dirty="0"/>
          </a:p>
        </p:txBody>
      </p:sp>
      <p:sp>
        <p:nvSpPr>
          <p:cNvPr id="17" name="carryforward-shape-16"/>
          <p:cNvSpPr/>
          <p:nvPr/>
        </p:nvSpPr>
        <p:spPr>
          <a:xfrm>
            <a:off x="508000" y="6959600"/>
            <a:ext cx="15240000" cy="939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8" name="anchor"/>
          <p:cNvSpPr/>
          <p:nvPr/>
        </p:nvSpPr>
        <p:spPr>
          <a:xfrm>
            <a:off x="863600" y="7213600"/>
            <a:ext cx="14224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Anchor: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Feedback is useful only when it leads students to take an observable next step in the same science task.</a:t>
            </a:r>
            <a:endParaRPr lang="en-US" sz="2100" dirty="0"/>
          </a:p>
        </p:txBody>
      </p:sp>
      <p:sp>
        <p:nvSpPr>
          <p:cNvPr id="19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carryforward-shape-19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ed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One High-Leverage Feedback Need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3208000" y="355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4:00–10:00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3716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Monday’s anticipated response or early student evidence to choose one criterion students can act on now. Do not try to address every need.</a:t>
            </a:r>
            <a:endParaRPr lang="en-US" sz="2300" dirty="0"/>
          </a:p>
        </p:txBody>
      </p:sp>
      <p:sp>
        <p:nvSpPr>
          <p:cNvPr id="6" name="need-shape-5"/>
          <p:cNvSpPr/>
          <p:nvPr/>
        </p:nvSpPr>
        <p:spPr>
          <a:xfrm>
            <a:off x="508000" y="2870200"/>
            <a:ext cx="4508500" cy="37338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notice-title"/>
          <p:cNvSpPr/>
          <p:nvPr/>
        </p:nvSpPr>
        <p:spPr>
          <a:xfrm>
            <a:off x="838200" y="3225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THE EVIDENCE</a:t>
            </a:r>
            <a:endParaRPr lang="en-US" sz="2500" dirty="0"/>
          </a:p>
        </p:txBody>
      </p:sp>
      <p:sp>
        <p:nvSpPr>
          <p:cNvPr id="8" name="notice-body"/>
          <p:cNvSpPr/>
          <p:nvPr/>
        </p:nvSpPr>
        <p:spPr>
          <a:xfrm>
            <a:off x="838200" y="3987800"/>
            <a:ext cx="3581400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already visible?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partial, missing, or confused?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matters most for this task?</a:t>
            </a:r>
            <a:endParaRPr lang="en-US" sz="2100" dirty="0"/>
          </a:p>
        </p:txBody>
      </p:sp>
      <p:sp>
        <p:nvSpPr>
          <p:cNvPr id="9" name="need-shape-8"/>
          <p:cNvSpPr/>
          <p:nvPr/>
        </p:nvSpPr>
        <p:spPr>
          <a:xfrm>
            <a:off x="5880100" y="2870200"/>
            <a:ext cx="4508500" cy="3733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choose-title"/>
          <p:cNvSpPr/>
          <p:nvPr/>
        </p:nvSpPr>
        <p:spPr>
          <a:xfrm>
            <a:off x="6210300" y="3225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CRITERION</a:t>
            </a:r>
            <a:endParaRPr lang="en-US" sz="2500" dirty="0"/>
          </a:p>
        </p:txBody>
      </p:sp>
      <p:sp>
        <p:nvSpPr>
          <p:cNvPr id="11" name="choose-body"/>
          <p:cNvSpPr/>
          <p:nvPr/>
        </p:nvSpPr>
        <p:spPr>
          <a:xfrm>
            <a:off x="6210300" y="3987800"/>
            <a:ext cx="3581400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 or conclusion</a:t>
            </a:r>
            <a:endParaRPr lang="en-US" sz="2100" dirty="0"/>
          </a:p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selection or accuracy</a:t>
            </a:r>
            <a:endParaRPr lang="en-US" sz="2100" dirty="0"/>
          </a:p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reasoning</a:t>
            </a:r>
            <a:endParaRPr lang="en-US" sz="2100" dirty="0"/>
          </a:p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Language, transitions, labels</a:t>
            </a:r>
            <a:endParaRPr lang="en-US" sz="2100" dirty="0"/>
          </a:p>
        </p:txBody>
      </p:sp>
      <p:sp>
        <p:nvSpPr>
          <p:cNvPr id="12" name="need-shape-11"/>
          <p:cNvSpPr/>
          <p:nvPr/>
        </p:nvSpPr>
        <p:spPr>
          <a:xfrm>
            <a:off x="11252200" y="2870200"/>
            <a:ext cx="4495800" cy="37338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check-title"/>
          <p:cNvSpPr/>
          <p:nvPr/>
        </p:nvSpPr>
        <p:spPr>
          <a:xfrm>
            <a:off x="11582400" y="32258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FIT</a:t>
            </a:r>
            <a:endParaRPr lang="en-US" sz="2500" dirty="0"/>
          </a:p>
        </p:txBody>
      </p:sp>
      <p:sp>
        <p:nvSpPr>
          <p:cNvPr id="14" name="check-body"/>
          <p:cNvSpPr/>
          <p:nvPr/>
        </p:nvSpPr>
        <p:spPr>
          <a:xfrm>
            <a:off x="11582400" y="3987800"/>
            <a:ext cx="3556000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Tied to the standard and task?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in a response?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Possible for students to act on today?</a:t>
            </a:r>
            <a:endParaRPr lang="en-US" sz="2100" dirty="0"/>
          </a:p>
        </p:txBody>
      </p:sp>
      <p:sp>
        <p:nvSpPr>
          <p:cNvPr id="15" name="need-shape-14"/>
          <p:cNvSpPr/>
          <p:nvPr/>
        </p:nvSpPr>
        <p:spPr>
          <a:xfrm>
            <a:off x="508000" y="7175500"/>
            <a:ext cx="15240000" cy="736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decision"/>
          <p:cNvSpPr/>
          <p:nvPr/>
        </p:nvSpPr>
        <p:spPr>
          <a:xfrm>
            <a:off x="812800" y="7366000"/>
            <a:ext cx="140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“Students need to strengthen ______ so they can ______ in this writing benchmark.”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need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eedback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Feedback That Causes a Student Action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3081000" y="3556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10:00–18:00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2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should point students to the criterion and ask them to examine, explain, revise, compare, correct, or apply learning. It does not complete the thinking for them.</a:t>
            </a:r>
            <a:endParaRPr lang="en-US" sz="2300" dirty="0"/>
          </a:p>
        </p:txBody>
      </p:sp>
      <p:sp>
        <p:nvSpPr>
          <p:cNvPr id="6" name="feedback-shape-5"/>
          <p:cNvSpPr/>
          <p:nvPr/>
        </p:nvSpPr>
        <p:spPr>
          <a:xfrm>
            <a:off x="508000" y="2844800"/>
            <a:ext cx="6959600" cy="3708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7" name="not-title"/>
          <p:cNvSpPr/>
          <p:nvPr/>
        </p:nvSpPr>
        <p:spPr>
          <a:xfrm>
            <a:off x="863600" y="3213100"/>
            <a:ext cx="558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AVOID: ANSWER-GIVING</a:t>
            </a:r>
            <a:endParaRPr lang="en-US" sz="2600" dirty="0"/>
          </a:p>
        </p:txBody>
      </p:sp>
      <p:sp>
        <p:nvSpPr>
          <p:cNvPr id="8" name="not-quote"/>
          <p:cNvSpPr/>
          <p:nvPr/>
        </p:nvSpPr>
        <p:spPr>
          <a:xfrm>
            <a:off x="863600" y="4102100"/>
            <a:ext cx="558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“Add a detail from the data table about the population.”</a:t>
            </a:r>
            <a:endParaRPr lang="en-US" sz="2500" dirty="0"/>
          </a:p>
        </p:txBody>
      </p:sp>
      <p:sp>
        <p:nvSpPr>
          <p:cNvPr id="9" name="not-body"/>
          <p:cNvSpPr/>
          <p:nvPr/>
        </p:nvSpPr>
        <p:spPr>
          <a:xfrm>
            <a:off x="863600" y="5613400"/>
            <a:ext cx="558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instruction may improve the response, but it does not ask the student to evaluate or explain evidence.</a:t>
            </a:r>
            <a:endParaRPr lang="en-US" sz="2000" dirty="0"/>
          </a:p>
        </p:txBody>
      </p:sp>
      <p:sp>
        <p:nvSpPr>
          <p:cNvPr id="10" name="feedback-shape-9"/>
          <p:cNvSpPr/>
          <p:nvPr/>
        </p:nvSpPr>
        <p:spPr>
          <a:xfrm>
            <a:off x="8280400" y="2844800"/>
            <a:ext cx="7467600" cy="37084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11" name="do-title"/>
          <p:cNvSpPr/>
          <p:nvPr/>
        </p:nvSpPr>
        <p:spPr>
          <a:xfrm>
            <a:off x="8636000" y="3213100"/>
            <a:ext cx="596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USE: CRITERION + ACTION</a:t>
            </a:r>
            <a:endParaRPr lang="en-US" sz="2600" dirty="0"/>
          </a:p>
        </p:txBody>
      </p:sp>
      <p:sp>
        <p:nvSpPr>
          <p:cNvPr id="12" name="do-quote"/>
          <p:cNvSpPr/>
          <p:nvPr/>
        </p:nvSpPr>
        <p:spPr>
          <a:xfrm>
            <a:off x="8636000" y="4102100"/>
            <a:ext cx="61595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“Underline the data that best supports your claim. Then add a sentence that explains how the trend supports your explanation.”</a:t>
            </a:r>
            <a:endParaRPr lang="en-US" sz="2400" dirty="0"/>
          </a:p>
        </p:txBody>
      </p:sp>
      <p:sp>
        <p:nvSpPr>
          <p:cNvPr id="13" name="do-body"/>
          <p:cNvSpPr/>
          <p:nvPr/>
        </p:nvSpPr>
        <p:spPr>
          <a:xfrm>
            <a:off x="8636000" y="5613400"/>
            <a:ext cx="615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prompt returns students to the evidence and requires a scientific reasoning move.</a:t>
            </a:r>
            <a:endParaRPr lang="en-US" sz="2000" dirty="0"/>
          </a:p>
        </p:txBody>
      </p:sp>
      <p:sp>
        <p:nvSpPr>
          <p:cNvPr id="14" name="feedback-shape-13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formula"/>
          <p:cNvSpPr/>
          <p:nvPr/>
        </p:nvSpPr>
        <p:spPr>
          <a:xfrm>
            <a:off x="812800" y="7416800"/>
            <a:ext cx="140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Formula: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Name the criterion → point back to the source, evidence, or response → ask for one next thinking step.</a:t>
            </a:r>
            <a:endParaRPr lang="en-US" sz="20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feedback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Course-Alike Refinement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954000" y="3556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18:00–30:00  •  12 MIN</a:t>
            </a:r>
            <a:endParaRPr lang="en-US" sz="1600" dirty="0"/>
          </a:p>
        </p:txBody>
      </p:sp>
      <p:sp>
        <p:nvSpPr>
          <p:cNvPr id="5" name="worktime-shape-4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r-label"/>
          <p:cNvSpPr/>
          <p:nvPr/>
        </p:nvSpPr>
        <p:spPr>
          <a:xfrm>
            <a:off x="863600" y="2247900"/>
            <a:ext cx="3098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800" dirty="0"/>
          </a:p>
        </p:txBody>
      </p:sp>
      <p:sp>
        <p:nvSpPr>
          <p:cNvPr id="7" name="timer"/>
          <p:cNvSpPr/>
          <p:nvPr/>
        </p:nvSpPr>
        <p:spPr>
          <a:xfrm>
            <a:off x="889000" y="2921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min</a:t>
            </a:r>
            <a:endParaRPr lang="en-US" sz="7400" dirty="0"/>
          </a:p>
        </p:txBody>
      </p:sp>
      <p:sp>
        <p:nvSpPr>
          <p:cNvPr id="8" name="worktime-shape-7"/>
          <p:cNvSpPr/>
          <p:nvPr/>
        </p:nvSpPr>
        <p:spPr>
          <a:xfrm>
            <a:off x="1041400" y="4978400"/>
            <a:ext cx="27432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timer-sub"/>
          <p:cNvSpPr/>
          <p:nvPr/>
        </p:nvSpPr>
        <p:spPr>
          <a:xfrm>
            <a:off x="850900" y="5384800"/>
            <a:ext cx="3530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independently first. Then use colleagues to test clarity, rigor, access, and student responsibility.</a:t>
            </a:r>
            <a:endParaRPr lang="en-US" sz="2000" dirty="0"/>
          </a:p>
        </p:txBody>
      </p:sp>
      <p:sp>
        <p:nvSpPr>
          <p:cNvPr id="10" name="worktime-shape-9"/>
          <p:cNvSpPr/>
          <p:nvPr/>
        </p:nvSpPr>
        <p:spPr>
          <a:xfrm>
            <a:off x="4826000" y="15748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do1"/>
          <p:cNvSpPr/>
          <p:nvPr/>
        </p:nvSpPr>
        <p:spPr>
          <a:xfrm>
            <a:off x="5181600" y="18542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Draft one feedback prompt.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Name the chosen criterion and point students back to their source, data, model, investigation, or response.</a:t>
            </a:r>
            <a:endParaRPr lang="en-US" sz="2100" dirty="0"/>
          </a:p>
        </p:txBody>
      </p:sp>
      <p:sp>
        <p:nvSpPr>
          <p:cNvPr id="12" name="worktime-shape-11"/>
          <p:cNvSpPr/>
          <p:nvPr/>
        </p:nvSpPr>
        <p:spPr>
          <a:xfrm>
            <a:off x="4826000" y="34036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do2"/>
          <p:cNvSpPr/>
          <p:nvPr/>
        </p:nvSpPr>
        <p:spPr>
          <a:xfrm>
            <a:off x="5181600" y="36830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State the student action.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Students will revise, annotate, add evidence, explain, compare, correct, or apply learning.</a:t>
            </a:r>
            <a:endParaRPr lang="en-US" sz="2100" dirty="0"/>
          </a:p>
        </p:txBody>
      </p:sp>
      <p:sp>
        <p:nvSpPr>
          <p:cNvPr id="14" name="worktime-shape-13"/>
          <p:cNvSpPr/>
          <p:nvPr/>
        </p:nvSpPr>
        <p:spPr>
          <a:xfrm>
            <a:off x="4826000" y="5232400"/>
            <a:ext cx="10922000" cy="1955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5" name="do3"/>
          <p:cNvSpPr/>
          <p:nvPr/>
        </p:nvSpPr>
        <p:spPr>
          <a:xfrm>
            <a:off x="5181600" y="5537200"/>
            <a:ext cx="984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Set the evidence look-for.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What revised writing or comparable science response would show the action worked? Use CUBS/CER only where it makes the thinking easier to see.</a:t>
            </a:r>
            <a:endParaRPr lang="en-US" sz="21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worktim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dpreview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 One Calibration Artifact for Wednesday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954000" y="3556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30:00–36:00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2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one concrete item from the same benchmark to Wednesday’s 2:30–3:30 p.m. Science Literacy PD so calibration strengthens this work rather than starting over.</a:t>
            </a:r>
            <a:endParaRPr lang="en-US" sz="2300" dirty="0"/>
          </a:p>
        </p:txBody>
      </p:sp>
      <p:sp>
        <p:nvSpPr>
          <p:cNvPr id="6" name="pdpreview-shape-5"/>
          <p:cNvSpPr/>
          <p:nvPr/>
        </p:nvSpPr>
        <p:spPr>
          <a:xfrm>
            <a:off x="508000" y="2921000"/>
            <a:ext cx="4572000" cy="3784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7" name="pdpreview-icon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600" y="3302000"/>
            <a:ext cx="533400" cy="533400"/>
          </a:xfrm>
          <a:prstGeom prst="rect">
            <a:avLst/>
          </a:prstGeom>
        </p:spPr>
      </p:pic>
      <p:sp>
        <p:nvSpPr>
          <p:cNvPr id="8" name="sample1"/>
          <p:cNvSpPr/>
          <p:nvPr/>
        </p:nvSpPr>
        <p:spPr>
          <a:xfrm>
            <a:off x="863600" y="4140200"/>
            <a:ext cx="3683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benchmark task</a:t>
            </a:r>
            <a:endParaRPr lang="en-US" sz="2200" dirty="0"/>
          </a:p>
          <a:p>
            <a:pPr algn="l" indent="0" marL="0">
              <a:lnSpc>
                <a:spcPts val="2750"/>
              </a:lnSpc>
              <a:spcBef>
                <a:spcPts val="1200"/>
              </a:spcBef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Prompt, source/evidence, student product, and success criteria or exemplar.</a:t>
            </a:r>
            <a:endParaRPr lang="en-US" sz="2200" dirty="0"/>
          </a:p>
        </p:txBody>
      </p:sp>
      <p:sp>
        <p:nvSpPr>
          <p:cNvPr id="9" name="pdpreview-shape-8"/>
          <p:cNvSpPr/>
          <p:nvPr/>
        </p:nvSpPr>
        <p:spPr>
          <a:xfrm>
            <a:off x="5842000" y="2921000"/>
            <a:ext cx="4572000" cy="37846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pic>
        <p:nvPicPr>
          <p:cNvPr id="10" name="pdpreview-icon-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7600" y="3302000"/>
            <a:ext cx="533400" cy="533400"/>
          </a:xfrm>
          <a:prstGeom prst="rect">
            <a:avLst/>
          </a:prstGeom>
        </p:spPr>
      </p:pic>
      <p:sp>
        <p:nvSpPr>
          <p:cNvPr id="11" name="sample2"/>
          <p:cNvSpPr/>
          <p:nvPr/>
        </p:nvSpPr>
        <p:spPr>
          <a:xfrm>
            <a:off x="6197600" y="4140200"/>
            <a:ext cx="3683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response to discuss</a:t>
            </a:r>
            <a:endParaRPr lang="en-US" sz="2200" dirty="0"/>
          </a:p>
          <a:p>
            <a:pPr algn="l" indent="0" marL="0">
              <a:lnSpc>
                <a:spcPts val="2750"/>
              </a:lnSpc>
              <a:spcBef>
                <a:spcPts val="1200"/>
              </a:spcBef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de-identified student sample, a planned exemplar, or an anticipated partial response.</a:t>
            </a:r>
            <a:endParaRPr lang="en-US" sz="2200" dirty="0"/>
          </a:p>
        </p:txBody>
      </p:sp>
      <p:sp>
        <p:nvSpPr>
          <p:cNvPr id="12" name="pdpreview-shape-11"/>
          <p:cNvSpPr/>
          <p:nvPr/>
        </p:nvSpPr>
        <p:spPr>
          <a:xfrm>
            <a:off x="11176000" y="2921000"/>
            <a:ext cx="4572000" cy="3784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3" name="pdpreview-icon-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600" y="3302000"/>
            <a:ext cx="533400" cy="533400"/>
          </a:xfrm>
          <a:prstGeom prst="rect">
            <a:avLst/>
          </a:prstGeom>
        </p:spPr>
      </p:pic>
      <p:sp>
        <p:nvSpPr>
          <p:cNvPr id="14" name="sample3"/>
          <p:cNvSpPr/>
          <p:nvPr/>
        </p:nvSpPr>
        <p:spPr>
          <a:xfrm>
            <a:off x="11531600" y="4140200"/>
            <a:ext cx="3683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feedback challenge</a:t>
            </a:r>
            <a:endParaRPr lang="en-US" sz="2200" dirty="0"/>
          </a:p>
          <a:p>
            <a:pPr algn="l" indent="0" marL="0">
              <a:lnSpc>
                <a:spcPts val="2750"/>
              </a:lnSpc>
              <a:spcBef>
                <a:spcPts val="1200"/>
              </a:spcBef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prompt and student action that need to be clearer, more specific, or more usable.</a:t>
            </a:r>
            <a:endParaRPr lang="en-US" sz="2200" dirty="0"/>
          </a:p>
        </p:txBody>
      </p:sp>
      <p:sp>
        <p:nvSpPr>
          <p:cNvPr id="15" name="pdpreview-shape-14"/>
          <p:cNvSpPr/>
          <p:nvPr/>
        </p:nvSpPr>
        <p:spPr>
          <a:xfrm>
            <a:off x="508000" y="7289800"/>
            <a:ext cx="15240000" cy="6223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pd-note"/>
          <p:cNvSpPr/>
          <p:nvPr/>
        </p:nvSpPr>
        <p:spPr>
          <a:xfrm>
            <a:off x="812800" y="7454900"/>
            <a:ext cx="140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purpose:</a:t>
            </a: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calibrate expectations for the same task, criteria, feedback, revision, and next evidence—not teacher or course comparisons.</a:t>
            </a:r>
            <a:endParaRPr lang="en-US" sz="19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8" name="pdpreview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lose-kicker"/>
          <p:cNvSpPr/>
          <p:nvPr/>
        </p:nvSpPr>
        <p:spPr>
          <a:xfrm>
            <a:off x="889000" y="1168400"/>
            <a:ext cx="10414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PREPARE FOR CALIBRATION  •  36:00–41:00  •  5 MIN</a:t>
            </a:r>
            <a:endParaRPr lang="en-US" sz="1700" dirty="0"/>
          </a:p>
        </p:txBody>
      </p:sp>
      <p:sp>
        <p:nvSpPr>
          <p:cNvPr id="4" name="close-title"/>
          <p:cNvSpPr/>
          <p:nvPr/>
        </p:nvSpPr>
        <p:spPr>
          <a:xfrm>
            <a:off x="889000" y="1917700"/>
            <a:ext cx="13081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Carry a usable feedback loop into Wednesday.</a:t>
            </a:r>
            <a:endParaRPr lang="en-US" sz="4400" dirty="0"/>
          </a:p>
        </p:txBody>
      </p:sp>
      <p:sp>
        <p:nvSpPr>
          <p:cNvPr id="5" name="close-shape-4"/>
          <p:cNvSpPr/>
          <p:nvPr/>
        </p:nvSpPr>
        <p:spPr>
          <a:xfrm>
            <a:off x="889000" y="3263900"/>
            <a:ext cx="13716000" cy="3733800"/>
          </a:xfrm>
          <a:prstGeom prst="rect">
            <a:avLst/>
          </a:prstGeom>
          <a:solidFill>
            <a:srgbClr val="2D2E31"/>
          </a:solidFill>
          <a:ln w="12700">
            <a:solidFill>
              <a:srgbClr val="72777D"/>
            </a:solidFill>
            <a:prstDash val="solid"/>
          </a:ln>
        </p:spPr>
      </p:sp>
      <p:sp>
        <p:nvSpPr>
          <p:cNvPr id="6" name="close-list"/>
          <p:cNvSpPr/>
          <p:nvPr/>
        </p:nvSpPr>
        <p:spPr>
          <a:xfrm>
            <a:off x="1422400" y="3708400"/>
            <a:ext cx="12522200" cy="271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altLang="en-US" sz="23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leave, confirm: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benchmark task and priority criterion remain visible;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feedback prompt sends students to a specific next thinking step;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student action will produce evidence you can examine; and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have one task, sample, or feedback challenge ready for Wednesday.</a:t>
            </a:r>
            <a:endParaRPr lang="en-US" sz="2300" dirty="0"/>
          </a:p>
        </p:txBody>
      </p:sp>
      <p:sp>
        <p:nvSpPr>
          <p:cNvPr id="7" name="close-footer"/>
          <p:cNvSpPr/>
          <p:nvPr/>
        </p:nvSpPr>
        <p:spPr>
          <a:xfrm>
            <a:off x="889000" y="7442200"/>
            <a:ext cx="1270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Friday: use resulting writing samples and unit-test evidence where available to identify a learning pattern and adjust the next experience.</a:t>
            </a:r>
            <a:endParaRPr lang="en-US" sz="2300" dirty="0"/>
          </a:p>
        </p:txBody>
      </p:sp>
      <p:sp>
        <p:nvSpPr>
          <p:cNvPr id="8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9" name="close-shape-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Tuesday, October 27 PLC — Feedback and Student Action</dc:title>
  <dc:subject>Tuesday, October 27 PLC — Feedback and Student Action</dc:subject>
  <dc:creator>Manus</dc:creator>
  <cp:lastModifiedBy>Manus</cp:lastModifiedBy>
  <cp:revision>1</cp:revision>
  <dcterms:created xsi:type="dcterms:W3CDTF">2026-10-23T16:06:11Z</dcterms:created>
  <dcterms:modified xsi:type="dcterms:W3CDTF">2026-10-23T16:06:11Z</dcterms:modified>
</cp:coreProperties>
</file>
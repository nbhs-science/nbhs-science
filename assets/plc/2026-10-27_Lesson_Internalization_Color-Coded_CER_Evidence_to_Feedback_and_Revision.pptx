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cover-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TUESDAY, OCTOBER 27, 2026  •  41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2954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 Feedback + Revision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the Same Writing Benchmark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cover-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Monday’s anticipated student need into one criterion-based prompt, one explicit student action, and one evidence look-for.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cover-outcome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OUTCOME</a:t>
            </a:r>
            <a:endParaRPr lang="en-US" sz="1300" dirty="0"/>
          </a:p>
        </p:txBody>
      </p:sp>
      <p:sp>
        <p:nvSpPr>
          <p:cNvPr id="10" name="cover-outcome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one feedback prompt, one student action, and one evidence look-for.</a:t>
            </a:r>
            <a:endParaRPr lang="en-US" sz="1700" dirty="0"/>
          </a:p>
        </p:txBody>
      </p:sp>
      <p:sp>
        <p:nvSpPr>
          <p:cNvPr id="11" name="cover-footer"/>
          <p:cNvSpPr/>
          <p:nvPr/>
        </p:nvSpPr>
        <p:spPr>
          <a:xfrm>
            <a:off x="889000" y="7493000"/>
            <a:ext cx="1244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3 and 4; Team Deep Dive Steps 3–5.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ryforward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Forward the Same Writing Benchmark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priority standard, writing task, source/evidence, and criterion remain the same. Today sharpens the response students will make after feedback.</a:t>
            </a:r>
            <a:endParaRPr lang="en-US" sz="2300" dirty="0"/>
          </a:p>
        </p:txBody>
      </p:sp>
      <p:sp>
        <p:nvSpPr>
          <p:cNvPr id="6" name="carryforward-shape-5"/>
          <p:cNvSpPr/>
          <p:nvPr/>
        </p:nvSpPr>
        <p:spPr>
          <a:xfrm>
            <a:off x="508000" y="2921000"/>
            <a:ext cx="3238500" cy="3200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block1"/>
          <p:cNvSpPr/>
          <p:nvPr/>
        </p:nvSpPr>
        <p:spPr>
          <a:xfrm>
            <a:off x="8001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task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Benchmark, criteria, source, anticipated thinking, and feedback idea.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8100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9" name="carryforward-shape-8"/>
          <p:cNvSpPr/>
          <p:nvPr/>
        </p:nvSpPr>
        <p:spPr>
          <a:xfrm>
            <a:off x="4483100" y="2921000"/>
            <a:ext cx="323850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block2"/>
          <p:cNvSpPr/>
          <p:nvPr/>
        </p:nvSpPr>
        <p:spPr>
          <a:xfrm>
            <a:off x="47752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+ action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a prompt, a student move, and revised evidence.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77851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12" name="carryforward-shape-11"/>
          <p:cNvSpPr/>
          <p:nvPr/>
        </p:nvSpPr>
        <p:spPr>
          <a:xfrm>
            <a:off x="8458200" y="2921000"/>
            <a:ext cx="323850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block3"/>
          <p:cNvSpPr/>
          <p:nvPr/>
        </p:nvSpPr>
        <p:spPr>
          <a:xfrm>
            <a:off x="87503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small sample or anticipated response to compare expectations.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17602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15" name="carryforward-shape-14"/>
          <p:cNvSpPr/>
          <p:nvPr/>
        </p:nvSpPr>
        <p:spPr>
          <a:xfrm>
            <a:off x="12433300" y="2921000"/>
            <a:ext cx="3314700" cy="3200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block4"/>
          <p:cNvSpPr/>
          <p:nvPr/>
        </p:nvSpPr>
        <p:spPr>
          <a:xfrm>
            <a:off x="12725400" y="3276600"/>
            <a:ext cx="27305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evidence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and unit-test evidence where available inform the next lesson.</a:t>
            </a:r>
            <a:endParaRPr lang="en-US" sz="2000" dirty="0"/>
          </a:p>
        </p:txBody>
      </p:sp>
      <p:sp>
        <p:nvSpPr>
          <p:cNvPr id="17" name="carryforward-shape-16"/>
          <p:cNvSpPr/>
          <p:nvPr/>
        </p:nvSpPr>
        <p:spPr>
          <a:xfrm>
            <a:off x="508000" y="69596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8" name="anchor"/>
          <p:cNvSpPr/>
          <p:nvPr/>
        </p:nvSpPr>
        <p:spPr>
          <a:xfrm>
            <a:off x="863600" y="7213600"/>
            <a:ext cx="1422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Feedback is useful only when it leads students to take an observable next step in the same science task.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carryforward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ed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One High-Leverage Feedback Need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371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Monday’s anticipated response or early student evidence to choose one criterion students can act on now. Do not try to address every need.</a:t>
            </a:r>
            <a:endParaRPr lang="en-US" sz="2300" dirty="0"/>
          </a:p>
        </p:txBody>
      </p:sp>
      <p:sp>
        <p:nvSpPr>
          <p:cNvPr id="6" name="need-shape-5"/>
          <p:cNvSpPr/>
          <p:nvPr/>
        </p:nvSpPr>
        <p:spPr>
          <a:xfrm>
            <a:off x="508000" y="2870200"/>
            <a:ext cx="4508500" cy="3733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notice-title"/>
          <p:cNvSpPr/>
          <p:nvPr/>
        </p:nvSpPr>
        <p:spPr>
          <a:xfrm>
            <a:off x="8382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THE EVIDENCE</a:t>
            </a:r>
            <a:endParaRPr lang="en-US" sz="2500" dirty="0"/>
          </a:p>
        </p:txBody>
      </p:sp>
      <p:sp>
        <p:nvSpPr>
          <p:cNvPr id="8" name="notice-body"/>
          <p:cNvSpPr/>
          <p:nvPr/>
        </p:nvSpPr>
        <p:spPr>
          <a:xfrm>
            <a:off x="838200" y="3987800"/>
            <a:ext cx="35814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already visible?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partial, missing, or confused?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matters most for this task?</a:t>
            </a:r>
            <a:endParaRPr lang="en-US" sz="2100" dirty="0"/>
          </a:p>
        </p:txBody>
      </p:sp>
      <p:sp>
        <p:nvSpPr>
          <p:cNvPr id="9" name="need-shape-8"/>
          <p:cNvSpPr/>
          <p:nvPr/>
        </p:nvSpPr>
        <p:spPr>
          <a:xfrm>
            <a:off x="5880100" y="2870200"/>
            <a:ext cx="4508500" cy="3733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choose-title"/>
          <p:cNvSpPr/>
          <p:nvPr/>
        </p:nvSpPr>
        <p:spPr>
          <a:xfrm>
            <a:off x="62103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CRITERION</a:t>
            </a:r>
            <a:endParaRPr lang="en-US" sz="2500" dirty="0"/>
          </a:p>
        </p:txBody>
      </p:sp>
      <p:sp>
        <p:nvSpPr>
          <p:cNvPr id="11" name="choose-body"/>
          <p:cNvSpPr/>
          <p:nvPr/>
        </p:nvSpPr>
        <p:spPr>
          <a:xfrm>
            <a:off x="6210300" y="3987800"/>
            <a:ext cx="35814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or conclusion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selection or accuracy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reasoning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Language, transitions, labels</a:t>
            </a:r>
            <a:endParaRPr lang="en-US" sz="2100" dirty="0"/>
          </a:p>
        </p:txBody>
      </p:sp>
      <p:sp>
        <p:nvSpPr>
          <p:cNvPr id="12" name="need-shape-11"/>
          <p:cNvSpPr/>
          <p:nvPr/>
        </p:nvSpPr>
        <p:spPr>
          <a:xfrm>
            <a:off x="11252200" y="2870200"/>
            <a:ext cx="4495800" cy="3733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check-title"/>
          <p:cNvSpPr/>
          <p:nvPr/>
        </p:nvSpPr>
        <p:spPr>
          <a:xfrm>
            <a:off x="115824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FIT</a:t>
            </a:r>
            <a:endParaRPr lang="en-US" sz="2500" dirty="0"/>
          </a:p>
        </p:txBody>
      </p:sp>
      <p:sp>
        <p:nvSpPr>
          <p:cNvPr id="14" name="check-body"/>
          <p:cNvSpPr/>
          <p:nvPr/>
        </p:nvSpPr>
        <p:spPr>
          <a:xfrm>
            <a:off x="11582400" y="3987800"/>
            <a:ext cx="35560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Tied to the standard and task?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in a response?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Possible for students to act on today?</a:t>
            </a:r>
            <a:endParaRPr lang="en-US" sz="2100" dirty="0"/>
          </a:p>
        </p:txBody>
      </p:sp>
      <p:sp>
        <p:nvSpPr>
          <p:cNvPr id="15" name="need-shape-14"/>
          <p:cNvSpPr/>
          <p:nvPr/>
        </p:nvSpPr>
        <p:spPr>
          <a:xfrm>
            <a:off x="508000" y="71755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decision"/>
          <p:cNvSpPr/>
          <p:nvPr/>
        </p:nvSpPr>
        <p:spPr>
          <a:xfrm>
            <a:off x="812800" y="73660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need to strengthen ______ so they can ______ in this writing benchmark.”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need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Feedback That Causes a Student Action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10:00–18:00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should point students to the criterion and ask them to examine, explain, revise, compare, correct, or apply learning. It does not complete the thinking for them.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508000" y="2844800"/>
            <a:ext cx="6959600" cy="3708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not-title"/>
          <p:cNvSpPr/>
          <p:nvPr/>
        </p:nvSpPr>
        <p:spPr>
          <a:xfrm>
            <a:off x="863600" y="3213100"/>
            <a:ext cx="558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AVOID: ANSWER-GIVING</a:t>
            </a:r>
            <a:endParaRPr lang="en-US" sz="2600" dirty="0"/>
          </a:p>
        </p:txBody>
      </p:sp>
      <p:sp>
        <p:nvSpPr>
          <p:cNvPr id="8" name="not-quote"/>
          <p:cNvSpPr/>
          <p:nvPr/>
        </p:nvSpPr>
        <p:spPr>
          <a:xfrm>
            <a:off x="863600" y="4102100"/>
            <a:ext cx="558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a detail from the data table about the population.”</a:t>
            </a:r>
            <a:endParaRPr lang="en-US" sz="2500" dirty="0"/>
          </a:p>
        </p:txBody>
      </p:sp>
      <p:sp>
        <p:nvSpPr>
          <p:cNvPr id="9" name="not-body"/>
          <p:cNvSpPr/>
          <p:nvPr/>
        </p:nvSpPr>
        <p:spPr>
          <a:xfrm>
            <a:off x="863600" y="5613400"/>
            <a:ext cx="558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instruction may improve the response, but it does not ask the student to evaluate or explain evidence.</a:t>
            </a:r>
            <a:endParaRPr lang="en-US" sz="2000" dirty="0"/>
          </a:p>
        </p:txBody>
      </p:sp>
      <p:sp>
        <p:nvSpPr>
          <p:cNvPr id="10" name="feedback-shape-9"/>
          <p:cNvSpPr/>
          <p:nvPr/>
        </p:nvSpPr>
        <p:spPr>
          <a:xfrm>
            <a:off x="8280400" y="2844800"/>
            <a:ext cx="7467600" cy="3708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11" name="do-title"/>
          <p:cNvSpPr/>
          <p:nvPr/>
        </p:nvSpPr>
        <p:spPr>
          <a:xfrm>
            <a:off x="8636000" y="3213100"/>
            <a:ext cx="596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USE: CRITERION + ACTION</a:t>
            </a:r>
            <a:endParaRPr lang="en-US" sz="2600" dirty="0"/>
          </a:p>
        </p:txBody>
      </p:sp>
      <p:sp>
        <p:nvSpPr>
          <p:cNvPr id="12" name="do-quote"/>
          <p:cNvSpPr/>
          <p:nvPr/>
        </p:nvSpPr>
        <p:spPr>
          <a:xfrm>
            <a:off x="8636000" y="4102100"/>
            <a:ext cx="61595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data that best supports your claim. Then add a sentence that explains how the trend supports your explanation.”</a:t>
            </a:r>
            <a:endParaRPr lang="en-US" sz="2400" dirty="0"/>
          </a:p>
        </p:txBody>
      </p:sp>
      <p:sp>
        <p:nvSpPr>
          <p:cNvPr id="13" name="do-body"/>
          <p:cNvSpPr/>
          <p:nvPr/>
        </p:nvSpPr>
        <p:spPr>
          <a:xfrm>
            <a:off x="8636000" y="5613400"/>
            <a:ext cx="615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prompt returns students to the evidence and requires a scientific reasoning move.</a:t>
            </a:r>
            <a:endParaRPr lang="en-US" sz="2000" dirty="0"/>
          </a:p>
        </p:txBody>
      </p:sp>
      <p:sp>
        <p:nvSpPr>
          <p:cNvPr id="14" name="feedback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formula"/>
          <p:cNvSpPr/>
          <p:nvPr/>
        </p:nvSpPr>
        <p:spPr>
          <a:xfrm>
            <a:off x="812800" y="74168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criterion → point back to the source, evidence, or response → ask for one next thinking step.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feedback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Refinement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18:00–30:00  •  12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530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independently first. Then use colleagues to test clarity, rigor, access, and student responsibility.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Draft one feedback prompt.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chosen criterion and point students back to their source, data, model, investigation, or response.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State the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Students will identify, complete, or revise the claim, evidence, or reasoning; then explain, compare, correct, or apply learning.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Set the evidence look-for.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completed or revised CER would show the action worked and met the criterion? Use CUBS/CER only where it makes the thinking easier to see.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dpreview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One Calibration Artifact for Wednesday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30:00–36:00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concrete item from the same benchmark to Wednesday’s 2:30–3:30 p.m. Science Literacy PD so calibration strengthens this work rather than starting over.</a:t>
            </a:r>
            <a:endParaRPr lang="en-US" sz="2300" dirty="0"/>
          </a:p>
        </p:txBody>
      </p:sp>
      <p:sp>
        <p:nvSpPr>
          <p:cNvPr id="6" name="pdpreview-shape-5"/>
          <p:cNvSpPr/>
          <p:nvPr/>
        </p:nvSpPr>
        <p:spPr>
          <a:xfrm>
            <a:off x="508000" y="2921000"/>
            <a:ext cx="4572000" cy="3784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pdpreview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00" y="3302000"/>
            <a:ext cx="533400" cy="533400"/>
          </a:xfrm>
          <a:prstGeom prst="rect">
            <a:avLst/>
          </a:prstGeom>
        </p:spPr>
      </p:pic>
      <p:sp>
        <p:nvSpPr>
          <p:cNvPr id="8" name="sample1"/>
          <p:cNvSpPr/>
          <p:nvPr/>
        </p:nvSpPr>
        <p:spPr>
          <a:xfrm>
            <a:off x="863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benchmark task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Prompt, source/evidence, student product, and success criteria or exemplar.</a:t>
            </a:r>
            <a:endParaRPr lang="en-US" sz="2200" dirty="0"/>
          </a:p>
        </p:txBody>
      </p:sp>
      <p:sp>
        <p:nvSpPr>
          <p:cNvPr id="9" name="pdpreview-shape-8"/>
          <p:cNvSpPr/>
          <p:nvPr/>
        </p:nvSpPr>
        <p:spPr>
          <a:xfrm>
            <a:off x="5842000" y="2921000"/>
            <a:ext cx="4572000" cy="3784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pic>
        <p:nvPicPr>
          <p:cNvPr id="10" name="pdpreview-icon-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3302000"/>
            <a:ext cx="533400" cy="533400"/>
          </a:xfrm>
          <a:prstGeom prst="rect">
            <a:avLst/>
          </a:prstGeom>
        </p:spPr>
      </p:pic>
      <p:sp>
        <p:nvSpPr>
          <p:cNvPr id="11" name="sample2"/>
          <p:cNvSpPr/>
          <p:nvPr/>
        </p:nvSpPr>
        <p:spPr>
          <a:xfrm>
            <a:off x="6197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response to discuss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de-identified student sample, a planned exemplar, or an anticipated partial response.</a:t>
            </a:r>
            <a:endParaRPr lang="en-US" sz="2200" dirty="0"/>
          </a:p>
        </p:txBody>
      </p:sp>
      <p:sp>
        <p:nvSpPr>
          <p:cNvPr id="12" name="pdpreview-shape-11"/>
          <p:cNvSpPr/>
          <p:nvPr/>
        </p:nvSpPr>
        <p:spPr>
          <a:xfrm>
            <a:off x="11176000" y="2921000"/>
            <a:ext cx="4572000" cy="3784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3" name="pdpreview-icon-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600" y="3302000"/>
            <a:ext cx="533400" cy="533400"/>
          </a:xfrm>
          <a:prstGeom prst="rect">
            <a:avLst/>
          </a:prstGeom>
        </p:spPr>
      </p:pic>
      <p:sp>
        <p:nvSpPr>
          <p:cNvPr id="14" name="sample3"/>
          <p:cNvSpPr/>
          <p:nvPr/>
        </p:nvSpPr>
        <p:spPr>
          <a:xfrm>
            <a:off x="11531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feedback challenge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prompt and student action that need to be clearer, more specific, or more usable.</a:t>
            </a:r>
            <a:endParaRPr lang="en-US" sz="2200" dirty="0"/>
          </a:p>
        </p:txBody>
      </p:sp>
      <p:sp>
        <p:nvSpPr>
          <p:cNvPr id="15" name="pdpreview-shape-14"/>
          <p:cNvSpPr/>
          <p:nvPr/>
        </p:nvSpPr>
        <p:spPr>
          <a:xfrm>
            <a:off x="508000" y="7289800"/>
            <a:ext cx="15240000" cy="6223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pd-note"/>
          <p:cNvSpPr/>
          <p:nvPr/>
        </p:nvSpPr>
        <p:spPr>
          <a:xfrm>
            <a:off x="812800" y="74549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purpose: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calibrate expectations for the same task, criteria, feedback, revision, and next evidence—not teacher or course comparisons.</a:t>
            </a:r>
            <a:endParaRPr lang="en-US" sz="19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8" name="pdpreview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41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CALIBRATION  •  36:00–41:00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08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a usable feedback loop into Wednesday.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263900"/>
            <a:ext cx="13716000" cy="37338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list"/>
          <p:cNvSpPr/>
          <p:nvPr/>
        </p:nvSpPr>
        <p:spPr>
          <a:xfrm>
            <a:off x="1422400" y="3708400"/>
            <a:ext cx="12522200" cy="271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altLang="en-US" sz="23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leave, confirm: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benchmark task and priority criterion remain visible;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feedback prompt sends students to a specific next thinking step;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action will produce evidence you can examine; and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have one task, sample, or feedback challenge ready for Wednesday.</a:t>
            </a:r>
            <a:endParaRPr lang="en-US" sz="2300" dirty="0"/>
          </a:p>
        </p:txBody>
      </p:sp>
      <p:sp>
        <p:nvSpPr>
          <p:cNvPr id="7" name="close-footer"/>
          <p:cNvSpPr/>
          <p:nvPr/>
        </p:nvSpPr>
        <p:spPr>
          <a:xfrm>
            <a:off x="889000" y="7442200"/>
            <a:ext cx="1270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Friday: use resulting writing samples and unit-test evidence where available to identify a learning pattern and adjust the next experience.</a:t>
            </a:r>
            <a:endParaRPr lang="en-US" sz="2300" dirty="0"/>
          </a:p>
        </p:txBody>
      </p:sp>
      <p:sp>
        <p:nvSpPr>
          <p:cNvPr id="8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9" name="close-shape-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Tuesday, October 27 PLC — Feedback and Student Action</dc:title>
  <dc:subject>Tuesday, October 27 PLC — Feedback and Student Action</dc:subject>
  <dc:creator>Manus</dc:creator>
  <cp:lastModifiedBy>Manus</cp:lastModifiedBy>
  <cp:revision>1</cp:revision>
  <dcterms:created xsi:type="dcterms:W3CDTF">2026-10-23T16:34:44Z</dcterms:created>
  <dcterms:modified xsi:type="dcterms:W3CDTF">2026-10-23T16:34:44Z</dcterms:modified>
</cp:coreProperties>
</file>
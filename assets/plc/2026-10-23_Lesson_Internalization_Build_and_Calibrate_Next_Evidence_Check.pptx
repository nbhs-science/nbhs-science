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accent-block"/>
          <p:cNvSpPr/>
          <p:nvPr/>
        </p:nvSpPr>
        <p:spPr>
          <a:xfrm>
            <a:off x="914400" y="1549400"/>
            <a:ext cx="228600" cy="5359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cover-session"/>
          <p:cNvSpPr/>
          <p:nvPr/>
        </p:nvSpPr>
        <p:spPr>
          <a:xfrm>
            <a:off x="1549400" y="1041400"/>
            <a:ext cx="1016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OCTOBER 23, 2026 · 46 MINUTES · GRADES 9–12 SCIENCE</a:t>
            </a:r>
            <a:endParaRPr lang="en-US" sz="1600" dirty="0"/>
          </a:p>
        </p:txBody>
      </p:sp>
      <p:sp>
        <p:nvSpPr>
          <p:cNvPr id="5" name="cover-title"/>
          <p:cNvSpPr/>
          <p:nvPr/>
        </p:nvSpPr>
        <p:spPr>
          <a:xfrm>
            <a:off x="1549400" y="1981200"/>
            <a:ext cx="101600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altLang="en-US" sz="6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Calibrate the Next Evidence Check</a:t>
            </a:r>
            <a:endParaRPr lang="en-US" sz="6000" dirty="0"/>
          </a:p>
        </p:txBody>
      </p:sp>
      <p:sp>
        <p:nvSpPr>
          <p:cNvPr id="6" name="cover-subtitle"/>
          <p:cNvSpPr/>
          <p:nvPr/>
        </p:nvSpPr>
        <p:spPr>
          <a:xfrm>
            <a:off x="1549400" y="4521200"/>
            <a:ext cx="946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altLang="en-US" sz="240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or refine a writing benchmark or comparable evidence task, success criteria, and feedback-to-action plan.</a:t>
            </a:r>
            <a:endParaRPr lang="en-US" sz="2400" dirty="0"/>
          </a:p>
        </p:txBody>
      </p:sp>
      <p:sp>
        <p:nvSpPr>
          <p:cNvPr id="7" name="right-panel"/>
          <p:cNvSpPr/>
          <p:nvPr/>
        </p:nvSpPr>
        <p:spPr>
          <a:xfrm>
            <a:off x="12242800" y="1193800"/>
            <a:ext cx="2921000" cy="6832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panel-label"/>
          <p:cNvSpPr/>
          <p:nvPr/>
        </p:nvSpPr>
        <p:spPr>
          <a:xfrm>
            <a:off x="12598400" y="16002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WORKING CYCLE</a:t>
            </a:r>
            <a:endParaRPr lang="en-US" sz="1500" dirty="0"/>
          </a:p>
        </p:txBody>
      </p:sp>
      <p:sp>
        <p:nvSpPr>
          <p:cNvPr id="9" name="panel-flow"/>
          <p:cNvSpPr/>
          <p:nvPr/>
        </p:nvSpPr>
        <p:spPr>
          <a:xfrm>
            <a:off x="12598400" y="2374900"/>
            <a:ext cx="2082800" cy="396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skill</a:t>
            </a:r>
            <a:endParaRPr lang="en-US" sz="25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5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task</a:t>
            </a:r>
            <a:endParaRPr lang="en-US" sz="25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5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+ action</a:t>
            </a:r>
            <a:endParaRPr lang="en-US" sz="25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500" dirty="0"/>
          </a:p>
          <a:p>
            <a:pPr algn="l" indent="0" marL="0">
              <a:lnSpc>
                <a:spcPts val="337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evidence</a:t>
            </a:r>
            <a:endParaRPr lang="en-US" sz="2500" dirty="0"/>
          </a:p>
        </p:txBody>
      </p:sp>
      <p:sp>
        <p:nvSpPr>
          <p:cNvPr id="10" name="cover-footer"/>
          <p:cNvSpPr/>
          <p:nvPr/>
        </p:nvSpPr>
        <p:spPr>
          <a:xfrm>
            <a:off x="1549400" y="8026400"/>
            <a:ext cx="965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STANDARDS-ALIGNED EVIDENCE &amp; CALIBRATION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76200"/>
            <a:ext cx="16256000" cy="1193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4318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Goals Need a Shared Evidence Check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762000" y="1651000"/>
            <a:ext cx="1397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task is the bridge between goals, instruction, student action, and the next planning decision.</a:t>
            </a:r>
            <a:endParaRPr lang="en-US" sz="2400" dirty="0"/>
          </a:p>
        </p:txBody>
      </p:sp>
      <p:sp>
        <p:nvSpPr>
          <p:cNvPr id="6" name="one"/>
          <p:cNvSpPr/>
          <p:nvPr/>
        </p:nvSpPr>
        <p:spPr>
          <a:xfrm>
            <a:off x="762000" y="3048000"/>
            <a:ext cx="2476500" cy="2286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one-t"/>
          <p:cNvSpPr/>
          <p:nvPr/>
        </p:nvSpPr>
        <p:spPr>
          <a:xfrm>
            <a:off x="1041400" y="3403600"/>
            <a:ext cx="190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standard + skill</a:t>
            </a:r>
            <a:endParaRPr lang="en-US" sz="2200" dirty="0"/>
          </a:p>
        </p:txBody>
      </p:sp>
      <p:sp>
        <p:nvSpPr>
          <p:cNvPr id="8" name="a1"/>
          <p:cNvSpPr/>
          <p:nvPr/>
        </p:nvSpPr>
        <p:spPr>
          <a:xfrm>
            <a:off x="3238500" y="4191000"/>
            <a:ext cx="5715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9" name="two"/>
          <p:cNvSpPr/>
          <p:nvPr/>
        </p:nvSpPr>
        <p:spPr>
          <a:xfrm>
            <a:off x="3810000" y="3048000"/>
            <a:ext cx="2476500" cy="2286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wo-t"/>
          <p:cNvSpPr/>
          <p:nvPr/>
        </p:nvSpPr>
        <p:spPr>
          <a:xfrm>
            <a:off x="4089400" y="3403600"/>
            <a:ext cx="190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 Learning Goal</a:t>
            </a:r>
            <a:endParaRPr lang="en-US" sz="2200" dirty="0"/>
          </a:p>
        </p:txBody>
      </p:sp>
      <p:sp>
        <p:nvSpPr>
          <p:cNvPr id="11" name="a2"/>
          <p:cNvSpPr/>
          <p:nvPr/>
        </p:nvSpPr>
        <p:spPr>
          <a:xfrm>
            <a:off x="6286500" y="4191000"/>
            <a:ext cx="5715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2" name="three"/>
          <p:cNvSpPr/>
          <p:nvPr/>
        </p:nvSpPr>
        <p:spPr>
          <a:xfrm>
            <a:off x="6858000" y="3048000"/>
            <a:ext cx="2476500" cy="2286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hree-t"/>
          <p:cNvSpPr/>
          <p:nvPr/>
        </p:nvSpPr>
        <p:spPr>
          <a:xfrm>
            <a:off x="7137400" y="3403600"/>
            <a:ext cx="190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Evidence task</a:t>
            </a:r>
            <a:endParaRPr lang="en-US" sz="2200" dirty="0"/>
          </a:p>
        </p:txBody>
      </p:sp>
      <p:sp>
        <p:nvSpPr>
          <p:cNvPr id="14" name="a3"/>
          <p:cNvSpPr/>
          <p:nvPr/>
        </p:nvSpPr>
        <p:spPr>
          <a:xfrm>
            <a:off x="9334500" y="4191000"/>
            <a:ext cx="5715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four"/>
          <p:cNvSpPr/>
          <p:nvPr/>
        </p:nvSpPr>
        <p:spPr>
          <a:xfrm>
            <a:off x="9906000" y="3048000"/>
            <a:ext cx="2476500" cy="2286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four-t"/>
          <p:cNvSpPr/>
          <p:nvPr/>
        </p:nvSpPr>
        <p:spPr>
          <a:xfrm>
            <a:off x="10185400" y="3403600"/>
            <a:ext cx="190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Feedback + action</a:t>
            </a:r>
            <a:endParaRPr lang="en-US" sz="2200" dirty="0"/>
          </a:p>
        </p:txBody>
      </p:sp>
      <p:sp>
        <p:nvSpPr>
          <p:cNvPr id="17" name="a4"/>
          <p:cNvSpPr/>
          <p:nvPr/>
        </p:nvSpPr>
        <p:spPr>
          <a:xfrm>
            <a:off x="12382500" y="4191000"/>
            <a:ext cx="571500" cy="9144"/>
          </a:xfrm>
          <a:prstGeom prst="line">
            <a:avLst/>
          </a:prstGeom>
          <a:ln w="508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8" name="five"/>
          <p:cNvSpPr/>
          <p:nvPr/>
        </p:nvSpPr>
        <p:spPr>
          <a:xfrm>
            <a:off x="12954000" y="3048000"/>
            <a:ext cx="2540000" cy="2286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five-t"/>
          <p:cNvSpPr/>
          <p:nvPr/>
        </p:nvSpPr>
        <p:spPr>
          <a:xfrm>
            <a:off x="13233400" y="3403600"/>
            <a:ext cx="198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evidence + adjustment</a:t>
            </a:r>
            <a:endParaRPr lang="en-US" sz="2200" dirty="0"/>
          </a:p>
        </p:txBody>
      </p:sp>
      <p:sp>
        <p:nvSpPr>
          <p:cNvPr id="20" name="bottom"/>
          <p:cNvSpPr/>
          <p:nvPr/>
        </p:nvSpPr>
        <p:spPr>
          <a:xfrm>
            <a:off x="762000" y="6350000"/>
            <a:ext cx="14732000" cy="9906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21" name="bottom-text"/>
          <p:cNvSpPr/>
          <p:nvPr/>
        </p:nvSpPr>
        <p:spPr>
          <a:xfrm>
            <a:off x="1092200" y="6591300"/>
            <a:ext cx="1371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 focus:</a:t>
            </a: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 one focused task that makes the priority science skill visible at grade level.</a:t>
            </a:r>
            <a:endParaRPr lang="en-US" sz="2200" dirty="0"/>
          </a:p>
        </p:txBody>
      </p:sp>
      <p:sp>
        <p:nvSpPr>
          <p:cNvPr id="22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23, 2026 · STANDARDS-ALIGNED EVIDENCE</a:t>
            </a:r>
            <a:endParaRPr lang="en-US" sz="1400" dirty="0"/>
          </a:p>
        </p:txBody>
      </p:sp>
      <p:sp>
        <p:nvSpPr>
          <p:cNvPr id="23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76200"/>
            <a:ext cx="16256000" cy="1193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4318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Mastery Visible in the Student Product</a:t>
            </a:r>
            <a:endParaRPr lang="en-US" sz="3200" dirty="0"/>
          </a:p>
        </p:txBody>
      </p:sp>
      <p:sp>
        <p:nvSpPr>
          <p:cNvPr id="5" name="eyebrow"/>
          <p:cNvSpPr/>
          <p:nvPr/>
        </p:nvSpPr>
        <p:spPr>
          <a:xfrm>
            <a:off x="762000" y="16383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1 · PURPOSE + MASTERY EVIDENCE</a:t>
            </a:r>
            <a:endParaRPr lang="en-US" sz="1600" dirty="0"/>
          </a:p>
        </p:txBody>
      </p:sp>
      <p:sp>
        <p:nvSpPr>
          <p:cNvPr id="6" name="left"/>
          <p:cNvSpPr/>
          <p:nvPr/>
        </p:nvSpPr>
        <p:spPr>
          <a:xfrm>
            <a:off x="762000" y="2463800"/>
            <a:ext cx="6921500" cy="46482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left-title"/>
          <p:cNvSpPr/>
          <p:nvPr/>
        </p:nvSpPr>
        <p:spPr>
          <a:xfrm>
            <a:off x="1117600" y="2870200"/>
            <a:ext cx="444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will do</a:t>
            </a:r>
            <a:endParaRPr lang="en-US" sz="2500" dirty="0"/>
          </a:p>
        </p:txBody>
      </p:sp>
      <p:sp>
        <p:nvSpPr>
          <p:cNvPr id="8" name="left-body"/>
          <p:cNvSpPr/>
          <p:nvPr/>
        </p:nvSpPr>
        <p:spPr>
          <a:xfrm>
            <a:off x="1117600" y="3683000"/>
            <a:ext cx="571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grade-level task:</a:t>
            </a: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writing benchmark, CER, model explanation, data analysis, investigation response, or course-equivalent evidence task.</a:t>
            </a:r>
            <a:endParaRPr lang="en-US" sz="2200" dirty="0"/>
          </a:p>
          <a:p>
            <a:pPr algn="l" indent="0" marL="0">
              <a:lnSpc>
                <a:spcPts val="2706"/>
              </a:lnSpc>
              <a:buNone/>
            </a:pP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must use the priority skill — not simply recall information.</a:t>
            </a:r>
            <a:endParaRPr lang="en-US" sz="2200" dirty="0"/>
          </a:p>
        </p:txBody>
      </p:sp>
      <p:sp>
        <p:nvSpPr>
          <p:cNvPr id="9" name="right"/>
          <p:cNvSpPr/>
          <p:nvPr/>
        </p:nvSpPr>
        <p:spPr>
          <a:xfrm>
            <a:off x="8572500" y="2463800"/>
            <a:ext cx="6921500" cy="4648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right-title"/>
          <p:cNvSpPr/>
          <p:nvPr/>
        </p:nvSpPr>
        <p:spPr>
          <a:xfrm>
            <a:off x="8928100" y="2870200"/>
            <a:ext cx="508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strong response includes</a:t>
            </a:r>
            <a:endParaRPr lang="en-US" sz="2500" dirty="0"/>
          </a:p>
        </p:txBody>
      </p:sp>
      <p:sp>
        <p:nvSpPr>
          <p:cNvPr id="11" name="right-body"/>
          <p:cNvSpPr/>
          <p:nvPr/>
        </p:nvSpPr>
        <p:spPr>
          <a:xfrm>
            <a:off x="8928100" y="3683000"/>
            <a:ext cx="571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Accurate science content</a:t>
            </a:r>
            <a:endParaRPr lang="en-US" sz="220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The intended thinking or reasoning</a:t>
            </a:r>
            <a:endParaRPr lang="en-US" sz="220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Evidence, representation, or data use</a:t>
            </a:r>
            <a:endParaRPr lang="en-US" sz="2200" dirty="0"/>
          </a:p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Clear academic language</a:t>
            </a:r>
            <a:endParaRPr lang="en-US" sz="2200" dirty="0"/>
          </a:p>
        </p:txBody>
      </p:sp>
      <p:sp>
        <p:nvSpPr>
          <p:cNvPr id="12" name="note"/>
          <p:cNvSpPr/>
          <p:nvPr/>
        </p:nvSpPr>
        <p:spPr>
          <a:xfrm>
            <a:off x="762000" y="7645400"/>
            <a:ext cx="14732000" cy="609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note-text"/>
          <p:cNvSpPr/>
          <p:nvPr/>
        </p:nvSpPr>
        <p:spPr>
          <a:xfrm>
            <a:off x="1066800" y="7797800"/>
            <a:ext cx="13589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task does not show the priority skill, it cannot be the next evidence check.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23, 2026 · STANDARDS-ALIGNED EVIDENCE</a:t>
            </a:r>
            <a:endParaRPr lang="en-US" sz="1400" dirty="0"/>
          </a:p>
        </p:txBody>
      </p:sp>
      <p:sp>
        <p:nvSpPr>
          <p:cNvPr id="15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76200"/>
            <a:ext cx="16256000" cy="1193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431800"/>
            <a:ext cx="1333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or Improve One Grade-Level Evidence Task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762000" y="1600200"/>
            <a:ext cx="1422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course priority to develop one task. Biology writing benchmarks are one example; every course uses an equivalent evidence task.</a:t>
            </a:r>
            <a:endParaRPr lang="en-US" sz="2200" dirty="0"/>
          </a:p>
        </p:txBody>
      </p:sp>
      <p:sp>
        <p:nvSpPr>
          <p:cNvPr id="6" name="c1"/>
          <p:cNvSpPr/>
          <p:nvPr/>
        </p:nvSpPr>
        <p:spPr>
          <a:xfrm>
            <a:off x="762000" y="2667000"/>
            <a:ext cx="3365500" cy="3683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c1title"/>
          <p:cNvSpPr/>
          <p:nvPr/>
        </p:nvSpPr>
        <p:spPr>
          <a:xfrm>
            <a:off x="1066800" y="30353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alt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Write the prompt</a:t>
            </a:r>
            <a:endParaRPr lang="en-US" sz="2400" dirty="0"/>
          </a:p>
        </p:txBody>
      </p:sp>
      <p:sp>
        <p:nvSpPr>
          <p:cNvPr id="8" name="c1body"/>
          <p:cNvSpPr/>
          <p:nvPr/>
        </p:nvSpPr>
        <p:spPr>
          <a:xfrm>
            <a:off x="1066800" y="4178300"/>
            <a:ext cx="2603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students to explain, model, analyze, use data, or argue from evidence.</a:t>
            </a:r>
            <a:endParaRPr lang="en-US" sz="2000" dirty="0"/>
          </a:p>
        </p:txBody>
      </p:sp>
      <p:sp>
        <p:nvSpPr>
          <p:cNvPr id="9" name="c2"/>
          <p:cNvSpPr/>
          <p:nvPr/>
        </p:nvSpPr>
        <p:spPr>
          <a:xfrm>
            <a:off x="4419600" y="2667000"/>
            <a:ext cx="3365500" cy="3683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c2title"/>
          <p:cNvSpPr/>
          <p:nvPr/>
        </p:nvSpPr>
        <p:spPr>
          <a:xfrm>
            <a:off x="4724400" y="30353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alt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Set criteria</a:t>
            </a:r>
            <a:endParaRPr lang="en-US" sz="2400" dirty="0"/>
          </a:p>
        </p:txBody>
      </p:sp>
      <p:sp>
        <p:nvSpPr>
          <p:cNvPr id="11" name="c2body"/>
          <p:cNvSpPr/>
          <p:nvPr/>
        </p:nvSpPr>
        <p:spPr>
          <a:xfrm>
            <a:off x="4724400" y="4178300"/>
            <a:ext cx="2603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content, thinking, evidence, and language a strong response requires.</a:t>
            </a:r>
            <a:endParaRPr lang="en-US" sz="2000" dirty="0"/>
          </a:p>
        </p:txBody>
      </p:sp>
      <p:sp>
        <p:nvSpPr>
          <p:cNvPr id="12" name="c3"/>
          <p:cNvSpPr/>
          <p:nvPr/>
        </p:nvSpPr>
        <p:spPr>
          <a:xfrm>
            <a:off x="8077200" y="2667000"/>
            <a:ext cx="3365500" cy="3683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c3title"/>
          <p:cNvSpPr/>
          <p:nvPr/>
        </p:nvSpPr>
        <p:spPr>
          <a:xfrm>
            <a:off x="8382000" y="3035300"/>
            <a:ext cx="254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alt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Draft an exemplar</a:t>
            </a:r>
            <a:endParaRPr lang="en-US" sz="2400" dirty="0"/>
          </a:p>
        </p:txBody>
      </p:sp>
      <p:sp>
        <p:nvSpPr>
          <p:cNvPr id="14" name="c3body"/>
          <p:cNvSpPr/>
          <p:nvPr/>
        </p:nvSpPr>
        <p:spPr>
          <a:xfrm>
            <a:off x="8382000" y="4178300"/>
            <a:ext cx="2603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or identify a model response that shows the expected reasoning.</a:t>
            </a:r>
            <a:endParaRPr lang="en-US" sz="2000" dirty="0"/>
          </a:p>
        </p:txBody>
      </p:sp>
      <p:sp>
        <p:nvSpPr>
          <p:cNvPr id="15" name="c4"/>
          <p:cNvSpPr/>
          <p:nvPr/>
        </p:nvSpPr>
        <p:spPr>
          <a:xfrm>
            <a:off x="11734800" y="2667000"/>
            <a:ext cx="3759200" cy="368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c4title"/>
          <p:cNvSpPr/>
          <p:nvPr/>
        </p:nvSpPr>
        <p:spPr>
          <a:xfrm>
            <a:off x="12039600" y="3035300"/>
            <a:ext cx="2984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Protect the demand</a:t>
            </a:r>
            <a:endParaRPr lang="en-US" sz="2400" dirty="0"/>
          </a:p>
        </p:txBody>
      </p:sp>
      <p:sp>
        <p:nvSpPr>
          <p:cNvPr id="17" name="c4body"/>
          <p:cNvSpPr/>
          <p:nvPr/>
        </p:nvSpPr>
        <p:spPr>
          <a:xfrm>
            <a:off x="12039600" y="4178300"/>
            <a:ext cx="29845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lower the learning goal or turn the task into a list of answers.</a:t>
            </a:r>
            <a:endParaRPr lang="en-US" sz="2000" dirty="0"/>
          </a:p>
        </p:txBody>
      </p:sp>
      <p:sp>
        <p:nvSpPr>
          <p:cNvPr id="18" name="bottom"/>
          <p:cNvSpPr/>
          <p:nvPr/>
        </p:nvSpPr>
        <p:spPr>
          <a:xfrm>
            <a:off x="762000" y="6985000"/>
            <a:ext cx="14732000" cy="7366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bottom-text"/>
          <p:cNvSpPr/>
          <p:nvPr/>
        </p:nvSpPr>
        <p:spPr>
          <a:xfrm>
            <a:off x="1066800" y="7175500"/>
            <a:ext cx="13716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12-minute work block to create or revise the task. Use course-alike colleagues for quick calibration.</a:t>
            </a:r>
            <a:endParaRPr lang="en-US" sz="2000" dirty="0"/>
          </a:p>
        </p:txBody>
      </p:sp>
      <p:sp>
        <p:nvSpPr>
          <p:cNvPr id="20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23, 2026 · STANDARDS-ALIGNED EVIDENCE</a:t>
            </a:r>
            <a:endParaRPr lang="en-US" sz="1400" dirty="0"/>
          </a:p>
        </p:txBody>
      </p:sp>
      <p:sp>
        <p:nvSpPr>
          <p:cNvPr id="21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76200"/>
            <a:ext cx="16256000" cy="1193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431800"/>
            <a:ext cx="1333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Anticipate, Calibrate, and Score</a:t>
            </a:r>
            <a:endParaRPr lang="en-US" sz="3200" dirty="0"/>
          </a:p>
        </p:txBody>
      </p:sp>
      <p:sp>
        <p:nvSpPr>
          <p:cNvPr id="5" name="eyebrow"/>
          <p:cNvSpPr/>
          <p:nvPr/>
        </p:nvSpPr>
        <p:spPr>
          <a:xfrm>
            <a:off x="762000" y="16256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3 · ANTICIPATE AND RESPOND TO STUDENT THINKING</a:t>
            </a:r>
            <a:endParaRPr lang="en-US" sz="1600" dirty="0"/>
          </a:p>
        </p:txBody>
      </p:sp>
      <p:sp>
        <p:nvSpPr>
          <p:cNvPr id="6" name="s1"/>
          <p:cNvSpPr/>
          <p:nvPr/>
        </p:nvSpPr>
        <p:spPr>
          <a:xfrm>
            <a:off x="762000" y="2476500"/>
            <a:ext cx="4572000" cy="43180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1t"/>
          <p:cNvSpPr/>
          <p:nvPr/>
        </p:nvSpPr>
        <p:spPr>
          <a:xfrm>
            <a:off x="1117600" y="28575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response</a:t>
            </a:r>
            <a:endParaRPr lang="en-US" sz="2500" dirty="0"/>
          </a:p>
        </p:txBody>
      </p:sp>
      <p:sp>
        <p:nvSpPr>
          <p:cNvPr id="8" name="s1b"/>
          <p:cNvSpPr/>
          <p:nvPr/>
        </p:nvSpPr>
        <p:spPr>
          <a:xfrm>
            <a:off x="1117600" y="3733800"/>
            <a:ext cx="3302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a successful response include?</a:t>
            </a:r>
            <a:endParaRPr lang="en-US" sz="2100" dirty="0"/>
          </a:p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model response or concise criteria.</a:t>
            </a:r>
            <a:endParaRPr lang="en-US" sz="2100" dirty="0"/>
          </a:p>
        </p:txBody>
      </p:sp>
      <p:sp>
        <p:nvSpPr>
          <p:cNvPr id="9" name="s2"/>
          <p:cNvSpPr/>
          <p:nvPr/>
        </p:nvSpPr>
        <p:spPr>
          <a:xfrm>
            <a:off x="5842000" y="2476500"/>
            <a:ext cx="4572000" cy="4318000"/>
          </a:xfrm>
          <a:prstGeom prst="rect">
            <a:avLst/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0" name="s2t"/>
          <p:cNvSpPr/>
          <p:nvPr/>
        </p:nvSpPr>
        <p:spPr>
          <a:xfrm>
            <a:off x="6197600" y="2857500"/>
            <a:ext cx="342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response</a:t>
            </a:r>
            <a:endParaRPr lang="en-US" sz="2500" dirty="0"/>
          </a:p>
        </p:txBody>
      </p:sp>
      <p:sp>
        <p:nvSpPr>
          <p:cNvPr id="11" name="s2b"/>
          <p:cNvSpPr/>
          <p:nvPr/>
        </p:nvSpPr>
        <p:spPr>
          <a:xfrm>
            <a:off x="6197600" y="3733800"/>
            <a:ext cx="33528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might students begin to do but not yet complete?</a:t>
            </a:r>
            <a:endParaRPr lang="en-US" sz="2100" dirty="0"/>
          </a:p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missing reasoning or evidence.</a:t>
            </a:r>
            <a:endParaRPr lang="en-US" sz="2100" dirty="0"/>
          </a:p>
        </p:txBody>
      </p:sp>
      <p:sp>
        <p:nvSpPr>
          <p:cNvPr id="12" name="s3"/>
          <p:cNvSpPr/>
          <p:nvPr/>
        </p:nvSpPr>
        <p:spPr>
          <a:xfrm>
            <a:off x="10922000" y="2476500"/>
            <a:ext cx="4572000" cy="431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3t"/>
          <p:cNvSpPr/>
          <p:nvPr/>
        </p:nvSpPr>
        <p:spPr>
          <a:xfrm>
            <a:off x="11277600" y="2857500"/>
            <a:ext cx="342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Likely misconception</a:t>
            </a:r>
            <a:endParaRPr lang="en-US" sz="2500" dirty="0"/>
          </a:p>
        </p:txBody>
      </p:sp>
      <p:sp>
        <p:nvSpPr>
          <p:cNvPr id="14" name="s3b"/>
          <p:cNvSpPr/>
          <p:nvPr/>
        </p:nvSpPr>
        <p:spPr>
          <a:xfrm>
            <a:off x="11277600" y="3733800"/>
            <a:ext cx="33528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inaccurate idea may appear?</a:t>
            </a:r>
            <a:endParaRPr lang="en-US" sz="2100" dirty="0"/>
          </a:p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question or support before students begin.</a:t>
            </a:r>
            <a:endParaRPr lang="en-US" sz="2100" dirty="0"/>
          </a:p>
        </p:txBody>
      </p:sp>
      <p:sp>
        <p:nvSpPr>
          <p:cNvPr id="15" name="bottom"/>
          <p:cNvSpPr/>
          <p:nvPr/>
        </p:nvSpPr>
        <p:spPr>
          <a:xfrm>
            <a:off x="762000" y="7454900"/>
            <a:ext cx="14732000" cy="609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bottom-text"/>
          <p:cNvSpPr/>
          <p:nvPr/>
        </p:nvSpPr>
        <p:spPr>
          <a:xfrm>
            <a:off x="1066800" y="7607300"/>
            <a:ext cx="13589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Calibration product: a model response, concise success criteria, and a note about one likely partial or incorrect response.</a:t>
            </a:r>
            <a:endParaRPr lang="en-US" sz="1900" dirty="0"/>
          </a:p>
        </p:txBody>
      </p:sp>
      <p:sp>
        <p:nvSpPr>
          <p:cNvPr id="17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23, 2026 · STANDARDS-ALIGNED EVIDENCE</a:t>
            </a:r>
            <a:endParaRPr lang="en-US" sz="1400" dirty="0"/>
          </a:p>
        </p:txBody>
      </p:sp>
      <p:sp>
        <p:nvSpPr>
          <p:cNvPr id="18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76200"/>
            <a:ext cx="16256000" cy="1193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4318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Feedback That Prompts Student Action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762000" y="1651000"/>
            <a:ext cx="1384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aim is not more comments. The aim is a student action that creates new evidence of learning.</a:t>
            </a:r>
            <a:endParaRPr lang="en-US" sz="2400" dirty="0"/>
          </a:p>
        </p:txBody>
      </p:sp>
      <p:sp>
        <p:nvSpPr>
          <p:cNvPr id="6" name="evidence"/>
          <p:cNvSpPr/>
          <p:nvPr/>
        </p:nvSpPr>
        <p:spPr>
          <a:xfrm>
            <a:off x="762000" y="3124200"/>
            <a:ext cx="3175000" cy="28575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7" name="evidenc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3467100"/>
            <a:ext cx="482600" cy="482600"/>
          </a:xfrm>
          <a:prstGeom prst="rect">
            <a:avLst/>
          </a:prstGeom>
        </p:spPr>
      </p:pic>
      <p:sp>
        <p:nvSpPr>
          <p:cNvPr id="8" name="evidence-text"/>
          <p:cNvSpPr/>
          <p:nvPr/>
        </p:nvSpPr>
        <p:spPr>
          <a:xfrm>
            <a:off x="1168400" y="4318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of thinking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the student produce?</a:t>
            </a:r>
            <a:endParaRPr lang="en-US" sz="2200" dirty="0"/>
          </a:p>
        </p:txBody>
      </p:sp>
      <p:sp>
        <p:nvSpPr>
          <p:cNvPr id="9" name="arrow1"/>
          <p:cNvSpPr/>
          <p:nvPr/>
        </p:nvSpPr>
        <p:spPr>
          <a:xfrm>
            <a:off x="3937000" y="4546600"/>
            <a:ext cx="952500" cy="9144"/>
          </a:xfrm>
          <a:prstGeom prst="line">
            <a:avLst/>
          </a:prstGeom>
          <a:ln w="635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0" name="feedback"/>
          <p:cNvSpPr/>
          <p:nvPr/>
        </p:nvSpPr>
        <p:spPr>
          <a:xfrm>
            <a:off x="4889500" y="3124200"/>
            <a:ext cx="3175000" cy="285750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11" name="feedback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900" y="3467100"/>
            <a:ext cx="482600" cy="482600"/>
          </a:xfrm>
          <a:prstGeom prst="rect">
            <a:avLst/>
          </a:prstGeom>
        </p:spPr>
      </p:pic>
      <p:sp>
        <p:nvSpPr>
          <p:cNvPr id="12" name="feedback-text"/>
          <p:cNvSpPr/>
          <p:nvPr/>
        </p:nvSpPr>
        <p:spPr>
          <a:xfrm>
            <a:off x="5295900" y="4318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 prompt or criteria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the feedback communicate?</a:t>
            </a:r>
            <a:endParaRPr lang="en-US" sz="2200" dirty="0"/>
          </a:p>
        </p:txBody>
      </p:sp>
      <p:sp>
        <p:nvSpPr>
          <p:cNvPr id="13" name="arrow2"/>
          <p:cNvSpPr/>
          <p:nvPr/>
        </p:nvSpPr>
        <p:spPr>
          <a:xfrm>
            <a:off x="8064500" y="4546600"/>
            <a:ext cx="952500" cy="9144"/>
          </a:xfrm>
          <a:prstGeom prst="line">
            <a:avLst/>
          </a:prstGeom>
          <a:ln w="635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4" name="action"/>
          <p:cNvSpPr/>
          <p:nvPr/>
        </p:nvSpPr>
        <p:spPr>
          <a:xfrm>
            <a:off x="9017000" y="3124200"/>
            <a:ext cx="3175000" cy="2857500"/>
          </a:xfrm>
          <a:prstGeom prst="rect">
            <a:avLst/>
          </a:prstGeom>
          <a:solidFill>
            <a:srgbClr val="F4F5F6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5" name="action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400" y="3467100"/>
            <a:ext cx="482600" cy="482600"/>
          </a:xfrm>
          <a:prstGeom prst="rect">
            <a:avLst/>
          </a:prstGeom>
        </p:spPr>
      </p:pic>
      <p:sp>
        <p:nvSpPr>
          <p:cNvPr id="16" name="action-text"/>
          <p:cNvSpPr/>
          <p:nvPr/>
        </p:nvSpPr>
        <p:spPr>
          <a:xfrm>
            <a:off x="9423400" y="43180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action</a:t>
            </a:r>
            <a:endParaRPr lang="en-US" sz="2200" dirty="0"/>
          </a:p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Revise, correct, explain, compare, extend, or apply.</a:t>
            </a:r>
            <a:endParaRPr lang="en-US" sz="2200" dirty="0"/>
          </a:p>
        </p:txBody>
      </p:sp>
      <p:sp>
        <p:nvSpPr>
          <p:cNvPr id="17" name="arrow3"/>
          <p:cNvSpPr/>
          <p:nvPr/>
        </p:nvSpPr>
        <p:spPr>
          <a:xfrm>
            <a:off x="12192000" y="4546600"/>
            <a:ext cx="952500" cy="9144"/>
          </a:xfrm>
          <a:prstGeom prst="line">
            <a:avLst/>
          </a:prstGeom>
          <a:ln w="635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8" name="new-evidence"/>
          <p:cNvSpPr/>
          <p:nvPr/>
        </p:nvSpPr>
        <p:spPr>
          <a:xfrm>
            <a:off x="13144500" y="3124200"/>
            <a:ext cx="2349500" cy="2857500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9" name="new-evidence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0900" y="3467100"/>
            <a:ext cx="482600" cy="482600"/>
          </a:xfrm>
          <a:prstGeom prst="rect">
            <a:avLst/>
          </a:prstGeom>
        </p:spPr>
      </p:pic>
      <p:sp>
        <p:nvSpPr>
          <p:cNvPr id="20" name="new-evidence-text"/>
          <p:cNvSpPr/>
          <p:nvPr/>
        </p:nvSpPr>
        <p:spPr>
          <a:xfrm>
            <a:off x="13550900" y="4318000"/>
            <a:ext cx="15494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evidence</a:t>
            </a:r>
            <a:endParaRPr lang="en-US" sz="2100" dirty="0"/>
          </a:p>
          <a:p>
            <a:pPr algn="l" indent="0" marL="0">
              <a:lnSpc>
                <a:spcPts val="2478"/>
              </a:lnSpc>
              <a:buNone/>
            </a:pPr>
            <a:r>
              <a:rPr lang="en-US" altLang="en-US" sz="21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you look for next?</a:t>
            </a:r>
            <a:endParaRPr lang="en-US" sz="2100" dirty="0"/>
          </a:p>
        </p:txBody>
      </p:sp>
      <p:sp>
        <p:nvSpPr>
          <p:cNvPr id="21" name="prompt"/>
          <p:cNvSpPr/>
          <p:nvPr/>
        </p:nvSpPr>
        <p:spPr>
          <a:xfrm>
            <a:off x="762000" y="6985000"/>
            <a:ext cx="14732000" cy="7874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22" name="prompt-text"/>
          <p:cNvSpPr/>
          <p:nvPr/>
        </p:nvSpPr>
        <p:spPr>
          <a:xfrm>
            <a:off x="1066800" y="71755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decision:</a:t>
            </a:r>
            <a:r>
              <a:rPr lang="en-US" altLang="en-US" sz="2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Write one feedback prompt and one student action before choosing the evidence review date.</a:t>
            </a:r>
            <a:endParaRPr lang="en-US" sz="2100" dirty="0"/>
          </a:p>
        </p:txBody>
      </p:sp>
      <p:sp>
        <p:nvSpPr>
          <p:cNvPr id="23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23, 2026 · STANDARDS-ALIGNED EVIDENCE</a:t>
            </a:r>
            <a:endParaRPr lang="en-US" sz="1400" dirty="0"/>
          </a:p>
        </p:txBody>
      </p:sp>
      <p:sp>
        <p:nvSpPr>
          <p:cNvPr id="24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1346200"/>
            <a:ext cx="876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the alignment check. Set the review point.</a:t>
            </a:r>
            <a:endParaRPr lang="en-US" sz="5400" dirty="0"/>
          </a:p>
        </p:txBody>
      </p:sp>
      <p:sp>
        <p:nvSpPr>
          <p:cNvPr id="4" name="sub"/>
          <p:cNvSpPr/>
          <p:nvPr/>
        </p:nvSpPr>
        <p:spPr>
          <a:xfrm>
            <a:off x="762000" y="3378200"/>
            <a:ext cx="800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F4F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last few minutes to ensure the forms, task, feedback, and evidence check tell one story.</a:t>
            </a:r>
            <a:endParaRPr lang="en-US" sz="2300" dirty="0"/>
          </a:p>
        </p:txBody>
      </p:sp>
      <p:sp>
        <p:nvSpPr>
          <p:cNvPr id="5" name="left-card"/>
          <p:cNvSpPr/>
          <p:nvPr/>
        </p:nvSpPr>
        <p:spPr>
          <a:xfrm>
            <a:off x="762000" y="4953000"/>
            <a:ext cx="6921500" cy="260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left-label"/>
          <p:cNvSpPr/>
          <p:nvPr/>
        </p:nvSpPr>
        <p:spPr>
          <a:xfrm>
            <a:off x="11176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ALIGNMENT CHECK</a:t>
            </a:r>
            <a:endParaRPr lang="en-US" sz="1600" dirty="0"/>
          </a:p>
        </p:txBody>
      </p:sp>
      <p:sp>
        <p:nvSpPr>
          <p:cNvPr id="7" name="left-text"/>
          <p:cNvSpPr/>
          <p:nvPr/>
        </p:nvSpPr>
        <p:spPr>
          <a:xfrm>
            <a:off x="1117600" y="5969000"/>
            <a:ext cx="558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standard + skill → goals → instructional practice → student evidence task.</a:t>
            </a:r>
            <a:endParaRPr lang="en-US" sz="2100" dirty="0"/>
          </a:p>
        </p:txBody>
      </p:sp>
      <p:sp>
        <p:nvSpPr>
          <p:cNvPr id="8" name="right-card"/>
          <p:cNvSpPr/>
          <p:nvPr/>
        </p:nvSpPr>
        <p:spPr>
          <a:xfrm>
            <a:off x="8382000" y="4953000"/>
            <a:ext cx="7112000" cy="260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right-label"/>
          <p:cNvSpPr/>
          <p:nvPr/>
        </p:nvSpPr>
        <p:spPr>
          <a:xfrm>
            <a:off x="8737600" y="5334000"/>
            <a:ext cx="520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EVIDENCE REVIEW</a:t>
            </a:r>
            <a:endParaRPr lang="en-US" sz="1600" dirty="0"/>
          </a:p>
        </p:txBody>
      </p:sp>
      <p:sp>
        <p:nvSpPr>
          <p:cNvPr id="10" name="right-text"/>
          <p:cNvSpPr/>
          <p:nvPr/>
        </p:nvSpPr>
        <p:spPr>
          <a:xfrm>
            <a:off x="8737600" y="5969000"/>
            <a:ext cx="5778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2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what to collect, when to review it, and what next lesson decision the evidence will inform.</a:t>
            </a:r>
            <a:endParaRPr lang="en-US" sz="2100" dirty="0"/>
          </a:p>
        </p:txBody>
      </p:sp>
      <p:sp>
        <p:nvSpPr>
          <p:cNvPr id="11" name="footer"/>
          <p:cNvSpPr/>
          <p:nvPr/>
        </p:nvSpPr>
        <p:spPr>
          <a:xfrm>
            <a:off x="762000" y="8534400"/>
            <a:ext cx="1295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23, 2026 · STANDARDS-ALIGNED EVIDENCE &amp; CALIBRATION</a:t>
            </a:r>
            <a:endParaRPr lang="en-US" sz="1400" dirty="0"/>
          </a:p>
        </p:txBody>
      </p:sp>
      <p:sp>
        <p:nvSpPr>
          <p:cNvPr id="12" name="page"/>
          <p:cNvSpPr/>
          <p:nvPr/>
        </p:nvSpPr>
        <p:spPr>
          <a:xfrm>
            <a:off x="14605000" y="8534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October 23, 2026 — Build and Calibrate the Next Evidence Check</dc:title>
  <dc:subject>October 23, 2026 — Build and Calibrate the Next Evidence Check</dc:subject>
  <dc:creator>Manus</dc:creator>
  <cp:lastModifiedBy>Manus</cp:lastModifiedBy>
  <cp:revision>1</cp:revision>
  <dcterms:created xsi:type="dcterms:W3CDTF">2026-10-17T23:28:52Z</dcterms:created>
  <dcterms:modified xsi:type="dcterms:W3CDTF">2026-10-17T23:28:52Z</dcterms:modified>
</cp:coreProperties>
</file>
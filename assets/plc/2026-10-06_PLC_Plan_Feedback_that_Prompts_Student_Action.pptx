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9144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ept"/>
          <p:cNvSpPr/>
          <p:nvPr/>
        </p:nvSpPr>
        <p:spPr>
          <a:xfrm>
            <a:off x="812800" y="11176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812800" y="2032000"/>
            <a:ext cx="1003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6"/>
              </a:lnSpc>
              <a:buNone/>
            </a:pPr>
            <a:r>
              <a:rPr lang="en-US" altLang="en-US" sz="4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 That</a:t>
            </a:r>
            <a:endParaRPr lang="en-US" sz="4700" dirty="0"/>
          </a:p>
          <a:p>
            <a:pPr algn="l" indent="0" marL="0">
              <a:lnSpc>
                <a:spcPts val="4606"/>
              </a:lnSpc>
              <a:buNone/>
            </a:pPr>
            <a:r>
              <a:rPr lang="en-US" altLang="en-US" sz="4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Student Action</a:t>
            </a:r>
            <a:endParaRPr lang="en-US" sz="4700" dirty="0"/>
          </a:p>
        </p:txBody>
      </p:sp>
      <p:sp>
        <p:nvSpPr>
          <p:cNvPr id="5" name="subtitle"/>
          <p:cNvSpPr/>
          <p:nvPr/>
        </p:nvSpPr>
        <p:spPr>
          <a:xfrm>
            <a:off x="812800" y="4191000"/>
            <a:ext cx="939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Educator Plan and Lesson Internalization Tool to plan feedback students can revise, correct, extend, explain, or apply.</a:t>
            </a:r>
            <a:endParaRPr lang="en-US" sz="2100" dirty="0"/>
          </a:p>
        </p:txBody>
      </p:sp>
      <p:sp>
        <p:nvSpPr>
          <p:cNvPr id="6" name="date"/>
          <p:cNvSpPr/>
          <p:nvPr/>
        </p:nvSpPr>
        <p:spPr>
          <a:xfrm>
            <a:off x="812800" y="5715000"/>
            <a:ext cx="3403600" cy="533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date-text"/>
          <p:cNvSpPr/>
          <p:nvPr/>
        </p:nvSpPr>
        <p:spPr>
          <a:xfrm>
            <a:off x="812800" y="5867400"/>
            <a:ext cx="340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OCTOBER 6, 2026</a:t>
            </a:r>
            <a:endParaRPr lang="en-US" sz="1400" dirty="0"/>
          </a:p>
        </p:txBody>
      </p:sp>
      <p:sp>
        <p:nvSpPr>
          <p:cNvPr id="8" name="time"/>
          <p:cNvSpPr/>
          <p:nvPr/>
        </p:nvSpPr>
        <p:spPr>
          <a:xfrm>
            <a:off x="4521200" y="5715000"/>
            <a:ext cx="2235200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ime-text"/>
          <p:cNvSpPr/>
          <p:nvPr/>
        </p:nvSpPr>
        <p:spPr>
          <a:xfrm>
            <a:off x="4521200" y="5867400"/>
            <a:ext cx="223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11506200" y="1473200"/>
            <a:ext cx="3733800" cy="4775200"/>
          </a:xfrm>
          <a:prstGeom prst="rect">
            <a:avLst/>
          </a:prstGeom>
          <a:solidFill>
            <a:srgbClr val="3F3F46"/>
          </a:solidFill>
          <a:ln w="12700">
            <a:solidFill>
              <a:srgbClr val="52525B"/>
            </a:solidFill>
            <a:prstDash val="solid"/>
          </a:ln>
        </p:spPr>
      </p:sp>
      <p:pic>
        <p:nvPicPr>
          <p:cNvPr id="11" name="feedback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400" y="1955800"/>
            <a:ext cx="533400" cy="533400"/>
          </a:xfrm>
          <a:prstGeom prst="rect">
            <a:avLst/>
          </a:prstGeom>
        </p:spPr>
      </p:pic>
      <p:sp>
        <p:nvSpPr>
          <p:cNvPr id="12" name="panel-title"/>
          <p:cNvSpPr/>
          <p:nvPr/>
        </p:nvSpPr>
        <p:spPr>
          <a:xfrm>
            <a:off x="11963400" y="28702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must</a:t>
            </a:r>
            <a:endParaRPr lang="en-US" sz="2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to action.</a:t>
            </a:r>
            <a:endParaRPr lang="en-US" sz="2700" dirty="0"/>
          </a:p>
        </p:txBody>
      </p:sp>
      <p:sp>
        <p:nvSpPr>
          <p:cNvPr id="13" name="panel-copy"/>
          <p:cNvSpPr/>
          <p:nvPr/>
        </p:nvSpPr>
        <p:spPr>
          <a:xfrm>
            <a:off x="11963400" y="4140200"/>
            <a:ext cx="27178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is useful when students know: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to do next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how to show it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8128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&amp; GOAL SETTING PLC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 the implementation lesson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6096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feedback routine should connect the Student Learning Goal, Professional Practice Goal, and Educator Plan to one visible student-thinking moment.</a:t>
            </a:r>
            <a:endParaRPr lang="en-US" sz="2000" dirty="0"/>
          </a:p>
        </p:txBody>
      </p:sp>
      <p:sp>
        <p:nvSpPr>
          <p:cNvPr id="6" name="goal"/>
          <p:cNvSpPr/>
          <p:nvPr/>
        </p:nvSpPr>
        <p:spPr>
          <a:xfrm>
            <a:off x="609600" y="2997200"/>
            <a:ext cx="4495800" cy="2921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lesson"/>
          <p:cNvSpPr/>
          <p:nvPr/>
        </p:nvSpPr>
        <p:spPr>
          <a:xfrm>
            <a:off x="5892800" y="2997200"/>
            <a:ext cx="4495800" cy="2921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8" name="feedback"/>
          <p:cNvSpPr/>
          <p:nvPr/>
        </p:nvSpPr>
        <p:spPr>
          <a:xfrm>
            <a:off x="11176000" y="2997200"/>
            <a:ext cx="4470400" cy="2921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9" name="goal-copy"/>
          <p:cNvSpPr/>
          <p:nvPr/>
        </p:nvSpPr>
        <p:spPr>
          <a:xfrm>
            <a:off x="1016000" y="3429000"/>
            <a:ext cx="3657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connection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learning need should the feedback help students address?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professional practice will you use?</a:t>
            </a:r>
            <a:endParaRPr lang="en-US" sz="2200" dirty="0"/>
          </a:p>
        </p:txBody>
      </p:sp>
      <p:sp>
        <p:nvSpPr>
          <p:cNvPr id="10" name="lesson-copy"/>
          <p:cNvSpPr/>
          <p:nvPr/>
        </p:nvSpPr>
        <p:spPr>
          <a:xfrm>
            <a:off x="6299200" y="3429000"/>
            <a:ext cx="3657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moment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will students show thinking: task, explanation, model, discussion, or response?</a:t>
            </a:r>
            <a:endParaRPr lang="en-US" sz="2200" dirty="0"/>
          </a:p>
        </p:txBody>
      </p:sp>
      <p:sp>
        <p:nvSpPr>
          <p:cNvPr id="11" name="feedback-copy"/>
          <p:cNvSpPr/>
          <p:nvPr/>
        </p:nvSpPr>
        <p:spPr>
          <a:xfrm>
            <a:off x="11582400" y="3429000"/>
            <a:ext cx="36576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routine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receive, what will they do next, and what will you notice after?</a:t>
            </a:r>
            <a:endParaRPr lang="en-US" sz="2200" dirty="0"/>
          </a:p>
        </p:txBody>
      </p:sp>
      <p:sp>
        <p:nvSpPr>
          <p:cNvPr id="12" name="note"/>
          <p:cNvSpPr/>
          <p:nvPr/>
        </p:nvSpPr>
        <p:spPr>
          <a:xfrm>
            <a:off x="609600" y="6781800"/>
            <a:ext cx="15036800" cy="6858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note-copy"/>
          <p:cNvSpPr/>
          <p:nvPr/>
        </p:nvSpPr>
        <p:spPr>
          <a:xfrm>
            <a:off x="914400" y="6997700"/>
            <a:ext cx="1442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evidence moment. Specific feedback becomes possible when student thinking is visible.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+ EDUCATOR PLAN → FEEDBACK ROUTINE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should lead to student action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609600" y="1676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purpose is not more comments. The purpose is a student action that produces new evidence of learning.</a:t>
            </a:r>
            <a:endParaRPr lang="en-US" sz="2000" dirty="0"/>
          </a:p>
        </p:txBody>
      </p:sp>
      <p:sp>
        <p:nvSpPr>
          <p:cNvPr id="6" name="s1"/>
          <p:cNvSpPr/>
          <p:nvPr/>
        </p:nvSpPr>
        <p:spPr>
          <a:xfrm>
            <a:off x="609600" y="3251200"/>
            <a:ext cx="3022600" cy="22352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s2"/>
          <p:cNvSpPr/>
          <p:nvPr/>
        </p:nvSpPr>
        <p:spPr>
          <a:xfrm>
            <a:off x="4368800" y="3251200"/>
            <a:ext cx="3022600" cy="22352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8" name="s3"/>
          <p:cNvSpPr/>
          <p:nvPr/>
        </p:nvSpPr>
        <p:spPr>
          <a:xfrm>
            <a:off x="8128000" y="3251200"/>
            <a:ext cx="3022600" cy="22352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9" name="s4"/>
          <p:cNvSpPr/>
          <p:nvPr/>
        </p:nvSpPr>
        <p:spPr>
          <a:xfrm>
            <a:off x="11887200" y="3251200"/>
            <a:ext cx="3759200" cy="2235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s1-copy"/>
          <p:cNvSpPr/>
          <p:nvPr/>
        </p:nvSpPr>
        <p:spPr>
          <a:xfrm>
            <a:off x="939800" y="3708400"/>
            <a:ext cx="241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Visible thinking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show what they understand.</a:t>
            </a:r>
            <a:endParaRPr lang="en-US" sz="2200" dirty="0"/>
          </a:p>
        </p:txBody>
      </p:sp>
      <p:sp>
        <p:nvSpPr>
          <p:cNvPr id="11" name="s2-copy"/>
          <p:cNvSpPr/>
          <p:nvPr/>
        </p:nvSpPr>
        <p:spPr>
          <a:xfrm>
            <a:off x="4699000" y="3708400"/>
            <a:ext cx="241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Specific feedback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names the next learning move.</a:t>
            </a:r>
            <a:endParaRPr lang="en-US" sz="2200" dirty="0"/>
          </a:p>
        </p:txBody>
      </p:sp>
      <p:sp>
        <p:nvSpPr>
          <p:cNvPr id="12" name="s3-copy"/>
          <p:cNvSpPr/>
          <p:nvPr/>
        </p:nvSpPr>
        <p:spPr>
          <a:xfrm>
            <a:off x="8458200" y="3708400"/>
            <a:ext cx="241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Student action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revise, correct, extend, explain, or apply.</a:t>
            </a:r>
            <a:endParaRPr lang="en-US" sz="2200" dirty="0"/>
          </a:p>
        </p:txBody>
      </p:sp>
      <p:sp>
        <p:nvSpPr>
          <p:cNvPr id="13" name="s4-copy"/>
          <p:cNvSpPr/>
          <p:nvPr/>
        </p:nvSpPr>
        <p:spPr>
          <a:xfrm>
            <a:off x="12217400" y="3708400"/>
            <a:ext cx="3098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New evidence</a:t>
            </a:r>
            <a:endParaRPr lang="en-US" sz="2200" dirty="0"/>
          </a:p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notice what students can now do.</a:t>
            </a:r>
            <a:endParaRPr lang="en-US" sz="2200" dirty="0"/>
          </a:p>
        </p:txBody>
      </p:sp>
      <p:sp>
        <p:nvSpPr>
          <p:cNvPr id="14" name="arrow1"/>
          <p:cNvSpPr/>
          <p:nvPr/>
        </p:nvSpPr>
        <p:spPr>
          <a:xfrm>
            <a:off x="3733800" y="4140200"/>
            <a:ext cx="457200" cy="279400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15" name="arrow2"/>
          <p:cNvSpPr/>
          <p:nvPr/>
        </p:nvSpPr>
        <p:spPr>
          <a:xfrm>
            <a:off x="7493000" y="4140200"/>
            <a:ext cx="457200" cy="279400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16" name="arrow3"/>
          <p:cNvSpPr/>
          <p:nvPr/>
        </p:nvSpPr>
        <p:spPr>
          <a:xfrm>
            <a:off x="11252200" y="4140200"/>
            <a:ext cx="457200" cy="279400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17" name="callout"/>
          <p:cNvSpPr/>
          <p:nvPr/>
        </p:nvSpPr>
        <p:spPr>
          <a:xfrm>
            <a:off x="609600" y="6604000"/>
            <a:ext cx="15036800" cy="736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8" name="callout-copy"/>
          <p:cNvSpPr/>
          <p:nvPr/>
        </p:nvSpPr>
        <p:spPr>
          <a:xfrm>
            <a:off x="939800" y="6845300"/>
            <a:ext cx="14376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thinking: prompts, questions, criteria, and targeted supports should help students do the cognitive work.</a:t>
            </a:r>
            <a:endParaRPr lang="en-US" sz="2000" dirty="0"/>
          </a:p>
        </p:txBody>
      </p:sp>
      <p:sp>
        <p:nvSpPr>
          <p:cNvPr id="19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→ ACTION → EVIDENCE</a:t>
            </a:r>
            <a:endParaRPr lang="en-US" sz="1400" dirty="0"/>
          </a:p>
        </p:txBody>
      </p:sp>
      <p:sp>
        <p:nvSpPr>
          <p:cNvPr id="20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action students will take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6096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student action that directly matches the learning need and the feedback routine—not an action that adds unnecessary work.</a:t>
            </a:r>
            <a:endParaRPr lang="en-US" sz="2000" dirty="0"/>
          </a:p>
        </p:txBody>
      </p:sp>
      <p:sp>
        <p:nvSpPr>
          <p:cNvPr id="6" name="a1"/>
          <p:cNvSpPr/>
          <p:nvPr/>
        </p:nvSpPr>
        <p:spPr>
          <a:xfrm>
            <a:off x="609600" y="2794000"/>
            <a:ext cx="2641600" cy="2667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7" name="a2"/>
          <p:cNvSpPr/>
          <p:nvPr/>
        </p:nvSpPr>
        <p:spPr>
          <a:xfrm>
            <a:off x="3632200" y="2794000"/>
            <a:ext cx="2641600" cy="2667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8" name="a3"/>
          <p:cNvSpPr/>
          <p:nvPr/>
        </p:nvSpPr>
        <p:spPr>
          <a:xfrm>
            <a:off x="6654800" y="2794000"/>
            <a:ext cx="2641600" cy="2667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9" name="a4"/>
          <p:cNvSpPr/>
          <p:nvPr/>
        </p:nvSpPr>
        <p:spPr>
          <a:xfrm>
            <a:off x="9677400" y="2794000"/>
            <a:ext cx="2641600" cy="2667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10" name="a5"/>
          <p:cNvSpPr/>
          <p:nvPr/>
        </p:nvSpPr>
        <p:spPr>
          <a:xfrm>
            <a:off x="12700000" y="2794000"/>
            <a:ext cx="2946400" cy="2667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x1"/>
          <p:cNvSpPr/>
          <p:nvPr/>
        </p:nvSpPr>
        <p:spPr>
          <a:xfrm>
            <a:off x="965200" y="3302000"/>
            <a:ext cx="193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</a:t>
            </a:r>
            <a:endParaRPr lang="en-US" sz="2300" dirty="0"/>
          </a:p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an existing response.</a:t>
            </a:r>
            <a:endParaRPr lang="en-US" sz="2300" dirty="0"/>
          </a:p>
        </p:txBody>
      </p:sp>
      <p:sp>
        <p:nvSpPr>
          <p:cNvPr id="12" name="x2"/>
          <p:cNvSpPr/>
          <p:nvPr/>
        </p:nvSpPr>
        <p:spPr>
          <a:xfrm>
            <a:off x="3987800" y="3302000"/>
            <a:ext cx="193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</a:t>
            </a:r>
            <a:endParaRPr lang="en-US" sz="2300" dirty="0"/>
          </a:p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a change in thinking.</a:t>
            </a:r>
            <a:endParaRPr lang="en-US" sz="2300" dirty="0"/>
          </a:p>
        </p:txBody>
      </p:sp>
      <p:sp>
        <p:nvSpPr>
          <p:cNvPr id="13" name="x3"/>
          <p:cNvSpPr/>
          <p:nvPr/>
        </p:nvSpPr>
        <p:spPr>
          <a:xfrm>
            <a:off x="7010400" y="3302000"/>
            <a:ext cx="193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2300" dirty="0"/>
          </a:p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a specific error.</a:t>
            </a:r>
            <a:endParaRPr lang="en-US" sz="2300" dirty="0"/>
          </a:p>
        </p:txBody>
      </p:sp>
      <p:sp>
        <p:nvSpPr>
          <p:cNvPr id="14" name="x4"/>
          <p:cNvSpPr/>
          <p:nvPr/>
        </p:nvSpPr>
        <p:spPr>
          <a:xfrm>
            <a:off x="10033000" y="3302000"/>
            <a:ext cx="1930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b="1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</a:t>
            </a:r>
            <a:endParaRPr lang="en-US" sz="2300" dirty="0"/>
          </a:p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thinking more complete.</a:t>
            </a:r>
            <a:endParaRPr lang="en-US" sz="2300" dirty="0"/>
          </a:p>
        </p:txBody>
      </p:sp>
      <p:sp>
        <p:nvSpPr>
          <p:cNvPr id="15" name="x5"/>
          <p:cNvSpPr/>
          <p:nvPr/>
        </p:nvSpPr>
        <p:spPr>
          <a:xfrm>
            <a:off x="13055600" y="3302000"/>
            <a:ext cx="2235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2300" dirty="0"/>
          </a:p>
          <a:p>
            <a:pPr algn="ctr" indent="0" marL="0">
              <a:lnSpc>
                <a:spcPts val="2622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feedback in a new task.</a:t>
            </a:r>
            <a:endParaRPr lang="en-US" sz="2300" dirty="0"/>
          </a:p>
        </p:txBody>
      </p:sp>
      <p:sp>
        <p:nvSpPr>
          <p:cNvPr id="16" name="note"/>
          <p:cNvSpPr/>
          <p:nvPr/>
        </p:nvSpPr>
        <p:spPr>
          <a:xfrm>
            <a:off x="609600" y="6578600"/>
            <a:ext cx="15036800" cy="736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7" name="note-copy"/>
          <p:cNvSpPr/>
          <p:nvPr/>
        </p:nvSpPr>
        <p:spPr>
          <a:xfrm>
            <a:off x="939800" y="6819900"/>
            <a:ext cx="14376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should make the next student action visible. “Good job” or “explain more” alone does not tell students what to do.</a:t>
            </a:r>
            <a:endParaRPr lang="en-US" sz="2000" dirty="0"/>
          </a:p>
        </p:txBody>
      </p:sp>
      <p:sp>
        <p:nvSpPr>
          <p:cNvPr id="18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STUDENT ACTION</a:t>
            </a:r>
            <a:endParaRPr lang="en-US" sz="1400" dirty="0"/>
          </a:p>
        </p:txBody>
      </p:sp>
      <p:sp>
        <p:nvSpPr>
          <p:cNvPr id="19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Questions 3 and 4 to plan the feedback routine</a:t>
            </a:r>
            <a:endParaRPr lang="en-US" sz="3200" dirty="0"/>
          </a:p>
        </p:txBody>
      </p:sp>
      <p:sp>
        <p:nvSpPr>
          <p:cNvPr id="5" name="q3"/>
          <p:cNvSpPr/>
          <p:nvPr/>
        </p:nvSpPr>
        <p:spPr>
          <a:xfrm>
            <a:off x="609600" y="2159000"/>
            <a:ext cx="6985000" cy="44450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6" name="q4"/>
          <p:cNvSpPr/>
          <p:nvPr/>
        </p:nvSpPr>
        <p:spPr>
          <a:xfrm>
            <a:off x="8661400" y="2159000"/>
            <a:ext cx="6985000" cy="4445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7" name="q3label"/>
          <p:cNvSpPr/>
          <p:nvPr/>
        </p:nvSpPr>
        <p:spPr>
          <a:xfrm>
            <a:off x="1016000" y="2590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 · FACILITATE FOR DEEPER LEARNING</a:t>
            </a:r>
            <a:endParaRPr lang="en-US" sz="1400" dirty="0"/>
          </a:p>
        </p:txBody>
      </p:sp>
      <p:sp>
        <p:nvSpPr>
          <p:cNvPr id="8" name="q3copy"/>
          <p:cNvSpPr/>
          <p:nvPr/>
        </p:nvSpPr>
        <p:spPr>
          <a:xfrm>
            <a:off x="1016000" y="3302000"/>
            <a:ext cx="5867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Plan: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anticipated student response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feedback prompt or question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support that maintains the cognitive demand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next action students will take</a:t>
            </a:r>
            <a:endParaRPr lang="en-US" sz="2200" dirty="0"/>
          </a:p>
        </p:txBody>
      </p:sp>
      <p:sp>
        <p:nvSpPr>
          <p:cNvPr id="9" name="q4label"/>
          <p:cNvSpPr/>
          <p:nvPr/>
        </p:nvSpPr>
        <p:spPr>
          <a:xfrm>
            <a:off x="9067800" y="25908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4 · STUDENT EXPERIENCE</a:t>
            </a:r>
            <a:endParaRPr lang="en-US" sz="1400" dirty="0"/>
          </a:p>
        </p:txBody>
      </p:sp>
      <p:sp>
        <p:nvSpPr>
          <p:cNvPr id="10" name="q4copy"/>
          <p:cNvSpPr/>
          <p:nvPr/>
        </p:nvSpPr>
        <p:spPr>
          <a:xfrm>
            <a:off x="9067800" y="3302000"/>
            <a:ext cx="5867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Plan: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when and how students receive feedback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time and access to act on it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participation and engagement supports</a:t>
            </a:r>
            <a:endParaRPr lang="en-US" sz="2200" dirty="0"/>
          </a:p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new evidence you will collect</a:t>
            </a:r>
            <a:endParaRPr lang="en-US" sz="2200" dirty="0"/>
          </a:p>
        </p:txBody>
      </p:sp>
      <p:sp>
        <p:nvSpPr>
          <p:cNvPr id="11" name="note"/>
          <p:cNvSpPr/>
          <p:nvPr/>
        </p:nvSpPr>
        <p:spPr>
          <a:xfrm>
            <a:off x="609600" y="7264400"/>
            <a:ext cx="15036800" cy="533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note-copy"/>
          <p:cNvSpPr/>
          <p:nvPr/>
        </p:nvSpPr>
        <p:spPr>
          <a:xfrm>
            <a:off x="609600" y="7416800"/>
            <a:ext cx="1503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is part of the lesson design—not an afterthought added once the task is complete.</a:t>
            </a:r>
            <a:endParaRPr lang="en-US" sz="1400" dirty="0"/>
          </a:p>
        </p:txBody>
      </p:sp>
      <p:sp>
        <p:nvSpPr>
          <p:cNvPr id="13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QUESTIONS 3–4</a:t>
            </a:r>
            <a:endParaRPr lang="en-US" sz="1400" dirty="0"/>
          </a:p>
        </p:txBody>
      </p:sp>
      <p:sp>
        <p:nvSpPr>
          <p:cNvPr id="14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planning time and rehearsal</a:t>
            </a:r>
            <a:endParaRPr lang="en-US" sz="3200" dirty="0"/>
          </a:p>
        </p:txBody>
      </p:sp>
      <p:sp>
        <p:nvSpPr>
          <p:cNvPr id="5" name="left"/>
          <p:cNvSpPr/>
          <p:nvPr/>
        </p:nvSpPr>
        <p:spPr>
          <a:xfrm>
            <a:off x="609600" y="2209800"/>
            <a:ext cx="7239000" cy="492760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  <a:prstDash val="solid"/>
          </a:ln>
        </p:spPr>
      </p:sp>
      <p:sp>
        <p:nvSpPr>
          <p:cNvPr id="6" name="right"/>
          <p:cNvSpPr/>
          <p:nvPr/>
        </p:nvSpPr>
        <p:spPr>
          <a:xfrm>
            <a:off x="8432800" y="2209800"/>
            <a:ext cx="7213600" cy="4927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7" name="left-label"/>
          <p:cNvSpPr/>
          <p:nvPr/>
        </p:nvSpPr>
        <p:spPr>
          <a:xfrm>
            <a:off x="1016000" y="2641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FEEDBACK-ROUTINE PLAN</a:t>
            </a:r>
            <a:endParaRPr lang="en-US" sz="1400" dirty="0"/>
          </a:p>
        </p:txBody>
      </p:sp>
      <p:sp>
        <p:nvSpPr>
          <p:cNvPr id="8" name="left-copy"/>
          <p:cNvSpPr/>
          <p:nvPr/>
        </p:nvSpPr>
        <p:spPr>
          <a:xfrm>
            <a:off x="1016000" y="3302000"/>
            <a:ext cx="60198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Identify the evidence moment.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Write the feedback message or prompt.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Name the student action.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Plan when/how students will act.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Set the evidence look-for.</a:t>
            </a:r>
            <a:endParaRPr lang="en-US" sz="2200" dirty="0"/>
          </a:p>
        </p:txBody>
      </p:sp>
      <p:sp>
        <p:nvSpPr>
          <p:cNvPr id="9" name="right-label"/>
          <p:cNvSpPr/>
          <p:nvPr/>
        </p:nvSpPr>
        <p:spPr>
          <a:xfrm>
            <a:off x="8839200" y="26416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REHEARSAL</a:t>
            </a:r>
            <a:endParaRPr lang="en-US" sz="1400" dirty="0"/>
          </a:p>
        </p:txBody>
      </p:sp>
      <p:sp>
        <p:nvSpPr>
          <p:cNvPr id="10" name="right-copy"/>
          <p:cNvSpPr/>
          <p:nvPr/>
        </p:nvSpPr>
        <p:spPr>
          <a:xfrm>
            <a:off x="8839200" y="3302000"/>
            <a:ext cx="59690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one feedback prompt.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Check: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Does it name a next action?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Does it protect the thinking?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 all students access and use it?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evidence follows the action?</a:t>
            </a:r>
            <a:endParaRPr lang="en-US" sz="2200" dirty="0"/>
          </a:p>
        </p:txBody>
      </p:sp>
      <p:sp>
        <p:nvSpPr>
          <p:cNvPr id="11" name="note"/>
          <p:cNvSpPr/>
          <p:nvPr/>
        </p:nvSpPr>
        <p:spPr>
          <a:xfrm>
            <a:off x="609600" y="7645400"/>
            <a:ext cx="15036800" cy="381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2" name="note-copy"/>
          <p:cNvSpPr/>
          <p:nvPr/>
        </p:nvSpPr>
        <p:spPr>
          <a:xfrm>
            <a:off x="609600" y="7734300"/>
            <a:ext cx="1503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a small student-evidence set or observation notes Friday if implementation occurs; otherwise bring anticipated responses and the lesson.</a:t>
            </a:r>
            <a:endParaRPr lang="en-US" sz="1400" dirty="0"/>
          </a:p>
        </p:txBody>
      </p:sp>
      <p:sp>
        <p:nvSpPr>
          <p:cNvPr id="13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INDIVIDUAL WORK WITH COLLEAGUE SUPPORT</a:t>
            </a:r>
            <a:endParaRPr lang="en-US" sz="1400" dirty="0"/>
          </a:p>
        </p:txBody>
      </p:sp>
      <p:sp>
        <p:nvSpPr>
          <p:cNvPr id="14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9144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label"/>
          <p:cNvSpPr/>
          <p:nvPr/>
        </p:nvSpPr>
        <p:spPr>
          <a:xfrm>
            <a:off x="812800" y="11684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812800" y="2057400"/>
            <a:ext cx="965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next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check.</a:t>
            </a:r>
            <a:endParaRPr lang="en-US" sz="4600" dirty="0"/>
          </a:p>
        </p:txBody>
      </p:sp>
      <p:sp>
        <p:nvSpPr>
          <p:cNvPr id="5" name="sub"/>
          <p:cNvSpPr/>
          <p:nvPr/>
        </p:nvSpPr>
        <p:spPr>
          <a:xfrm>
            <a:off x="812800" y="4165600"/>
            <a:ext cx="889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rehearse the feedback-to-action routine, examine evidence or anticipated responses, and adjust the next learning experience.</a:t>
            </a:r>
            <a:endParaRPr lang="en-US" sz="2100" dirty="0"/>
          </a:p>
        </p:txBody>
      </p:sp>
      <p:sp>
        <p:nvSpPr>
          <p:cNvPr id="6" name="check"/>
          <p:cNvSpPr/>
          <p:nvPr/>
        </p:nvSpPr>
        <p:spPr>
          <a:xfrm>
            <a:off x="11328400" y="1320800"/>
            <a:ext cx="3937000" cy="4749800"/>
          </a:xfrm>
          <a:prstGeom prst="rect">
            <a:avLst/>
          </a:prstGeom>
          <a:solidFill>
            <a:srgbClr val="3F3F46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7" name="check-label"/>
          <p:cNvSpPr/>
          <p:nvPr/>
        </p:nvSpPr>
        <p:spPr>
          <a:xfrm>
            <a:off x="11760200" y="18034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THESE ITEMS</a:t>
            </a:r>
            <a:endParaRPr lang="en-US" sz="1400" dirty="0"/>
          </a:p>
        </p:txBody>
      </p:sp>
      <p:sp>
        <p:nvSpPr>
          <p:cNvPr id="8" name="check-copy"/>
          <p:cNvSpPr/>
          <p:nvPr/>
        </p:nvSpPr>
        <p:spPr>
          <a:xfrm>
            <a:off x="11760200" y="2565400"/>
            <a:ext cx="279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Evidence moment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Feedback prompt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Student action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Participation/access plan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Evidence look-for</a:t>
            </a:r>
            <a:endParaRPr lang="en-US" sz="2100" dirty="0"/>
          </a:p>
        </p:txBody>
      </p:sp>
      <p:sp>
        <p:nvSpPr>
          <p:cNvPr id="9" name="footer"/>
          <p:cNvSpPr/>
          <p:nvPr/>
        </p:nvSpPr>
        <p:spPr>
          <a:xfrm>
            <a:off x="812800" y="8509000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4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REHEARSE FEEDBACK LOOP + SET NEXT EVIDENCE CHECK · FRIDAY, OCTOBER 9</a:t>
            </a:r>
            <a:endParaRPr lang="en-US" sz="1400" dirty="0"/>
          </a:p>
        </p:txBody>
      </p:sp>
      <p:sp>
        <p:nvSpPr>
          <p:cNvPr id="10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Feedback That Prompts Student Action — October 6, 2026</dc:title>
  <dc:subject>Plan Feedback That Prompts Student Action — October 6, 2026</dc:subject>
  <dc:creator>Manus</dc:creator>
  <cp:lastModifiedBy>Manus</cp:lastModifiedBy>
  <cp:revision>1</cp:revision>
  <dcterms:created xsi:type="dcterms:W3CDTF">2026-09-28T12:53:56Z</dcterms:created>
  <dcterms:modified xsi:type="dcterms:W3CDTF">2026-09-28T12:53:56Z</dcterms:modified>
</cp:coreProperties>
</file>
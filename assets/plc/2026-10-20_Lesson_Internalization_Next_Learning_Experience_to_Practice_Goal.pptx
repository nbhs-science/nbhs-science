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Inter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vertical-accent"/>
          <p:cNvSpPr/>
          <p:nvPr/>
        </p:nvSpPr>
        <p:spPr>
          <a:xfrm>
            <a:off x="762000" y="1727200"/>
            <a:ext cx="127000" cy="41910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4" name="cover-session"/>
          <p:cNvSpPr/>
          <p:nvPr/>
        </p:nvSpPr>
        <p:spPr>
          <a:xfrm>
            <a:off x="1206500" y="990600"/>
            <a:ext cx="965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BA0C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TUESDAY, OCTOBER 20, 2026 · 41 MINUTES · GRADES 9–12 SCIENCE</a:t>
            </a:r>
            <a:endParaRPr lang="en-US" sz="1600" dirty="0"/>
          </a:p>
        </p:txBody>
      </p:sp>
      <p:sp>
        <p:nvSpPr>
          <p:cNvPr id="5" name="cover-title"/>
          <p:cNvSpPr/>
          <p:nvPr/>
        </p:nvSpPr>
        <p:spPr>
          <a:xfrm>
            <a:off x="1206500" y="1841500"/>
            <a:ext cx="9779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0"/>
              </a:lnSpc>
              <a:buNone/>
            </a:pPr>
            <a:r>
              <a:rPr lang="en-US" altLang="en-US" sz="5500" dirty="0">
                <a:solidFill>
                  <a:srgbClr val="2B2D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Next Learning Experience to a Practice Goal</a:t>
            </a:r>
            <a:endParaRPr lang="en-US" sz="5500" dirty="0"/>
          </a:p>
        </p:txBody>
      </p:sp>
      <p:sp>
        <p:nvSpPr>
          <p:cNvPr id="6" name="cover-subtitle"/>
          <p:cNvSpPr/>
          <p:nvPr/>
        </p:nvSpPr>
        <p:spPr>
          <a:xfrm>
            <a:off x="1206500" y="469900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9"/>
              </a:lnSpc>
              <a:buNone/>
            </a:pPr>
            <a:r>
              <a:rPr lang="en-US" altLang="en-US" sz="23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internally prepared lesson to complete Self-Assessment Part 2 and draft a Professional Practice SMART Goal.</a:t>
            </a:r>
            <a:endParaRPr lang="en-US" sz="2300" dirty="0"/>
          </a:p>
        </p:txBody>
      </p:sp>
      <p:sp>
        <p:nvSpPr>
          <p:cNvPr id="7" name="right-panel"/>
          <p:cNvSpPr/>
          <p:nvPr/>
        </p:nvSpPr>
        <p:spPr>
          <a:xfrm>
            <a:off x="11684000" y="990600"/>
            <a:ext cx="3810000" cy="7035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right-label"/>
          <p:cNvSpPr/>
          <p:nvPr/>
        </p:nvSpPr>
        <p:spPr>
          <a:xfrm>
            <a:off x="12090400" y="14732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BA0C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CLEAR TEST</a:t>
            </a:r>
            <a:endParaRPr lang="en-US" sz="1500" dirty="0"/>
          </a:p>
        </p:txBody>
      </p:sp>
      <p:sp>
        <p:nvSpPr>
          <p:cNvPr id="9" name="right-question"/>
          <p:cNvSpPr/>
          <p:nvPr/>
        </p:nvSpPr>
        <p:spPr>
          <a:xfrm>
            <a:off x="12090400" y="2082800"/>
            <a:ext cx="2857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6"/>
              </a:lnSpc>
              <a:buNone/>
            </a:pPr>
            <a:r>
              <a:rPr lang="en-US" altLang="en-US" sz="2700" dirty="0">
                <a:solidFill>
                  <a:srgbClr val="2B2D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this teaching practice improves, what will students do differently?</a:t>
            </a:r>
            <a:endParaRPr lang="en-US" sz="2700" dirty="0"/>
          </a:p>
        </p:txBody>
      </p:sp>
      <p:sp>
        <p:nvSpPr>
          <p:cNvPr id="10" name="right-rule"/>
          <p:cNvSpPr/>
          <p:nvPr/>
        </p:nvSpPr>
        <p:spPr>
          <a:xfrm>
            <a:off x="12090400" y="4445000"/>
            <a:ext cx="2641600" cy="25400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11" name="teach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90400" y="4940300"/>
            <a:ext cx="457200" cy="457200"/>
          </a:xfrm>
          <a:prstGeom prst="rect">
            <a:avLst/>
          </a:prstGeom>
        </p:spPr>
      </p:pic>
      <p:sp>
        <p:nvSpPr>
          <p:cNvPr id="12" name="teacher-text"/>
          <p:cNvSpPr/>
          <p:nvPr/>
        </p:nvSpPr>
        <p:spPr>
          <a:xfrm>
            <a:off x="12788900" y="4876800"/>
            <a:ext cx="2095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 action</a:t>
            </a:r>
            <a:endParaRPr lang="en-US" sz="2000" dirty="0"/>
          </a:p>
        </p:txBody>
      </p:sp>
      <p:pic>
        <p:nvPicPr>
          <p:cNvPr id="13" name="studen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400" y="5918200"/>
            <a:ext cx="457200" cy="457200"/>
          </a:xfrm>
          <a:prstGeom prst="rect">
            <a:avLst/>
          </a:prstGeom>
        </p:spPr>
      </p:pic>
      <p:sp>
        <p:nvSpPr>
          <p:cNvPr id="14" name="student-text"/>
          <p:cNvSpPr/>
          <p:nvPr/>
        </p:nvSpPr>
        <p:spPr>
          <a:xfrm>
            <a:off x="12788900" y="5854700"/>
            <a:ext cx="2095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action</a:t>
            </a:r>
            <a:endParaRPr lang="en-US" sz="2000" dirty="0"/>
          </a:p>
        </p:txBody>
      </p:sp>
      <p:pic>
        <p:nvPicPr>
          <p:cNvPr id="15" name="evidence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0400" y="6959600"/>
            <a:ext cx="457200" cy="457200"/>
          </a:xfrm>
          <a:prstGeom prst="rect">
            <a:avLst/>
          </a:prstGeom>
        </p:spPr>
      </p:pic>
      <p:sp>
        <p:nvSpPr>
          <p:cNvPr id="16" name="evidence-text"/>
          <p:cNvSpPr/>
          <p:nvPr/>
        </p:nvSpPr>
        <p:spPr>
          <a:xfrm>
            <a:off x="12788900" y="6896100"/>
            <a:ext cx="2095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look-for</a:t>
            </a:r>
            <a:endParaRPr lang="en-US" sz="2000" dirty="0"/>
          </a:p>
        </p:txBody>
      </p:sp>
      <p:sp>
        <p:nvSpPr>
          <p:cNvPr id="17" name="cover-footer"/>
          <p:cNvSpPr/>
          <p:nvPr/>
        </p:nvSpPr>
        <p:spPr>
          <a:xfrm>
            <a:off x="1206500" y="7975600"/>
            <a:ext cx="889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LESSON INTERNALIZATION &amp; GOAL SETTING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016000"/>
          </a:xfrm>
          <a:prstGeom prst="rect">
            <a:avLst/>
          </a:prstGeom>
          <a:solidFill>
            <a:srgbClr val="2B2D30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304800"/>
            <a:ext cx="13462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Forward the Standard, Skill, and Lesson</a:t>
            </a:r>
            <a:endParaRPr lang="en-US" sz="3200" dirty="0"/>
          </a:p>
        </p:txBody>
      </p:sp>
      <p:sp>
        <p:nvSpPr>
          <p:cNvPr id="5" name="intro"/>
          <p:cNvSpPr/>
          <p:nvPr/>
        </p:nvSpPr>
        <p:spPr>
          <a:xfrm>
            <a:off x="762000" y="1460500"/>
            <a:ext cx="132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Professional Practice Goal should strengthen the same student-learning priority already identified.</a:t>
            </a:r>
            <a:endParaRPr lang="en-US" sz="2100" dirty="0"/>
          </a:p>
        </p:txBody>
      </p:sp>
      <p:sp>
        <p:nvSpPr>
          <p:cNvPr id="6" name="left-panel"/>
          <p:cNvSpPr/>
          <p:nvPr/>
        </p:nvSpPr>
        <p:spPr>
          <a:xfrm>
            <a:off x="762000" y="2349500"/>
            <a:ext cx="6731000" cy="46355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left-label"/>
          <p:cNvSpPr/>
          <p:nvPr/>
        </p:nvSpPr>
        <p:spPr>
          <a:xfrm>
            <a:off x="1117600" y="2730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BA0C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FORWARD FROM OCTOBER 13 + 19</a:t>
            </a:r>
            <a:endParaRPr lang="en-US" sz="1600" dirty="0"/>
          </a:p>
        </p:txBody>
      </p:sp>
      <p:sp>
        <p:nvSpPr>
          <p:cNvPr id="8" name="left-body"/>
          <p:cNvSpPr/>
          <p:nvPr/>
        </p:nvSpPr>
        <p:spPr>
          <a:xfrm>
            <a:off x="1117600" y="3416300"/>
            <a:ext cx="55880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9"/>
              </a:lnSpc>
              <a:buNone/>
            </a:pPr>
            <a:r>
              <a:rPr lang="en-US" altLang="en-US" sz="2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standard</a:t>
            </a:r>
            <a:endParaRPr lang="en-US" sz="2300" dirty="0"/>
          </a:p>
          <a:p>
            <a:pPr algn="l" indent="0" marL="0">
              <a:lnSpc>
                <a:spcPts val="2829"/>
              </a:lnSpc>
              <a:buNone/>
            </a:pPr>
            <a:r>
              <a:rPr lang="en-US" altLang="en-US" sz="2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 target skills</a:t>
            </a:r>
            <a:endParaRPr lang="en-US" sz="2300" dirty="0"/>
          </a:p>
          <a:p>
            <a:pPr algn="l" indent="0" marL="0">
              <a:lnSpc>
                <a:spcPts val="2829"/>
              </a:lnSpc>
              <a:buNone/>
            </a:pPr>
            <a:r>
              <a:rPr lang="en-US" altLang="en-US" sz="2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Learning Goal</a:t>
            </a:r>
            <a:endParaRPr lang="en-US" sz="2300" dirty="0"/>
          </a:p>
          <a:p>
            <a:pPr algn="l" indent="0" marL="0">
              <a:lnSpc>
                <a:spcPts val="2829"/>
              </a:lnSpc>
              <a:buNone/>
            </a:pPr>
            <a:r>
              <a:rPr lang="en-US" altLang="en-US" sz="23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baseline + evidence source</a:t>
            </a:r>
            <a:endParaRPr lang="en-US" sz="2300" dirty="0"/>
          </a:p>
        </p:txBody>
      </p:sp>
      <p:sp>
        <p:nvSpPr>
          <p:cNvPr id="9" name="arrow"/>
          <p:cNvSpPr/>
          <p:nvPr/>
        </p:nvSpPr>
        <p:spPr>
          <a:xfrm>
            <a:off x="7747000" y="4622800"/>
            <a:ext cx="762000" cy="9144"/>
          </a:xfrm>
          <a:prstGeom prst="line">
            <a:avLst/>
          </a:prstGeom>
          <a:ln w="63500">
            <a:solidFill>
              <a:srgbClr val="BA0C2F"/>
            </a:solidFill>
            <a:prstDash val="solid"/>
            <a:tailEnd type="triangle"/>
          </a:ln>
        </p:spPr>
      </p:sp>
      <p:sp>
        <p:nvSpPr>
          <p:cNvPr id="10" name="right-panel"/>
          <p:cNvSpPr/>
          <p:nvPr/>
        </p:nvSpPr>
        <p:spPr>
          <a:xfrm>
            <a:off x="8763000" y="2349500"/>
            <a:ext cx="6731000" cy="4635500"/>
          </a:xfrm>
          <a:prstGeom prst="rect">
            <a:avLst/>
          </a:prstGeom>
          <a:solidFill>
            <a:srgbClr val="2B2D30"/>
          </a:solidFill>
          <a:ln/>
        </p:spPr>
      </p:sp>
      <p:sp>
        <p:nvSpPr>
          <p:cNvPr id="11" name="right-label"/>
          <p:cNvSpPr/>
          <p:nvPr/>
        </p:nvSpPr>
        <p:spPr>
          <a:xfrm>
            <a:off x="9118600" y="27305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 FORWARD FROM OCTOBER 16</a:t>
            </a:r>
            <a:endParaRPr lang="en-US" sz="1600" dirty="0"/>
          </a:p>
        </p:txBody>
      </p:sp>
      <p:sp>
        <p:nvSpPr>
          <p:cNvPr id="12" name="right-body"/>
          <p:cNvSpPr/>
          <p:nvPr/>
        </p:nvSpPr>
        <p:spPr>
          <a:xfrm>
            <a:off x="9118600" y="3416300"/>
            <a:ext cx="5588000" cy="284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29"/>
              </a:lnSpc>
              <a:buNone/>
            </a:pP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Upcoming lesson or task</a:t>
            </a:r>
            <a:endParaRPr lang="en-US" sz="2300" dirty="0"/>
          </a:p>
          <a:p>
            <a:pPr algn="l" indent="0" marL="0">
              <a:lnSpc>
                <a:spcPts val="2829"/>
              </a:lnSpc>
              <a:buNone/>
            </a:pP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thinking moment</a:t>
            </a:r>
            <a:endParaRPr lang="en-US" sz="2300" dirty="0"/>
          </a:p>
          <a:p>
            <a:pPr algn="l" indent="0" marL="0">
              <a:lnSpc>
                <a:spcPts val="2829"/>
              </a:lnSpc>
              <a:buNone/>
            </a:pP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Anticipated responses</a:t>
            </a:r>
            <a:endParaRPr lang="en-US" sz="2300" dirty="0"/>
          </a:p>
          <a:p>
            <a:pPr algn="l" indent="0" marL="0">
              <a:lnSpc>
                <a:spcPts val="2829"/>
              </a:lnSpc>
              <a:buNone/>
            </a:pPr>
            <a:r>
              <a:rPr lang="en-US" altLang="en-US" sz="2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+ student action</a:t>
            </a:r>
            <a:endParaRPr lang="en-US" sz="2300" dirty="0"/>
          </a:p>
        </p:txBody>
      </p:sp>
      <p:sp>
        <p:nvSpPr>
          <p:cNvPr id="13" name="bottom"/>
          <p:cNvSpPr/>
          <p:nvPr/>
        </p:nvSpPr>
        <p:spPr>
          <a:xfrm>
            <a:off x="762000" y="7480300"/>
            <a:ext cx="14732000" cy="6604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14" name="bottom-text"/>
          <p:cNvSpPr/>
          <p:nvPr/>
        </p:nvSpPr>
        <p:spPr>
          <a:xfrm>
            <a:off x="1066800" y="7658100"/>
            <a:ext cx="13716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question: What teacher practice will help students do more of the intended thinking in this lesson?</a:t>
            </a:r>
            <a:endParaRPr lang="en-US" sz="1900" dirty="0"/>
          </a:p>
        </p:txBody>
      </p:sp>
      <p:sp>
        <p:nvSpPr>
          <p:cNvPr id="15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20, 2026 · LESSON INTERNALIZATION &amp; GOAL SETTING</a:t>
            </a:r>
            <a:endParaRPr lang="en-US" sz="1400" dirty="0"/>
          </a:p>
        </p:txBody>
      </p:sp>
      <p:sp>
        <p:nvSpPr>
          <p:cNvPr id="16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016000"/>
          </a:xfrm>
          <a:prstGeom prst="rect">
            <a:avLst/>
          </a:prstGeom>
          <a:solidFill>
            <a:srgbClr val="2B2D30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304800"/>
            <a:ext cx="1333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Locate the Critical-Thinking Moment</a:t>
            </a:r>
            <a:endParaRPr lang="en-US" sz="3200" dirty="0"/>
          </a:p>
        </p:txBody>
      </p:sp>
      <p:sp>
        <p:nvSpPr>
          <p:cNvPr id="5" name="eyebrow"/>
          <p:cNvSpPr/>
          <p:nvPr/>
        </p:nvSpPr>
        <p:spPr>
          <a:xfrm>
            <a:off x="762000" y="146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BA0C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 3 · FACILITATE FOR DEEPER LEARNING</a:t>
            </a:r>
            <a:endParaRPr lang="en-US" sz="1600" dirty="0"/>
          </a:p>
        </p:txBody>
      </p:sp>
      <p:sp>
        <p:nvSpPr>
          <p:cNvPr id="6" name="intro"/>
          <p:cNvSpPr/>
          <p:nvPr/>
        </p:nvSpPr>
        <p:spPr>
          <a:xfrm>
            <a:off x="762000" y="1955800"/>
            <a:ext cx="12827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altLang="en-US" sz="2500" dirty="0">
                <a:solidFill>
                  <a:srgbClr val="1F2937"/>
                </a:solidFill>
              </a:rPr>
              <a:t>Find the moment when students must use the priority skill — not the moment when teachers explain it for them.</a:t>
            </a:r>
            <a:endParaRPr lang="en-US" sz="2500" dirty="0"/>
          </a:p>
        </p:txBody>
      </p:sp>
      <p:sp>
        <p:nvSpPr>
          <p:cNvPr id="7" name="one"/>
          <p:cNvSpPr/>
          <p:nvPr/>
        </p:nvSpPr>
        <p:spPr>
          <a:xfrm>
            <a:off x="762000" y="3403600"/>
            <a:ext cx="4191000" cy="3175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one-num"/>
          <p:cNvSpPr/>
          <p:nvPr/>
        </p:nvSpPr>
        <p:spPr>
          <a:xfrm>
            <a:off x="1092200" y="3733800"/>
            <a:ext cx="6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300" dirty="0">
                <a:solidFill>
                  <a:srgbClr val="BA0C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300" dirty="0"/>
          </a:p>
        </p:txBody>
      </p:sp>
      <p:sp>
        <p:nvSpPr>
          <p:cNvPr id="9" name="one-title"/>
          <p:cNvSpPr/>
          <p:nvPr/>
        </p:nvSpPr>
        <p:spPr>
          <a:xfrm>
            <a:off x="1092200" y="4508500"/>
            <a:ext cx="317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Locate the task</a:t>
            </a:r>
            <a:endParaRPr lang="en-US" sz="2500" dirty="0"/>
          </a:p>
        </p:txBody>
      </p:sp>
      <p:sp>
        <p:nvSpPr>
          <p:cNvPr id="10" name="one-body"/>
          <p:cNvSpPr/>
          <p:nvPr/>
        </p:nvSpPr>
        <p:spPr>
          <a:xfrm>
            <a:off x="1092200" y="5156200"/>
            <a:ext cx="3225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will students explain, model, analyze, investigate, or argue from evidence?</a:t>
            </a:r>
            <a:endParaRPr lang="en-US" sz="2000" dirty="0"/>
          </a:p>
        </p:txBody>
      </p:sp>
      <p:sp>
        <p:nvSpPr>
          <p:cNvPr id="11" name="arrow1"/>
          <p:cNvSpPr/>
          <p:nvPr/>
        </p:nvSpPr>
        <p:spPr>
          <a:xfrm>
            <a:off x="4953000" y="5003800"/>
            <a:ext cx="889000" cy="9144"/>
          </a:xfrm>
          <a:prstGeom prst="line">
            <a:avLst/>
          </a:prstGeom>
          <a:ln w="50800">
            <a:solidFill>
              <a:srgbClr val="BA0C2F"/>
            </a:solidFill>
            <a:prstDash val="solid"/>
            <a:tailEnd type="triangle"/>
          </a:ln>
        </p:spPr>
      </p:sp>
      <p:sp>
        <p:nvSpPr>
          <p:cNvPr id="12" name="two"/>
          <p:cNvSpPr/>
          <p:nvPr/>
        </p:nvSpPr>
        <p:spPr>
          <a:xfrm>
            <a:off x="5842000" y="3403600"/>
            <a:ext cx="4191000" cy="3175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wo-num"/>
          <p:cNvSpPr/>
          <p:nvPr/>
        </p:nvSpPr>
        <p:spPr>
          <a:xfrm>
            <a:off x="6172200" y="3733800"/>
            <a:ext cx="6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300" dirty="0">
                <a:solidFill>
                  <a:srgbClr val="BA0C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300" dirty="0"/>
          </a:p>
        </p:txBody>
      </p:sp>
      <p:sp>
        <p:nvSpPr>
          <p:cNvPr id="14" name="two-title"/>
          <p:cNvSpPr/>
          <p:nvPr/>
        </p:nvSpPr>
        <p:spPr>
          <a:xfrm>
            <a:off x="6172200" y="4508500"/>
            <a:ext cx="317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 responses</a:t>
            </a:r>
            <a:endParaRPr lang="en-US" sz="2500" dirty="0"/>
          </a:p>
        </p:txBody>
      </p:sp>
      <p:sp>
        <p:nvSpPr>
          <p:cNvPr id="15" name="two-body"/>
          <p:cNvSpPr/>
          <p:nvPr/>
        </p:nvSpPr>
        <p:spPr>
          <a:xfrm>
            <a:off x="6172200" y="5156200"/>
            <a:ext cx="3225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might be correct, partial, or incorrect? What misconception may appear?</a:t>
            </a:r>
            <a:endParaRPr lang="en-US" sz="2000" dirty="0"/>
          </a:p>
        </p:txBody>
      </p:sp>
      <p:sp>
        <p:nvSpPr>
          <p:cNvPr id="16" name="arrow2"/>
          <p:cNvSpPr/>
          <p:nvPr/>
        </p:nvSpPr>
        <p:spPr>
          <a:xfrm>
            <a:off x="10033000" y="5003800"/>
            <a:ext cx="889000" cy="9144"/>
          </a:xfrm>
          <a:prstGeom prst="line">
            <a:avLst/>
          </a:prstGeom>
          <a:ln w="50800">
            <a:solidFill>
              <a:srgbClr val="BA0C2F"/>
            </a:solidFill>
            <a:prstDash val="solid"/>
            <a:tailEnd type="triangle"/>
          </a:ln>
        </p:spPr>
      </p:sp>
      <p:sp>
        <p:nvSpPr>
          <p:cNvPr id="17" name="three"/>
          <p:cNvSpPr/>
          <p:nvPr/>
        </p:nvSpPr>
        <p:spPr>
          <a:xfrm>
            <a:off x="10922000" y="3403600"/>
            <a:ext cx="4572000" cy="31750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18" name="three-num"/>
          <p:cNvSpPr/>
          <p:nvPr/>
        </p:nvSpPr>
        <p:spPr>
          <a:xfrm>
            <a:off x="11252200" y="3733800"/>
            <a:ext cx="6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300" dirty="0"/>
          </a:p>
        </p:txBody>
      </p:sp>
      <p:sp>
        <p:nvSpPr>
          <p:cNvPr id="19" name="three-title"/>
          <p:cNvSpPr/>
          <p:nvPr/>
        </p:nvSpPr>
        <p:spPr>
          <a:xfrm>
            <a:off x="11252200" y="4508500"/>
            <a:ext cx="3479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teacher move</a:t>
            </a:r>
            <a:endParaRPr lang="en-US" sz="2500" dirty="0"/>
          </a:p>
        </p:txBody>
      </p:sp>
      <p:sp>
        <p:nvSpPr>
          <p:cNvPr id="20" name="three-body"/>
          <p:cNvSpPr/>
          <p:nvPr/>
        </p:nvSpPr>
        <p:spPr>
          <a:xfrm>
            <a:off x="11252200" y="5156200"/>
            <a:ext cx="3479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question, criteria, feedback, or support will prompt the next student action?</a:t>
            </a:r>
            <a:endParaRPr lang="en-US" sz="2000" dirty="0"/>
          </a:p>
        </p:txBody>
      </p:sp>
      <p:sp>
        <p:nvSpPr>
          <p:cNvPr id="21" name="note"/>
          <p:cNvSpPr/>
          <p:nvPr/>
        </p:nvSpPr>
        <p:spPr>
          <a:xfrm>
            <a:off x="762000" y="7239000"/>
            <a:ext cx="14732000" cy="685800"/>
          </a:xfrm>
          <a:prstGeom prst="rect">
            <a:avLst/>
          </a:prstGeom>
          <a:solidFill>
            <a:srgbClr val="2B2D30"/>
          </a:solidFill>
          <a:ln/>
        </p:spPr>
      </p:sp>
      <p:sp>
        <p:nvSpPr>
          <p:cNvPr id="22" name="note-text"/>
          <p:cNvSpPr/>
          <p:nvPr/>
        </p:nvSpPr>
        <p:spPr>
          <a:xfrm>
            <a:off x="1066800" y="7416800"/>
            <a:ext cx="1371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Professional Practice Goal should name the teacher move that protects this cognitive work.</a:t>
            </a:r>
            <a:endParaRPr lang="en-US" sz="2000" dirty="0"/>
          </a:p>
        </p:txBody>
      </p:sp>
      <p:sp>
        <p:nvSpPr>
          <p:cNvPr id="23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20, 2026 · LESSON INTERNALIZATION &amp; GOAL SETTING</a:t>
            </a:r>
            <a:endParaRPr lang="en-US" sz="1400" dirty="0"/>
          </a:p>
        </p:txBody>
      </p:sp>
      <p:sp>
        <p:nvSpPr>
          <p:cNvPr id="24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016000"/>
          </a:xfrm>
          <a:prstGeom prst="rect">
            <a:avLst/>
          </a:prstGeom>
          <a:solidFill>
            <a:srgbClr val="2B2D30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3048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Practice Goal: Teacher Action → Student Action</a:t>
            </a:r>
            <a:endParaRPr lang="en-US" sz="3200" dirty="0"/>
          </a:p>
        </p:txBody>
      </p:sp>
      <p:sp>
        <p:nvSpPr>
          <p:cNvPr id="5" name="intro"/>
          <p:cNvSpPr/>
          <p:nvPr/>
        </p:nvSpPr>
        <p:spPr>
          <a:xfrm>
            <a:off x="762000" y="1473200"/>
            <a:ext cx="1422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practice goal becomes meaningful when it names the teacher move and the evidence of its impact on student learning.</a:t>
            </a:r>
            <a:endParaRPr lang="en-US" sz="2100" dirty="0"/>
          </a:p>
        </p:txBody>
      </p:sp>
      <p:sp>
        <p:nvSpPr>
          <p:cNvPr id="6" name="teacher"/>
          <p:cNvSpPr/>
          <p:nvPr/>
        </p:nvSpPr>
        <p:spPr>
          <a:xfrm>
            <a:off x="762000" y="2794000"/>
            <a:ext cx="4191000" cy="3175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7" name="teach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149600"/>
            <a:ext cx="508000" cy="508000"/>
          </a:xfrm>
          <a:prstGeom prst="rect">
            <a:avLst/>
          </a:prstGeom>
        </p:spPr>
      </p:pic>
      <p:sp>
        <p:nvSpPr>
          <p:cNvPr id="8" name="teacher-title"/>
          <p:cNvSpPr/>
          <p:nvPr/>
        </p:nvSpPr>
        <p:spPr>
          <a:xfrm>
            <a:off x="1143000" y="4013200"/>
            <a:ext cx="304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Teacher action</a:t>
            </a:r>
            <a:endParaRPr lang="en-US" sz="2600" dirty="0"/>
          </a:p>
        </p:txBody>
      </p:sp>
      <p:sp>
        <p:nvSpPr>
          <p:cNvPr id="9" name="teacher-body"/>
          <p:cNvSpPr/>
          <p:nvPr/>
        </p:nvSpPr>
        <p:spPr>
          <a:xfrm>
            <a:off x="1143000" y="4762500"/>
            <a:ext cx="3048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observable practice: feedback, criteria, discourse, questioning, monitoring, access, or pacing.</a:t>
            </a:r>
            <a:endParaRPr lang="en-US" sz="2000" dirty="0"/>
          </a:p>
        </p:txBody>
      </p:sp>
      <p:sp>
        <p:nvSpPr>
          <p:cNvPr id="10" name="arrow1"/>
          <p:cNvSpPr/>
          <p:nvPr/>
        </p:nvSpPr>
        <p:spPr>
          <a:xfrm>
            <a:off x="5207000" y="4381500"/>
            <a:ext cx="1524000" cy="9144"/>
          </a:xfrm>
          <a:prstGeom prst="line">
            <a:avLst/>
          </a:prstGeom>
          <a:ln w="76200">
            <a:solidFill>
              <a:srgbClr val="BA0C2F"/>
            </a:solidFill>
            <a:prstDash val="solid"/>
            <a:tailEnd type="triangle"/>
          </a:ln>
        </p:spPr>
      </p:sp>
      <p:sp>
        <p:nvSpPr>
          <p:cNvPr id="11" name="student"/>
          <p:cNvSpPr/>
          <p:nvPr/>
        </p:nvSpPr>
        <p:spPr>
          <a:xfrm>
            <a:off x="6985000" y="2794000"/>
            <a:ext cx="4191000" cy="3175000"/>
          </a:xfrm>
          <a:prstGeom prst="rect">
            <a:avLst/>
          </a:prstGeom>
          <a:solidFill>
            <a:srgbClr val="BA0C2F"/>
          </a:solidFill>
          <a:ln/>
        </p:spPr>
      </p:sp>
      <p:pic>
        <p:nvPicPr>
          <p:cNvPr id="12" name="studen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0" y="3149600"/>
            <a:ext cx="508000" cy="508000"/>
          </a:xfrm>
          <a:prstGeom prst="rect">
            <a:avLst/>
          </a:prstGeom>
        </p:spPr>
      </p:pic>
      <p:sp>
        <p:nvSpPr>
          <p:cNvPr id="13" name="student-title"/>
          <p:cNvSpPr/>
          <p:nvPr/>
        </p:nvSpPr>
        <p:spPr>
          <a:xfrm>
            <a:off x="7366000" y="4013200"/>
            <a:ext cx="304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action</a:t>
            </a:r>
            <a:endParaRPr lang="en-US" sz="2600" dirty="0"/>
          </a:p>
        </p:txBody>
      </p:sp>
      <p:sp>
        <p:nvSpPr>
          <p:cNvPr id="14" name="student-body"/>
          <p:cNvSpPr/>
          <p:nvPr/>
        </p:nvSpPr>
        <p:spPr>
          <a:xfrm>
            <a:off x="7366000" y="4762500"/>
            <a:ext cx="3048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60"/>
              </a:lnSpc>
              <a:buNone/>
            </a:pPr>
            <a:r>
              <a:rPr lang="en-US" altLang="en-US" sz="20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revise, correct, explain, compare, extend, or apply their thinking.</a:t>
            </a:r>
            <a:endParaRPr lang="en-US" sz="2000" dirty="0"/>
          </a:p>
        </p:txBody>
      </p:sp>
      <p:sp>
        <p:nvSpPr>
          <p:cNvPr id="15" name="arrow2"/>
          <p:cNvSpPr/>
          <p:nvPr/>
        </p:nvSpPr>
        <p:spPr>
          <a:xfrm>
            <a:off x="11430000" y="4381500"/>
            <a:ext cx="1524000" cy="9144"/>
          </a:xfrm>
          <a:prstGeom prst="line">
            <a:avLst/>
          </a:prstGeom>
          <a:ln w="76200">
            <a:solidFill>
              <a:srgbClr val="BA0C2F"/>
            </a:solidFill>
            <a:prstDash val="solid"/>
            <a:tailEnd type="triangle"/>
          </a:ln>
        </p:spPr>
      </p:sp>
      <p:sp>
        <p:nvSpPr>
          <p:cNvPr id="16" name="evidence"/>
          <p:cNvSpPr/>
          <p:nvPr/>
        </p:nvSpPr>
        <p:spPr>
          <a:xfrm>
            <a:off x="12954000" y="2794000"/>
            <a:ext cx="2540000" cy="3175000"/>
          </a:xfrm>
          <a:prstGeom prst="rect">
            <a:avLst/>
          </a:prstGeom>
          <a:solidFill>
            <a:srgbClr val="2B2D30"/>
          </a:solidFill>
          <a:ln/>
        </p:spPr>
      </p:sp>
      <p:pic>
        <p:nvPicPr>
          <p:cNvPr id="17" name="evidence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0" y="3149600"/>
            <a:ext cx="508000" cy="508000"/>
          </a:xfrm>
          <a:prstGeom prst="rect">
            <a:avLst/>
          </a:prstGeom>
        </p:spPr>
      </p:pic>
      <p:sp>
        <p:nvSpPr>
          <p:cNvPr id="18" name="evidence-title"/>
          <p:cNvSpPr/>
          <p:nvPr/>
        </p:nvSpPr>
        <p:spPr>
          <a:xfrm>
            <a:off x="13258800" y="4013200"/>
            <a:ext cx="184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look-for</a:t>
            </a:r>
            <a:endParaRPr lang="en-US" sz="2100" dirty="0"/>
          </a:p>
        </p:txBody>
      </p:sp>
      <p:sp>
        <p:nvSpPr>
          <p:cNvPr id="19" name="evidence-body"/>
          <p:cNvSpPr/>
          <p:nvPr/>
        </p:nvSpPr>
        <p:spPr>
          <a:xfrm>
            <a:off x="13258800" y="4699000"/>
            <a:ext cx="1841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5"/>
              </a:lnSpc>
              <a:buNone/>
            </a:pPr>
            <a:r>
              <a:rPr lang="en-US" altLang="en-US" sz="17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show the practice helped?</a:t>
            </a:r>
            <a:endParaRPr lang="en-US" sz="1700" dirty="0"/>
          </a:p>
        </p:txBody>
      </p:sp>
      <p:sp>
        <p:nvSpPr>
          <p:cNvPr id="20" name="test"/>
          <p:cNvSpPr/>
          <p:nvPr/>
        </p:nvSpPr>
        <p:spPr>
          <a:xfrm>
            <a:off x="762000" y="6921500"/>
            <a:ext cx="14732000" cy="88900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21" name="test-text"/>
          <p:cNvSpPr/>
          <p:nvPr/>
        </p:nvSpPr>
        <p:spPr>
          <a:xfrm>
            <a:off x="1066800" y="7124700"/>
            <a:ext cx="1371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altLang="en-US" sz="2100" b="1" dirty="0">
                <a:solidFill>
                  <a:srgbClr val="BA0C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Drafting test:</a:t>
            </a:r>
            <a:r>
              <a:rPr lang="en-US" altLang="en-US" sz="2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the goal does not make a student action visible, revise the teacher-action language.</a:t>
            </a:r>
            <a:endParaRPr lang="en-US" sz="2100" dirty="0"/>
          </a:p>
        </p:txBody>
      </p:sp>
      <p:sp>
        <p:nvSpPr>
          <p:cNvPr id="22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20, 2026 · LESSON INTERNALIZATION &amp; GOAL SETTING</a:t>
            </a:r>
            <a:endParaRPr lang="en-US" sz="1400" dirty="0"/>
          </a:p>
        </p:txBody>
      </p:sp>
      <p:sp>
        <p:nvSpPr>
          <p:cNvPr id="23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016000"/>
          </a:xfrm>
          <a:prstGeom prst="rect">
            <a:avLst/>
          </a:prstGeom>
          <a:solidFill>
            <a:srgbClr val="2B2D30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304800"/>
            <a:ext cx="1333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Self-Assessment Part 2</a:t>
            </a:r>
            <a:endParaRPr lang="en-US" sz="3200" dirty="0"/>
          </a:p>
        </p:txBody>
      </p:sp>
      <p:sp>
        <p:nvSpPr>
          <p:cNvPr id="5" name="intro"/>
          <p:cNvSpPr/>
          <p:nvPr/>
        </p:nvSpPr>
        <p:spPr>
          <a:xfrm>
            <a:off x="762000" y="1460500"/>
            <a:ext cx="14097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dirty="0">
                <a:solidFill>
                  <a:srgbClr val="1F2937"/>
                </a:solidFill>
              </a:rPr>
              <a:t>Briefly name one practice strength and one high-priority area for growth connected to the Student Learning Goal.</a:t>
            </a:r>
            <a:endParaRPr lang="en-US" sz="2400" dirty="0"/>
          </a:p>
        </p:txBody>
      </p:sp>
      <p:sp>
        <p:nvSpPr>
          <p:cNvPr id="6" name="strength"/>
          <p:cNvSpPr/>
          <p:nvPr/>
        </p:nvSpPr>
        <p:spPr>
          <a:xfrm>
            <a:off x="762000" y="2730500"/>
            <a:ext cx="6731000" cy="381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trength-label"/>
          <p:cNvSpPr/>
          <p:nvPr/>
        </p:nvSpPr>
        <p:spPr>
          <a:xfrm>
            <a:off x="1117600" y="31496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BA0C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STRENGTH</a:t>
            </a:r>
            <a:endParaRPr lang="en-US" sz="1600" dirty="0"/>
          </a:p>
        </p:txBody>
      </p:sp>
      <p:sp>
        <p:nvSpPr>
          <p:cNvPr id="8" name="strength-title"/>
          <p:cNvSpPr/>
          <p:nvPr/>
        </p:nvSpPr>
        <p:spPr>
          <a:xfrm>
            <a:off x="1117600" y="3898900"/>
            <a:ext cx="4953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7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already supports learning?</a:t>
            </a:r>
            <a:endParaRPr lang="en-US" sz="2700" dirty="0"/>
          </a:p>
        </p:txBody>
      </p:sp>
      <p:sp>
        <p:nvSpPr>
          <p:cNvPr id="9" name="strength-body"/>
          <p:cNvSpPr/>
          <p:nvPr/>
        </p:nvSpPr>
        <p:spPr>
          <a:xfrm>
            <a:off x="1117600" y="4800600"/>
            <a:ext cx="52705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a practice you use with consistency that will support the priority skill.</a:t>
            </a:r>
            <a:endParaRPr lang="en-US" sz="2100" dirty="0"/>
          </a:p>
        </p:txBody>
      </p:sp>
      <p:sp>
        <p:nvSpPr>
          <p:cNvPr id="10" name="growth"/>
          <p:cNvSpPr/>
          <p:nvPr/>
        </p:nvSpPr>
        <p:spPr>
          <a:xfrm>
            <a:off x="8382000" y="2730500"/>
            <a:ext cx="7112000" cy="3810000"/>
          </a:xfrm>
          <a:prstGeom prst="rect">
            <a:avLst/>
          </a:prstGeom>
          <a:solidFill>
            <a:srgbClr val="FDECEC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11" name="growth-label"/>
          <p:cNvSpPr/>
          <p:nvPr/>
        </p:nvSpPr>
        <p:spPr>
          <a:xfrm>
            <a:off x="8737600" y="3149600"/>
            <a:ext cx="501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BA0C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HIGH-PRIORITY AREA FOR GROWTH</a:t>
            </a:r>
            <a:endParaRPr lang="en-US" sz="1600" dirty="0"/>
          </a:p>
        </p:txBody>
      </p:sp>
      <p:sp>
        <p:nvSpPr>
          <p:cNvPr id="12" name="growth-title"/>
          <p:cNvSpPr/>
          <p:nvPr/>
        </p:nvSpPr>
        <p:spPr>
          <a:xfrm>
            <a:off x="8737600" y="3898900"/>
            <a:ext cx="5461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7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make the next task stronger?</a:t>
            </a:r>
            <a:endParaRPr lang="en-US" sz="2700" dirty="0"/>
          </a:p>
        </p:txBody>
      </p:sp>
      <p:sp>
        <p:nvSpPr>
          <p:cNvPr id="13" name="growth-body"/>
          <p:cNvSpPr/>
          <p:nvPr/>
        </p:nvSpPr>
        <p:spPr>
          <a:xfrm>
            <a:off x="8737600" y="4800600"/>
            <a:ext cx="5715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one educator practice that will help students do the intended thinking and act on feedback.</a:t>
            </a:r>
            <a:endParaRPr lang="en-US" sz="2100" dirty="0"/>
          </a:p>
        </p:txBody>
      </p:sp>
      <p:sp>
        <p:nvSpPr>
          <p:cNvPr id="14" name="alignment"/>
          <p:cNvSpPr/>
          <p:nvPr/>
        </p:nvSpPr>
        <p:spPr>
          <a:xfrm>
            <a:off x="762000" y="7162800"/>
            <a:ext cx="14732000" cy="685800"/>
          </a:xfrm>
          <a:prstGeom prst="rect">
            <a:avLst/>
          </a:prstGeom>
          <a:solidFill>
            <a:srgbClr val="2B2D30"/>
          </a:solidFill>
          <a:ln/>
        </p:spPr>
      </p:sp>
      <p:sp>
        <p:nvSpPr>
          <p:cNvPr id="15" name="alignment-text"/>
          <p:cNvSpPr/>
          <p:nvPr/>
        </p:nvSpPr>
        <p:spPr>
          <a:xfrm>
            <a:off x="1066800" y="7340600"/>
            <a:ext cx="137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and the Professional Practice Goal should reinforce one clear improvement story — not introduce a separate priority.</a:t>
            </a:r>
            <a:endParaRPr lang="en-US" sz="1900" dirty="0"/>
          </a:p>
        </p:txBody>
      </p:sp>
      <p:sp>
        <p:nvSpPr>
          <p:cNvPr id="16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20, 2026 · LESSON INTERNALIZATION &amp; GOAL SETTING</a:t>
            </a:r>
            <a:endParaRPr lang="en-US" sz="1400" dirty="0"/>
          </a:p>
        </p:txBody>
      </p:sp>
      <p:sp>
        <p:nvSpPr>
          <p:cNvPr id="17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header"/>
          <p:cNvSpPr/>
          <p:nvPr/>
        </p:nvSpPr>
        <p:spPr>
          <a:xfrm>
            <a:off x="0" y="50800"/>
            <a:ext cx="16256000" cy="1016000"/>
          </a:xfrm>
          <a:prstGeom prst="rect">
            <a:avLst/>
          </a:prstGeom>
          <a:solidFill>
            <a:srgbClr val="2B2D30"/>
          </a:solidFill>
          <a:ln/>
        </p:spPr>
      </p:sp>
      <p:sp>
        <p:nvSpPr>
          <p:cNvPr id="4" name="header-title"/>
          <p:cNvSpPr/>
          <p:nvPr/>
        </p:nvSpPr>
        <p:spPr>
          <a:xfrm>
            <a:off x="508000" y="3048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Time: Draft and Calibrate</a:t>
            </a:r>
            <a:endParaRPr lang="en-US" sz="3200" dirty="0"/>
          </a:p>
        </p:txBody>
      </p:sp>
      <p:sp>
        <p:nvSpPr>
          <p:cNvPr id="5" name="timer"/>
          <p:cNvSpPr/>
          <p:nvPr/>
        </p:nvSpPr>
        <p:spPr>
          <a:xfrm>
            <a:off x="762000" y="1549400"/>
            <a:ext cx="2984500" cy="6096000"/>
          </a:xfrm>
          <a:prstGeom prst="rect">
            <a:avLst/>
          </a:prstGeom>
          <a:solidFill>
            <a:srgbClr val="BA0C2F"/>
          </a:solidFill>
          <a:ln/>
        </p:spPr>
      </p:sp>
      <p:pic>
        <p:nvPicPr>
          <p:cNvPr id="6" name="c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2006600"/>
            <a:ext cx="571500" cy="571500"/>
          </a:xfrm>
          <a:prstGeom prst="rect">
            <a:avLst/>
          </a:prstGeom>
        </p:spPr>
      </p:pic>
      <p:sp>
        <p:nvSpPr>
          <p:cNvPr id="7" name="minutes"/>
          <p:cNvSpPr/>
          <p:nvPr/>
        </p:nvSpPr>
        <p:spPr>
          <a:xfrm>
            <a:off x="1143000" y="3048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7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000" dirty="0"/>
          </a:p>
        </p:txBody>
      </p:sp>
      <p:sp>
        <p:nvSpPr>
          <p:cNvPr id="8" name="minutes-label"/>
          <p:cNvSpPr/>
          <p:nvPr/>
        </p:nvSpPr>
        <p:spPr>
          <a:xfrm>
            <a:off x="1143000" y="4178300"/>
            <a:ext cx="15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form work</a:t>
            </a:r>
            <a:endParaRPr lang="en-US" sz="2300" dirty="0"/>
          </a:p>
        </p:txBody>
      </p:sp>
      <p:sp>
        <p:nvSpPr>
          <p:cNvPr id="9" name="minutes-note"/>
          <p:cNvSpPr/>
          <p:nvPr/>
        </p:nvSpPr>
        <p:spPr>
          <a:xfrm>
            <a:off x="1143000" y="5435600"/>
            <a:ext cx="165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+ Professional Practice Goal. Draft alone; calibrate with colleagues.</a:t>
            </a:r>
            <a:endParaRPr lang="en-US" sz="1700" dirty="0"/>
          </a:p>
        </p:txBody>
      </p:sp>
      <p:sp>
        <p:nvSpPr>
          <p:cNvPr id="10" name="draft-panel"/>
          <p:cNvSpPr/>
          <p:nvPr/>
        </p:nvSpPr>
        <p:spPr>
          <a:xfrm>
            <a:off x="4216400" y="1549400"/>
            <a:ext cx="5334000" cy="276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draft-title"/>
          <p:cNvSpPr/>
          <p:nvPr/>
        </p:nvSpPr>
        <p:spPr>
          <a:xfrm>
            <a:off x="4572000" y="19304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the practice goal</a:t>
            </a:r>
            <a:endParaRPr lang="en-US" sz="2500" dirty="0"/>
          </a:p>
        </p:txBody>
      </p:sp>
      <p:sp>
        <p:nvSpPr>
          <p:cNvPr id="12" name="draft-body"/>
          <p:cNvSpPr/>
          <p:nvPr/>
        </p:nvSpPr>
        <p:spPr>
          <a:xfrm>
            <a:off x="4572000" y="2628900"/>
            <a:ext cx="4241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practice, setting, student action, evidence source, frequency, and review point.</a:t>
            </a:r>
            <a:endParaRPr lang="en-US" sz="2000" dirty="0"/>
          </a:p>
        </p:txBody>
      </p:sp>
      <p:sp>
        <p:nvSpPr>
          <p:cNvPr id="13" name="calibrate-panel"/>
          <p:cNvSpPr/>
          <p:nvPr/>
        </p:nvSpPr>
        <p:spPr>
          <a:xfrm>
            <a:off x="9906000" y="1549400"/>
            <a:ext cx="5588000" cy="276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calibrate-title"/>
          <p:cNvSpPr/>
          <p:nvPr/>
        </p:nvSpPr>
        <p:spPr>
          <a:xfrm>
            <a:off x="10261600" y="193040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Course-alike calibration</a:t>
            </a:r>
            <a:endParaRPr lang="en-US" sz="2500" dirty="0"/>
          </a:p>
        </p:txBody>
      </p:sp>
      <p:sp>
        <p:nvSpPr>
          <p:cNvPr id="15" name="calibrate-body"/>
          <p:cNvSpPr/>
          <p:nvPr/>
        </p:nvSpPr>
        <p:spPr>
          <a:xfrm>
            <a:off x="10261600" y="2628900"/>
            <a:ext cx="4394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altLang="en-US" sz="2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one partner to test whether the practice leads to visible student thinking and action.</a:t>
            </a:r>
            <a:endParaRPr lang="en-US" sz="2000" dirty="0"/>
          </a:p>
        </p:txBody>
      </p:sp>
      <p:sp>
        <p:nvSpPr>
          <p:cNvPr id="16" name="questions"/>
          <p:cNvSpPr/>
          <p:nvPr/>
        </p:nvSpPr>
        <p:spPr>
          <a:xfrm>
            <a:off x="4216400" y="4699000"/>
            <a:ext cx="11277600" cy="2946400"/>
          </a:xfrm>
          <a:prstGeom prst="rect">
            <a:avLst/>
          </a:prstGeom>
          <a:solidFill>
            <a:srgbClr val="2B2D30"/>
          </a:solidFill>
          <a:ln/>
        </p:spPr>
      </p:sp>
      <p:sp>
        <p:nvSpPr>
          <p:cNvPr id="17" name="questions-label"/>
          <p:cNvSpPr/>
          <p:nvPr/>
        </p:nvSpPr>
        <p:spPr>
          <a:xfrm>
            <a:off x="4572000" y="50673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QUESTIONS TO STRENGTHEN THE DRAFT</a:t>
            </a:r>
            <a:endParaRPr lang="en-US" sz="1600" dirty="0"/>
          </a:p>
        </p:txBody>
      </p:sp>
      <p:sp>
        <p:nvSpPr>
          <p:cNvPr id="18" name="questions-text"/>
          <p:cNvSpPr/>
          <p:nvPr/>
        </p:nvSpPr>
        <p:spPr>
          <a:xfrm>
            <a:off x="4572000" y="5613400"/>
            <a:ext cx="10160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What will the teacher do?</a:t>
            </a:r>
            <a:endParaRPr lang="en-US" sz="21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Where will this practice happen?</a:t>
            </a:r>
            <a:endParaRPr lang="en-US" sz="21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What will students do next?</a:t>
            </a:r>
            <a:endParaRPr lang="en-US" sz="21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What evidence will show whether it helped?</a:t>
            </a:r>
            <a:endParaRPr lang="en-US" sz="2100" dirty="0"/>
          </a:p>
        </p:txBody>
      </p:sp>
      <p:sp>
        <p:nvSpPr>
          <p:cNvPr id="19" name="footer"/>
          <p:cNvSpPr/>
          <p:nvPr/>
        </p:nvSpPr>
        <p:spPr>
          <a:xfrm>
            <a:off x="508000" y="8686800"/>
            <a:ext cx="1460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20, 2026 · LESSON INTERNALIZATION &amp; GOAL SETTING</a:t>
            </a:r>
            <a:endParaRPr lang="en-US" sz="1400" dirty="0"/>
          </a:p>
        </p:txBody>
      </p:sp>
      <p:sp>
        <p:nvSpPr>
          <p:cNvPr id="20" name="page"/>
          <p:cNvSpPr/>
          <p:nvPr/>
        </p:nvSpPr>
        <p:spPr>
          <a:xfrm>
            <a:off x="15240000" y="8686800"/>
            <a:ext cx="50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3" name="title"/>
          <p:cNvSpPr/>
          <p:nvPr/>
        </p:nvSpPr>
        <p:spPr>
          <a:xfrm>
            <a:off x="762000" y="1371600"/>
            <a:ext cx="7366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 the first implementation move.</a:t>
            </a:r>
            <a:endParaRPr lang="en-US" sz="5400" dirty="0"/>
          </a:p>
        </p:txBody>
      </p:sp>
      <p:sp>
        <p:nvSpPr>
          <p:cNvPr id="4" name="sub"/>
          <p:cNvSpPr/>
          <p:nvPr/>
        </p:nvSpPr>
        <p:spPr>
          <a:xfrm>
            <a:off x="762000" y="3619500"/>
            <a:ext cx="6477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6"/>
              </a:lnSpc>
              <a:buNone/>
            </a:pPr>
            <a:r>
              <a:rPr lang="en-US" altLang="en-US" sz="2300" dirty="0">
                <a:solidFill>
                  <a:srgbClr val="F3F4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focused practice. One student action. One evidence look-for.</a:t>
            </a:r>
            <a:endParaRPr lang="en-US" sz="2300" dirty="0"/>
          </a:p>
        </p:txBody>
      </p:sp>
      <p:sp>
        <p:nvSpPr>
          <p:cNvPr id="5" name="checkpanel"/>
          <p:cNvSpPr/>
          <p:nvPr/>
        </p:nvSpPr>
        <p:spPr>
          <a:xfrm>
            <a:off x="8953500" y="1333500"/>
            <a:ext cx="6032500" cy="568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checklabel"/>
          <p:cNvSpPr/>
          <p:nvPr/>
        </p:nvSpPr>
        <p:spPr>
          <a:xfrm>
            <a:off x="9372600" y="17272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BA0C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1600" dirty="0"/>
          </a:p>
        </p:txBody>
      </p:sp>
      <p:sp>
        <p:nvSpPr>
          <p:cNvPr id="7" name="checks"/>
          <p:cNvSpPr/>
          <p:nvPr/>
        </p:nvSpPr>
        <p:spPr>
          <a:xfrm>
            <a:off x="9372600" y="2413000"/>
            <a:ext cx="4889500" cy="373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altLang="en-US" sz="2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altLang="en-US" sz="2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Self-Assessment Part 2 drafted</a:t>
            </a:r>
            <a:endParaRPr lang="en-US" sz="2200" dirty="0"/>
          </a:p>
          <a:p>
            <a:pPr algn="l" indent="0" marL="0">
              <a:lnSpc>
                <a:spcPts val="2970"/>
              </a:lnSpc>
              <a:buNone/>
            </a:pPr>
            <a:r>
              <a:rPr lang="en-US" altLang="en-US" sz="2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altLang="en-US" sz="2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Professional Practice Goal drafted</a:t>
            </a:r>
            <a:endParaRPr lang="en-US" sz="2200" dirty="0"/>
          </a:p>
          <a:p>
            <a:pPr algn="l" indent="0" marL="0">
              <a:lnSpc>
                <a:spcPts val="2970"/>
              </a:lnSpc>
              <a:buNone/>
            </a:pPr>
            <a:r>
              <a:rPr lang="en-US" altLang="en-US" sz="2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altLang="en-US" sz="2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 lesson move identified</a:t>
            </a:r>
            <a:endParaRPr lang="en-US" sz="2200" dirty="0"/>
          </a:p>
          <a:p>
            <a:pPr algn="l" indent="0" marL="0">
              <a:lnSpc>
                <a:spcPts val="2970"/>
              </a:lnSpc>
              <a:buNone/>
            </a:pPr>
            <a:r>
              <a:rPr lang="en-US" altLang="en-US" sz="22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r>
              <a:rPr lang="en-US" altLang="en-US" sz="2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 evidence task ready for Friday</a:t>
            </a:r>
            <a:endParaRPr lang="en-US" sz="2200" dirty="0"/>
          </a:p>
        </p:txBody>
      </p:sp>
      <p:sp>
        <p:nvSpPr>
          <p:cNvPr id="8" name="next"/>
          <p:cNvSpPr/>
          <p:nvPr/>
        </p:nvSpPr>
        <p:spPr>
          <a:xfrm>
            <a:off x="762000" y="7493000"/>
            <a:ext cx="14224000" cy="698500"/>
          </a:xfrm>
          <a:prstGeom prst="rect">
            <a:avLst/>
          </a:prstGeom>
          <a:solidFill>
            <a:srgbClr val="BA0C2F"/>
          </a:solidFill>
          <a:ln/>
        </p:spPr>
      </p:sp>
      <p:sp>
        <p:nvSpPr>
          <p:cNvPr id="9" name="nexttext"/>
          <p:cNvSpPr/>
          <p:nvPr/>
        </p:nvSpPr>
        <p:spPr>
          <a:xfrm>
            <a:off x="1066800" y="7670800"/>
            <a:ext cx="132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Friday: Build or refine the writing benchmark or comparable evidence task, criteria, feedback, and review point.</a:t>
            </a:r>
            <a:endParaRPr lang="en-US" sz="2000" dirty="0"/>
          </a:p>
        </p:txBody>
      </p:sp>
      <p:sp>
        <p:nvSpPr>
          <p:cNvPr id="10" name="footer"/>
          <p:cNvSpPr/>
          <p:nvPr/>
        </p:nvSpPr>
        <p:spPr>
          <a:xfrm>
            <a:off x="762000" y="8559800"/>
            <a:ext cx="130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NBHS SCIENCE DEPARTMENT · OCTOBER 20, 2026 · LESSON INTERNALIZATION &amp; GOAL SETTING</a:t>
            </a:r>
            <a:endParaRPr lang="en-US" sz="1400" dirty="0"/>
          </a:p>
        </p:txBody>
      </p:sp>
      <p:sp>
        <p:nvSpPr>
          <p:cNvPr id="11" name="page"/>
          <p:cNvSpPr/>
          <p:nvPr/>
        </p:nvSpPr>
        <p:spPr>
          <a:xfrm>
            <a:off x="14605000" y="85598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October 20, 2026 — From the Next Learning Experience to a Practice Goal</dc:title>
  <dc:subject>October 20, 2026 — From the Next Learning Experience to a Practice Goal</dc:subject>
  <dc:creator>Manus</dc:creator>
  <cp:lastModifiedBy>Manus</cp:lastModifiedBy>
  <cp:revision>1</cp:revision>
  <dcterms:created xsi:type="dcterms:W3CDTF">2026-10-17T23:30:18Z</dcterms:created>
  <dcterms:modified xsi:type="dcterms:W3CDTF">2026-10-17T23:30:18Z</dcterms:modified>
</cp:coreProperties>
</file>
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Inter" charset="-122" pitchFamily="3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pt"/>
          <p:cNvSpPr/>
          <p:nvPr/>
        </p:nvSpPr>
        <p:spPr>
          <a:xfrm>
            <a:off x="609600" y="7112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3" name="accent-rule"/>
          <p:cNvSpPr/>
          <p:nvPr/>
        </p:nvSpPr>
        <p:spPr>
          <a:xfrm>
            <a:off x="609600" y="1422400"/>
            <a:ext cx="150368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2159000"/>
            <a:ext cx="1092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96"/>
              </a:lnSpc>
              <a:buNone/>
            </a:pPr>
            <a:r>
              <a:rPr lang="en-US" altLang="en-US" sz="5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Data Pattern to</a:t>
            </a:r>
            <a:endParaRPr lang="en-US" sz="5200" dirty="0"/>
          </a:p>
          <a:p>
            <a:pPr algn="l" indent="0" marL="0">
              <a:lnSpc>
                <a:spcPts val="5096"/>
              </a:lnSpc>
              <a:buNone/>
            </a:pPr>
            <a:r>
              <a:rPr lang="en-US" altLang="en-US" sz="5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Learning Experience</a:t>
            </a:r>
            <a:endParaRPr lang="en-US" sz="5200" dirty="0"/>
          </a:p>
        </p:txBody>
      </p:sp>
      <p:sp>
        <p:nvSpPr>
          <p:cNvPr id="5" name="subtitle"/>
          <p:cNvSpPr/>
          <p:nvPr/>
        </p:nvSpPr>
        <p:spPr>
          <a:xfrm>
            <a:off x="609600" y="4470400"/>
            <a:ext cx="10287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Lesson Internalization Tool to turn Tuesday’s priority standard and target skills into a ready-to-teach, grade-level lesson response.</a:t>
            </a:r>
            <a:endParaRPr lang="en-US" sz="2000" dirty="0"/>
          </a:p>
        </p:txBody>
      </p:sp>
      <p:sp>
        <p:nvSpPr>
          <p:cNvPr id="6" name="date-chip"/>
          <p:cNvSpPr/>
          <p:nvPr/>
        </p:nvSpPr>
        <p:spPr>
          <a:xfrm>
            <a:off x="609600" y="6858000"/>
            <a:ext cx="3708400" cy="558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date"/>
          <p:cNvSpPr/>
          <p:nvPr/>
        </p:nvSpPr>
        <p:spPr>
          <a:xfrm>
            <a:off x="838200" y="7035800"/>
            <a:ext cx="325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OCTOBER 16, 2026</a:t>
            </a:r>
            <a:endParaRPr lang="en-US" sz="1400" dirty="0"/>
          </a:p>
        </p:txBody>
      </p:sp>
      <p:sp>
        <p:nvSpPr>
          <p:cNvPr id="8" name="time-chip"/>
          <p:cNvSpPr/>
          <p:nvPr/>
        </p:nvSpPr>
        <p:spPr>
          <a:xfrm>
            <a:off x="4521200" y="6858000"/>
            <a:ext cx="18542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ime"/>
          <p:cNvSpPr/>
          <p:nvPr/>
        </p:nvSpPr>
        <p:spPr>
          <a:xfrm>
            <a:off x="4521200" y="7035800"/>
            <a:ext cx="1854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1400" dirty="0"/>
          </a:p>
        </p:txBody>
      </p:sp>
      <p:sp>
        <p:nvSpPr>
          <p:cNvPr id="10" name="side-panel"/>
          <p:cNvSpPr/>
          <p:nvPr/>
        </p:nvSpPr>
        <p:spPr>
          <a:xfrm>
            <a:off x="12192000" y="2108200"/>
            <a:ext cx="3454400" cy="53086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panel-kicker"/>
          <p:cNvSpPr/>
          <p:nvPr/>
        </p:nvSpPr>
        <p:spPr>
          <a:xfrm>
            <a:off x="12598400" y="264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12" name="panel-title"/>
          <p:cNvSpPr/>
          <p:nvPr/>
        </p:nvSpPr>
        <p:spPr>
          <a:xfrm>
            <a:off x="12598400" y="3276600"/>
            <a:ext cx="2540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lesson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teach.</a:t>
            </a:r>
            <a:endParaRPr lang="en-US" sz="3000" dirty="0"/>
          </a:p>
        </p:txBody>
      </p:sp>
      <p:sp>
        <p:nvSpPr>
          <p:cNvPr id="13" name="panel-copy"/>
          <p:cNvSpPr/>
          <p:nvPr/>
        </p:nvSpPr>
        <p:spPr>
          <a:xfrm>
            <a:off x="12598400" y="4902200"/>
            <a:ext cx="25654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standard + skills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purpose + mastery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thinking + feedback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access + evidence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PLC · DATA → LESSON → NEW EVIDENCE</a:t>
            </a:r>
            <a:endParaRPr lang="en-US" sz="1400" dirty="0"/>
          </a:p>
        </p:txBody>
      </p:sp>
      <p:sp>
        <p:nvSpPr>
          <p:cNvPr id="15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939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Plan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1400" dirty="0"/>
          </a:p>
        </p:txBody>
      </p:sp>
      <p:sp>
        <p:nvSpPr>
          <p:cNvPr id="7" name="intro"/>
          <p:cNvSpPr/>
          <p:nvPr/>
        </p:nvSpPr>
        <p:spPr>
          <a:xfrm>
            <a:off x="609600" y="1498600"/>
            <a:ext cx="137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of today is protected lesson internalization with course-alike colleagues.</a:t>
            </a:r>
            <a:endParaRPr lang="en-US" sz="2000" dirty="0"/>
          </a:p>
        </p:txBody>
      </p:sp>
      <p:sp>
        <p:nvSpPr>
          <p:cNvPr id="8" name="c1"/>
          <p:cNvSpPr/>
          <p:nvPr/>
        </p:nvSpPr>
        <p:spPr>
          <a:xfrm>
            <a:off x="609600" y="2336800"/>
            <a:ext cx="4445000" cy="233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c2"/>
          <p:cNvSpPr/>
          <p:nvPr/>
        </p:nvSpPr>
        <p:spPr>
          <a:xfrm>
            <a:off x="5359400" y="2336800"/>
            <a:ext cx="4445000" cy="233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c3"/>
          <p:cNvSpPr/>
          <p:nvPr/>
        </p:nvSpPr>
        <p:spPr>
          <a:xfrm>
            <a:off x="10109200" y="2336800"/>
            <a:ext cx="5537200" cy="233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c4"/>
          <p:cNvSpPr/>
          <p:nvPr/>
        </p:nvSpPr>
        <p:spPr>
          <a:xfrm>
            <a:off x="609600" y="5054600"/>
            <a:ext cx="4445000" cy="233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c5"/>
          <p:cNvSpPr/>
          <p:nvPr/>
        </p:nvSpPr>
        <p:spPr>
          <a:xfrm>
            <a:off x="5359400" y="5054600"/>
            <a:ext cx="4445000" cy="233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c6"/>
          <p:cNvSpPr/>
          <p:nvPr/>
        </p:nvSpPr>
        <p:spPr>
          <a:xfrm>
            <a:off x="10109200" y="5054600"/>
            <a:ext cx="5537200" cy="233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1"/>
          <p:cNvSpPr/>
          <p:nvPr/>
        </p:nvSpPr>
        <p:spPr>
          <a:xfrm>
            <a:off x="965200" y="26924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alt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0–4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RECONNECT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Tuesday’s standard, skills, priority, and lesson.</a:t>
            </a:r>
            <a:endParaRPr lang="en-US" sz="2000" dirty="0"/>
          </a:p>
        </p:txBody>
      </p:sp>
      <p:sp>
        <p:nvSpPr>
          <p:cNvPr id="15" name="t2"/>
          <p:cNvSpPr/>
          <p:nvPr/>
        </p:nvSpPr>
        <p:spPr>
          <a:xfrm>
            <a:off x="5715000" y="26924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alt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4–11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PURPOSE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the standard, skills, target, and mastery evidence.</a:t>
            </a:r>
            <a:endParaRPr lang="en-US" sz="2000" dirty="0"/>
          </a:p>
        </p:txBody>
      </p:sp>
      <p:sp>
        <p:nvSpPr>
          <p:cNvPr id="16" name="t3"/>
          <p:cNvSpPr/>
          <p:nvPr/>
        </p:nvSpPr>
        <p:spPr>
          <a:xfrm>
            <a:off x="10464800" y="2692400"/>
            <a:ext cx="469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alt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11–20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THINKING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task where students use the priority skills.</a:t>
            </a:r>
            <a:endParaRPr lang="en-US" sz="2000" dirty="0"/>
          </a:p>
        </p:txBody>
      </p:sp>
      <p:sp>
        <p:nvSpPr>
          <p:cNvPr id="17" name="t4"/>
          <p:cNvSpPr/>
          <p:nvPr/>
        </p:nvSpPr>
        <p:spPr>
          <a:xfrm>
            <a:off x="965200" y="54102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alt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20–35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PLAN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Internalize the lesson and plan feedback that prompts action.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5715000" y="54102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alt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35–42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CALIBRATE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that support protects grade-level thinking.</a:t>
            </a:r>
            <a:endParaRPr lang="en-US" sz="2000" dirty="0"/>
          </a:p>
        </p:txBody>
      </p:sp>
      <p:sp>
        <p:nvSpPr>
          <p:cNvPr id="19" name="t6"/>
          <p:cNvSpPr/>
          <p:nvPr/>
        </p:nvSpPr>
        <p:spPr>
          <a:xfrm>
            <a:off x="10464800" y="5410200"/>
            <a:ext cx="469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alt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42–46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EVIDENCE CHECK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what will show progress on the standard and skills.</a:t>
            </a:r>
            <a:endParaRPr lang="en-US" sz="2000" dirty="0"/>
          </a:p>
        </p:txBody>
      </p:sp>
      <p:sp>
        <p:nvSpPr>
          <p:cNvPr id="20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PLC · FRIDAY, OCTOBER 16</a:t>
            </a:r>
            <a:endParaRPr lang="en-US" sz="1400" dirty="0"/>
          </a:p>
        </p:txBody>
      </p:sp>
      <p:sp>
        <p:nvSpPr>
          <p:cNvPr id="21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990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Evidence-to-Lesson Bridge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MIN</a:t>
            </a:r>
            <a:endParaRPr lang="en-US" sz="1400" dirty="0"/>
          </a:p>
        </p:txBody>
      </p:sp>
      <p:sp>
        <p:nvSpPr>
          <p:cNvPr id="7" name="subtitle"/>
          <p:cNvSpPr/>
          <p:nvPr/>
        </p:nvSpPr>
        <p:spPr>
          <a:xfrm>
            <a:off x="609600" y="14986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 not a separate intervention plan. It is a stronger next learning experience aligned to the standard and skills.</a:t>
            </a:r>
            <a:endParaRPr lang="en-US" sz="2000" dirty="0"/>
          </a:p>
        </p:txBody>
      </p:sp>
      <p:sp>
        <p:nvSpPr>
          <p:cNvPr id="8" name="n1"/>
          <p:cNvSpPr/>
          <p:nvPr/>
        </p:nvSpPr>
        <p:spPr>
          <a:xfrm>
            <a:off x="609600" y="3048000"/>
            <a:ext cx="254000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n2"/>
          <p:cNvSpPr/>
          <p:nvPr/>
        </p:nvSpPr>
        <p:spPr>
          <a:xfrm>
            <a:off x="3632200" y="3048000"/>
            <a:ext cx="254000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n3"/>
          <p:cNvSpPr/>
          <p:nvPr/>
        </p:nvSpPr>
        <p:spPr>
          <a:xfrm>
            <a:off x="6654800" y="3048000"/>
            <a:ext cx="254000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n4"/>
          <p:cNvSpPr/>
          <p:nvPr/>
        </p:nvSpPr>
        <p:spPr>
          <a:xfrm>
            <a:off x="9677400" y="3048000"/>
            <a:ext cx="254000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n5"/>
          <p:cNvSpPr/>
          <p:nvPr/>
        </p:nvSpPr>
        <p:spPr>
          <a:xfrm>
            <a:off x="12700000" y="3048000"/>
            <a:ext cx="2946400" cy="1600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a1"/>
          <p:cNvSpPr/>
          <p:nvPr/>
        </p:nvSpPr>
        <p:spPr>
          <a:xfrm>
            <a:off x="3149600" y="3848100"/>
            <a:ext cx="4826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4" name="a2"/>
          <p:cNvSpPr/>
          <p:nvPr/>
        </p:nvSpPr>
        <p:spPr>
          <a:xfrm>
            <a:off x="6172200" y="3848100"/>
            <a:ext cx="4826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a3"/>
          <p:cNvSpPr/>
          <p:nvPr/>
        </p:nvSpPr>
        <p:spPr>
          <a:xfrm>
            <a:off x="9194800" y="3848100"/>
            <a:ext cx="4826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6" name="a4"/>
          <p:cNvSpPr/>
          <p:nvPr/>
        </p:nvSpPr>
        <p:spPr>
          <a:xfrm>
            <a:off x="12217400" y="3848100"/>
            <a:ext cx="4826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7" name="n1text"/>
          <p:cNvSpPr/>
          <p:nvPr/>
        </p:nvSpPr>
        <p:spPr>
          <a:xfrm>
            <a:off x="863600" y="3352800"/>
            <a:ext cx="203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+ skills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course expects</a:t>
            </a:r>
            <a:endParaRPr lang="en-US" sz="2000" dirty="0"/>
          </a:p>
        </p:txBody>
      </p:sp>
      <p:sp>
        <p:nvSpPr>
          <p:cNvPr id="18" name="n2text"/>
          <p:cNvSpPr/>
          <p:nvPr/>
        </p:nvSpPr>
        <p:spPr>
          <a:xfrm>
            <a:off x="3886200" y="3352800"/>
            <a:ext cx="203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pattern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show</a:t>
            </a:r>
            <a:endParaRPr lang="en-US" sz="2000" dirty="0"/>
          </a:p>
        </p:txBody>
      </p:sp>
      <p:sp>
        <p:nvSpPr>
          <p:cNvPr id="19" name="n3text"/>
          <p:cNvSpPr/>
          <p:nvPr/>
        </p:nvSpPr>
        <p:spPr>
          <a:xfrm>
            <a:off x="6908800" y="3352800"/>
            <a:ext cx="203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 + task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students use the skills</a:t>
            </a:r>
            <a:endParaRPr lang="en-US" sz="2000" dirty="0"/>
          </a:p>
        </p:txBody>
      </p:sp>
      <p:sp>
        <p:nvSpPr>
          <p:cNvPr id="20" name="n4text"/>
          <p:cNvSpPr/>
          <p:nvPr/>
        </p:nvSpPr>
        <p:spPr>
          <a:xfrm>
            <a:off x="9931400" y="3352800"/>
            <a:ext cx="203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+ action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students improve</a:t>
            </a:r>
            <a:endParaRPr lang="en-US" sz="2000" dirty="0"/>
          </a:p>
        </p:txBody>
      </p:sp>
      <p:sp>
        <p:nvSpPr>
          <p:cNvPr id="21" name="n5text"/>
          <p:cNvSpPr/>
          <p:nvPr/>
        </p:nvSpPr>
        <p:spPr>
          <a:xfrm>
            <a:off x="12954000" y="3352800"/>
            <a:ext cx="2438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evidence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team checks</a:t>
            </a:r>
            <a:endParaRPr lang="en-US" sz="2000" dirty="0"/>
          </a:p>
        </p:txBody>
      </p:sp>
      <p:sp>
        <p:nvSpPr>
          <p:cNvPr id="22" name="note"/>
          <p:cNvSpPr/>
          <p:nvPr/>
        </p:nvSpPr>
        <p:spPr>
          <a:xfrm>
            <a:off x="609600" y="5816600"/>
            <a:ext cx="15036800" cy="1219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23" name="note-text"/>
          <p:cNvSpPr/>
          <p:nvPr/>
        </p:nvSpPr>
        <p:spPr>
          <a:xfrm>
            <a:off x="1041400" y="6146800"/>
            <a:ext cx="1417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altLang="en-US" sz="2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selected </a:t>
            </a:r>
            <a:r>
              <a:rPr lang="en-US" altLang="en-US" sz="21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and skills</a:t>
            </a:r>
            <a:r>
              <a:rPr lang="en-US" altLang="en-US" sz="2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strengthen purpose, thinking, feedback, and the next evidence check in one actual upcoming lesson.</a:t>
            </a:r>
            <a:endParaRPr lang="en-US" sz="2100" dirty="0"/>
          </a:p>
        </p:txBody>
      </p:sp>
      <p:sp>
        <p:nvSpPr>
          <p:cNvPr id="24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· TURN EVIDENCE INTO THE NEXT LEARNING EXPERIENCE</a:t>
            </a:r>
            <a:endParaRPr lang="en-US" sz="1400" dirty="0"/>
          </a:p>
        </p:txBody>
      </p:sp>
      <p:sp>
        <p:nvSpPr>
          <p:cNvPr id="25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041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1: Purpose and Mastery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MIN</a:t>
            </a:r>
            <a:endParaRPr lang="en-US" sz="1400" dirty="0"/>
          </a:p>
        </p:txBody>
      </p:sp>
      <p:sp>
        <p:nvSpPr>
          <p:cNvPr id="7" name="intro"/>
          <p:cNvSpPr/>
          <p:nvPr/>
        </p:nvSpPr>
        <p:spPr>
          <a:xfrm>
            <a:off x="609600" y="1498600"/>
            <a:ext cx="143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Tuesday’s priority standard and skills visible in the lesson purpose, learning goal, criteria, and student product.</a:t>
            </a:r>
            <a:endParaRPr lang="en-US" sz="2000" dirty="0"/>
          </a:p>
        </p:txBody>
      </p:sp>
      <p:sp>
        <p:nvSpPr>
          <p:cNvPr id="8" name="left"/>
          <p:cNvSpPr/>
          <p:nvPr/>
        </p:nvSpPr>
        <p:spPr>
          <a:xfrm>
            <a:off x="609600" y="2336800"/>
            <a:ext cx="7112000" cy="4445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right"/>
          <p:cNvSpPr/>
          <p:nvPr/>
        </p:nvSpPr>
        <p:spPr>
          <a:xfrm>
            <a:off x="8534400" y="2336800"/>
            <a:ext cx="7112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left-title"/>
          <p:cNvSpPr/>
          <p:nvPr/>
        </p:nvSpPr>
        <p:spPr>
          <a:xfrm>
            <a:off x="1016000" y="27686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THE PURPOSE</a:t>
            </a:r>
            <a:endParaRPr lang="en-US" sz="2200" dirty="0"/>
          </a:p>
        </p:txBody>
      </p:sp>
      <p:sp>
        <p:nvSpPr>
          <p:cNvPr id="11" name="left-copy"/>
          <p:cNvSpPr/>
          <p:nvPr/>
        </p:nvSpPr>
        <p:spPr>
          <a:xfrm>
            <a:off x="1016000" y="3352800"/>
            <a:ext cx="596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Which course standard is the priority?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Which 1–2 skills will students demonstrate?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content and language objectives will guide the task?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Why does this matter in the unit’s learning progression?</a:t>
            </a:r>
            <a:endParaRPr lang="en-US" sz="2000" dirty="0"/>
          </a:p>
        </p:txBody>
      </p:sp>
      <p:sp>
        <p:nvSpPr>
          <p:cNvPr id="12" name="right-title"/>
          <p:cNvSpPr/>
          <p:nvPr/>
        </p:nvSpPr>
        <p:spPr>
          <a:xfrm>
            <a:off x="8940800" y="2768600"/>
            <a:ext cx="533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MASTERY EVIDENCE</a:t>
            </a:r>
            <a:endParaRPr lang="en-US" sz="2200" dirty="0"/>
          </a:p>
        </p:txBody>
      </p:sp>
      <p:sp>
        <p:nvSpPr>
          <p:cNvPr id="13" name="right-copy"/>
          <p:cNvSpPr/>
          <p:nvPr/>
        </p:nvSpPr>
        <p:spPr>
          <a:xfrm>
            <a:off x="8940800" y="3352800"/>
            <a:ext cx="596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will students say, do, model, write, or produce?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will quality work include for the standard and skills?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How will the product show progress on the priority?</a:t>
            </a:r>
            <a:endParaRPr lang="en-US" sz="2000" dirty="0"/>
          </a:p>
        </p:txBody>
      </p:sp>
      <p:sp>
        <p:nvSpPr>
          <p:cNvPr id="14" name="check"/>
          <p:cNvSpPr/>
          <p:nvPr/>
        </p:nvSpPr>
        <p:spPr>
          <a:xfrm>
            <a:off x="609600" y="7340600"/>
            <a:ext cx="15036800" cy="685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" name="check-text"/>
          <p:cNvSpPr/>
          <p:nvPr/>
        </p:nvSpPr>
        <p:spPr>
          <a:xfrm>
            <a:off x="965200" y="7569200"/>
            <a:ext cx="1432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CHECK: CAN A TEAM MEMBER SEE THE STANDARD AND SKILLS IN THE OBJECTIVE, TASK, AND EVIDENCE OF MASTERY?</a:t>
            </a:r>
            <a:endParaRPr lang="en-US" sz="1400" dirty="0"/>
          </a:p>
        </p:txBody>
      </p:sp>
      <p:sp>
        <p:nvSpPr>
          <p:cNvPr id="16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 1 · TEAM DEEP DIVE STEP 2</a:t>
            </a:r>
            <a:endParaRPr lang="en-US" sz="1400" dirty="0"/>
          </a:p>
        </p:txBody>
      </p:sp>
      <p:sp>
        <p:nvSpPr>
          <p:cNvPr id="17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3: Plan the Critical-Thinking Moment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MIN</a:t>
            </a:r>
            <a:endParaRPr lang="en-US" sz="1400" dirty="0"/>
          </a:p>
        </p:txBody>
      </p:sp>
      <p:sp>
        <p:nvSpPr>
          <p:cNvPr id="7" name="task"/>
          <p:cNvSpPr/>
          <p:nvPr/>
        </p:nvSpPr>
        <p:spPr>
          <a:xfrm>
            <a:off x="609600" y="1905000"/>
            <a:ext cx="7239000" cy="4953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ask-kicker"/>
          <p:cNvSpPr/>
          <p:nvPr/>
        </p:nvSpPr>
        <p:spPr>
          <a:xfrm>
            <a:off x="1066800" y="2387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FOCAL TASK</a:t>
            </a:r>
            <a:endParaRPr lang="en-US" sz="1400" dirty="0"/>
          </a:p>
        </p:txBody>
      </p:sp>
      <p:sp>
        <p:nvSpPr>
          <p:cNvPr id="9" name="task-title"/>
          <p:cNvSpPr/>
          <p:nvPr/>
        </p:nvSpPr>
        <p:spPr>
          <a:xfrm>
            <a:off x="1066800" y="2997200"/>
            <a:ext cx="5588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will students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thinking?</a:t>
            </a:r>
            <a:endParaRPr lang="en-US" sz="3000" dirty="0"/>
          </a:p>
        </p:txBody>
      </p:sp>
      <p:sp>
        <p:nvSpPr>
          <p:cNvPr id="10" name="task-copy"/>
          <p:cNvSpPr/>
          <p:nvPr/>
        </p:nvSpPr>
        <p:spPr>
          <a:xfrm>
            <a:off x="1066800" y="4241800"/>
            <a:ext cx="5816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question, model, explanation, investigation, analysis, or argument where students must demonstrate the priority standard and skills.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cognitive lift with students.</a:t>
            </a:r>
            <a:endParaRPr lang="en-US" sz="2000" dirty="0"/>
          </a:p>
        </p:txBody>
      </p:sp>
      <p:sp>
        <p:nvSpPr>
          <p:cNvPr id="11" name="right-top"/>
          <p:cNvSpPr/>
          <p:nvPr/>
        </p:nvSpPr>
        <p:spPr>
          <a:xfrm>
            <a:off x="8509000" y="1905000"/>
            <a:ext cx="7137400" cy="228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right-bottom"/>
          <p:cNvSpPr/>
          <p:nvPr/>
        </p:nvSpPr>
        <p:spPr>
          <a:xfrm>
            <a:off x="8509000" y="4572000"/>
            <a:ext cx="713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anticipate-title"/>
          <p:cNvSpPr/>
          <p:nvPr/>
        </p:nvSpPr>
        <p:spPr>
          <a:xfrm>
            <a:off x="8940800" y="2336800"/>
            <a:ext cx="533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STUDENT THINKING</a:t>
            </a:r>
            <a:endParaRPr lang="en-US" sz="2200" dirty="0"/>
          </a:p>
        </p:txBody>
      </p:sp>
      <p:sp>
        <p:nvSpPr>
          <p:cNvPr id="14" name="anticipate-copy"/>
          <p:cNvSpPr/>
          <p:nvPr/>
        </p:nvSpPr>
        <p:spPr>
          <a:xfrm>
            <a:off x="8940800" y="2946400"/>
            <a:ext cx="609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for likely correct, partially correct, and incorrect responses—or a common misconception.</a:t>
            </a:r>
            <a:endParaRPr lang="en-US" sz="2000" dirty="0"/>
          </a:p>
        </p:txBody>
      </p:sp>
      <p:sp>
        <p:nvSpPr>
          <p:cNvPr id="15" name="facilitate-title"/>
          <p:cNvSpPr/>
          <p:nvPr/>
        </p:nvSpPr>
        <p:spPr>
          <a:xfrm>
            <a:off x="8940800" y="5003800"/>
            <a:ext cx="533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RESPONSE</a:t>
            </a:r>
            <a:endParaRPr lang="en-US" sz="2200" dirty="0"/>
          </a:p>
        </p:txBody>
      </p:sp>
      <p:sp>
        <p:nvSpPr>
          <p:cNvPr id="16" name="facilitate-copy"/>
          <p:cNvSpPr/>
          <p:nvPr/>
        </p:nvSpPr>
        <p:spPr>
          <a:xfrm>
            <a:off x="8940800" y="5511800"/>
            <a:ext cx="6096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prompts, criteria, models, questions, or peer discourse that help students use the target skills to revise, explain, compare, or apply.</a:t>
            </a:r>
            <a:endParaRPr lang="en-US" sz="2000" dirty="0"/>
          </a:p>
        </p:txBody>
      </p:sp>
      <p:sp>
        <p:nvSpPr>
          <p:cNvPr id="17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 3 · TEAM DEEP DIVE STEP 4</a:t>
            </a:r>
            <a:endParaRPr lang="en-US" sz="1400" dirty="0"/>
          </a:p>
        </p:txBody>
      </p:sp>
      <p:sp>
        <p:nvSpPr>
          <p:cNvPr id="18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066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4: Plan the Student Experience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1400" dirty="0"/>
          </a:p>
        </p:txBody>
      </p:sp>
      <p:sp>
        <p:nvSpPr>
          <p:cNvPr id="7" name="intro"/>
          <p:cNvSpPr/>
          <p:nvPr/>
        </p:nvSpPr>
        <p:spPr>
          <a:xfrm>
            <a:off x="609600" y="14986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conditions that help students use the priority standard and skills in grade-level thinking and feedback.</a:t>
            </a:r>
            <a:endParaRPr lang="en-US" sz="2000" dirty="0"/>
          </a:p>
        </p:txBody>
      </p:sp>
      <p:sp>
        <p:nvSpPr>
          <p:cNvPr id="8" name="c1"/>
          <p:cNvSpPr/>
          <p:nvPr/>
        </p:nvSpPr>
        <p:spPr>
          <a:xfrm>
            <a:off x="609600" y="2286000"/>
            <a:ext cx="4445000" cy="208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c2"/>
          <p:cNvSpPr/>
          <p:nvPr/>
        </p:nvSpPr>
        <p:spPr>
          <a:xfrm>
            <a:off x="5359400" y="2286000"/>
            <a:ext cx="4445000" cy="208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c3"/>
          <p:cNvSpPr/>
          <p:nvPr/>
        </p:nvSpPr>
        <p:spPr>
          <a:xfrm>
            <a:off x="10109200" y="2286000"/>
            <a:ext cx="5537200" cy="208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c4"/>
          <p:cNvSpPr/>
          <p:nvPr/>
        </p:nvSpPr>
        <p:spPr>
          <a:xfrm>
            <a:off x="609600" y="4800600"/>
            <a:ext cx="4445000" cy="208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c5"/>
          <p:cNvSpPr/>
          <p:nvPr/>
        </p:nvSpPr>
        <p:spPr>
          <a:xfrm>
            <a:off x="5359400" y="4800600"/>
            <a:ext cx="4445000" cy="208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c6"/>
          <p:cNvSpPr/>
          <p:nvPr/>
        </p:nvSpPr>
        <p:spPr>
          <a:xfrm>
            <a:off x="10109200" y="4800600"/>
            <a:ext cx="5537200" cy="20828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4" name="t1"/>
          <p:cNvSpPr/>
          <p:nvPr/>
        </p:nvSpPr>
        <p:spPr>
          <a:xfrm>
            <a:off x="965200" y="2667000"/>
            <a:ext cx="3606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language, representation, or entry point helps every student begin?</a:t>
            </a:r>
            <a:endParaRPr lang="en-US" sz="1900" dirty="0"/>
          </a:p>
        </p:txBody>
      </p:sp>
      <p:sp>
        <p:nvSpPr>
          <p:cNvPr id="15" name="t2"/>
          <p:cNvSpPr/>
          <p:nvPr/>
        </p:nvSpPr>
        <p:spPr>
          <a:xfrm>
            <a:off x="5715000" y="2667000"/>
            <a:ext cx="3606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students read, talk, write, model, or reason together?</a:t>
            </a:r>
            <a:endParaRPr lang="en-US" sz="1900" dirty="0"/>
          </a:p>
        </p:txBody>
      </p:sp>
      <p:sp>
        <p:nvSpPr>
          <p:cNvPr id="16" name="t3"/>
          <p:cNvSpPr/>
          <p:nvPr/>
        </p:nvSpPr>
        <p:spPr>
          <a:xfrm>
            <a:off x="10464800" y="2667000"/>
            <a:ext cx="4521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PACING + MATERIALS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timing, grouping, materials, or transition supports keep the task moving?</a:t>
            </a:r>
            <a:endParaRPr lang="en-US" sz="1900" dirty="0"/>
          </a:p>
        </p:txBody>
      </p:sp>
      <p:sp>
        <p:nvSpPr>
          <p:cNvPr id="17" name="t4"/>
          <p:cNvSpPr/>
          <p:nvPr/>
        </p:nvSpPr>
        <p:spPr>
          <a:xfrm>
            <a:off x="965200" y="5181600"/>
            <a:ext cx="3606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PROMPT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you say, ask, show, or point to when a student needs to act?</a:t>
            </a:r>
            <a:endParaRPr lang="en-US" sz="1900" dirty="0"/>
          </a:p>
        </p:txBody>
      </p:sp>
      <p:sp>
        <p:nvSpPr>
          <p:cNvPr id="18" name="t5"/>
          <p:cNvSpPr/>
          <p:nvPr/>
        </p:nvSpPr>
        <p:spPr>
          <a:xfrm>
            <a:off x="5715000" y="5181600"/>
            <a:ext cx="3606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ACTION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students revise, correct, explain, compare, extend, or apply?</a:t>
            </a:r>
            <a:endParaRPr lang="en-US" sz="1900" dirty="0"/>
          </a:p>
        </p:txBody>
      </p:sp>
      <p:sp>
        <p:nvSpPr>
          <p:cNvPr id="19" name="t6"/>
          <p:cNvSpPr/>
          <p:nvPr/>
        </p:nvSpPr>
        <p:spPr>
          <a:xfrm>
            <a:off x="10464800" y="5181600"/>
            <a:ext cx="4521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EVIDENCE CHECK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response, product, or observation will show progress on the standard and skills?</a:t>
            </a:r>
            <a:endParaRPr lang="en-US" sz="1900" dirty="0"/>
          </a:p>
        </p:txBody>
      </p:sp>
      <p:sp>
        <p:nvSpPr>
          <p:cNvPr id="20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 4 · TEAM DEEP DIVE STEP 5</a:t>
            </a:r>
            <a:endParaRPr lang="en-US" sz="1400" dirty="0"/>
          </a:p>
        </p:txBody>
      </p:sp>
      <p:sp>
        <p:nvSpPr>
          <p:cNvPr id="21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066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Lesson Internalization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1400" dirty="0"/>
          </a:p>
        </p:txBody>
      </p:sp>
      <p:sp>
        <p:nvSpPr>
          <p:cNvPr id="7" name="left"/>
          <p:cNvSpPr/>
          <p:nvPr/>
        </p:nvSpPr>
        <p:spPr>
          <a:xfrm>
            <a:off x="609600" y="1854200"/>
            <a:ext cx="8890000" cy="54356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left-title"/>
          <p:cNvSpPr/>
          <p:nvPr/>
        </p:nvSpPr>
        <p:spPr>
          <a:xfrm>
            <a:off x="1016000" y="23114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one lesson in this order</a:t>
            </a:r>
            <a:endParaRPr lang="en-US" sz="2200" dirty="0"/>
          </a:p>
        </p:txBody>
      </p:sp>
      <p:sp>
        <p:nvSpPr>
          <p:cNvPr id="9" name="left-copy"/>
          <p:cNvSpPr/>
          <p:nvPr/>
        </p:nvSpPr>
        <p:spPr>
          <a:xfrm>
            <a:off x="1016000" y="2870200"/>
            <a:ext cx="7874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 the priority standard, 1–2 skills, learning target, and mastery evidence.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 the task where students must use the skills.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Anticipate responses and plan facilitation and feedback.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Plan access, participation, pacing, and materials.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 the next evidence check.</a:t>
            </a:r>
            <a:endParaRPr lang="en-US" sz="2000" dirty="0"/>
          </a:p>
        </p:txBody>
      </p:sp>
      <p:sp>
        <p:nvSpPr>
          <p:cNvPr id="10" name="right"/>
          <p:cNvSpPr/>
          <p:nvPr/>
        </p:nvSpPr>
        <p:spPr>
          <a:xfrm>
            <a:off x="10134600" y="1854200"/>
            <a:ext cx="5511800" cy="54356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right-kicker"/>
          <p:cNvSpPr/>
          <p:nvPr/>
        </p:nvSpPr>
        <p:spPr>
          <a:xfrm>
            <a:off x="10591800" y="2336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400" dirty="0"/>
          </a:p>
        </p:txBody>
      </p:sp>
      <p:sp>
        <p:nvSpPr>
          <p:cNvPr id="12" name="right-title"/>
          <p:cNvSpPr/>
          <p:nvPr/>
        </p:nvSpPr>
        <p:spPr>
          <a:xfrm>
            <a:off x="10591800" y="2971800"/>
            <a:ext cx="4191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ready-to-teach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response</a:t>
            </a:r>
            <a:endParaRPr lang="en-US" sz="3000" dirty="0"/>
          </a:p>
        </p:txBody>
      </p:sp>
      <p:sp>
        <p:nvSpPr>
          <p:cNvPr id="13" name="right-copy"/>
          <p:cNvSpPr/>
          <p:nvPr/>
        </p:nvSpPr>
        <p:spPr>
          <a:xfrm>
            <a:off x="10591800" y="4445000"/>
            <a:ext cx="4191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priority standard + skills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learning goal + product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key thinking moment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feedback + student action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participation plan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evidence look-for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ACTUAL LESSON MATERIALS AND THE LESSON INTERNALIZATION TOOL</a:t>
            </a:r>
            <a:endParaRPr lang="en-US" sz="1400" dirty="0"/>
          </a:p>
        </p:txBody>
      </p:sp>
      <p:sp>
        <p:nvSpPr>
          <p:cNvPr id="15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pt"/>
          <p:cNvSpPr/>
          <p:nvPr/>
        </p:nvSpPr>
        <p:spPr>
          <a:xfrm>
            <a:off x="609600" y="7112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OCTOBER 16 CLOSE · READY TO TEACH, READY TO NOTICE</a:t>
            </a:r>
            <a:endParaRPr lang="en-US" sz="1400" dirty="0"/>
          </a:p>
        </p:txBody>
      </p:sp>
      <p:sp>
        <p:nvSpPr>
          <p:cNvPr id="3" name="accent-rule"/>
          <p:cNvSpPr/>
          <p:nvPr/>
        </p:nvSpPr>
        <p:spPr>
          <a:xfrm>
            <a:off x="609600" y="1422400"/>
            <a:ext cx="150368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2159000"/>
            <a:ext cx="8890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96"/>
              </a:lnSpc>
              <a:buNone/>
            </a:pPr>
            <a:r>
              <a:rPr lang="en-US" altLang="en-US" sz="5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Teach. Notice.</a:t>
            </a:r>
            <a:endParaRPr lang="en-US" sz="5200" dirty="0"/>
          </a:p>
          <a:p>
            <a:pPr algn="l" indent="0" marL="0">
              <a:lnSpc>
                <a:spcPts val="5096"/>
              </a:lnSpc>
              <a:buNone/>
            </a:pPr>
            <a:r>
              <a:rPr lang="en-US" altLang="en-US" sz="5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to evidence.</a:t>
            </a:r>
            <a:endParaRPr lang="en-US" sz="5200" dirty="0"/>
          </a:p>
        </p:txBody>
      </p:sp>
      <p:sp>
        <p:nvSpPr>
          <p:cNvPr id="5" name="subtitle"/>
          <p:cNvSpPr/>
          <p:nvPr/>
        </p:nvSpPr>
        <p:spPr>
          <a:xfrm>
            <a:off x="609600" y="3962400"/>
            <a:ext cx="863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lesson is the evidence check. Plan how students will demonstrate the priority standard and skills—and what the team will look for.</a:t>
            </a:r>
            <a:endParaRPr lang="en-US" sz="2000" dirty="0"/>
          </a:p>
        </p:txBody>
      </p:sp>
      <p:sp>
        <p:nvSpPr>
          <p:cNvPr id="6" name="panel"/>
          <p:cNvSpPr/>
          <p:nvPr/>
        </p:nvSpPr>
        <p:spPr>
          <a:xfrm>
            <a:off x="10414000" y="2082800"/>
            <a:ext cx="5232400" cy="4343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panel-title"/>
          <p:cNvSpPr/>
          <p:nvPr/>
        </p:nvSpPr>
        <p:spPr>
          <a:xfrm>
            <a:off x="10871200" y="25908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CLOSE</a:t>
            </a:r>
            <a:endParaRPr lang="en-US" sz="2200" dirty="0"/>
          </a:p>
        </p:txBody>
      </p:sp>
      <p:sp>
        <p:nvSpPr>
          <p:cNvPr id="8" name="panel-copy"/>
          <p:cNvSpPr/>
          <p:nvPr/>
        </p:nvSpPr>
        <p:spPr>
          <a:xfrm>
            <a:off x="10871200" y="3200400"/>
            <a:ext cx="39370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Which standard and skills will students use?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What will show progress?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When will the team look at the evidence?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What will be adjusted if needed?</a:t>
            </a:r>
            <a:endParaRPr lang="en-US" sz="2000" dirty="0"/>
          </a:p>
        </p:txBody>
      </p:sp>
      <p:sp>
        <p:nvSpPr>
          <p:cNvPr id="9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PLC · OCTOBER 16, 2026</a:t>
            </a:r>
            <a:endParaRPr lang="en-US" sz="1400" dirty="0"/>
          </a:p>
        </p:txBody>
      </p:sp>
      <p:sp>
        <p:nvSpPr>
          <p:cNvPr id="10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 Data Pattern to the Next Learning Experience — October 16, 2026</dc:title>
  <dc:subject>From a Data Pattern to the Next Learning Experience — October 16, 2026</dc:subject>
  <dc:creator>Manus</dc:creator>
  <cp:lastModifiedBy>Manus</cp:lastModifiedBy>
  <cp:revision>1</cp:revision>
  <dcterms:created xsi:type="dcterms:W3CDTF">2026-10-07T16:38:41Z</dcterms:created>
  <dcterms:modified xsi:type="dcterms:W3CDTF">2026-10-07T16:38:41Z</dcterms:modified>
</cp:coreProperties>
</file>
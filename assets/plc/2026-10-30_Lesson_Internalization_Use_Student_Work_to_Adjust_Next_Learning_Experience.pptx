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6256000" cy="9144000"/>
  <p:notesSz cx="9144000" cy="16256000"/>
  <p:embeddedFontLst>
    <p:embeddedFont>
      <p:font typeface="Inter" charset="-122" pitchFamily="34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68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684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SCIENCE DEPARTMENT PLC  •  FRIDAY, OCTOBER 30, 2026  •  46 MINUTES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854200"/>
            <a:ext cx="11176000" cy="157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altLang="en-US" sz="42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Student Writing →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altLang="en-US" sz="42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→ Plan the Next Step</a:t>
            </a:r>
            <a:endParaRPr lang="en-US" sz="4200" dirty="0"/>
          </a:p>
        </p:txBody>
      </p:sp>
      <p:sp>
        <p:nvSpPr>
          <p:cNvPr id="6" name="subtitle"/>
          <p:cNvSpPr/>
          <p:nvPr/>
        </p:nvSpPr>
        <p:spPr>
          <a:xfrm>
            <a:off x="736600" y="3759200"/>
            <a:ext cx="10795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teachers read completed student writing against the mastery bar, write one comment students can act on, and plan one short next step toward the standard.</a:t>
            </a:r>
            <a:endParaRPr lang="en-US" sz="2400" dirty="0"/>
          </a:p>
        </p:txBody>
      </p:sp>
      <p:sp>
        <p:nvSpPr>
          <p:cNvPr id="7" name="cover-shape-6"/>
          <p:cNvSpPr/>
          <p:nvPr/>
        </p:nvSpPr>
        <p:spPr>
          <a:xfrm>
            <a:off x="12242800" y="1905000"/>
            <a:ext cx="3200400" cy="30734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8" name="focus-label"/>
          <p:cNvSpPr/>
          <p:nvPr/>
        </p:nvSpPr>
        <p:spPr>
          <a:xfrm>
            <a:off x="12547600" y="2260600"/>
            <a:ext cx="2590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14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PURPOSE</a:t>
            </a:r>
            <a:endParaRPr lang="en-US" sz="1400" dirty="0"/>
          </a:p>
        </p:txBody>
      </p:sp>
      <p:sp>
        <p:nvSpPr>
          <p:cNvPr id="9" name="focus-copy"/>
          <p:cNvSpPr/>
          <p:nvPr/>
        </p:nvSpPr>
        <p:spPr>
          <a:xfrm>
            <a:off x="12547600" y="2895600"/>
            <a:ext cx="25908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40"/>
              </a:lnSpc>
              <a:buNone/>
            </a:pP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student work to decide the next step. Describe the work, not the student.</a:t>
            </a:r>
            <a:endParaRPr lang="en-US" sz="20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740400"/>
            <a:ext cx="14706600" cy="1625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bring"/>
          <p:cNvSpPr/>
          <p:nvPr/>
        </p:nvSpPr>
        <p:spPr>
          <a:xfrm>
            <a:off x="1117600" y="6019800"/>
            <a:ext cx="13970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8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3–5 de-identified completed writing samples, the task and source, the standard, and your current feedback or revision notes.</a:t>
            </a:r>
            <a:endParaRPr lang="en-US" sz="2200" dirty="0"/>
          </a:p>
          <a:p>
            <a:pPr algn="l" indent="0" marL="0">
              <a:lnSpc>
                <a:spcPts val="2728"/>
              </a:lnSpc>
              <a:spcBef>
                <a:spcPts val="800"/>
              </a:spcBef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for every course:</a:t>
            </a:r>
            <a:r>
              <a:rPr lang="en-US" altLang="en-US" sz="22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 comparable written response from your own science course.</a:t>
            </a:r>
            <a:endParaRPr lang="en-US" sz="2200" dirty="0"/>
          </a:p>
        </p:txBody>
      </p:sp>
      <p:sp>
        <p:nvSpPr>
          <p:cNvPr id="12" name="footer"/>
          <p:cNvSpPr/>
          <p:nvPr/>
        </p:nvSpPr>
        <p:spPr>
          <a:xfrm>
            <a:off x="736600" y="7772400"/>
            <a:ext cx="1397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0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Every Day Questions 1, 3, and 4  •  Team Deep Dive Steps 3–5  •  After-Lesson Reflection.</a:t>
            </a:r>
            <a:endParaRPr lang="en-US" sz="20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Four Steps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0:00–46:00  •  46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46200"/>
            <a:ext cx="1524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step produces one product. Follow the steps in order and keep the same student writing in front of you the whole time.</a:t>
            </a:r>
            <a:endParaRPr lang="en-US" sz="23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362200"/>
            <a:ext cx="35052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1-label"/>
          <p:cNvSpPr/>
          <p:nvPr/>
        </p:nvSpPr>
        <p:spPr>
          <a:xfrm>
            <a:off x="762000" y="2667000"/>
            <a:ext cx="299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  •  4:00–10:00</a:t>
            </a:r>
            <a:endParaRPr lang="en-US" sz="1500" dirty="0"/>
          </a:p>
        </p:txBody>
      </p:sp>
      <p:sp>
        <p:nvSpPr>
          <p:cNvPr id="8" name="s1-title"/>
          <p:cNvSpPr/>
          <p:nvPr/>
        </p:nvSpPr>
        <p:spPr>
          <a:xfrm>
            <a:off x="762000" y="3073400"/>
            <a:ext cx="2997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bar for mastery</a:t>
            </a:r>
            <a:endParaRPr lang="en-US" sz="2500" dirty="0"/>
          </a:p>
        </p:txBody>
      </p:sp>
      <p:sp>
        <p:nvSpPr>
          <p:cNvPr id="9" name="s1-body"/>
          <p:cNvSpPr/>
          <p:nvPr/>
        </p:nvSpPr>
        <p:spPr>
          <a:xfrm>
            <a:off x="762000" y="4191000"/>
            <a:ext cx="2997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4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what a strong response must include: claim, evidence, reasoning, and science language.</a:t>
            </a:r>
            <a:endParaRPr lang="en-US" sz="1900" dirty="0"/>
          </a:p>
        </p:txBody>
      </p:sp>
      <p:sp>
        <p:nvSpPr>
          <p:cNvPr id="10" name="cycle-shape-9"/>
          <p:cNvSpPr/>
          <p:nvPr/>
        </p:nvSpPr>
        <p:spPr>
          <a:xfrm>
            <a:off x="4419600" y="2362200"/>
            <a:ext cx="35052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2-label"/>
          <p:cNvSpPr/>
          <p:nvPr/>
        </p:nvSpPr>
        <p:spPr>
          <a:xfrm>
            <a:off x="4673600" y="2667000"/>
            <a:ext cx="299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  •  10:00–22:00</a:t>
            </a:r>
            <a:endParaRPr lang="en-US" sz="1500" dirty="0"/>
          </a:p>
        </p:txBody>
      </p:sp>
      <p:sp>
        <p:nvSpPr>
          <p:cNvPr id="12" name="s2-title"/>
          <p:cNvSpPr/>
          <p:nvPr/>
        </p:nvSpPr>
        <p:spPr>
          <a:xfrm>
            <a:off x="4673600" y="3073400"/>
            <a:ext cx="2997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student writing</a:t>
            </a:r>
            <a:endParaRPr lang="en-US" sz="2500" dirty="0"/>
          </a:p>
        </p:txBody>
      </p:sp>
      <p:sp>
        <p:nvSpPr>
          <p:cNvPr id="13" name="s2-body"/>
          <p:cNvSpPr/>
          <p:nvPr/>
        </p:nvSpPr>
        <p:spPr>
          <a:xfrm>
            <a:off x="4673600" y="4191000"/>
            <a:ext cx="2997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4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students can already do and name one priority need in the work.</a:t>
            </a:r>
            <a:endParaRPr lang="en-US" sz="1900" dirty="0"/>
          </a:p>
        </p:txBody>
      </p:sp>
      <p:sp>
        <p:nvSpPr>
          <p:cNvPr id="14" name="cycle-shape-13"/>
          <p:cNvSpPr/>
          <p:nvPr/>
        </p:nvSpPr>
        <p:spPr>
          <a:xfrm>
            <a:off x="8331200" y="2362200"/>
            <a:ext cx="35052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s3-label"/>
          <p:cNvSpPr/>
          <p:nvPr/>
        </p:nvSpPr>
        <p:spPr>
          <a:xfrm>
            <a:off x="8585200" y="2667000"/>
            <a:ext cx="299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  •  22:00–30:00</a:t>
            </a:r>
            <a:endParaRPr lang="en-US" sz="1500" dirty="0"/>
          </a:p>
        </p:txBody>
      </p:sp>
      <p:sp>
        <p:nvSpPr>
          <p:cNvPr id="16" name="s3-title"/>
          <p:cNvSpPr/>
          <p:nvPr/>
        </p:nvSpPr>
        <p:spPr>
          <a:xfrm>
            <a:off x="8585200" y="3073400"/>
            <a:ext cx="2997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feedback</a:t>
            </a:r>
            <a:endParaRPr lang="en-US" sz="2500" dirty="0"/>
          </a:p>
        </p:txBody>
      </p:sp>
      <p:sp>
        <p:nvSpPr>
          <p:cNvPr id="17" name="s3-body"/>
          <p:cNvSpPr/>
          <p:nvPr/>
        </p:nvSpPr>
        <p:spPr>
          <a:xfrm>
            <a:off x="8585200" y="4191000"/>
            <a:ext cx="2997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4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comment that names a criterion and asks for one action students can take.</a:t>
            </a:r>
            <a:endParaRPr lang="en-US" sz="1900" dirty="0"/>
          </a:p>
        </p:txBody>
      </p:sp>
      <p:sp>
        <p:nvSpPr>
          <p:cNvPr id="18" name="cycle-shape-17"/>
          <p:cNvSpPr/>
          <p:nvPr/>
        </p:nvSpPr>
        <p:spPr>
          <a:xfrm>
            <a:off x="12242800" y="2362200"/>
            <a:ext cx="35052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9" name="s4-label"/>
          <p:cNvSpPr/>
          <p:nvPr/>
        </p:nvSpPr>
        <p:spPr>
          <a:xfrm>
            <a:off x="12496800" y="2667000"/>
            <a:ext cx="299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 •  30:00–41:00</a:t>
            </a:r>
            <a:endParaRPr lang="en-US" sz="1500" dirty="0"/>
          </a:p>
        </p:txBody>
      </p:sp>
      <p:sp>
        <p:nvSpPr>
          <p:cNvPr id="20" name="s4-title"/>
          <p:cNvSpPr/>
          <p:nvPr/>
        </p:nvSpPr>
        <p:spPr>
          <a:xfrm>
            <a:off x="12496800" y="3073400"/>
            <a:ext cx="29972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next step</a:t>
            </a:r>
            <a:endParaRPr lang="en-US" sz="2500" dirty="0"/>
          </a:p>
        </p:txBody>
      </p:sp>
      <p:sp>
        <p:nvSpPr>
          <p:cNvPr id="21" name="s4-body"/>
          <p:cNvSpPr/>
          <p:nvPr/>
        </p:nvSpPr>
        <p:spPr>
          <a:xfrm>
            <a:off x="12496800" y="4191000"/>
            <a:ext cx="2997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4"/>
              </a:lnSpc>
              <a:buNone/>
            </a:pPr>
            <a:r>
              <a:rPr lang="en-US" altLang="en-US" sz="19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lesson move and one short evidence check that show new learning.</a:t>
            </a:r>
            <a:endParaRPr lang="en-US" sz="1900" dirty="0"/>
          </a:p>
        </p:txBody>
      </p:sp>
      <p:sp>
        <p:nvSpPr>
          <p:cNvPr id="22" name="cycle-shape-21"/>
          <p:cNvSpPr/>
          <p:nvPr/>
        </p:nvSpPr>
        <p:spPr>
          <a:xfrm>
            <a:off x="508000" y="6934200"/>
            <a:ext cx="15240000" cy="8128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23" name="anchor"/>
          <p:cNvSpPr/>
          <p:nvPr/>
        </p:nvSpPr>
        <p:spPr>
          <a:xfrm>
            <a:off x="812800" y="7188200"/>
            <a:ext cx="146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41:00–46:00: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confirm the feedback, the student action, and the evidence you will collect next.</a:t>
            </a:r>
            <a:endParaRPr lang="en-US" sz="2000" dirty="0"/>
          </a:p>
        </p:txBody>
      </p:sp>
      <p:sp>
        <p:nvSpPr>
          <p:cNvPr id="2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25" name="cycle-shape-2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1: Set the Bar for Mastery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4:00–10:00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what a strong response must include before reading any student work. Each course team uses its own task and standard.</a:t>
            </a:r>
            <a:endParaRPr lang="en-US" sz="2300" dirty="0"/>
          </a:p>
        </p:txBody>
      </p:sp>
      <p:sp>
        <p:nvSpPr>
          <p:cNvPr id="6" name="mastery-shape-5"/>
          <p:cNvSpPr/>
          <p:nvPr/>
        </p:nvSpPr>
        <p:spPr>
          <a:xfrm>
            <a:off x="508000" y="2413000"/>
            <a:ext cx="73660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left-title"/>
          <p:cNvSpPr/>
          <p:nvPr/>
        </p:nvSpPr>
        <p:spPr>
          <a:xfrm>
            <a:off x="889000" y="2794000"/>
            <a:ext cx="66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TASK ASKS</a:t>
            </a:r>
            <a:endParaRPr lang="en-US" sz="2600" dirty="0"/>
          </a:p>
        </p:txBody>
      </p:sp>
      <p:sp>
        <p:nvSpPr>
          <p:cNvPr id="8" name="left-body"/>
          <p:cNvSpPr/>
          <p:nvPr/>
        </p:nvSpPr>
        <p:spPr>
          <a:xfrm>
            <a:off x="889000" y="37084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population graph and the food web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how more frogs change the fruit-fly population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the science idea in a written response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the explanation with evidence</a:t>
            </a:r>
            <a:endParaRPr lang="en-US" sz="2100" dirty="0"/>
          </a:p>
        </p:txBody>
      </p:sp>
      <p:sp>
        <p:nvSpPr>
          <p:cNvPr id="9" name="mastery-shape-8"/>
          <p:cNvSpPr/>
          <p:nvPr/>
        </p:nvSpPr>
        <p:spPr>
          <a:xfrm>
            <a:off x="8382000" y="2413000"/>
            <a:ext cx="73660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right-title"/>
          <p:cNvSpPr/>
          <p:nvPr/>
        </p:nvSpPr>
        <p:spPr>
          <a:xfrm>
            <a:off x="8763000" y="2794000"/>
            <a:ext cx="66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6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STRONG RESPONSE INCLUDES</a:t>
            </a:r>
            <a:endParaRPr lang="en-US" sz="2600" dirty="0"/>
          </a:p>
        </p:txBody>
      </p:sp>
      <p:sp>
        <p:nvSpPr>
          <p:cNvPr id="11" name="right-body"/>
          <p:cNvSpPr/>
          <p:nvPr/>
        </p:nvSpPr>
        <p:spPr>
          <a:xfrm>
            <a:off x="8763000" y="37084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claim or prediction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Relevant evidence from both visuals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that connects the evidence to the science idea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science language</a:t>
            </a:r>
            <a:endParaRPr lang="en-US" sz="2100" dirty="0"/>
          </a:p>
        </p:txBody>
      </p:sp>
      <p:sp>
        <p:nvSpPr>
          <p:cNvPr id="12" name="mastery-shape-11"/>
          <p:cNvSpPr/>
          <p:nvPr/>
        </p:nvSpPr>
        <p:spPr>
          <a:xfrm>
            <a:off x="508000" y="6985000"/>
            <a:ext cx="15240000" cy="762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reminder"/>
          <p:cNvSpPr/>
          <p:nvPr/>
        </p:nvSpPr>
        <p:spPr>
          <a:xfrm>
            <a:off x="812800" y="7239000"/>
            <a:ext cx="146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this bar visible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while you read, mark, and write feedback on student work.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master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idenc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2: Read Student Writing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10:00–22:00  •  12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46200"/>
            <a:ext cx="1524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3–5 de-identified samples and use three marks only. Mark the work, not the student.</a:t>
            </a:r>
            <a:endParaRPr lang="en-US" sz="2300" dirty="0"/>
          </a:p>
        </p:txBody>
      </p:sp>
      <p:sp>
        <p:nvSpPr>
          <p:cNvPr id="6" name="evidence-shape-5"/>
          <p:cNvSpPr/>
          <p:nvPr/>
        </p:nvSpPr>
        <p:spPr>
          <a:xfrm>
            <a:off x="508000" y="2413000"/>
            <a:ext cx="4699000" cy="4064000"/>
          </a:xfrm>
          <a:prstGeom prst="rect">
            <a:avLst/>
          </a:prstGeom>
          <a:solidFill>
            <a:srgbClr val="EAF5EC"/>
          </a:solidFill>
          <a:ln w="25400">
            <a:solidFill>
              <a:srgbClr val="238636"/>
            </a:solidFill>
            <a:prstDash val="solid"/>
          </a:ln>
        </p:spPr>
      </p:sp>
      <p:sp>
        <p:nvSpPr>
          <p:cNvPr id="7" name="m1-title"/>
          <p:cNvSpPr/>
          <p:nvPr/>
        </p:nvSpPr>
        <p:spPr>
          <a:xfrm>
            <a:off x="889000" y="2794000"/>
            <a:ext cx="393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3863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What students can do</a:t>
            </a:r>
            <a:endParaRPr lang="en-US" sz="2500" dirty="0"/>
          </a:p>
        </p:txBody>
      </p:sp>
      <p:sp>
        <p:nvSpPr>
          <p:cNvPr id="8" name="m1-body"/>
          <p:cNvSpPr/>
          <p:nvPr/>
        </p:nvSpPr>
        <p:spPr>
          <a:xfrm>
            <a:off x="889000" y="3632200"/>
            <a:ext cx="3937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the parts that are already present: a claim, evidence from the source, reasoning, or clear science language.</a:t>
            </a:r>
            <a:endParaRPr lang="en-US" sz="2100" dirty="0"/>
          </a:p>
        </p:txBody>
      </p:sp>
      <p:sp>
        <p:nvSpPr>
          <p:cNvPr id="9" name="evidence-shape-8"/>
          <p:cNvSpPr/>
          <p:nvPr/>
        </p:nvSpPr>
        <p:spPr>
          <a:xfrm>
            <a:off x="5778500" y="2413000"/>
            <a:ext cx="4699000" cy="4064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m2-title"/>
          <p:cNvSpPr/>
          <p:nvPr/>
        </p:nvSpPr>
        <p:spPr>
          <a:xfrm>
            <a:off x="6159500" y="2794000"/>
            <a:ext cx="393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△ One priority need</a:t>
            </a:r>
            <a:endParaRPr lang="en-US" sz="2500" dirty="0"/>
          </a:p>
        </p:txBody>
      </p:sp>
      <p:sp>
        <p:nvSpPr>
          <p:cNvPr id="11" name="m2-body"/>
          <p:cNvSpPr/>
          <p:nvPr/>
        </p:nvSpPr>
        <p:spPr>
          <a:xfrm>
            <a:off x="6159500" y="3632200"/>
            <a:ext cx="3937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what is partial, missing, or confused, then decide whether the need is science, source use, or written reasoning.</a:t>
            </a:r>
            <a:endParaRPr lang="en-US" sz="2100" dirty="0"/>
          </a:p>
        </p:txBody>
      </p:sp>
      <p:sp>
        <p:nvSpPr>
          <p:cNvPr id="12" name="evidence-shape-11"/>
          <p:cNvSpPr/>
          <p:nvPr/>
        </p:nvSpPr>
        <p:spPr>
          <a:xfrm>
            <a:off x="11049000" y="2413000"/>
            <a:ext cx="4699000" cy="4064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m3-title"/>
          <p:cNvSpPr/>
          <p:nvPr/>
        </p:nvSpPr>
        <p:spPr>
          <a:xfrm>
            <a:off x="11430000" y="2794000"/>
            <a:ext cx="3937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The criterion to name</a:t>
            </a:r>
            <a:endParaRPr lang="en-US" sz="2500" dirty="0"/>
          </a:p>
        </p:txBody>
      </p:sp>
      <p:sp>
        <p:nvSpPr>
          <p:cNvPr id="14" name="m3-body"/>
          <p:cNvSpPr/>
          <p:nvPr/>
        </p:nvSpPr>
        <p:spPr>
          <a:xfrm>
            <a:off x="11430000" y="3632200"/>
            <a:ext cx="3937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one criterion that will help students most right now. You will use it in the written feedback.</a:t>
            </a:r>
            <a:endParaRPr lang="en-US" sz="2100" dirty="0"/>
          </a:p>
        </p:txBody>
      </p:sp>
      <p:sp>
        <p:nvSpPr>
          <p:cNvPr id="15" name="evidence-shape-14"/>
          <p:cNvSpPr/>
          <p:nvPr/>
        </p:nvSpPr>
        <p:spPr>
          <a:xfrm>
            <a:off x="508000" y="68580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rule"/>
          <p:cNvSpPr/>
          <p:nvPr/>
        </p:nvSpPr>
        <p:spPr>
          <a:xfrm>
            <a:off x="812800" y="7137400"/>
            <a:ext cx="146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rule: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describe the work. Do not rank students, teachers, classes, or courses.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evidence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tter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3: Write the Feedback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22:00–30:00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one short comment. Use the same three parts every time so students know what to do next.</a:t>
            </a:r>
            <a:endParaRPr lang="en-US" sz="2300" dirty="0"/>
          </a:p>
        </p:txBody>
      </p:sp>
      <p:sp>
        <p:nvSpPr>
          <p:cNvPr id="6" name="pattern-shape-5"/>
          <p:cNvSpPr/>
          <p:nvPr/>
        </p:nvSpPr>
        <p:spPr>
          <a:xfrm>
            <a:off x="5080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p1-title"/>
          <p:cNvSpPr/>
          <p:nvPr/>
        </p:nvSpPr>
        <p:spPr>
          <a:xfrm>
            <a:off x="8890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Name the criterion</a:t>
            </a:r>
            <a:endParaRPr lang="en-US" sz="2500" dirty="0"/>
          </a:p>
        </p:txBody>
      </p:sp>
      <p:sp>
        <p:nvSpPr>
          <p:cNvPr id="8" name="p1-body"/>
          <p:cNvSpPr/>
          <p:nvPr/>
        </p:nvSpPr>
        <p:spPr>
          <a:xfrm>
            <a:off x="889000" y="35052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 students which part of the response you are responding to.</a:t>
            </a:r>
            <a:endParaRPr lang="en-US" sz="2100" dirty="0"/>
          </a:p>
        </p:txBody>
      </p:sp>
      <p:sp>
        <p:nvSpPr>
          <p:cNvPr id="9" name="p1-ex"/>
          <p:cNvSpPr/>
          <p:nvPr/>
        </p:nvSpPr>
        <p:spPr>
          <a:xfrm>
            <a:off x="889000" y="5130800"/>
            <a:ext cx="4191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claim is clear.”</a:t>
            </a:r>
            <a:endParaRPr lang="en-US" sz="1900" dirty="0"/>
          </a:p>
        </p:txBody>
      </p:sp>
      <p:sp>
        <p:nvSpPr>
          <p:cNvPr id="10" name="pattern-shape-9"/>
          <p:cNvSpPr/>
          <p:nvPr/>
        </p:nvSpPr>
        <p:spPr>
          <a:xfrm>
            <a:off x="5676900" y="2336800"/>
            <a:ext cx="4902200" cy="42672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p2-title"/>
          <p:cNvSpPr/>
          <p:nvPr/>
        </p:nvSpPr>
        <p:spPr>
          <a:xfrm>
            <a:off x="60579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Point to the work</a:t>
            </a:r>
            <a:endParaRPr lang="en-US" sz="2500" dirty="0"/>
          </a:p>
        </p:txBody>
      </p:sp>
      <p:sp>
        <p:nvSpPr>
          <p:cNvPr id="12" name="p2-body"/>
          <p:cNvSpPr/>
          <p:nvPr/>
        </p:nvSpPr>
        <p:spPr>
          <a:xfrm>
            <a:off x="6057900" y="35052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students back to their own writing or the source instead of giving the answer.</a:t>
            </a:r>
            <a:endParaRPr lang="en-US" sz="2100" dirty="0"/>
          </a:p>
        </p:txBody>
      </p:sp>
      <p:sp>
        <p:nvSpPr>
          <p:cNvPr id="13" name="p2-ex"/>
          <p:cNvSpPr/>
          <p:nvPr/>
        </p:nvSpPr>
        <p:spPr>
          <a:xfrm>
            <a:off x="6057900" y="5130800"/>
            <a:ext cx="4191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“Underline the graph and food-web evidence you used.”</a:t>
            </a:r>
            <a:endParaRPr lang="en-US" sz="1900" dirty="0"/>
          </a:p>
        </p:txBody>
      </p:sp>
      <p:sp>
        <p:nvSpPr>
          <p:cNvPr id="14" name="pattern-shape-13"/>
          <p:cNvSpPr/>
          <p:nvPr/>
        </p:nvSpPr>
        <p:spPr>
          <a:xfrm>
            <a:off x="10845800" y="2336800"/>
            <a:ext cx="4902200" cy="42672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5" name="p3-title"/>
          <p:cNvSpPr/>
          <p:nvPr/>
        </p:nvSpPr>
        <p:spPr>
          <a:xfrm>
            <a:off x="11226800" y="26924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Ask for one action</a:t>
            </a:r>
            <a:endParaRPr lang="en-US" sz="2500" dirty="0"/>
          </a:p>
        </p:txBody>
      </p:sp>
      <p:sp>
        <p:nvSpPr>
          <p:cNvPr id="16" name="p3-body"/>
          <p:cNvSpPr/>
          <p:nvPr/>
        </p:nvSpPr>
        <p:spPr>
          <a:xfrm>
            <a:off x="11226800" y="3505200"/>
            <a:ext cx="419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88"/>
              </a:lnSpc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for one specific revision students can complete on their own.</a:t>
            </a:r>
            <a:endParaRPr lang="en-US" sz="2100" dirty="0"/>
          </a:p>
        </p:txBody>
      </p:sp>
      <p:sp>
        <p:nvSpPr>
          <p:cNvPr id="17" name="p3-ex"/>
          <p:cNvSpPr/>
          <p:nvPr/>
        </p:nvSpPr>
        <p:spPr>
          <a:xfrm>
            <a:off x="11226800" y="5130800"/>
            <a:ext cx="41910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56"/>
              </a:lnSpc>
              <a:buNone/>
            </a:pPr>
            <a:r>
              <a:rPr lang="en-US" altLang="en-US" sz="19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</a:t>
            </a:r>
            <a:endParaRPr lang="en-US" sz="1900" dirty="0"/>
          </a:p>
          <a:p>
            <a:pPr algn="l" indent="0" marL="0">
              <a:lnSpc>
                <a:spcPts val="2356"/>
              </a:lnSpc>
              <a:spcBef>
                <a:spcPts val="600"/>
              </a:spcBef>
              <a:buNone/>
            </a:pPr>
            <a:r>
              <a:rPr lang="en-US" altLang="en-US" sz="1900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“Then revise your reasoning to explain how that evidence supports your prediction.”</a:t>
            </a:r>
            <a:endParaRPr lang="en-US" sz="1900" dirty="0"/>
          </a:p>
        </p:txBody>
      </p:sp>
      <p:sp>
        <p:nvSpPr>
          <p:cNvPr id="18" name="pattern-shape-17"/>
          <p:cNvSpPr/>
          <p:nvPr/>
        </p:nvSpPr>
        <p:spPr>
          <a:xfrm>
            <a:off x="508000" y="6959600"/>
            <a:ext cx="152400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9" name="check"/>
          <p:cNvSpPr/>
          <p:nvPr/>
        </p:nvSpPr>
        <p:spPr>
          <a:xfrm>
            <a:off x="812800" y="7213600"/>
            <a:ext cx="146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can the student act on this comment without asking what to do?</a:t>
            </a:r>
            <a:endParaRPr lang="en-US" sz="2000" dirty="0"/>
          </a:p>
        </p:txBody>
      </p:sp>
      <p:sp>
        <p:nvSpPr>
          <p:cNvPr id="20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21" name="pattern-shape-20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xt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4: Plan the Next Step</a:t>
            </a:r>
            <a:endParaRPr lang="en-US" sz="3000" dirty="0"/>
          </a:p>
        </p:txBody>
      </p:sp>
      <p:sp>
        <p:nvSpPr>
          <p:cNvPr id="4" name="time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30:00–41:00  •  11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320800"/>
            <a:ext cx="152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action for each column. Keep the response short and tied to the same standard.</a:t>
            </a:r>
            <a:endParaRPr lang="en-US" sz="2300" dirty="0"/>
          </a:p>
        </p:txBody>
      </p:sp>
      <p:sp>
        <p:nvSpPr>
          <p:cNvPr id="6" name="next-shape-5"/>
          <p:cNvSpPr/>
          <p:nvPr/>
        </p:nvSpPr>
        <p:spPr>
          <a:xfrm>
            <a:off x="508000" y="2260600"/>
            <a:ext cx="49022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n1-title"/>
          <p:cNvSpPr/>
          <p:nvPr/>
        </p:nvSpPr>
        <p:spPr>
          <a:xfrm>
            <a:off x="8890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will…</a:t>
            </a:r>
            <a:endParaRPr lang="en-US" sz="2500" dirty="0"/>
          </a:p>
        </p:txBody>
      </p:sp>
      <p:sp>
        <p:nvSpPr>
          <p:cNvPr id="8" name="n1-body"/>
          <p:cNvSpPr/>
          <p:nvPr/>
        </p:nvSpPr>
        <p:spPr>
          <a:xfrm>
            <a:off x="889000" y="3403600"/>
            <a:ext cx="419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 one reasoning sentence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or correct evidence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their response to a model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Clarify science vocabulary</a:t>
            </a:r>
            <a:endParaRPr lang="en-US" sz="2100" dirty="0"/>
          </a:p>
        </p:txBody>
      </p:sp>
      <p:sp>
        <p:nvSpPr>
          <p:cNvPr id="9" name="next-shape-8"/>
          <p:cNvSpPr/>
          <p:nvPr/>
        </p:nvSpPr>
        <p:spPr>
          <a:xfrm>
            <a:off x="5676900" y="2260600"/>
            <a:ext cx="4902200" cy="41910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n2-title"/>
          <p:cNvSpPr/>
          <p:nvPr/>
        </p:nvSpPr>
        <p:spPr>
          <a:xfrm>
            <a:off x="60579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will…</a:t>
            </a:r>
            <a:endParaRPr lang="en-US" sz="2500" dirty="0"/>
          </a:p>
        </p:txBody>
      </p:sp>
      <p:sp>
        <p:nvSpPr>
          <p:cNvPr id="11" name="n2-body"/>
          <p:cNvSpPr/>
          <p:nvPr/>
        </p:nvSpPr>
        <p:spPr>
          <a:xfrm>
            <a:off x="6057900" y="3403600"/>
            <a:ext cx="419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the written comment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 a short conference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a focused passage or model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Re-teach one reasoning move</a:t>
            </a:r>
            <a:endParaRPr lang="en-US" sz="2100" dirty="0"/>
          </a:p>
        </p:txBody>
      </p:sp>
      <p:sp>
        <p:nvSpPr>
          <p:cNvPr id="12" name="next-shape-11"/>
          <p:cNvSpPr/>
          <p:nvPr/>
        </p:nvSpPr>
        <p:spPr>
          <a:xfrm>
            <a:off x="10845800" y="2260600"/>
            <a:ext cx="4902200" cy="419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3" name="n3-title"/>
          <p:cNvSpPr/>
          <p:nvPr/>
        </p:nvSpPr>
        <p:spPr>
          <a:xfrm>
            <a:off x="11226800" y="2616200"/>
            <a:ext cx="419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5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will be…</a:t>
            </a:r>
            <a:endParaRPr lang="en-US" sz="2500" dirty="0"/>
          </a:p>
        </p:txBody>
      </p:sp>
      <p:sp>
        <p:nvSpPr>
          <p:cNvPr id="14" name="n3-body"/>
          <p:cNvSpPr/>
          <p:nvPr/>
        </p:nvSpPr>
        <p:spPr>
          <a:xfrm>
            <a:off x="11226800" y="3403600"/>
            <a:ext cx="4191000" cy="279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revised response or sentence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exit explanation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completed model or data analysis</a:t>
            </a:r>
            <a:endParaRPr lang="en-US" sz="2100" dirty="0"/>
          </a:p>
          <a:p>
            <a:pPr algn="l" marL="333375" indent="-333375">
              <a:lnSpc>
                <a:spcPts val="2730"/>
              </a:lnSpc>
              <a:spcBef>
                <a:spcPts val="10"/>
              </a:spcBef>
              <a:buSzPct val="100000"/>
              <a:buChar char="•"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warm-up or checkpoint item</a:t>
            </a:r>
            <a:endParaRPr lang="en-US" sz="2100" dirty="0"/>
          </a:p>
        </p:txBody>
      </p:sp>
      <p:sp>
        <p:nvSpPr>
          <p:cNvPr id="15" name="next-shape-14"/>
          <p:cNvSpPr/>
          <p:nvPr/>
        </p:nvSpPr>
        <p:spPr>
          <a:xfrm>
            <a:off x="508000" y="6858000"/>
            <a:ext cx="152400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6" name="commit"/>
          <p:cNvSpPr/>
          <p:nvPr/>
        </p:nvSpPr>
        <p:spPr>
          <a:xfrm>
            <a:off x="812800" y="7137400"/>
            <a:ext cx="146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it down:</a:t>
            </a: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“Students will ______ using ______, and I will see it in ______.”</a:t>
            </a:r>
            <a:endParaRPr lang="en-US" sz="2000" dirty="0"/>
          </a:p>
        </p:txBody>
      </p:sp>
      <p:sp>
        <p:nvSpPr>
          <p:cNvPr id="17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8" name="next-shape-17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kicker"/>
          <p:cNvSpPr/>
          <p:nvPr/>
        </p:nvSpPr>
        <p:spPr>
          <a:xfrm>
            <a:off x="736600" y="3556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41:00–46:00  •  5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51000"/>
            <a:ext cx="13970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2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next with the student work</a:t>
            </a:r>
            <a:endParaRPr lang="en-US" sz="4200" dirty="0"/>
          </a:p>
        </p:txBody>
      </p:sp>
      <p:sp>
        <p:nvSpPr>
          <p:cNvPr id="5" name="subtitle"/>
          <p:cNvSpPr/>
          <p:nvPr/>
        </p:nvSpPr>
        <p:spPr>
          <a:xfrm>
            <a:off x="736600" y="2692400"/>
            <a:ext cx="1397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3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commitments before leaving today.</a:t>
            </a:r>
            <a:endParaRPr lang="en-US" sz="2300" dirty="0"/>
          </a:p>
        </p:txBody>
      </p:sp>
      <p:sp>
        <p:nvSpPr>
          <p:cNvPr id="6" name="close-shape-5"/>
          <p:cNvSpPr/>
          <p:nvPr/>
        </p:nvSpPr>
        <p:spPr>
          <a:xfrm>
            <a:off x="736600" y="3530600"/>
            <a:ext cx="4699000" cy="2895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7" name="c1"/>
          <p:cNvSpPr/>
          <p:nvPr/>
        </p:nvSpPr>
        <p:spPr>
          <a:xfrm>
            <a:off x="1117600" y="3886200"/>
            <a:ext cx="3937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RETURN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the written comment and allow time for the student revision.</a:t>
            </a:r>
            <a:endParaRPr lang="en-US" sz="2100" dirty="0"/>
          </a:p>
        </p:txBody>
      </p:sp>
      <p:sp>
        <p:nvSpPr>
          <p:cNvPr id="8" name="close-shape-7"/>
          <p:cNvSpPr/>
          <p:nvPr/>
        </p:nvSpPr>
        <p:spPr>
          <a:xfrm>
            <a:off x="5778500" y="3530600"/>
            <a:ext cx="4699000" cy="2895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c2"/>
          <p:cNvSpPr/>
          <p:nvPr/>
        </p:nvSpPr>
        <p:spPr>
          <a:xfrm>
            <a:off x="6159500" y="3886200"/>
            <a:ext cx="39370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LOOK FOR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whether the claim, evidence, reasoning, or language improved.</a:t>
            </a:r>
            <a:endParaRPr lang="en-US" sz="2100" dirty="0"/>
          </a:p>
        </p:txBody>
      </p:sp>
      <p:sp>
        <p:nvSpPr>
          <p:cNvPr id="10" name="close-shape-9"/>
          <p:cNvSpPr/>
          <p:nvPr/>
        </p:nvSpPr>
        <p:spPr>
          <a:xfrm>
            <a:off x="10820400" y="3530600"/>
            <a:ext cx="4927600" cy="28956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c3"/>
          <p:cNvSpPr/>
          <p:nvPr/>
        </p:nvSpPr>
        <p:spPr>
          <a:xfrm>
            <a:off x="11201400" y="3886200"/>
            <a:ext cx="41656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altLang="en-US" sz="15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DECIDE</a:t>
            </a:r>
            <a:endParaRPr lang="en-US" sz="2100" dirty="0"/>
          </a:p>
          <a:p>
            <a:pPr algn="l" indent="0" marL="0">
              <a:lnSpc>
                <a:spcPts val="2688"/>
              </a:lnSpc>
              <a:spcBef>
                <a:spcPts val="1000"/>
              </a:spcBef>
              <a:buNone/>
            </a:pPr>
            <a:r>
              <a:rPr lang="en-US" altLang="en-US" sz="2100" dirty="0">
                <a:solidFill>
                  <a:srgbClr val="3C40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new evidence to choose the next small step toward the standard.</a:t>
            </a:r>
            <a:endParaRPr lang="en-US" sz="2100" dirty="0"/>
          </a:p>
        </p:txBody>
      </p:sp>
      <p:sp>
        <p:nvSpPr>
          <p:cNvPr id="12" name="close-shape-11"/>
          <p:cNvSpPr/>
          <p:nvPr/>
        </p:nvSpPr>
        <p:spPr>
          <a:xfrm>
            <a:off x="736600" y="6934200"/>
            <a:ext cx="15011400" cy="8382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bottom"/>
          <p:cNvSpPr/>
          <p:nvPr/>
        </p:nvSpPr>
        <p:spPr>
          <a:xfrm>
            <a:off x="1117600" y="7188200"/>
            <a:ext cx="142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Today: read the writing → write the feedback → plan the next step. Keep the writing samples for the next PLC.</a:t>
            </a:r>
            <a:endParaRPr lang="en-US" sz="2000" dirty="0"/>
          </a:p>
        </p:txBody>
      </p:sp>
      <p:sp>
        <p:nvSpPr>
          <p:cNvPr id="14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5" name="clos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Friday, October 30 PLC — Evidence to Next Learning Experience</dc:title>
  <dc:subject>Friday, October 30 PLC — Evidence to Next Learning Experience</dc:subject>
  <dc:creator>Manus</dc:creator>
  <cp:lastModifiedBy>Manus</cp:lastModifiedBy>
  <cp:revision>1</cp:revision>
  <dcterms:created xsi:type="dcterms:W3CDTF">2026-10-30T00:07:05Z</dcterms:created>
  <dcterms:modified xsi:type="dcterms:W3CDTF">2026-10-30T00:07:05Z</dcterms:modified>
</cp:coreProperties>
</file>
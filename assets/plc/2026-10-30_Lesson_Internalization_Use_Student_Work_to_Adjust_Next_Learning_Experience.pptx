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cover-shape-2"/>
          <p:cNvSpPr/>
          <p:nvPr/>
        </p:nvSpPr>
        <p:spPr>
          <a:xfrm>
            <a:off x="0" y="1168400"/>
            <a:ext cx="16256000" cy="1016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4" name="kicker"/>
          <p:cNvSpPr/>
          <p:nvPr/>
        </p:nvSpPr>
        <p:spPr>
          <a:xfrm>
            <a:off x="736600" y="4064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  •  FRIDAY, OCTOBER 30, 2026  •  46 MINUTES</a:t>
            </a:r>
            <a:endParaRPr lang="en-US" sz="1600" dirty="0"/>
          </a:p>
        </p:txBody>
      </p:sp>
      <p:sp>
        <p:nvSpPr>
          <p:cNvPr id="5" name="title"/>
          <p:cNvSpPr/>
          <p:nvPr/>
        </p:nvSpPr>
        <p:spPr>
          <a:xfrm>
            <a:off x="736600" y="1676400"/>
            <a:ext cx="1117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altLang="en-US" sz="40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Rubric to Read Student Writing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altLang="en-US" sz="40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Plan the Next Step</a:t>
            </a:r>
            <a:endParaRPr lang="en-US" sz="4000" dirty="0"/>
          </a:p>
        </p:txBody>
      </p:sp>
      <p:sp>
        <p:nvSpPr>
          <p:cNvPr id="6" name="subtitle"/>
          <p:cNvSpPr/>
          <p:nvPr/>
        </p:nvSpPr>
        <p:spPr>
          <a:xfrm>
            <a:off x="736600" y="3708400"/>
            <a:ext cx="10922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rubric is the anchor today. Teachers read completed student writing against the rubric, give feedback students can act on, and choose one next instructional step.</a:t>
            </a:r>
            <a:endParaRPr lang="en-US" sz="2300" dirty="0"/>
          </a:p>
        </p:txBody>
      </p:sp>
      <p:sp>
        <p:nvSpPr>
          <p:cNvPr id="7" name="cover-shape-6"/>
          <p:cNvSpPr/>
          <p:nvPr/>
        </p:nvSpPr>
        <p:spPr>
          <a:xfrm>
            <a:off x="12242800" y="1676400"/>
            <a:ext cx="3200400" cy="32004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8" name="focus-label"/>
          <p:cNvSpPr/>
          <p:nvPr/>
        </p:nvSpPr>
        <p:spPr>
          <a:xfrm>
            <a:off x="12547600" y="20066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PURPOSE</a:t>
            </a:r>
            <a:endParaRPr lang="en-US" sz="1400" dirty="0"/>
          </a:p>
        </p:txBody>
      </p:sp>
      <p:sp>
        <p:nvSpPr>
          <p:cNvPr id="9" name="focus-copy"/>
          <p:cNvSpPr/>
          <p:nvPr/>
        </p:nvSpPr>
        <p:spPr>
          <a:xfrm>
            <a:off x="12547600" y="2616200"/>
            <a:ext cx="25908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rubric. Same bar. Feedback from evidence, not impressions.</a:t>
            </a:r>
            <a:endParaRPr lang="en-US" sz="2000" dirty="0"/>
          </a:p>
        </p:txBody>
      </p:sp>
      <p:sp>
        <p:nvSpPr>
          <p:cNvPr id="10" name="cover-shape-9"/>
          <p:cNvSpPr/>
          <p:nvPr/>
        </p:nvSpPr>
        <p:spPr>
          <a:xfrm>
            <a:off x="736600" y="5130800"/>
            <a:ext cx="14706600" cy="1854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bring"/>
          <p:cNvSpPr/>
          <p:nvPr/>
        </p:nvSpPr>
        <p:spPr>
          <a:xfrm>
            <a:off x="1117600" y="53086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3–5 completed student writing samples, the task and source, and the rubric or success criteria you use.</a:t>
            </a:r>
            <a:endParaRPr lang="en-US" sz="2000" dirty="0"/>
          </a:p>
          <a:p>
            <a:pPr algn="l" indent="0" marL="0">
              <a:lnSpc>
                <a:spcPts val="2480"/>
              </a:lnSpc>
              <a:spcBef>
                <a:spcPts val="600"/>
              </a:spcBef>
              <a:buNone/>
            </a:pPr>
            <a:r>
              <a:rPr lang="en-US" altLang="en-US" sz="20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Biology example: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 #1 rubric, 10 points — Claim 1, Evidence 1, Reasoning 1, short response 2. Other courses bring their own rubric.</a:t>
            </a:r>
            <a:endParaRPr lang="en-US" sz="2000" dirty="0"/>
          </a:p>
        </p:txBody>
      </p:sp>
      <p:sp>
        <p:nvSpPr>
          <p:cNvPr id="12" name="cover-shape-11"/>
          <p:cNvSpPr/>
          <p:nvPr/>
        </p:nvSpPr>
        <p:spPr>
          <a:xfrm>
            <a:off x="736600" y="7061200"/>
            <a:ext cx="14706600" cy="7112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rule"/>
          <p:cNvSpPr/>
          <p:nvPr/>
        </p:nvSpPr>
        <p:spPr>
          <a:xfrm>
            <a:off x="1117600" y="7277100"/>
            <a:ext cx="139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rubric describes the writing. It never ranks students, teachers, classes, or courses.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736600" y="7899400"/>
            <a:ext cx="13716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view:</a:t>
            </a: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rubric sets the shared bar and is used every time. It works alongside what the writing shows and what teachers know about their students.</a:t>
            </a:r>
            <a:endParaRPr lang="en-US" sz="1800" dirty="0"/>
          </a:p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altLang="en-US" sz="18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Tool:</a:t>
            </a: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Day Questions 1, 3, and 4  •  Team Deep Dive Steps 3–5  •  After-Lesson Reflection.</a:t>
            </a:r>
            <a:endParaRPr lang="en-US" sz="1800" dirty="0"/>
          </a:p>
        </p:txBody>
      </p:sp>
      <p:sp>
        <p:nvSpPr>
          <p:cNvPr id="15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cover-shape-1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cl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Five Steps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0:00–46:00  •  46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rubric comes first. Every step uses the same rubric, the same student writing, and the same standard.</a:t>
            </a:r>
            <a:endParaRPr lang="en-US" sz="2200" dirty="0"/>
          </a:p>
        </p:txBody>
      </p:sp>
      <p:sp>
        <p:nvSpPr>
          <p:cNvPr id="6" name="cycle-shape-5"/>
          <p:cNvSpPr/>
          <p:nvPr/>
        </p:nvSpPr>
        <p:spPr>
          <a:xfrm>
            <a:off x="508000" y="2362200"/>
            <a:ext cx="2844800" cy="4191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7" name="s1-label"/>
          <p:cNvSpPr/>
          <p:nvPr/>
        </p:nvSpPr>
        <p:spPr>
          <a:xfrm>
            <a:off x="711200" y="2641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 •  4–10 MIN</a:t>
            </a:r>
            <a:endParaRPr lang="en-US" sz="1400" dirty="0"/>
          </a:p>
        </p:txBody>
      </p:sp>
      <p:sp>
        <p:nvSpPr>
          <p:cNvPr id="8" name="s1-title"/>
          <p:cNvSpPr/>
          <p:nvPr/>
        </p:nvSpPr>
        <p:spPr>
          <a:xfrm>
            <a:off x="711200" y="3022600"/>
            <a:ext cx="243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rubric</a:t>
            </a:r>
            <a:endParaRPr lang="en-US" sz="2100" dirty="0"/>
          </a:p>
        </p:txBody>
      </p:sp>
      <p:sp>
        <p:nvSpPr>
          <p:cNvPr id="9" name="s1-body"/>
          <p:cNvSpPr/>
          <p:nvPr/>
        </p:nvSpPr>
        <p:spPr>
          <a:xfrm>
            <a:off x="711200" y="4038600"/>
            <a:ext cx="2438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task and standard, then underline the one or two criteria you will review.</a:t>
            </a:r>
            <a:endParaRPr lang="en-US" sz="1800" dirty="0"/>
          </a:p>
        </p:txBody>
      </p:sp>
      <p:sp>
        <p:nvSpPr>
          <p:cNvPr id="10" name="cycle-shape-9"/>
          <p:cNvSpPr/>
          <p:nvPr/>
        </p:nvSpPr>
        <p:spPr>
          <a:xfrm>
            <a:off x="3606800" y="2362200"/>
            <a:ext cx="2844800" cy="4191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2-label"/>
          <p:cNvSpPr/>
          <p:nvPr/>
        </p:nvSpPr>
        <p:spPr>
          <a:xfrm>
            <a:off x="3810000" y="2641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 •  10–22 MIN</a:t>
            </a:r>
            <a:endParaRPr lang="en-US" sz="1400" dirty="0"/>
          </a:p>
        </p:txBody>
      </p:sp>
      <p:sp>
        <p:nvSpPr>
          <p:cNvPr id="12" name="s2-title"/>
          <p:cNvSpPr/>
          <p:nvPr/>
        </p:nvSpPr>
        <p:spPr>
          <a:xfrm>
            <a:off x="3810000" y="3022600"/>
            <a:ext cx="243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samples</a:t>
            </a:r>
            <a:endParaRPr lang="en-US" sz="2100" dirty="0"/>
          </a:p>
        </p:txBody>
      </p:sp>
      <p:sp>
        <p:nvSpPr>
          <p:cNvPr id="13" name="s2-body"/>
          <p:cNvSpPr/>
          <p:nvPr/>
        </p:nvSpPr>
        <p:spPr>
          <a:xfrm>
            <a:off x="3810000" y="4038600"/>
            <a:ext cx="2438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3–5 student writing samples and mark what the writing shows against the rubric.</a:t>
            </a:r>
            <a:endParaRPr lang="en-US" sz="1800" dirty="0"/>
          </a:p>
        </p:txBody>
      </p:sp>
      <p:sp>
        <p:nvSpPr>
          <p:cNvPr id="14" name="cycle-shape-13"/>
          <p:cNvSpPr/>
          <p:nvPr/>
        </p:nvSpPr>
        <p:spPr>
          <a:xfrm>
            <a:off x="6705600" y="2362200"/>
            <a:ext cx="2844800" cy="4191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3-label"/>
          <p:cNvSpPr/>
          <p:nvPr/>
        </p:nvSpPr>
        <p:spPr>
          <a:xfrm>
            <a:off x="6908800" y="2641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 •  22–30 MIN</a:t>
            </a:r>
            <a:endParaRPr lang="en-US" sz="1400" dirty="0"/>
          </a:p>
        </p:txBody>
      </p:sp>
      <p:sp>
        <p:nvSpPr>
          <p:cNvPr id="16" name="s3-title"/>
          <p:cNvSpPr/>
          <p:nvPr/>
        </p:nvSpPr>
        <p:spPr>
          <a:xfrm>
            <a:off x="6908800" y="3022600"/>
            <a:ext cx="243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priority need</a:t>
            </a:r>
            <a:endParaRPr lang="en-US" sz="2100" dirty="0"/>
          </a:p>
        </p:txBody>
      </p:sp>
      <p:sp>
        <p:nvSpPr>
          <p:cNvPr id="17" name="s3-body"/>
          <p:cNvSpPr/>
          <p:nvPr/>
        </p:nvSpPr>
        <p:spPr>
          <a:xfrm>
            <a:off x="6908800" y="4038600"/>
            <a:ext cx="2438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one strength and one rubric criterion that most needs work right now.</a:t>
            </a:r>
            <a:endParaRPr lang="en-US" sz="1800" dirty="0"/>
          </a:p>
        </p:txBody>
      </p:sp>
      <p:sp>
        <p:nvSpPr>
          <p:cNvPr id="18" name="cycle-shape-17"/>
          <p:cNvSpPr/>
          <p:nvPr/>
        </p:nvSpPr>
        <p:spPr>
          <a:xfrm>
            <a:off x="9804400" y="2362200"/>
            <a:ext cx="2844800" cy="4191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4-label"/>
          <p:cNvSpPr/>
          <p:nvPr/>
        </p:nvSpPr>
        <p:spPr>
          <a:xfrm>
            <a:off x="10007600" y="2641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 •  30–37 MIN</a:t>
            </a:r>
            <a:endParaRPr lang="en-US" sz="1400" dirty="0"/>
          </a:p>
        </p:txBody>
      </p:sp>
      <p:sp>
        <p:nvSpPr>
          <p:cNvPr id="20" name="s4-title"/>
          <p:cNvSpPr/>
          <p:nvPr/>
        </p:nvSpPr>
        <p:spPr>
          <a:xfrm>
            <a:off x="10007600" y="3022600"/>
            <a:ext cx="243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feedback</a:t>
            </a:r>
            <a:endParaRPr lang="en-US" sz="2100" dirty="0"/>
          </a:p>
        </p:txBody>
      </p:sp>
      <p:sp>
        <p:nvSpPr>
          <p:cNvPr id="21" name="s4-body"/>
          <p:cNvSpPr/>
          <p:nvPr/>
        </p:nvSpPr>
        <p:spPr>
          <a:xfrm>
            <a:off x="10007600" y="4038600"/>
            <a:ext cx="2438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criterion, point to the work, and ask for one revision. Do not give the answer.</a:t>
            </a:r>
            <a:endParaRPr lang="en-US" sz="1800" dirty="0"/>
          </a:p>
        </p:txBody>
      </p:sp>
      <p:sp>
        <p:nvSpPr>
          <p:cNvPr id="22" name="cycle-shape-21"/>
          <p:cNvSpPr/>
          <p:nvPr/>
        </p:nvSpPr>
        <p:spPr>
          <a:xfrm>
            <a:off x="12903200" y="2362200"/>
            <a:ext cx="2844800" cy="4191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5-label"/>
          <p:cNvSpPr/>
          <p:nvPr/>
        </p:nvSpPr>
        <p:spPr>
          <a:xfrm>
            <a:off x="13106400" y="2641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  •  37–43 MIN</a:t>
            </a:r>
            <a:endParaRPr lang="en-US" sz="1400" dirty="0"/>
          </a:p>
        </p:txBody>
      </p:sp>
      <p:sp>
        <p:nvSpPr>
          <p:cNvPr id="24" name="s5-title"/>
          <p:cNvSpPr/>
          <p:nvPr/>
        </p:nvSpPr>
        <p:spPr>
          <a:xfrm>
            <a:off x="13106400" y="3022600"/>
            <a:ext cx="243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next step</a:t>
            </a:r>
            <a:endParaRPr lang="en-US" sz="2100" dirty="0"/>
          </a:p>
        </p:txBody>
      </p:sp>
      <p:sp>
        <p:nvSpPr>
          <p:cNvPr id="25" name="s5-body"/>
          <p:cNvSpPr/>
          <p:nvPr/>
        </p:nvSpPr>
        <p:spPr>
          <a:xfrm>
            <a:off x="13106400" y="4038600"/>
            <a:ext cx="2438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altLang="en-US" sz="18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next instructional step and one short check that shows the criterion improved.</a:t>
            </a:r>
            <a:endParaRPr lang="en-US" sz="1800" dirty="0"/>
          </a:p>
        </p:txBody>
      </p:sp>
      <p:sp>
        <p:nvSpPr>
          <p:cNvPr id="26" name="cycle-shape-25"/>
          <p:cNvSpPr/>
          <p:nvPr/>
        </p:nvSpPr>
        <p:spPr>
          <a:xfrm>
            <a:off x="508000" y="6934200"/>
            <a:ext cx="15240000" cy="8128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27" name="anchor"/>
          <p:cNvSpPr/>
          <p:nvPr/>
        </p:nvSpPr>
        <p:spPr>
          <a:xfrm>
            <a:off x="812800" y="7137400"/>
            <a:ext cx="1460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rubric: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gives everyone the same definition of strong writing, so it is used every time — alongside what the writing shows and what you know about your students. It is not for ranking.</a:t>
            </a:r>
            <a:endParaRPr lang="en-US" sz="1900" dirty="0"/>
          </a:p>
        </p:txBody>
      </p:sp>
      <p:sp>
        <p:nvSpPr>
          <p:cNvPr id="28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cycle-shape-28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y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Start With the Rubric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4–10 MIN  •  6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your rubric or success criteria. Name the task and standard, then underline the one or two criteria you will review today.</a:t>
            </a:r>
            <a:endParaRPr lang="en-US" sz="2200" dirty="0"/>
          </a:p>
        </p:txBody>
      </p:sp>
      <p:sp>
        <p:nvSpPr>
          <p:cNvPr id="6" name="mastery-shape-5"/>
          <p:cNvSpPr/>
          <p:nvPr/>
        </p:nvSpPr>
        <p:spPr>
          <a:xfrm>
            <a:off x="508000" y="2362200"/>
            <a:ext cx="7366000" cy="426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left-title"/>
          <p:cNvSpPr/>
          <p:nvPr/>
        </p:nvSpPr>
        <p:spPr>
          <a:xfrm>
            <a:off x="889000" y="26924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THIS FIRST</a:t>
            </a:r>
            <a:endParaRPr lang="en-US" sz="2500" dirty="0"/>
          </a:p>
        </p:txBody>
      </p:sp>
      <p:sp>
        <p:nvSpPr>
          <p:cNvPr id="8" name="left-body"/>
          <p:cNvSpPr/>
          <p:nvPr/>
        </p:nvSpPr>
        <p:spPr>
          <a:xfrm>
            <a:off x="889000" y="3454400"/>
            <a:ext cx="6604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task, standard, and student product on the form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 the 1–2 criteria you will look at today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those criteria out loud as a team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one example of meeting the criterion</a:t>
            </a:r>
            <a:endParaRPr lang="en-US" sz="2000" dirty="0"/>
          </a:p>
        </p:txBody>
      </p:sp>
      <p:sp>
        <p:nvSpPr>
          <p:cNvPr id="9" name="mastery-shape-8"/>
          <p:cNvSpPr/>
          <p:nvPr/>
        </p:nvSpPr>
        <p:spPr>
          <a:xfrm>
            <a:off x="8382000" y="2362200"/>
            <a:ext cx="7366000" cy="42672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right-title"/>
          <p:cNvSpPr/>
          <p:nvPr/>
        </p:nvSpPr>
        <p:spPr>
          <a:xfrm>
            <a:off x="8763000" y="26924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BIOLOGY EXAMPLE</a:t>
            </a:r>
            <a:endParaRPr lang="en-US" sz="2500" dirty="0"/>
          </a:p>
        </p:txBody>
      </p:sp>
      <p:sp>
        <p:nvSpPr>
          <p:cNvPr id="11" name="right-body"/>
          <p:cNvSpPr/>
          <p:nvPr/>
        </p:nvSpPr>
        <p:spPr>
          <a:xfrm>
            <a:off x="8763000" y="3454400"/>
            <a:ext cx="6604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#1 rubric, 10 points: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b="1" dirty="0">
                <a:solidFill>
                  <a:srgbClr val="D81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1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prediction stated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graph detail used accurately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food web quoted correctly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1</a:t>
            </a: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evidence linked to the science idea</a:t>
            </a:r>
            <a:endParaRPr lang="en-US" sz="2000" dirty="0"/>
          </a:p>
        </p:txBody>
      </p:sp>
      <p:sp>
        <p:nvSpPr>
          <p:cNvPr id="12" name="mastery-shape-11"/>
          <p:cNvSpPr/>
          <p:nvPr/>
        </p:nvSpPr>
        <p:spPr>
          <a:xfrm>
            <a:off x="508000" y="6908800"/>
            <a:ext cx="15240000" cy="8382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reminder"/>
          <p:cNvSpPr/>
          <p:nvPr/>
        </p:nvSpPr>
        <p:spPr>
          <a:xfrm>
            <a:off x="812800" y="7112000"/>
            <a:ext cx="146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courses use their own rubric or success criteria; the steps are the same. The rubric leads, and what you notice in the writing and know about your students matters too.</a:t>
            </a:r>
            <a:endParaRPr lang="en-US" sz="19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mastery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Read 3–5 Samples With the Rubric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10–22 MIN  •  12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each sample next to the rubric. Describe what is written in the piece before deciding what to do about it.</a:t>
            </a:r>
            <a:endParaRPr lang="en-US" sz="2200" dirty="0"/>
          </a:p>
        </p:txBody>
      </p:sp>
      <p:sp>
        <p:nvSpPr>
          <p:cNvPr id="6" name="evidence-shape-5"/>
          <p:cNvSpPr/>
          <p:nvPr/>
        </p:nvSpPr>
        <p:spPr>
          <a:xfrm>
            <a:off x="508000" y="2336800"/>
            <a:ext cx="7366000" cy="4191000"/>
          </a:xfrm>
          <a:prstGeom prst="rect">
            <a:avLst/>
          </a:prstGeom>
          <a:solidFill>
            <a:srgbClr val="EAF5EC"/>
          </a:solidFill>
          <a:ln w="25400">
            <a:solidFill>
              <a:srgbClr val="238636"/>
            </a:solidFill>
            <a:prstDash val="solid"/>
          </a:ln>
        </p:spPr>
      </p:sp>
      <p:sp>
        <p:nvSpPr>
          <p:cNvPr id="7" name="left-title"/>
          <p:cNvSpPr/>
          <p:nvPr/>
        </p:nvSpPr>
        <p:spPr>
          <a:xfrm>
            <a:off x="889000" y="26670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PRESENT</a:t>
            </a:r>
            <a:endParaRPr lang="en-US" sz="2500" dirty="0"/>
          </a:p>
        </p:txBody>
      </p:sp>
      <p:sp>
        <p:nvSpPr>
          <p:cNvPr id="8" name="left-body"/>
          <p:cNvSpPr/>
          <p:nvPr/>
        </p:nvSpPr>
        <p:spPr>
          <a:xfrm>
            <a:off x="889000" y="3403600"/>
            <a:ext cx="6604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the line or phrase that shows the criterion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the criterion number or name beside it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what the student did well in one sentence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for each of the 3–5 samples</a:t>
            </a:r>
            <a:endParaRPr lang="en-US" sz="2000" dirty="0"/>
          </a:p>
        </p:txBody>
      </p:sp>
      <p:sp>
        <p:nvSpPr>
          <p:cNvPr id="9" name="evidence-shape-8"/>
          <p:cNvSpPr/>
          <p:nvPr/>
        </p:nvSpPr>
        <p:spPr>
          <a:xfrm>
            <a:off x="8382000" y="2336800"/>
            <a:ext cx="7366000" cy="4191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right-title"/>
          <p:cNvSpPr/>
          <p:nvPr/>
        </p:nvSpPr>
        <p:spPr>
          <a:xfrm>
            <a:off x="8763000" y="26670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MISSING OR PARTIAL</a:t>
            </a:r>
            <a:endParaRPr lang="en-US" sz="2500" dirty="0"/>
          </a:p>
        </p:txBody>
      </p:sp>
      <p:sp>
        <p:nvSpPr>
          <p:cNvPr id="11" name="right-body"/>
          <p:cNvSpPr/>
          <p:nvPr/>
        </p:nvSpPr>
        <p:spPr>
          <a:xfrm>
            <a:off x="8763000" y="3403600"/>
            <a:ext cx="6604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criterion that is not yet met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whether the gap is claim, evidence, reasoning, or science language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about the writing, not the student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rubric wording so the team compares the same thing</a:t>
            </a:r>
            <a:endParaRPr lang="en-US" sz="2000" dirty="0"/>
          </a:p>
        </p:txBody>
      </p:sp>
      <p:sp>
        <p:nvSpPr>
          <p:cNvPr id="12" name="evidence-shape-11"/>
          <p:cNvSpPr/>
          <p:nvPr/>
        </p:nvSpPr>
        <p:spPr>
          <a:xfrm>
            <a:off x="508000" y="6858000"/>
            <a:ext cx="15240000" cy="889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rule"/>
          <p:cNvSpPr/>
          <p:nvPr/>
        </p:nvSpPr>
        <p:spPr>
          <a:xfrm>
            <a:off x="812800" y="7112000"/>
            <a:ext cx="146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work. Do not rank students, teachers, classes, or courses, and do not sum up a course by one sample.</a:t>
            </a:r>
            <a:endParaRPr lang="en-US" sz="20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evidence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tern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 Name One Pattern and One Priority Need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22–30 MIN  •  8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samples, look for one pattern. Then choose the single need that will help students most right now.</a:t>
            </a:r>
            <a:endParaRPr lang="en-US" sz="2200" dirty="0"/>
          </a:p>
        </p:txBody>
      </p:sp>
      <p:sp>
        <p:nvSpPr>
          <p:cNvPr id="6" name="pattern-shape-5"/>
          <p:cNvSpPr/>
          <p:nvPr/>
        </p:nvSpPr>
        <p:spPr>
          <a:xfrm>
            <a:off x="508000" y="2336800"/>
            <a:ext cx="4902200" cy="426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p1-title"/>
          <p:cNvSpPr/>
          <p:nvPr/>
        </p:nvSpPr>
        <p:spPr>
          <a:xfrm>
            <a:off x="889000" y="26924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Look across samples</a:t>
            </a:r>
            <a:endParaRPr lang="en-US" sz="2400" dirty="0"/>
          </a:p>
        </p:txBody>
      </p:sp>
      <p:sp>
        <p:nvSpPr>
          <p:cNvPr id="8" name="p1-body"/>
          <p:cNvSpPr/>
          <p:nvPr/>
        </p:nvSpPr>
        <p:spPr>
          <a:xfrm>
            <a:off x="889000" y="34544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criterion is strong in most papers?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criterion is weak in most papers?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gap appears in three or more samples?</a:t>
            </a:r>
            <a:endParaRPr lang="en-US" sz="2000" dirty="0"/>
          </a:p>
        </p:txBody>
      </p:sp>
      <p:sp>
        <p:nvSpPr>
          <p:cNvPr id="9" name="pattern-shape-8"/>
          <p:cNvSpPr/>
          <p:nvPr/>
        </p:nvSpPr>
        <p:spPr>
          <a:xfrm>
            <a:off x="5676900" y="2336800"/>
            <a:ext cx="4902200" cy="426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p2-title"/>
          <p:cNvSpPr/>
          <p:nvPr/>
        </p:nvSpPr>
        <p:spPr>
          <a:xfrm>
            <a:off x="6057900" y="26924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Write one sentence</a:t>
            </a:r>
            <a:endParaRPr lang="en-US" sz="2400" dirty="0"/>
          </a:p>
        </p:txBody>
      </p:sp>
      <p:sp>
        <p:nvSpPr>
          <p:cNvPr id="11" name="p2-body"/>
          <p:cNvSpPr/>
          <p:nvPr/>
        </p:nvSpPr>
        <p:spPr>
          <a:xfrm>
            <a:off x="6057900" y="34544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“Students can ______, but most need ______ in the criterion of ______.”</a:t>
            </a:r>
            <a:endParaRPr lang="en-US" sz="2000" dirty="0"/>
          </a:p>
          <a:p>
            <a:pPr algn="l" indent="0" marL="0">
              <a:lnSpc>
                <a:spcPts val="256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rubric wording in the blank so the need is measurable.</a:t>
            </a:r>
            <a:endParaRPr lang="en-US" sz="2000" dirty="0"/>
          </a:p>
        </p:txBody>
      </p:sp>
      <p:sp>
        <p:nvSpPr>
          <p:cNvPr id="12" name="pattern-shape-11"/>
          <p:cNvSpPr/>
          <p:nvPr/>
        </p:nvSpPr>
        <p:spPr>
          <a:xfrm>
            <a:off x="10845800" y="2336800"/>
            <a:ext cx="4902200" cy="42672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3" name="p3-title"/>
          <p:cNvSpPr/>
          <p:nvPr/>
        </p:nvSpPr>
        <p:spPr>
          <a:xfrm>
            <a:off x="11226800" y="26924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Keep it narrow</a:t>
            </a:r>
            <a:endParaRPr lang="en-US" sz="2400" dirty="0"/>
          </a:p>
        </p:txBody>
      </p:sp>
      <p:sp>
        <p:nvSpPr>
          <p:cNvPr id="14" name="p3-body"/>
          <p:cNvSpPr/>
          <p:nvPr/>
        </p:nvSpPr>
        <p:spPr>
          <a:xfrm>
            <a:off x="11226800" y="3429000"/>
            <a:ext cx="4191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ts val="239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need only — not a list</a:t>
            </a:r>
            <a:endParaRPr lang="en-US" sz="1900" dirty="0"/>
          </a:p>
          <a:p>
            <a:pPr algn="l" marL="301625" indent="-301625">
              <a:lnSpc>
                <a:spcPts val="239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Criterion-based, not general</a:t>
            </a:r>
            <a:endParaRPr lang="en-US" sz="1900" dirty="0"/>
          </a:p>
          <a:p>
            <a:pPr algn="l" marL="301625" indent="-301625">
              <a:lnSpc>
                <a:spcPts val="239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Fixable in one revision</a:t>
            </a:r>
            <a:endParaRPr lang="en-US" sz="1900" dirty="0"/>
          </a:p>
          <a:p>
            <a:pPr algn="l" marL="301625" indent="-301625">
              <a:lnSpc>
                <a:spcPts val="239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broad reteach plan</a:t>
            </a:r>
            <a:endParaRPr lang="en-US" sz="1900" dirty="0"/>
          </a:p>
          <a:p>
            <a:pPr algn="l" marL="301625" indent="-301625">
              <a:lnSpc>
                <a:spcPts val="239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it with what you know about your students</a:t>
            </a:r>
            <a:endParaRPr lang="en-US" sz="1900" dirty="0"/>
          </a:p>
        </p:txBody>
      </p:sp>
      <p:sp>
        <p:nvSpPr>
          <p:cNvPr id="15" name="pattern-shape-14"/>
          <p:cNvSpPr/>
          <p:nvPr/>
        </p:nvSpPr>
        <p:spPr>
          <a:xfrm>
            <a:off x="508000" y="6959600"/>
            <a:ext cx="15240000" cy="736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6" name="check"/>
          <p:cNvSpPr/>
          <p:nvPr/>
        </p:nvSpPr>
        <p:spPr>
          <a:xfrm>
            <a:off x="812800" y="7213600"/>
            <a:ext cx="146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the need be pointed to in the rubric and seen in the student writing?</a:t>
            </a:r>
            <a:endParaRPr lang="en-US" sz="2000" dirty="0"/>
          </a:p>
        </p:txBody>
      </p:sp>
      <p:sp>
        <p:nvSpPr>
          <p:cNvPr id="17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pattern-shape-1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xt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4: Write Feedback Students Can Use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30–37 MIN  •  7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short comment on the sample. It should send the student back to the rubric and back to their own writing.</a:t>
            </a:r>
            <a:endParaRPr lang="en-US" sz="2200" dirty="0"/>
          </a:p>
        </p:txBody>
      </p:sp>
      <p:sp>
        <p:nvSpPr>
          <p:cNvPr id="6" name="next-shape-5"/>
          <p:cNvSpPr/>
          <p:nvPr/>
        </p:nvSpPr>
        <p:spPr>
          <a:xfrm>
            <a:off x="508000" y="2286000"/>
            <a:ext cx="4902200" cy="431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n1-title"/>
          <p:cNvSpPr/>
          <p:nvPr/>
        </p:nvSpPr>
        <p:spPr>
          <a:xfrm>
            <a:off x="889000" y="26162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Name the criterion</a:t>
            </a:r>
            <a:endParaRPr lang="en-US" sz="2400" dirty="0"/>
          </a:p>
        </p:txBody>
      </p:sp>
      <p:sp>
        <p:nvSpPr>
          <p:cNvPr id="8" name="n1-body"/>
          <p:cNvSpPr/>
          <p:nvPr/>
        </p:nvSpPr>
        <p:spPr>
          <a:xfrm>
            <a:off x="889000" y="3378200"/>
            <a:ext cx="4191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which rubric criterion the comment is about.</a:t>
            </a:r>
            <a:endParaRPr lang="en-US" sz="2000" dirty="0"/>
          </a:p>
        </p:txBody>
      </p:sp>
      <p:sp>
        <p:nvSpPr>
          <p:cNvPr id="9" name="n1-ex"/>
          <p:cNvSpPr/>
          <p:nvPr/>
        </p:nvSpPr>
        <p:spPr>
          <a:xfrm>
            <a:off x="889000" y="4851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6"/>
              </a:lnSpc>
              <a:buNone/>
            </a:pPr>
            <a:r>
              <a:rPr lang="en-US" altLang="en-US" sz="19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endParaRPr lang="en-US" sz="1900" dirty="0"/>
          </a:p>
          <a:p>
            <a:pPr algn="l" indent="0" marL="0">
              <a:lnSpc>
                <a:spcPts val="2356"/>
              </a:lnSpc>
              <a:spcBef>
                <a:spcPts val="600"/>
              </a:spcBef>
              <a:buNone/>
            </a:pPr>
            <a:r>
              <a:rPr lang="en-US" altLang="en-US" sz="19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“This is your claim, and it is clear.”</a:t>
            </a:r>
            <a:endParaRPr lang="en-US" sz="1900" dirty="0"/>
          </a:p>
        </p:txBody>
      </p:sp>
      <p:sp>
        <p:nvSpPr>
          <p:cNvPr id="10" name="next-shape-9"/>
          <p:cNvSpPr/>
          <p:nvPr/>
        </p:nvSpPr>
        <p:spPr>
          <a:xfrm>
            <a:off x="5676900" y="2286000"/>
            <a:ext cx="4902200" cy="431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n2-title"/>
          <p:cNvSpPr/>
          <p:nvPr/>
        </p:nvSpPr>
        <p:spPr>
          <a:xfrm>
            <a:off x="6057900" y="26162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Point to their work</a:t>
            </a:r>
            <a:endParaRPr lang="en-US" sz="2400" dirty="0"/>
          </a:p>
        </p:txBody>
      </p:sp>
      <p:sp>
        <p:nvSpPr>
          <p:cNvPr id="12" name="n2-body"/>
          <p:cNvSpPr/>
          <p:nvPr/>
        </p:nvSpPr>
        <p:spPr>
          <a:xfrm>
            <a:off x="6057900" y="3378200"/>
            <a:ext cx="4191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or point to the student's own words, graph detail, or food-web arrow.</a:t>
            </a:r>
            <a:endParaRPr lang="en-US" sz="2000" dirty="0"/>
          </a:p>
        </p:txBody>
      </p:sp>
      <p:sp>
        <p:nvSpPr>
          <p:cNvPr id="13" name="n2-ex"/>
          <p:cNvSpPr/>
          <p:nvPr/>
        </p:nvSpPr>
        <p:spPr>
          <a:xfrm>
            <a:off x="6057900" y="4851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6"/>
              </a:lnSpc>
              <a:buNone/>
            </a:pPr>
            <a:r>
              <a:rPr lang="en-US" altLang="en-US" sz="19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endParaRPr lang="en-US" sz="1900" dirty="0"/>
          </a:p>
          <a:p>
            <a:pPr algn="l" indent="0" marL="0">
              <a:lnSpc>
                <a:spcPts val="2356"/>
              </a:lnSpc>
              <a:spcBef>
                <a:spcPts val="600"/>
              </a:spcBef>
              <a:buNone/>
            </a:pPr>
            <a:r>
              <a:rPr lang="en-US" altLang="en-US" sz="19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wrote that frogs eat fruit flies.”</a:t>
            </a:r>
            <a:endParaRPr lang="en-US" sz="1900" dirty="0"/>
          </a:p>
        </p:txBody>
      </p:sp>
      <p:sp>
        <p:nvSpPr>
          <p:cNvPr id="14" name="next-shape-13"/>
          <p:cNvSpPr/>
          <p:nvPr/>
        </p:nvSpPr>
        <p:spPr>
          <a:xfrm>
            <a:off x="10845800" y="2286000"/>
            <a:ext cx="4902200" cy="4318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5" name="n3-title"/>
          <p:cNvSpPr/>
          <p:nvPr/>
        </p:nvSpPr>
        <p:spPr>
          <a:xfrm>
            <a:off x="11226800" y="26162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Ask for one revision</a:t>
            </a:r>
            <a:endParaRPr lang="en-US" sz="2400" dirty="0"/>
          </a:p>
        </p:txBody>
      </p:sp>
      <p:sp>
        <p:nvSpPr>
          <p:cNvPr id="16" name="n3-body"/>
          <p:cNvSpPr/>
          <p:nvPr/>
        </p:nvSpPr>
        <p:spPr>
          <a:xfrm>
            <a:off x="11226800" y="3378200"/>
            <a:ext cx="4191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for one change the student can make. Do not give the answer or write it for them.</a:t>
            </a:r>
            <a:endParaRPr lang="en-US" sz="2000" dirty="0"/>
          </a:p>
        </p:txBody>
      </p:sp>
      <p:sp>
        <p:nvSpPr>
          <p:cNvPr id="17" name="n3-ex"/>
          <p:cNvSpPr/>
          <p:nvPr/>
        </p:nvSpPr>
        <p:spPr>
          <a:xfrm>
            <a:off x="11226800" y="4851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6"/>
              </a:lnSpc>
              <a:buNone/>
            </a:pPr>
            <a:r>
              <a:rPr lang="en-US" altLang="en-US" sz="19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endParaRPr lang="en-US" sz="1900" dirty="0"/>
          </a:p>
          <a:p>
            <a:pPr algn="l" indent="0" marL="0">
              <a:lnSpc>
                <a:spcPts val="2356"/>
              </a:lnSpc>
              <a:spcBef>
                <a:spcPts val="600"/>
              </a:spcBef>
              <a:buNone/>
            </a:pPr>
            <a:r>
              <a:rPr lang="en-US" altLang="en-US" sz="19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“Now explain how that makes the fruit-fly population drop.”</a:t>
            </a:r>
            <a:endParaRPr lang="en-US" sz="1900" dirty="0"/>
          </a:p>
        </p:txBody>
      </p:sp>
      <p:sp>
        <p:nvSpPr>
          <p:cNvPr id="18" name="next-shape-17"/>
          <p:cNvSpPr/>
          <p:nvPr/>
        </p:nvSpPr>
        <p:spPr>
          <a:xfrm>
            <a:off x="508000" y="6959600"/>
            <a:ext cx="15240000" cy="736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9" name="check"/>
          <p:cNvSpPr/>
          <p:nvPr/>
        </p:nvSpPr>
        <p:spPr>
          <a:xfrm>
            <a:off x="812800" y="7213600"/>
            <a:ext cx="146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the comment name a criterion, point to the work, and ask for one action?</a:t>
            </a:r>
            <a:endParaRPr lang="en-US" sz="2000" dirty="0"/>
          </a:p>
        </p:txBody>
      </p:sp>
      <p:sp>
        <p:nvSpPr>
          <p:cNvPr id="20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next-shape-20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n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5: Plan the Next Instructional Step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827000" y="3556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37–43 MIN  •  6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20800"/>
            <a:ext cx="1524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step that targets the priority criterion. Keep it small enough to teach in the next lesson or two.</a:t>
            </a:r>
            <a:endParaRPr lang="en-US" sz="2200" dirty="0"/>
          </a:p>
        </p:txBody>
      </p:sp>
      <p:sp>
        <p:nvSpPr>
          <p:cNvPr id="6" name="plan-shape-5"/>
          <p:cNvSpPr/>
          <p:nvPr/>
        </p:nvSpPr>
        <p:spPr>
          <a:xfrm>
            <a:off x="508000" y="2286000"/>
            <a:ext cx="7366000" cy="4191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left-title"/>
          <p:cNvSpPr/>
          <p:nvPr/>
        </p:nvSpPr>
        <p:spPr>
          <a:xfrm>
            <a:off x="889000" y="26162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</a:t>
            </a:r>
            <a:endParaRPr lang="en-US" sz="2500" dirty="0"/>
          </a:p>
        </p:txBody>
      </p:sp>
      <p:sp>
        <p:nvSpPr>
          <p:cNvPr id="8" name="left-body"/>
          <p:cNvSpPr/>
          <p:nvPr/>
        </p:nvSpPr>
        <p:spPr>
          <a:xfrm>
            <a:off x="889000" y="33528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Re-teach one reasoning move with a model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selecting the strongest evidence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how to link evidence to the claim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short revision cycle on one paragraph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one science term students misuse</a:t>
            </a:r>
            <a:endParaRPr lang="en-US" sz="2000" dirty="0"/>
          </a:p>
        </p:txBody>
      </p:sp>
      <p:sp>
        <p:nvSpPr>
          <p:cNvPr id="9" name="plan-shape-8"/>
          <p:cNvSpPr/>
          <p:nvPr/>
        </p:nvSpPr>
        <p:spPr>
          <a:xfrm>
            <a:off x="8382000" y="2286000"/>
            <a:ext cx="7366000" cy="41910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right-title"/>
          <p:cNvSpPr/>
          <p:nvPr/>
        </p:nvSpPr>
        <p:spPr>
          <a:xfrm>
            <a:off x="8763000" y="26162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SAY HOW YOU WILL KNOW</a:t>
            </a:r>
            <a:endParaRPr lang="en-US" sz="2500" dirty="0"/>
          </a:p>
        </p:txBody>
      </p:sp>
      <p:sp>
        <p:nvSpPr>
          <p:cNvPr id="11" name="right-body"/>
          <p:cNvSpPr/>
          <p:nvPr/>
        </p:nvSpPr>
        <p:spPr>
          <a:xfrm>
            <a:off x="8763000" y="33528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will produce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criterion the work must show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will collect it</a:t>
            </a:r>
            <a:endParaRPr lang="en-US" sz="2000" dirty="0"/>
          </a:p>
          <a:p>
            <a:pPr algn="l" marL="317500" indent="-317500">
              <a:lnSpc>
                <a:spcPts val="25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will look for in the work</a:t>
            </a:r>
            <a:endParaRPr lang="en-US" sz="2000" dirty="0"/>
          </a:p>
        </p:txBody>
      </p:sp>
      <p:sp>
        <p:nvSpPr>
          <p:cNvPr id="12" name="plan-shape-11"/>
          <p:cNvSpPr/>
          <p:nvPr/>
        </p:nvSpPr>
        <p:spPr>
          <a:xfrm>
            <a:off x="508000" y="6858000"/>
            <a:ext cx="15240000" cy="8382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commit"/>
          <p:cNvSpPr/>
          <p:nvPr/>
        </p:nvSpPr>
        <p:spPr>
          <a:xfrm>
            <a:off x="812800" y="7112000"/>
            <a:ext cx="146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one-page writing analysis tool: task and standard, strengths, pattern, priority need, feedback, next step.</a:t>
            </a:r>
            <a:endParaRPr lang="en-US" sz="2000" dirty="0"/>
          </a:p>
        </p:txBody>
      </p:sp>
      <p:sp>
        <p:nvSpPr>
          <p:cNvPr id="14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00" dirty="0"/>
          </a:p>
        </p:txBody>
      </p:sp>
      <p:sp>
        <p:nvSpPr>
          <p:cNvPr id="15" name="plan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kicker"/>
          <p:cNvSpPr/>
          <p:nvPr/>
        </p:nvSpPr>
        <p:spPr>
          <a:xfrm>
            <a:off x="508000" y="355600"/>
            <a:ext cx="1143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 •  43–46 MIN  •  3 MIN</a:t>
            </a:r>
            <a:endParaRPr lang="en-US" sz="1600" dirty="0"/>
          </a:p>
        </p:txBody>
      </p:sp>
      <p:sp>
        <p:nvSpPr>
          <p:cNvPr id="4" name="title"/>
          <p:cNvSpPr/>
          <p:nvPr/>
        </p:nvSpPr>
        <p:spPr>
          <a:xfrm>
            <a:off x="736600" y="16002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Rubric → Samples → Pattern → Feedback → Next Step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736600" y="25908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commitments before leaving, and the form goes with you.</a:t>
            </a:r>
            <a:endParaRPr lang="en-US" sz="2200" dirty="0"/>
          </a:p>
        </p:txBody>
      </p:sp>
      <p:sp>
        <p:nvSpPr>
          <p:cNvPr id="6" name="close-shape-5"/>
          <p:cNvSpPr/>
          <p:nvPr/>
        </p:nvSpPr>
        <p:spPr>
          <a:xfrm>
            <a:off x="736600" y="3403600"/>
            <a:ext cx="4699000" cy="29718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7" name="c1"/>
          <p:cNvSpPr/>
          <p:nvPr/>
        </p:nvSpPr>
        <p:spPr>
          <a:xfrm>
            <a:off x="1117600" y="3733800"/>
            <a:ext cx="39370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RETURN</a:t>
            </a:r>
            <a:endParaRPr lang="en-US" sz="20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written comment back and give students time to revise.</a:t>
            </a:r>
            <a:endParaRPr lang="en-US" sz="2000" dirty="0"/>
          </a:p>
        </p:txBody>
      </p:sp>
      <p:sp>
        <p:nvSpPr>
          <p:cNvPr id="8" name="close-shape-7"/>
          <p:cNvSpPr/>
          <p:nvPr/>
        </p:nvSpPr>
        <p:spPr>
          <a:xfrm>
            <a:off x="5778500" y="3403600"/>
            <a:ext cx="4699000" cy="2971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c2"/>
          <p:cNvSpPr/>
          <p:nvPr/>
        </p:nvSpPr>
        <p:spPr>
          <a:xfrm>
            <a:off x="6159500" y="3733800"/>
            <a:ext cx="39370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LOOK FOR</a:t>
            </a:r>
            <a:endParaRPr lang="en-US" sz="20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same criterion in the revised work, using the rubric.</a:t>
            </a:r>
            <a:endParaRPr lang="en-US" sz="2000" dirty="0"/>
          </a:p>
        </p:txBody>
      </p:sp>
      <p:sp>
        <p:nvSpPr>
          <p:cNvPr id="10" name="close-shape-9"/>
          <p:cNvSpPr/>
          <p:nvPr/>
        </p:nvSpPr>
        <p:spPr>
          <a:xfrm>
            <a:off x="10820400" y="3403600"/>
            <a:ext cx="4927600" cy="2971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c3"/>
          <p:cNvSpPr/>
          <p:nvPr/>
        </p:nvSpPr>
        <p:spPr>
          <a:xfrm>
            <a:off x="11201400" y="3733800"/>
            <a:ext cx="4165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BRING BACK</a:t>
            </a:r>
            <a:endParaRPr lang="en-US" sz="20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form and a few revised samples to the next PLC.</a:t>
            </a:r>
            <a:endParaRPr lang="en-US" sz="2000" dirty="0"/>
          </a:p>
        </p:txBody>
      </p:sp>
      <p:sp>
        <p:nvSpPr>
          <p:cNvPr id="12" name="close-shape-11"/>
          <p:cNvSpPr/>
          <p:nvPr/>
        </p:nvSpPr>
        <p:spPr>
          <a:xfrm>
            <a:off x="736600" y="6807200"/>
            <a:ext cx="15011400" cy="9652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3" name="bottom"/>
          <p:cNvSpPr/>
          <p:nvPr/>
        </p:nvSpPr>
        <p:spPr>
          <a:xfrm>
            <a:off x="1117600" y="70104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the rubric led the work. Keep the samples and the form — the next PLC starts with your evidence.</a:t>
            </a:r>
            <a:endParaRPr lang="en-US" sz="20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altLang="en-US" sz="2000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 with the Lesson Internalization Protocol.</a:t>
            </a:r>
            <a:endParaRPr lang="en-US" sz="2000" dirty="0"/>
          </a:p>
        </p:txBody>
      </p:sp>
      <p:sp>
        <p:nvSpPr>
          <p:cNvPr id="14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300" dirty="0"/>
          </a:p>
        </p:txBody>
      </p:sp>
      <p:sp>
        <p:nvSpPr>
          <p:cNvPr id="15" name="close-shape-1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Friday, October 30 PLC — Use the Rubric to Read Student Writing and Plan the Next Step</dc:title>
  <dc:subject>Friday, October 30 PLC — Use the Rubric to Read Student Writing and Plan the Next Step</dc:subject>
  <dc:creator>Manus</dc:creator>
  <cp:lastModifiedBy>Manus</cp:lastModifiedBy>
  <cp:revision>1</cp:revision>
  <dcterms:created xsi:type="dcterms:W3CDTF">2026-10-30T01:05:47Z</dcterms:created>
  <dcterms:modified xsi:type="dcterms:W3CDTF">2026-10-30T01:05:47Z</dcterms:modified>
</cp:coreProperties>
</file>
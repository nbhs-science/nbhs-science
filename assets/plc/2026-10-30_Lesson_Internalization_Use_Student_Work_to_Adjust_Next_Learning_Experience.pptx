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6256000" cy="9144000"/>
  <p:notesSz cx="9144000" cy="16256000"/>
  <p:embeddedFontLst>
    <p:embeddedFont>
      <p:font typeface="Inter" charset="-122" pitchFamily="34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16256000" cy="1168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0" y="1168400"/>
            <a:ext cx="16256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736600" y="381000"/>
            <a:ext cx="1143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DEPARTMENT PLC  •  FRIDAY, OCTOBER 30, 2026  •  46 MINUTES</a:t>
            </a:r>
            <a:endParaRPr lang="en-US" sz="1600" dirty="0"/>
          </a:p>
        </p:txBody>
      </p:sp>
      <p:sp>
        <p:nvSpPr>
          <p:cNvPr id="5" name="title"/>
          <p:cNvSpPr/>
          <p:nvPr/>
        </p:nvSpPr>
        <p:spPr>
          <a:xfrm>
            <a:off x="736600" y="1917700"/>
            <a:ext cx="11811000" cy="147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44"/>
              </a:lnSpc>
              <a:buNone/>
            </a:pPr>
            <a:r>
              <a:rPr lang="en-US" altLang="en-US" sz="43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Completed Writing → Written Feedback</a:t>
            </a:r>
            <a:endParaRPr lang="en-US" sz="4300" dirty="0"/>
          </a:p>
          <a:p>
            <a:pPr algn="l" indent="0" marL="0">
              <a:lnSpc>
                <a:spcPts val="4644"/>
              </a:lnSpc>
              <a:buNone/>
            </a:pPr>
            <a:r>
              <a:rPr lang="en-US" altLang="en-US" sz="43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Next Steps for Standard Mastery</a:t>
            </a:r>
            <a:endParaRPr lang="en-US" sz="4300" dirty="0"/>
          </a:p>
        </p:txBody>
      </p:sp>
      <p:sp>
        <p:nvSpPr>
          <p:cNvPr id="6" name="subtitle"/>
          <p:cNvSpPr/>
          <p:nvPr/>
        </p:nvSpPr>
        <p:spPr>
          <a:xfrm>
            <a:off x="736600" y="3797300"/>
            <a:ext cx="108204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50"/>
              </a:lnSpc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Analyze completed student writing from the benchmark, identify evidence against the mastery bar, provide revision-oriented written feedback, and plan a precise next learning step.</a:t>
            </a:r>
            <a:endParaRPr lang="en-US" sz="2500" dirty="0"/>
          </a:p>
        </p:txBody>
      </p:sp>
      <p:sp>
        <p:nvSpPr>
          <p:cNvPr id="7" name="cover-shape-6"/>
          <p:cNvSpPr/>
          <p:nvPr/>
        </p:nvSpPr>
        <p:spPr>
          <a:xfrm>
            <a:off x="12242800" y="2057400"/>
            <a:ext cx="3200400" cy="29845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focus-label"/>
          <p:cNvSpPr/>
          <p:nvPr/>
        </p:nvSpPr>
        <p:spPr>
          <a:xfrm>
            <a:off x="12573000" y="2438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TO PROTECT</a:t>
            </a:r>
            <a:endParaRPr lang="en-US" sz="1400" dirty="0"/>
          </a:p>
        </p:txBody>
      </p:sp>
      <p:sp>
        <p:nvSpPr>
          <p:cNvPr id="9" name="focus-copy"/>
          <p:cNvSpPr/>
          <p:nvPr/>
        </p:nvSpPr>
        <p:spPr>
          <a:xfrm>
            <a:off x="12547600" y="3035300"/>
            <a:ext cx="2590800" cy="1358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work for learning. Do not rank students, teachers, classes, or courses.</a:t>
            </a:r>
            <a:endParaRPr lang="en-US" sz="2000" dirty="0"/>
          </a:p>
        </p:txBody>
      </p:sp>
      <p:sp>
        <p:nvSpPr>
          <p:cNvPr id="10" name="cover-shape-9"/>
          <p:cNvSpPr/>
          <p:nvPr/>
        </p:nvSpPr>
        <p:spPr>
          <a:xfrm>
            <a:off x="736600" y="5842000"/>
            <a:ext cx="14706600" cy="1422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anchor"/>
          <p:cNvSpPr/>
          <p:nvPr/>
        </p:nvSpPr>
        <p:spPr>
          <a:xfrm>
            <a:off x="1117600" y="6172200"/>
            <a:ext cx="13919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4"/>
              </a:lnSpc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model: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use completed Biology Benchmark #1 writing to examine claim, evidence, reasoning, source use, and scientific explanation; each course team uses its own comparable response.</a:t>
            </a:r>
            <a:endParaRPr lang="en-US" sz="2200" dirty="0"/>
          </a:p>
        </p:txBody>
      </p:sp>
      <p:sp>
        <p:nvSpPr>
          <p:cNvPr id="12" name="footer"/>
          <p:cNvSpPr/>
          <p:nvPr/>
        </p:nvSpPr>
        <p:spPr>
          <a:xfrm>
            <a:off x="736600" y="7975600"/>
            <a:ext cx="12827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3–5; After-Lesson Reflection.</a:t>
            </a:r>
            <a:endParaRPr lang="en-US" sz="21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cover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to the Evidence Students Produced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3081000" y="3556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0:00–4:00  •  4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35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 closes the planning-to-evidence cycle by reading completed student writing and using it to strengthen the next standard-aligned learning experience.</a:t>
            </a:r>
            <a:endParaRPr lang="en-US" sz="23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block1"/>
          <p:cNvSpPr/>
          <p:nvPr/>
        </p:nvSpPr>
        <p:spPr>
          <a:xfrm>
            <a:off x="7366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Experience + analyze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completed the task, CUBS analysis, and color-coded CER.</a:t>
            </a:r>
            <a:endParaRPr lang="en-US" sz="1800" dirty="0"/>
          </a:p>
        </p:txBody>
      </p:sp>
      <p:sp>
        <p:nvSpPr>
          <p:cNvPr id="8" name="arrow1"/>
          <p:cNvSpPr/>
          <p:nvPr/>
        </p:nvSpPr>
        <p:spPr>
          <a:xfrm>
            <a:off x="28702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9" name="cycle-shape-8"/>
          <p:cNvSpPr/>
          <p:nvPr/>
        </p:nvSpPr>
        <p:spPr>
          <a:xfrm>
            <a:off x="34036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block2"/>
          <p:cNvSpPr/>
          <p:nvPr/>
        </p:nvSpPr>
        <p:spPr>
          <a:xfrm>
            <a:off x="36322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for learning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arc, access, facilitation, feedback, and revision.</a:t>
            </a:r>
            <a:endParaRPr lang="en-US" sz="1800" dirty="0"/>
          </a:p>
        </p:txBody>
      </p:sp>
      <p:sp>
        <p:nvSpPr>
          <p:cNvPr id="11" name="arrow2"/>
          <p:cNvSpPr/>
          <p:nvPr/>
        </p:nvSpPr>
        <p:spPr>
          <a:xfrm>
            <a:off x="57658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cycle-shape-11"/>
          <p:cNvSpPr/>
          <p:nvPr/>
        </p:nvSpPr>
        <p:spPr>
          <a:xfrm>
            <a:off x="62992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block3"/>
          <p:cNvSpPr/>
          <p:nvPr/>
        </p:nvSpPr>
        <p:spPr>
          <a:xfrm>
            <a:off x="65278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WED. PD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CUBS + CER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analyze the source and make their response structure visible.</a:t>
            </a:r>
            <a:endParaRPr lang="en-US" sz="1800" dirty="0"/>
          </a:p>
        </p:txBody>
      </p:sp>
      <p:sp>
        <p:nvSpPr>
          <p:cNvPr id="14" name="arrow3"/>
          <p:cNvSpPr/>
          <p:nvPr/>
        </p:nvSpPr>
        <p:spPr>
          <a:xfrm>
            <a:off x="86614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cycle-shape-14"/>
          <p:cNvSpPr/>
          <p:nvPr/>
        </p:nvSpPr>
        <p:spPr>
          <a:xfrm>
            <a:off x="9194800" y="2768600"/>
            <a:ext cx="2286000" cy="31115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6" name="block4"/>
          <p:cNvSpPr/>
          <p:nvPr/>
        </p:nvSpPr>
        <p:spPr>
          <a:xfrm>
            <a:off x="94234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Analyze writing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completed responses against the mastery bar and provide written feedback.</a:t>
            </a:r>
            <a:endParaRPr lang="en-US" sz="1800" dirty="0"/>
          </a:p>
        </p:txBody>
      </p:sp>
      <p:sp>
        <p:nvSpPr>
          <p:cNvPr id="17" name="arrow4"/>
          <p:cNvSpPr/>
          <p:nvPr/>
        </p:nvSpPr>
        <p:spPr>
          <a:xfrm>
            <a:off x="115570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8" name="cycle-shape-17"/>
          <p:cNvSpPr/>
          <p:nvPr/>
        </p:nvSpPr>
        <p:spPr>
          <a:xfrm>
            <a:off x="12090400" y="2768600"/>
            <a:ext cx="3657600" cy="31115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9" name="block5"/>
          <p:cNvSpPr/>
          <p:nvPr/>
        </p:nvSpPr>
        <p:spPr>
          <a:xfrm>
            <a:off x="12420600" y="3098800"/>
            <a:ext cx="29972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MASTERY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 precisely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one targeted student action, teacher move, and new evidence check.</a:t>
            </a:r>
            <a:endParaRPr lang="en-US" sz="1800" dirty="0"/>
          </a:p>
        </p:txBody>
      </p:sp>
      <p:sp>
        <p:nvSpPr>
          <p:cNvPr id="20" name="cycle-shape-19"/>
          <p:cNvSpPr/>
          <p:nvPr/>
        </p:nvSpPr>
        <p:spPr>
          <a:xfrm>
            <a:off x="508000" y="6731000"/>
            <a:ext cx="15240000" cy="11684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anchor"/>
          <p:cNvSpPr/>
          <p:nvPr/>
        </p:nvSpPr>
        <p:spPr>
          <a:xfrm>
            <a:off x="838200" y="6997700"/>
            <a:ext cx="1441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protocol: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use de-identified writing samples and the agreed task criteria. Describe what is visible in the work; do not compare people or create a broad reteach plan.</a:t>
            </a:r>
            <a:endParaRPr lang="en-US" sz="2100" dirty="0"/>
          </a:p>
        </p:txBody>
      </p:sp>
      <p:sp>
        <p:nvSpPr>
          <p:cNvPr id="22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23" name="cycle-shape-22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the Mastery Bar Before Reading the Work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3081000" y="3556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4:00–10:00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224000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what the standard and task required—not simply whether students completed every part. The shared model is Question 5 of the Biology benchmark; other teams use the equivalent demand in their own task.</a:t>
            </a:r>
            <a:endParaRPr lang="en-US" sz="2300" dirty="0"/>
          </a:p>
        </p:txBody>
      </p:sp>
      <p:sp>
        <p:nvSpPr>
          <p:cNvPr id="6" name="mastery-shape-5"/>
          <p:cNvSpPr/>
          <p:nvPr/>
        </p:nvSpPr>
        <p:spPr>
          <a:xfrm>
            <a:off x="508000" y="2857500"/>
            <a:ext cx="7112000" cy="3886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left-title"/>
          <p:cNvSpPr/>
          <p:nvPr/>
        </p:nvSpPr>
        <p:spPr>
          <a:xfrm>
            <a:off x="850900" y="3225800"/>
            <a:ext cx="6096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7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DEMAND</a:t>
            </a:r>
            <a:endParaRPr lang="en-US" sz="2700" dirty="0"/>
          </a:p>
        </p:txBody>
      </p:sp>
      <p:sp>
        <p:nvSpPr>
          <p:cNvPr id="8" name="left-body"/>
          <p:cNvSpPr/>
          <p:nvPr/>
        </p:nvSpPr>
        <p:spPr>
          <a:xfrm>
            <a:off x="850900" y="4064000"/>
            <a:ext cx="59690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HS-LS2-1: biotic/abiotic factors and carrying capacity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population graph and food web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how more frogs may change the fruit-fly population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a complete CER explanation</a:t>
            </a:r>
            <a:endParaRPr lang="en-US" sz="2200" dirty="0"/>
          </a:p>
        </p:txBody>
      </p:sp>
      <p:sp>
        <p:nvSpPr>
          <p:cNvPr id="9" name="mastery-shape-8"/>
          <p:cNvSpPr/>
          <p:nvPr/>
        </p:nvSpPr>
        <p:spPr>
          <a:xfrm>
            <a:off x="8128000" y="2857500"/>
            <a:ext cx="7620000" cy="38862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right-title"/>
          <p:cNvSpPr/>
          <p:nvPr/>
        </p:nvSpPr>
        <p:spPr>
          <a:xfrm>
            <a:off x="8470900" y="3225800"/>
            <a:ext cx="660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7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OF MASTERY</a:t>
            </a:r>
            <a:endParaRPr lang="en-US" sz="2700" dirty="0"/>
          </a:p>
        </p:txBody>
      </p:sp>
      <p:sp>
        <p:nvSpPr>
          <p:cNvPr id="11" name="right-body"/>
          <p:cNvSpPr/>
          <p:nvPr/>
        </p:nvSpPr>
        <p:spPr>
          <a:xfrm>
            <a:off x="8470900" y="4064000"/>
            <a:ext cx="63500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 claim/prediction about the population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Relevant evidence from both visuals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reasoning that connects predator-prey relationships and carrying capacity</a:t>
            </a:r>
            <a:endParaRPr lang="en-US" sz="2200" dirty="0"/>
          </a:p>
          <a:p>
            <a:pPr algn="l" marL="349250" indent="-349250">
              <a:lnSpc>
                <a:spcPts val="281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language that makes the logic visible</a:t>
            </a:r>
            <a:endParaRPr lang="en-US" sz="2200" dirty="0"/>
          </a:p>
        </p:txBody>
      </p:sp>
      <p:sp>
        <p:nvSpPr>
          <p:cNvPr id="12" name="mastery-shape-11"/>
          <p:cNvSpPr/>
          <p:nvPr/>
        </p:nvSpPr>
        <p:spPr>
          <a:xfrm>
            <a:off x="508000" y="7327900"/>
            <a:ext cx="15240000" cy="584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reminder"/>
          <p:cNvSpPr/>
          <p:nvPr/>
        </p:nvSpPr>
        <p:spPr>
          <a:xfrm>
            <a:off x="812800" y="7480300"/>
            <a:ext cx="1397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Reminder:</a:t>
            </a: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Use this agreed bar before reading the writing, annotating evidence, or deciding on feedback.</a:t>
            </a:r>
            <a:endParaRPr lang="en-US" sz="19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mastery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idenc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2065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Analyze Completed Student Writing Against the Bar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954000" y="3556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10:00–22:00  •  12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47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a small, representative, de-identified set of completed benchmark responses. Annotate what is visible in the writing before deciding what written feedback or next learning experience is needed.</a:t>
            </a:r>
            <a:endParaRPr lang="en-US" sz="2300" dirty="0"/>
          </a:p>
        </p:txBody>
      </p:sp>
      <p:sp>
        <p:nvSpPr>
          <p:cNvPr id="6" name="evidence-shape-5"/>
          <p:cNvSpPr/>
          <p:nvPr/>
        </p:nvSpPr>
        <p:spPr>
          <a:xfrm>
            <a:off x="508000" y="2730500"/>
            <a:ext cx="4699000" cy="38735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7" name="claim-title"/>
          <p:cNvSpPr/>
          <p:nvPr/>
        </p:nvSpPr>
        <p:spPr>
          <a:xfrm>
            <a:off x="850900" y="3098800"/>
            <a:ext cx="368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MARK WHAT IS VISIBLE</a:t>
            </a:r>
            <a:endParaRPr lang="en-US" sz="2400" dirty="0"/>
          </a:p>
        </p:txBody>
      </p:sp>
      <p:sp>
        <p:nvSpPr>
          <p:cNvPr id="8" name="claim-body"/>
          <p:cNvSpPr/>
          <p:nvPr/>
        </p:nvSpPr>
        <p:spPr>
          <a:xfrm>
            <a:off x="850900" y="4038600"/>
            <a:ext cx="3683000" cy="187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 or prediction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from the source/visuals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 that connects evidence and science idea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Language that makes the response clear</a:t>
            </a:r>
            <a:endParaRPr lang="en-US" sz="2100" dirty="0"/>
          </a:p>
        </p:txBody>
      </p:sp>
      <p:sp>
        <p:nvSpPr>
          <p:cNvPr id="9" name="evidence-shape-8"/>
          <p:cNvSpPr/>
          <p:nvPr/>
        </p:nvSpPr>
        <p:spPr>
          <a:xfrm>
            <a:off x="5778500" y="2730500"/>
            <a:ext cx="4699000" cy="3873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feedback-title"/>
          <p:cNvSpPr/>
          <p:nvPr/>
        </p:nvSpPr>
        <p:spPr>
          <a:xfrm>
            <a:off x="6121400" y="3098800"/>
            <a:ext cx="368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RECORD ONE NEED</a:t>
            </a:r>
            <a:endParaRPr lang="en-US" sz="2400" dirty="0"/>
          </a:p>
        </p:txBody>
      </p:sp>
      <p:sp>
        <p:nvSpPr>
          <p:cNvPr id="11" name="feedback-body"/>
          <p:cNvSpPr/>
          <p:nvPr/>
        </p:nvSpPr>
        <p:spPr>
          <a:xfrm>
            <a:off x="6121400" y="4038600"/>
            <a:ext cx="3683000" cy="187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partial, missing, or confused?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need science, source use, or written reasoning?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criterion will make the most difference now?</a:t>
            </a:r>
            <a:endParaRPr lang="en-US" sz="2100" dirty="0"/>
          </a:p>
        </p:txBody>
      </p:sp>
      <p:sp>
        <p:nvSpPr>
          <p:cNvPr id="12" name="evidence-shape-11"/>
          <p:cNvSpPr/>
          <p:nvPr/>
        </p:nvSpPr>
        <p:spPr>
          <a:xfrm>
            <a:off x="11049000" y="2730500"/>
            <a:ext cx="4699000" cy="38735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response-title"/>
          <p:cNvSpPr/>
          <p:nvPr/>
        </p:nvSpPr>
        <p:spPr>
          <a:xfrm>
            <a:off x="11391900" y="3098800"/>
            <a:ext cx="368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WRITE THE FEEDBACK</a:t>
            </a:r>
            <a:endParaRPr lang="en-US" sz="2400" dirty="0"/>
          </a:p>
        </p:txBody>
      </p:sp>
      <p:sp>
        <p:nvSpPr>
          <p:cNvPr id="14" name="response-body"/>
          <p:cNvSpPr/>
          <p:nvPr/>
        </p:nvSpPr>
        <p:spPr>
          <a:xfrm>
            <a:off x="11391900" y="4038600"/>
            <a:ext cx="3683000" cy="187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criterion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 back to the response or source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 a specific revision action</a:t>
            </a:r>
            <a:endParaRPr lang="en-US" sz="2100" dirty="0"/>
          </a:p>
          <a:p>
            <a:pPr algn="l" marL="333375" indent="-333375">
              <a:lnSpc>
                <a:spcPts val="2646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not provide the answer</a:t>
            </a:r>
            <a:endParaRPr lang="en-US" sz="2100" dirty="0"/>
          </a:p>
        </p:txBody>
      </p:sp>
      <p:sp>
        <p:nvSpPr>
          <p:cNvPr id="15" name="evidence-shape-14"/>
          <p:cNvSpPr/>
          <p:nvPr/>
        </p:nvSpPr>
        <p:spPr>
          <a:xfrm>
            <a:off x="508000" y="7200900"/>
            <a:ext cx="15240000" cy="711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evidence-note"/>
          <p:cNvSpPr/>
          <p:nvPr/>
        </p:nvSpPr>
        <p:spPr>
          <a:xfrm>
            <a:off x="812800" y="7391400"/>
            <a:ext cx="14097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Annotation note: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writing evidence → criterion → written feedback → student revision → information for the next mastery decision.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evidence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tter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811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Written Feedback and the Revision Action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22:00–30:00  •  8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224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evidence from the writing to select one criterion-based comment that will help students do more of the science thinking themselves.</a:t>
            </a:r>
            <a:endParaRPr lang="en-US" sz="2300" dirty="0"/>
          </a:p>
        </p:txBody>
      </p:sp>
      <p:sp>
        <p:nvSpPr>
          <p:cNvPr id="6" name="pattern-shape-5"/>
          <p:cNvSpPr/>
          <p:nvPr/>
        </p:nvSpPr>
        <p:spPr>
          <a:xfrm>
            <a:off x="508000" y="2730500"/>
            <a:ext cx="4699000" cy="3937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look-title"/>
          <p:cNvSpPr/>
          <p:nvPr/>
        </p:nvSpPr>
        <p:spPr>
          <a:xfrm>
            <a:off x="838200" y="3073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DESCRIBE THE PATTERN</a:t>
            </a:r>
            <a:endParaRPr lang="en-US" sz="2400" dirty="0"/>
          </a:p>
        </p:txBody>
      </p:sp>
      <p:sp>
        <p:nvSpPr>
          <p:cNvPr id="8" name="look-body"/>
          <p:cNvSpPr/>
          <p:nvPr/>
        </p:nvSpPr>
        <p:spPr>
          <a:xfrm>
            <a:off x="838200" y="3860800"/>
            <a:ext cx="38100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7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evidence language:</a:t>
            </a:r>
            <a:endParaRPr lang="en-US" sz="2100" dirty="0"/>
          </a:p>
          <a:p>
            <a:pPr algn="l" indent="0" marL="0">
              <a:lnSpc>
                <a:spcPts val="2667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“The writing shows students can ___, and many still need to ___ so they can ___.”</a:t>
            </a:r>
            <a:endParaRPr lang="en-US" sz="2100" dirty="0"/>
          </a:p>
        </p:txBody>
      </p:sp>
      <p:sp>
        <p:nvSpPr>
          <p:cNvPr id="9" name="pattern-shape-8"/>
          <p:cNvSpPr/>
          <p:nvPr/>
        </p:nvSpPr>
        <p:spPr>
          <a:xfrm>
            <a:off x="5778500" y="2730500"/>
            <a:ext cx="4699000" cy="3937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describe-title"/>
          <p:cNvSpPr/>
          <p:nvPr/>
        </p:nvSpPr>
        <p:spPr>
          <a:xfrm>
            <a:off x="6108700" y="3073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WRITE ONE COMMENT</a:t>
            </a:r>
            <a:endParaRPr lang="en-US" sz="2400" dirty="0"/>
          </a:p>
        </p:txBody>
      </p:sp>
      <p:sp>
        <p:nvSpPr>
          <p:cNvPr id="11" name="describe-body"/>
          <p:cNvSpPr/>
          <p:nvPr/>
        </p:nvSpPr>
        <p:spPr>
          <a:xfrm>
            <a:off x="6108700" y="3860800"/>
            <a:ext cx="38100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7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example:</a:t>
            </a:r>
            <a:endParaRPr lang="en-US" sz="2100" dirty="0"/>
          </a:p>
          <a:p>
            <a:pPr algn="l" indent="0" marL="0">
              <a:lnSpc>
                <a:spcPts val="2667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“Underline the food-web and graph evidence you used. Then revise your reasoning to explain how it supports your prediction.”</a:t>
            </a:r>
            <a:endParaRPr lang="en-US" sz="2100" dirty="0"/>
          </a:p>
        </p:txBody>
      </p:sp>
      <p:sp>
        <p:nvSpPr>
          <p:cNvPr id="12" name="pattern-shape-11"/>
          <p:cNvSpPr/>
          <p:nvPr/>
        </p:nvSpPr>
        <p:spPr>
          <a:xfrm>
            <a:off x="11049000" y="2730500"/>
            <a:ext cx="4699000" cy="3937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act-title"/>
          <p:cNvSpPr/>
          <p:nvPr/>
        </p:nvSpPr>
        <p:spPr>
          <a:xfrm>
            <a:off x="11379200" y="3073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NAME THE REVISION</a:t>
            </a:r>
            <a:endParaRPr lang="en-US" sz="2400" dirty="0"/>
          </a:p>
        </p:txBody>
      </p:sp>
      <p:sp>
        <p:nvSpPr>
          <p:cNvPr id="14" name="act-body"/>
          <p:cNvSpPr/>
          <p:nvPr/>
        </p:nvSpPr>
        <p:spPr>
          <a:xfrm>
            <a:off x="11379200" y="3860800"/>
            <a:ext cx="38100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7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will:</a:t>
            </a:r>
            <a:endParaRPr lang="en-US" sz="2100" dirty="0"/>
          </a:p>
          <a:p>
            <a:pPr algn="l" indent="0" marL="0">
              <a:lnSpc>
                <a:spcPts val="2667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or correct evidence, add a claim, explain a connection, revise reasoning, or clarify scientific vocabulary.</a:t>
            </a:r>
            <a:endParaRPr lang="en-US" sz="2100" dirty="0"/>
          </a:p>
        </p:txBody>
      </p:sp>
      <p:sp>
        <p:nvSpPr>
          <p:cNvPr id="15" name="pattern-shape-14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pattern-decision"/>
          <p:cNvSpPr/>
          <p:nvPr/>
        </p:nvSpPr>
        <p:spPr>
          <a:xfrm>
            <a:off x="812800" y="7416800"/>
            <a:ext cx="1422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check: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Does the comment name a criterion, invite a student action, and preserve responsibility for the explanation?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8" name="pattern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xt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a Narrow Next Step for Standard Mastery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30:00–41:00  •  11 MIN</a:t>
            </a:r>
            <a:endParaRPr lang="en-US" sz="1600" dirty="0"/>
          </a:p>
        </p:txBody>
      </p:sp>
      <p:sp>
        <p:nvSpPr>
          <p:cNvPr id="5" name="next-shape-4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work-label"/>
          <p:cNvSpPr/>
          <p:nvPr/>
        </p:nvSpPr>
        <p:spPr>
          <a:xfrm>
            <a:off x="838200" y="2222500"/>
            <a:ext cx="3149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7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700" dirty="0"/>
          </a:p>
        </p:txBody>
      </p:sp>
      <p:sp>
        <p:nvSpPr>
          <p:cNvPr id="7" name="work-time"/>
          <p:cNvSpPr/>
          <p:nvPr/>
        </p:nvSpPr>
        <p:spPr>
          <a:xfrm>
            <a:off x="838200" y="3048000"/>
            <a:ext cx="31496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6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min</a:t>
            </a:r>
            <a:endParaRPr lang="en-US" sz="6400" dirty="0"/>
          </a:p>
        </p:txBody>
      </p:sp>
      <p:sp>
        <p:nvSpPr>
          <p:cNvPr id="8" name="next-shape-7"/>
          <p:cNvSpPr/>
          <p:nvPr/>
        </p:nvSpPr>
        <p:spPr>
          <a:xfrm>
            <a:off x="1054100" y="4889500"/>
            <a:ext cx="27178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work-directions"/>
          <p:cNvSpPr/>
          <p:nvPr/>
        </p:nvSpPr>
        <p:spPr>
          <a:xfrm>
            <a:off x="838200" y="5308600"/>
            <a:ext cx="31496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independently first. Then test whether the action directly responds to the writing evidence and advances the standard.</a:t>
            </a:r>
            <a:endParaRPr lang="en-US" sz="2000" dirty="0"/>
          </a:p>
        </p:txBody>
      </p:sp>
      <p:sp>
        <p:nvSpPr>
          <p:cNvPr id="10" name="next-shape-9"/>
          <p:cNvSpPr/>
          <p:nvPr/>
        </p:nvSpPr>
        <p:spPr>
          <a:xfrm>
            <a:off x="4902200" y="1574800"/>
            <a:ext cx="10845800" cy="12573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plan1"/>
          <p:cNvSpPr/>
          <p:nvPr/>
        </p:nvSpPr>
        <p:spPr>
          <a:xfrm>
            <a:off x="5257800" y="1854200"/>
            <a:ext cx="965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Choose the student action.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Revise a reasoning sentence, select stronger evidence, compare a model response, clarify vocabulary, or explain a relationship.</a:t>
            </a:r>
            <a:endParaRPr lang="en-US" sz="2100" dirty="0"/>
          </a:p>
        </p:txBody>
      </p:sp>
      <p:sp>
        <p:nvSpPr>
          <p:cNvPr id="12" name="next-shape-11"/>
          <p:cNvSpPr/>
          <p:nvPr/>
        </p:nvSpPr>
        <p:spPr>
          <a:xfrm>
            <a:off x="4902200" y="3111500"/>
            <a:ext cx="10845800" cy="12573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plan2"/>
          <p:cNvSpPr/>
          <p:nvPr/>
        </p:nvSpPr>
        <p:spPr>
          <a:xfrm>
            <a:off x="5257800" y="3390900"/>
            <a:ext cx="965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Choose the teacher move.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written feedback prompt, short conference, focused re-read, annotated model comparison, or next task that keeps the science thinking rigorous.</a:t>
            </a:r>
            <a:endParaRPr lang="en-US" sz="2100" dirty="0"/>
          </a:p>
        </p:txBody>
      </p:sp>
      <p:sp>
        <p:nvSpPr>
          <p:cNvPr id="14" name="next-shape-13"/>
          <p:cNvSpPr/>
          <p:nvPr/>
        </p:nvSpPr>
        <p:spPr>
          <a:xfrm>
            <a:off x="4902200" y="4648200"/>
            <a:ext cx="10845800" cy="12573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plan3"/>
          <p:cNvSpPr/>
          <p:nvPr/>
        </p:nvSpPr>
        <p:spPr>
          <a:xfrm>
            <a:off x="5257800" y="4927600"/>
            <a:ext cx="965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Plan the evidence check.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Identify the brief revision, explanation, exit response, model, or data analysis that will show whether students strengthened the criterion.</a:t>
            </a:r>
            <a:endParaRPr lang="en-US" sz="2100" dirty="0"/>
          </a:p>
        </p:txBody>
      </p:sp>
      <p:sp>
        <p:nvSpPr>
          <p:cNvPr id="16" name="next-shape-15"/>
          <p:cNvSpPr/>
          <p:nvPr/>
        </p:nvSpPr>
        <p:spPr>
          <a:xfrm>
            <a:off x="4902200" y="6184900"/>
            <a:ext cx="10845800" cy="10033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7" name="plan4"/>
          <p:cNvSpPr/>
          <p:nvPr/>
        </p:nvSpPr>
        <p:spPr>
          <a:xfrm>
            <a:off x="5257800" y="6451600"/>
            <a:ext cx="9652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Mastery next step: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“Students will ______ using ______ so they can demonstrate ______; evidence will be ______.”</a:t>
            </a:r>
            <a:endParaRPr lang="en-US" sz="2000" dirty="0"/>
          </a:p>
        </p:txBody>
      </p:sp>
      <p:sp>
        <p:nvSpPr>
          <p:cNvPr id="18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9" name="next-shape-1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kicker"/>
          <p:cNvSpPr/>
          <p:nvPr/>
        </p:nvSpPr>
        <p:spPr>
          <a:xfrm>
            <a:off x="736600" y="342900"/>
            <a:ext cx="1143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THE EVIDENCE CYCLE  •  41:00–46:00  •  5 MIN</a:t>
            </a:r>
            <a:endParaRPr lang="en-US" sz="1600" dirty="0"/>
          </a:p>
        </p:txBody>
      </p:sp>
      <p:sp>
        <p:nvSpPr>
          <p:cNvPr id="4" name="title"/>
          <p:cNvSpPr/>
          <p:nvPr/>
        </p:nvSpPr>
        <p:spPr>
          <a:xfrm>
            <a:off x="736600" y="1689100"/>
            <a:ext cx="13081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3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learning visible: feedback, revision, and the next evidence check.</a:t>
            </a:r>
            <a:endParaRPr lang="en-US" sz="4300" dirty="0"/>
          </a:p>
        </p:txBody>
      </p:sp>
      <p:sp>
        <p:nvSpPr>
          <p:cNvPr id="5" name="close-shape-4"/>
          <p:cNvSpPr/>
          <p:nvPr/>
        </p:nvSpPr>
        <p:spPr>
          <a:xfrm>
            <a:off x="736600" y="3136900"/>
            <a:ext cx="14706600" cy="3505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close-shape-5"/>
          <p:cNvSpPr/>
          <p:nvPr/>
        </p:nvSpPr>
        <p:spPr>
          <a:xfrm>
            <a:off x="1092200" y="3543300"/>
            <a:ext cx="4292600" cy="2324100"/>
          </a:xfrm>
          <a:prstGeom prst="rect">
            <a:avLst/>
          </a:prstGeom>
          <a:solidFill>
            <a:srgbClr val="FCE8EA"/>
          </a:solidFill>
          <a:ln w="12700">
            <a:solidFill>
              <a:srgbClr val="C41220"/>
            </a:solidFill>
            <a:prstDash val="solid"/>
          </a:ln>
        </p:spPr>
      </p:sp>
      <p:sp>
        <p:nvSpPr>
          <p:cNvPr id="7" name="close-shape-6"/>
          <p:cNvSpPr/>
          <p:nvPr/>
        </p:nvSpPr>
        <p:spPr>
          <a:xfrm>
            <a:off x="5981700" y="3543300"/>
            <a:ext cx="4292600" cy="232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close-shape-7"/>
          <p:cNvSpPr/>
          <p:nvPr/>
        </p:nvSpPr>
        <p:spPr>
          <a:xfrm>
            <a:off x="10871200" y="3543300"/>
            <a:ext cx="4216400" cy="232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collect"/>
          <p:cNvSpPr/>
          <p:nvPr/>
        </p:nvSpPr>
        <p:spPr>
          <a:xfrm>
            <a:off x="1346200" y="3835400"/>
            <a:ext cx="3784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written feedback tied to one criterion and allow a meaningful revision action.</a:t>
            </a:r>
            <a:endParaRPr lang="en-US" sz="2000" dirty="0"/>
          </a:p>
        </p:txBody>
      </p:sp>
      <p:sp>
        <p:nvSpPr>
          <p:cNvPr id="10" name="look"/>
          <p:cNvSpPr/>
          <p:nvPr/>
        </p:nvSpPr>
        <p:spPr>
          <a:xfrm>
            <a:off x="6235700" y="3835400"/>
            <a:ext cx="3784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 FOR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that students strengthened the claim, evidence use, reasoning, or science language.</a:t>
            </a:r>
            <a:endParaRPr lang="en-US" sz="2000" dirty="0"/>
          </a:p>
        </p:txBody>
      </p:sp>
      <p:sp>
        <p:nvSpPr>
          <p:cNvPr id="11" name="revisit"/>
          <p:cNvSpPr/>
          <p:nvPr/>
        </p:nvSpPr>
        <p:spPr>
          <a:xfrm>
            <a:off x="11125200" y="3835400"/>
            <a:ext cx="37084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REVISIT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new evidence to decide the next narrow learning step for standard mastery.</a:t>
            </a:r>
            <a:endParaRPr lang="en-US" sz="2000" dirty="0"/>
          </a:p>
        </p:txBody>
      </p:sp>
      <p:sp>
        <p:nvSpPr>
          <p:cNvPr id="12" name="bottom"/>
          <p:cNvSpPr/>
          <p:nvPr/>
        </p:nvSpPr>
        <p:spPr>
          <a:xfrm>
            <a:off x="736600" y="7289800"/>
            <a:ext cx="1419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the week: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experience the task → plan instruction → teach CUBS/CER → read writing → feedback + revision → next mastery move.</a:t>
            </a:r>
            <a:endParaRPr lang="en-US" sz="22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14" name="close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Friday, October 30 PLC — Evidence to Next Learning Experience</dc:title>
  <dc:subject>Friday, October 30 PLC — Evidence to Next Learning Experience</dc:subject>
  <dc:creator>Manus</dc:creator>
  <cp:lastModifiedBy>Manus</cp:lastModifiedBy>
  <cp:revision>1</cp:revision>
  <dcterms:created xsi:type="dcterms:W3CDTF">2026-10-23T18:09:28Z</dcterms:created>
  <dcterms:modified xsi:type="dcterms:W3CDTF">2026-10-23T18:09:28Z</dcterms:modified>
</cp:coreProperties>
</file>
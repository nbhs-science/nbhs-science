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6256000" cy="9144000"/>
  <p:notesSz cx="9144000" cy="16256000"/>
  <p:embeddedFontLst>
    <p:embeddedFont>
      <p:font typeface="Inter" charset="-122" pitchFamily="34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889000" y="1168400"/>
            <a:ext cx="1905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889000" y="1600200"/>
            <a:ext cx="1206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FRIDAY, OCTOBER 30, 2026  •  46 MINUTES</a:t>
            </a:r>
            <a:endParaRPr lang="en-US" sz="1700" dirty="0"/>
          </a:p>
        </p:txBody>
      </p:sp>
      <p:sp>
        <p:nvSpPr>
          <p:cNvPr id="5" name="cover-title"/>
          <p:cNvSpPr/>
          <p:nvPr/>
        </p:nvSpPr>
        <p:spPr>
          <a:xfrm>
            <a:off x="889000" y="2387600"/>
            <a:ext cx="13335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Samples + Unit-Test Evidence</a:t>
            </a:r>
            <a:endParaRPr lang="en-US" sz="4500" dirty="0"/>
          </a:p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A Better Next Learning Experience</a:t>
            </a:r>
            <a:endParaRPr lang="en-US" sz="4500" dirty="0"/>
          </a:p>
        </p:txBody>
      </p:sp>
      <p:sp>
        <p:nvSpPr>
          <p:cNvPr id="6" name="cover-shape-5"/>
          <p:cNvSpPr/>
          <p:nvPr/>
        </p:nvSpPr>
        <p:spPr>
          <a:xfrm>
            <a:off x="889000" y="4597400"/>
            <a:ext cx="12954000" cy="9144"/>
          </a:xfrm>
          <a:prstGeom prst="line">
            <a:avLst/>
          </a:prstGeom>
          <a:ln w="12700">
            <a:solidFill>
              <a:srgbClr val="72777D"/>
            </a:solidFill>
            <a:prstDash val="solid"/>
          </a:ln>
        </p:spPr>
      </p:sp>
      <p:sp>
        <p:nvSpPr>
          <p:cNvPr id="7" name="subtitle"/>
          <p:cNvSpPr/>
          <p:nvPr/>
        </p:nvSpPr>
        <p:spPr>
          <a:xfrm>
            <a:off x="889000" y="5016500"/>
            <a:ext cx="10668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altLang="en-US" sz="25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Examine a small amount of evidence from the same writing benchmark and use a supported learning pattern to adjust the next lesson.</a:t>
            </a:r>
            <a:endParaRPr lang="en-US" sz="2500" dirty="0"/>
          </a:p>
        </p:txBody>
      </p:sp>
      <p:sp>
        <p:nvSpPr>
          <p:cNvPr id="8" name="cover-shape-7"/>
          <p:cNvSpPr/>
          <p:nvPr/>
        </p:nvSpPr>
        <p:spPr>
          <a:xfrm>
            <a:off x="11912600" y="5308600"/>
            <a:ext cx="3098800" cy="17272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9" name="focus-label"/>
          <p:cNvSpPr/>
          <p:nvPr/>
        </p:nvSpPr>
        <p:spPr>
          <a:xfrm>
            <a:off x="12166600" y="5588000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TO PROTECT</a:t>
            </a:r>
            <a:endParaRPr lang="en-US" sz="1300" dirty="0"/>
          </a:p>
        </p:txBody>
      </p:sp>
      <p:sp>
        <p:nvSpPr>
          <p:cNvPr id="10" name="focus-copy"/>
          <p:cNvSpPr/>
          <p:nvPr/>
        </p:nvSpPr>
        <p:spPr>
          <a:xfrm>
            <a:off x="12141200" y="5969000"/>
            <a:ext cx="264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72"/>
              </a:lnSpc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a learning pattern—not a score, label, or ranking.</a:t>
            </a:r>
            <a:endParaRPr lang="en-US" sz="1700" dirty="0"/>
          </a:p>
        </p:txBody>
      </p:sp>
      <p:sp>
        <p:nvSpPr>
          <p:cNvPr id="11" name="footer"/>
          <p:cNvSpPr/>
          <p:nvPr/>
        </p:nvSpPr>
        <p:spPr>
          <a:xfrm>
            <a:off x="889000" y="7493000"/>
            <a:ext cx="1270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3–5 and after-lesson reflection.</a:t>
            </a:r>
            <a:endParaRPr lang="en-US" sz="2200" dirty="0"/>
          </a:p>
        </p:txBody>
      </p:sp>
      <p:sp>
        <p:nvSpPr>
          <p:cNvPr id="12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cover-shape-1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to the Evidence Story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0:00–4:00  •  4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35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 completes the week by using the evidence teachers intentionally planned to collect. The goal is an instructional adjustment, not a new or broader plan.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block1"/>
          <p:cNvSpPr/>
          <p:nvPr/>
        </p:nvSpPr>
        <p:spPr>
          <a:xfrm>
            <a:off x="7366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Internalize benchmark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Task, bar, source, anticipated thinking.</a:t>
            </a:r>
            <a:endParaRPr lang="en-US" sz="1800" dirty="0"/>
          </a:p>
        </p:txBody>
      </p:sp>
      <p:sp>
        <p:nvSpPr>
          <p:cNvPr id="8" name="arrow1"/>
          <p:cNvSpPr/>
          <p:nvPr/>
        </p:nvSpPr>
        <p:spPr>
          <a:xfrm>
            <a:off x="28702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9" name="cycle-shape-8"/>
          <p:cNvSpPr/>
          <p:nvPr/>
        </p:nvSpPr>
        <p:spPr>
          <a:xfrm>
            <a:off x="34036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block2"/>
          <p:cNvSpPr/>
          <p:nvPr/>
        </p:nvSpPr>
        <p:spPr>
          <a:xfrm>
            <a:off x="36322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student action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Criterion, feedback, action, evidence look-for.</a:t>
            </a:r>
            <a:endParaRPr lang="en-US" sz="1800" dirty="0"/>
          </a:p>
        </p:txBody>
      </p:sp>
      <p:sp>
        <p:nvSpPr>
          <p:cNvPr id="11" name="arrow2"/>
          <p:cNvSpPr/>
          <p:nvPr/>
        </p:nvSpPr>
        <p:spPr>
          <a:xfrm>
            <a:off x="57658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cycle-shape-11"/>
          <p:cNvSpPr/>
          <p:nvPr/>
        </p:nvSpPr>
        <p:spPr>
          <a:xfrm>
            <a:off x="62992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block3"/>
          <p:cNvSpPr/>
          <p:nvPr/>
        </p:nvSpPr>
        <p:spPr>
          <a:xfrm>
            <a:off x="65278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WED. PD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Task, criteria, samples, feedback, revision.</a:t>
            </a:r>
            <a:endParaRPr lang="en-US" sz="1800" dirty="0"/>
          </a:p>
        </p:txBody>
      </p:sp>
      <p:sp>
        <p:nvSpPr>
          <p:cNvPr id="14" name="arrow3"/>
          <p:cNvSpPr/>
          <p:nvPr/>
        </p:nvSpPr>
        <p:spPr>
          <a:xfrm>
            <a:off x="86614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cycle-shape-14"/>
          <p:cNvSpPr/>
          <p:nvPr/>
        </p:nvSpPr>
        <p:spPr>
          <a:xfrm>
            <a:off x="9194800" y="2768600"/>
            <a:ext cx="2286000" cy="3111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6" name="block4"/>
          <p:cNvSpPr/>
          <p:nvPr/>
        </p:nvSpPr>
        <p:spPr>
          <a:xfrm>
            <a:off x="94234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Triangulate evidence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samples + unit-test evidence where available.</a:t>
            </a:r>
            <a:endParaRPr lang="en-US" sz="1800" dirty="0"/>
          </a:p>
        </p:txBody>
      </p:sp>
      <p:sp>
        <p:nvSpPr>
          <p:cNvPr id="17" name="arrow4"/>
          <p:cNvSpPr/>
          <p:nvPr/>
        </p:nvSpPr>
        <p:spPr>
          <a:xfrm>
            <a:off x="115570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cycle-shape-17"/>
          <p:cNvSpPr/>
          <p:nvPr/>
        </p:nvSpPr>
        <p:spPr>
          <a:xfrm>
            <a:off x="12090400" y="2768600"/>
            <a:ext cx="3657600" cy="31115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9" name="block5"/>
          <p:cNvSpPr/>
          <p:nvPr/>
        </p:nvSpPr>
        <p:spPr>
          <a:xfrm>
            <a:off x="12420600" y="3098800"/>
            <a:ext cx="29972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EXPERIENCE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 to the learning pattern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action, teacher support, and next evidence check.</a:t>
            </a:r>
            <a:endParaRPr lang="en-US" sz="1800" dirty="0"/>
          </a:p>
        </p:txBody>
      </p:sp>
      <p:sp>
        <p:nvSpPr>
          <p:cNvPr id="20" name="cycle-shape-19"/>
          <p:cNvSpPr/>
          <p:nvPr/>
        </p:nvSpPr>
        <p:spPr>
          <a:xfrm>
            <a:off x="508000" y="6731000"/>
            <a:ext cx="15240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1" name="anchor"/>
          <p:cNvSpPr/>
          <p:nvPr/>
        </p:nvSpPr>
        <p:spPr>
          <a:xfrm>
            <a:off x="838200" y="6997700"/>
            <a:ext cx="1441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writing benchmark + student response + contextual unit-test evidence → supported pattern → targeted next learning experience.</a:t>
            </a:r>
            <a:endParaRPr lang="en-US" sz="2100" dirty="0"/>
          </a:p>
        </p:txBody>
      </p:sp>
      <p:sp>
        <p:nvSpPr>
          <p:cNvPr id="22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3" name="cycle-shape-2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the Agreed Bar for Mastery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4:00–9:00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interpreting the evidence, restate what students were learning, what they produced, and what the benchmark task required them to make visible.</a:t>
            </a:r>
            <a:endParaRPr lang="en-US" sz="2300" dirty="0"/>
          </a:p>
        </p:txBody>
      </p:sp>
      <p:sp>
        <p:nvSpPr>
          <p:cNvPr id="6" name="mastery-shape-5"/>
          <p:cNvSpPr/>
          <p:nvPr/>
        </p:nvSpPr>
        <p:spPr>
          <a:xfrm>
            <a:off x="508000" y="2857500"/>
            <a:ext cx="7112000" cy="3886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50900" y="3225800"/>
            <a:ext cx="6096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LEARNING DEMAND</a:t>
            </a:r>
            <a:endParaRPr lang="en-US" sz="2700" dirty="0"/>
          </a:p>
        </p:txBody>
      </p:sp>
      <p:sp>
        <p:nvSpPr>
          <p:cNvPr id="8" name="left-body"/>
          <p:cNvSpPr/>
          <p:nvPr/>
        </p:nvSpPr>
        <p:spPr>
          <a:xfrm>
            <a:off x="850900" y="4064000"/>
            <a:ext cx="5969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standard and science skill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Disciplinary literacy demand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prompt, source/evidence, and product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work matters in the unit arc</a:t>
            </a:r>
            <a:endParaRPr lang="en-US" sz="2200" dirty="0"/>
          </a:p>
        </p:txBody>
      </p:sp>
      <p:sp>
        <p:nvSpPr>
          <p:cNvPr id="9" name="mastery-shape-8"/>
          <p:cNvSpPr/>
          <p:nvPr/>
        </p:nvSpPr>
        <p:spPr>
          <a:xfrm>
            <a:off x="8128000" y="2857500"/>
            <a:ext cx="7620000" cy="38862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470900" y="3225800"/>
            <a:ext cx="660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EVIDENCE OF MASTERY</a:t>
            </a:r>
            <a:endParaRPr lang="en-US" sz="2700" dirty="0"/>
          </a:p>
        </p:txBody>
      </p:sp>
      <p:sp>
        <p:nvSpPr>
          <p:cNvPr id="11" name="right-body"/>
          <p:cNvSpPr/>
          <p:nvPr/>
        </p:nvSpPr>
        <p:spPr>
          <a:xfrm>
            <a:off x="8470900" y="4064000"/>
            <a:ext cx="6350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 claim, explanation, or conclusion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Relevant evidence selected and used precisely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reasoning that connects evidence and idea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language, labels, or representation</a:t>
            </a:r>
            <a:endParaRPr lang="en-US" sz="2200" dirty="0"/>
          </a:p>
        </p:txBody>
      </p:sp>
      <p:sp>
        <p:nvSpPr>
          <p:cNvPr id="12" name="mastery-shape-11"/>
          <p:cNvSpPr/>
          <p:nvPr/>
        </p:nvSpPr>
        <p:spPr>
          <a:xfrm>
            <a:off x="508000" y="7327900"/>
            <a:ext cx="15240000" cy="584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eminder"/>
          <p:cNvSpPr/>
          <p:nvPr/>
        </p:nvSpPr>
        <p:spPr>
          <a:xfrm>
            <a:off x="812800" y="7480300"/>
            <a:ext cx="1397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Reminder: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this agreed bar before discussing what evidence suggests students need next.</a:t>
            </a:r>
            <a:endParaRPr lang="en-US" sz="19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master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idenc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Triangulate What the Evidence Shows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954000" y="3556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9:00–19:00  •  10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47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a few de-identified writing samples from the benchmark. Add unit-test-by-standard/question evidence only when available to provide context—not to rank students, teachers, or courses.</a:t>
            </a:r>
            <a:endParaRPr lang="en-US" sz="2300" dirty="0"/>
          </a:p>
        </p:txBody>
      </p:sp>
      <p:sp>
        <p:nvSpPr>
          <p:cNvPr id="6" name="evidence-shape-5"/>
          <p:cNvSpPr/>
          <p:nvPr/>
        </p:nvSpPr>
        <p:spPr>
          <a:xfrm>
            <a:off x="508000" y="2730500"/>
            <a:ext cx="6959600" cy="38735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7" name="evidence-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900" y="3073400"/>
            <a:ext cx="533400" cy="533400"/>
          </a:xfrm>
          <a:prstGeom prst="rect">
            <a:avLst/>
          </a:prstGeom>
        </p:spPr>
      </p:pic>
      <p:sp>
        <p:nvSpPr>
          <p:cNvPr id="8" name="writing-title"/>
          <p:cNvSpPr/>
          <p:nvPr/>
        </p:nvSpPr>
        <p:spPr>
          <a:xfrm>
            <a:off x="1676400" y="31369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1: WRITING SAMPLES</a:t>
            </a:r>
            <a:endParaRPr lang="en-US" sz="2500" dirty="0"/>
          </a:p>
        </p:txBody>
      </p:sp>
      <p:sp>
        <p:nvSpPr>
          <p:cNvPr id="9" name="writing-body"/>
          <p:cNvSpPr/>
          <p:nvPr/>
        </p:nvSpPr>
        <p:spPr>
          <a:xfrm>
            <a:off x="850900" y="4064000"/>
            <a:ext cx="5842000" cy="186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same criteria from Monday–Wednesday.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accurate evidence, partial reasoning, or an access need.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what the work shows, not who produced it.</a:t>
            </a:r>
            <a:endParaRPr lang="en-US" sz="2100" dirty="0"/>
          </a:p>
        </p:txBody>
      </p:sp>
      <p:sp>
        <p:nvSpPr>
          <p:cNvPr id="10" name="evidence-shape-9"/>
          <p:cNvSpPr/>
          <p:nvPr/>
        </p:nvSpPr>
        <p:spPr>
          <a:xfrm>
            <a:off x="8280400" y="2730500"/>
            <a:ext cx="7467600" cy="3873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pic>
        <p:nvPicPr>
          <p:cNvPr id="11" name="evidence-icon-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0" y="3073400"/>
            <a:ext cx="533400" cy="533400"/>
          </a:xfrm>
          <a:prstGeom prst="rect">
            <a:avLst/>
          </a:prstGeom>
        </p:spPr>
      </p:pic>
      <p:sp>
        <p:nvSpPr>
          <p:cNvPr id="12" name="unit-title"/>
          <p:cNvSpPr/>
          <p:nvPr/>
        </p:nvSpPr>
        <p:spPr>
          <a:xfrm>
            <a:off x="9461500" y="3136900"/>
            <a:ext cx="546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2: UNIT-TEST CONTEXT</a:t>
            </a:r>
            <a:endParaRPr lang="en-US" sz="2500" dirty="0"/>
          </a:p>
        </p:txBody>
      </p:sp>
      <p:sp>
        <p:nvSpPr>
          <p:cNvPr id="13" name="unit-body"/>
          <p:cNvSpPr/>
          <p:nvPr/>
        </p:nvSpPr>
        <p:spPr>
          <a:xfrm>
            <a:off x="8636000" y="4064000"/>
            <a:ext cx="6286500" cy="186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by standard or question when available.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whether the pattern supports, complicates, or redirects the writing evidence.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results to clarify an instructional question—not as a ranking.</a:t>
            </a:r>
            <a:endParaRPr lang="en-US" sz="2100" dirty="0"/>
          </a:p>
        </p:txBody>
      </p:sp>
      <p:sp>
        <p:nvSpPr>
          <p:cNvPr id="14" name="evidence-shape-13"/>
          <p:cNvSpPr/>
          <p:nvPr/>
        </p:nvSpPr>
        <p:spPr>
          <a:xfrm>
            <a:off x="508000" y="7200900"/>
            <a:ext cx="15240000" cy="711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evidence-note"/>
          <p:cNvSpPr/>
          <p:nvPr/>
        </p:nvSpPr>
        <p:spPr>
          <a:xfrm>
            <a:off x="812800" y="7391400"/>
            <a:ext cx="14097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statement: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“The writing samples show ___; the available unit-test evidence suggests ___; therefore we will investigate ___ in the next lesson.”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evidenc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ter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One Supported Learning Pattern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19:00–31:00  •  12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available evidence to name one pattern that matters for the next learning experience. Stay close to the task, criterion, and student thinking.</a:t>
            </a:r>
            <a:endParaRPr lang="en-US" sz="2300" dirty="0"/>
          </a:p>
        </p:txBody>
      </p:sp>
      <p:sp>
        <p:nvSpPr>
          <p:cNvPr id="6" name="pattern-shape-5"/>
          <p:cNvSpPr/>
          <p:nvPr/>
        </p:nvSpPr>
        <p:spPr>
          <a:xfrm>
            <a:off x="508000" y="2730500"/>
            <a:ext cx="4699000" cy="3937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ook-title"/>
          <p:cNvSpPr/>
          <p:nvPr/>
        </p:nvSpPr>
        <p:spPr>
          <a:xfrm>
            <a:off x="838200" y="307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NOTICE</a:t>
            </a:r>
            <a:endParaRPr lang="en-US" sz="2400" dirty="0"/>
          </a:p>
        </p:txBody>
      </p:sp>
      <p:sp>
        <p:nvSpPr>
          <p:cNvPr id="8" name="look-body"/>
          <p:cNvSpPr/>
          <p:nvPr/>
        </p:nvSpPr>
        <p:spPr>
          <a:xfrm>
            <a:off x="838200" y="3860800"/>
            <a:ext cx="3810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67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visible in the writing samples?</a:t>
            </a:r>
            <a:endParaRPr lang="en-US" sz="2100" dirty="0"/>
          </a:p>
          <a:p>
            <a:pPr algn="l" marL="333375" indent="-333375">
              <a:lnSpc>
                <a:spcPts val="2667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criterion is most consistently partial or absent?</a:t>
            </a:r>
            <a:endParaRPr lang="en-US" sz="2100" dirty="0"/>
          </a:p>
          <a:p>
            <a:pPr algn="l" marL="333375" indent="-333375">
              <a:lnSpc>
                <a:spcPts val="2667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unit-test context reinforce or complicate this observation?</a:t>
            </a:r>
            <a:endParaRPr lang="en-US" sz="2100" dirty="0"/>
          </a:p>
        </p:txBody>
      </p:sp>
      <p:sp>
        <p:nvSpPr>
          <p:cNvPr id="9" name="pattern-shape-8"/>
          <p:cNvSpPr/>
          <p:nvPr/>
        </p:nvSpPr>
        <p:spPr>
          <a:xfrm>
            <a:off x="5778500" y="2730500"/>
            <a:ext cx="4699000" cy="3937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describe-title"/>
          <p:cNvSpPr/>
          <p:nvPr/>
        </p:nvSpPr>
        <p:spPr>
          <a:xfrm>
            <a:off x="6108700" y="307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DESCRIBE</a:t>
            </a:r>
            <a:endParaRPr lang="en-US" sz="2400" dirty="0"/>
          </a:p>
        </p:txBody>
      </p:sp>
      <p:sp>
        <p:nvSpPr>
          <p:cNvPr id="11" name="describe-body"/>
          <p:cNvSpPr/>
          <p:nvPr/>
        </p:nvSpPr>
        <p:spPr>
          <a:xfrm>
            <a:off x="6108700" y="3860800"/>
            <a:ext cx="3810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7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evidence language:</a:t>
            </a:r>
            <a:endParaRPr lang="en-US" sz="2100" dirty="0"/>
          </a:p>
          <a:p>
            <a:pPr algn="l" indent="0" marL="0">
              <a:lnSpc>
                <a:spcPts val="2667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 work shows students can ___, and many still need to ___ so they can ___.”</a:t>
            </a:r>
            <a:endParaRPr lang="en-US" sz="2100" dirty="0"/>
          </a:p>
        </p:txBody>
      </p:sp>
      <p:sp>
        <p:nvSpPr>
          <p:cNvPr id="12" name="pattern-shape-11"/>
          <p:cNvSpPr/>
          <p:nvPr/>
        </p:nvSpPr>
        <p:spPr>
          <a:xfrm>
            <a:off x="11049000" y="2730500"/>
            <a:ext cx="4699000" cy="3937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act-title"/>
          <p:cNvSpPr/>
          <p:nvPr/>
        </p:nvSpPr>
        <p:spPr>
          <a:xfrm>
            <a:off x="11379200" y="307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NARROW</a:t>
            </a:r>
            <a:endParaRPr lang="en-US" sz="2400" dirty="0"/>
          </a:p>
        </p:txBody>
      </p:sp>
      <p:sp>
        <p:nvSpPr>
          <p:cNvPr id="14" name="act-body"/>
          <p:cNvSpPr/>
          <p:nvPr/>
        </p:nvSpPr>
        <p:spPr>
          <a:xfrm>
            <a:off x="11379200" y="3860800"/>
            <a:ext cx="3810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7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instructional question:</a:t>
            </a:r>
            <a:endParaRPr lang="en-US" sz="2100" dirty="0"/>
          </a:p>
          <a:p>
            <a:pPr algn="l" indent="0" marL="0">
              <a:lnSpc>
                <a:spcPts val="2667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will help students strengthen this criterion while continuing to do the grade-level science thinking?</a:t>
            </a:r>
            <a:endParaRPr lang="en-US" sz="2100" dirty="0"/>
          </a:p>
        </p:txBody>
      </p:sp>
      <p:sp>
        <p:nvSpPr>
          <p:cNvPr id="15" name="pattern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pattern-decision"/>
          <p:cNvSpPr/>
          <p:nvPr/>
        </p:nvSpPr>
        <p:spPr>
          <a:xfrm>
            <a:off x="812800" y="7416800"/>
            <a:ext cx="1422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to record: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“The evidence suggests students need to strengthen ______ so they can ______ in the next science task.”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pattern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xt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Adjust the Next Learning Experience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31:00–41:00  •  10 MIN</a:t>
            </a:r>
            <a:endParaRPr lang="en-US" sz="1600" dirty="0"/>
          </a:p>
        </p:txBody>
      </p:sp>
      <p:sp>
        <p:nvSpPr>
          <p:cNvPr id="5" name="next-shape-4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work-label"/>
          <p:cNvSpPr/>
          <p:nvPr/>
        </p:nvSpPr>
        <p:spPr>
          <a:xfrm>
            <a:off x="838200" y="2222500"/>
            <a:ext cx="3149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7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700" dirty="0"/>
          </a:p>
        </p:txBody>
      </p:sp>
      <p:sp>
        <p:nvSpPr>
          <p:cNvPr id="7" name="work-time"/>
          <p:cNvSpPr/>
          <p:nvPr/>
        </p:nvSpPr>
        <p:spPr>
          <a:xfrm>
            <a:off x="838200" y="3048000"/>
            <a:ext cx="31496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6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6400" dirty="0"/>
          </a:p>
        </p:txBody>
      </p:sp>
      <p:sp>
        <p:nvSpPr>
          <p:cNvPr id="8" name="next-shape-7"/>
          <p:cNvSpPr/>
          <p:nvPr/>
        </p:nvSpPr>
        <p:spPr>
          <a:xfrm>
            <a:off x="1054100" y="4889500"/>
            <a:ext cx="27178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work-directions"/>
          <p:cNvSpPr/>
          <p:nvPr/>
        </p:nvSpPr>
        <p:spPr>
          <a:xfrm>
            <a:off x="838200" y="5308600"/>
            <a:ext cx="3149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independently first. Then use course-alike colleagues to test whether the adjustment matches the evidence.</a:t>
            </a:r>
            <a:endParaRPr lang="en-US" sz="2000" dirty="0"/>
          </a:p>
        </p:txBody>
      </p:sp>
      <p:sp>
        <p:nvSpPr>
          <p:cNvPr id="10" name="next-shape-9"/>
          <p:cNvSpPr/>
          <p:nvPr/>
        </p:nvSpPr>
        <p:spPr>
          <a:xfrm>
            <a:off x="4902200" y="1574800"/>
            <a:ext cx="10845800" cy="12573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plan1"/>
          <p:cNvSpPr/>
          <p:nvPr/>
        </p:nvSpPr>
        <p:spPr>
          <a:xfrm>
            <a:off x="5257800" y="1854200"/>
            <a:ext cx="965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Choose the student action.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Revise, explain, compare, correct, extend, or apply learning in response to the identified need.</a:t>
            </a:r>
            <a:endParaRPr lang="en-US" sz="2100" dirty="0"/>
          </a:p>
        </p:txBody>
      </p:sp>
      <p:sp>
        <p:nvSpPr>
          <p:cNvPr id="12" name="next-shape-11"/>
          <p:cNvSpPr/>
          <p:nvPr/>
        </p:nvSpPr>
        <p:spPr>
          <a:xfrm>
            <a:off x="4902200" y="3111500"/>
            <a:ext cx="10845800" cy="12573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plan2"/>
          <p:cNvSpPr/>
          <p:nvPr/>
        </p:nvSpPr>
        <p:spPr>
          <a:xfrm>
            <a:off x="5257800" y="3390900"/>
            <a:ext cx="965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Choose the teacher move.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question, feedback prompt, model, access support, discussion structure, or next task that preserves the cognitive demand.</a:t>
            </a:r>
            <a:endParaRPr lang="en-US" sz="2100" dirty="0"/>
          </a:p>
        </p:txBody>
      </p:sp>
      <p:sp>
        <p:nvSpPr>
          <p:cNvPr id="14" name="next-shape-13"/>
          <p:cNvSpPr/>
          <p:nvPr/>
        </p:nvSpPr>
        <p:spPr>
          <a:xfrm>
            <a:off x="4902200" y="4648200"/>
            <a:ext cx="10845800" cy="12573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plan3"/>
          <p:cNvSpPr/>
          <p:nvPr/>
        </p:nvSpPr>
        <p:spPr>
          <a:xfrm>
            <a:off x="5257800" y="4927600"/>
            <a:ext cx="965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the evidence check.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Identify a short response, revision, exit ticket, model, or explanation that will show whether the action worked.</a:t>
            </a:r>
            <a:endParaRPr lang="en-US" sz="2100" dirty="0"/>
          </a:p>
        </p:txBody>
      </p:sp>
      <p:sp>
        <p:nvSpPr>
          <p:cNvPr id="16" name="next-shape-15"/>
          <p:cNvSpPr/>
          <p:nvPr/>
        </p:nvSpPr>
        <p:spPr>
          <a:xfrm>
            <a:off x="4902200" y="6184900"/>
            <a:ext cx="10845800" cy="10033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7" name="plan4"/>
          <p:cNvSpPr/>
          <p:nvPr/>
        </p:nvSpPr>
        <p:spPr>
          <a:xfrm>
            <a:off x="5257800" y="6451600"/>
            <a:ext cx="9652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experience: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“Students will ______ using ______ so they can ______; evidence will be ______.”</a:t>
            </a:r>
            <a:endParaRPr lang="en-US" sz="20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9" name="next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lose-kicker"/>
          <p:cNvSpPr/>
          <p:nvPr/>
        </p:nvSpPr>
        <p:spPr>
          <a:xfrm>
            <a:off x="889000" y="1168400"/>
            <a:ext cx="1079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WEEKLY EVIDENCE CYCLE  •  41:00–46:00  •  5 MIN</a:t>
            </a:r>
            <a:endParaRPr lang="en-US" sz="1700" dirty="0"/>
          </a:p>
        </p:txBody>
      </p:sp>
      <p:sp>
        <p:nvSpPr>
          <p:cNvPr id="4" name="close-title"/>
          <p:cNvSpPr/>
          <p:nvPr/>
        </p:nvSpPr>
        <p:spPr>
          <a:xfrm>
            <a:off x="889000" y="1917700"/>
            <a:ext cx="1308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one next evidence check—and keep learning visible.</a:t>
            </a:r>
            <a:endParaRPr lang="en-US" sz="4400" dirty="0"/>
          </a:p>
        </p:txBody>
      </p:sp>
      <p:sp>
        <p:nvSpPr>
          <p:cNvPr id="5" name="close-shape-4"/>
          <p:cNvSpPr/>
          <p:nvPr/>
        </p:nvSpPr>
        <p:spPr>
          <a:xfrm>
            <a:off x="889000" y="3302000"/>
            <a:ext cx="13716000" cy="3581400"/>
          </a:xfrm>
          <a:prstGeom prst="rect">
            <a:avLst/>
          </a:prstGeom>
          <a:solidFill>
            <a:srgbClr val="2D2E31"/>
          </a:solidFill>
          <a:ln w="12700">
            <a:solidFill>
              <a:srgbClr val="72777D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270000" y="3746500"/>
            <a:ext cx="3810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6223000" y="3746500"/>
            <a:ext cx="3810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1176000" y="3746500"/>
            <a:ext cx="3048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9" name="collect"/>
          <p:cNvSpPr/>
          <p:nvPr/>
        </p:nvSpPr>
        <p:spPr>
          <a:xfrm>
            <a:off x="1574800" y="40640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brief response, revision, explanation, model, or data analysis.</a:t>
            </a:r>
            <a:endParaRPr lang="en-US" sz="2100" dirty="0"/>
          </a:p>
        </p:txBody>
      </p:sp>
      <p:sp>
        <p:nvSpPr>
          <p:cNvPr id="10" name="look"/>
          <p:cNvSpPr/>
          <p:nvPr/>
        </p:nvSpPr>
        <p:spPr>
          <a:xfrm>
            <a:off x="6527800" y="40640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FOR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that students strengthened the selected criterion while doing the science thinking.</a:t>
            </a:r>
            <a:endParaRPr lang="en-US" sz="2100" dirty="0"/>
          </a:p>
        </p:txBody>
      </p:sp>
      <p:sp>
        <p:nvSpPr>
          <p:cNvPr id="11" name="revisit"/>
          <p:cNvSpPr/>
          <p:nvPr/>
        </p:nvSpPr>
        <p:spPr>
          <a:xfrm>
            <a:off x="11480800" y="4064000"/>
            <a:ext cx="243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practical course-alike moment for the next decision.</a:t>
            </a:r>
            <a:endParaRPr lang="en-US" sz="2100" dirty="0"/>
          </a:p>
        </p:txBody>
      </p:sp>
      <p:sp>
        <p:nvSpPr>
          <p:cNvPr id="12" name="bottom"/>
          <p:cNvSpPr/>
          <p:nvPr/>
        </p:nvSpPr>
        <p:spPr>
          <a:xfrm>
            <a:off x="889000" y="7429500"/>
            <a:ext cx="1320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cycle: benchmark → anticipated thinking → feedback/action → calibration → evidence → next learning experience.</a:t>
            </a:r>
            <a:endParaRPr lang="en-US" sz="2300" dirty="0"/>
          </a:p>
        </p:txBody>
      </p:sp>
      <p:sp>
        <p:nvSpPr>
          <p:cNvPr id="13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Friday, October 30 PLC — Evidence to Next Learning Experience</dc:title>
  <dc:subject>Friday, October 30 PLC — Evidence to Next Learning Experience</dc:subject>
  <dc:creator>Manus</dc:creator>
  <cp:lastModifiedBy>Manus</cp:lastModifiedBy>
  <cp:revision>1</cp:revision>
  <dcterms:created xsi:type="dcterms:W3CDTF">2026-10-23T16:06:17Z</dcterms:created>
  <dcterms:modified xsi:type="dcterms:W3CDTF">2026-10-23T16:06:17Z</dcterms:modified>
</cp:coreProperties>
</file>
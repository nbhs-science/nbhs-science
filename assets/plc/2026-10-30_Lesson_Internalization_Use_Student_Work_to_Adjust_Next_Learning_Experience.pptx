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6256000" cy="9144000"/>
  <p:notesSz cx="9144000" cy="16256000"/>
  <p:embeddedFontLst>
    <p:embeddedFont>
      <p:font typeface="Inter" charset="-122" pitchFamily="34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16256000" cy="1168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0" y="1168400"/>
            <a:ext cx="16256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kicker"/>
          <p:cNvSpPr/>
          <p:nvPr/>
        </p:nvSpPr>
        <p:spPr>
          <a:xfrm>
            <a:off x="736600" y="406400"/>
            <a:ext cx="1270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SCIENCE DEPARTMENT PLC  •  FRIDAY, OCTOBER 30, 2026  •  46 MINUTES</a:t>
            </a:r>
            <a:endParaRPr lang="en-US" sz="1600" dirty="0"/>
          </a:p>
        </p:txBody>
      </p:sp>
      <p:sp>
        <p:nvSpPr>
          <p:cNvPr id="5" name="title"/>
          <p:cNvSpPr/>
          <p:nvPr/>
        </p:nvSpPr>
        <p:spPr>
          <a:xfrm>
            <a:off x="736600" y="1676400"/>
            <a:ext cx="14732000" cy="660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40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Rubric to Read Student Writing</a:t>
            </a:r>
            <a:endParaRPr lang="en-US" sz="4000" dirty="0"/>
          </a:p>
        </p:txBody>
      </p:sp>
      <p:sp>
        <p:nvSpPr>
          <p:cNvPr id="6" name="subtitle"/>
          <p:cNvSpPr/>
          <p:nvPr/>
        </p:nvSpPr>
        <p:spPr>
          <a:xfrm>
            <a:off x="736600" y="2514600"/>
            <a:ext cx="14224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clear feedback. Plan one next step.</a:t>
            </a:r>
            <a:endParaRPr lang="en-US" sz="2500" dirty="0"/>
          </a:p>
        </p:txBody>
      </p:sp>
      <p:sp>
        <p:nvSpPr>
          <p:cNvPr id="7" name="cover-shape-6"/>
          <p:cNvSpPr/>
          <p:nvPr/>
        </p:nvSpPr>
        <p:spPr>
          <a:xfrm>
            <a:off x="736600" y="3556000"/>
            <a:ext cx="4572000" cy="3708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8" name="bring-label"/>
          <p:cNvSpPr/>
          <p:nvPr/>
        </p:nvSpPr>
        <p:spPr>
          <a:xfrm>
            <a:off x="1092200" y="3911600"/>
            <a:ext cx="3860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</a:t>
            </a:r>
            <a:endParaRPr lang="en-US" sz="1400" dirty="0"/>
          </a:p>
        </p:txBody>
      </p:sp>
      <p:sp>
        <p:nvSpPr>
          <p:cNvPr id="9" name="bring-title"/>
          <p:cNvSpPr/>
          <p:nvPr/>
        </p:nvSpPr>
        <p:spPr>
          <a:xfrm>
            <a:off x="1092200" y="4343400"/>
            <a:ext cx="3860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materials</a:t>
            </a:r>
            <a:endParaRPr lang="en-US" sz="2500" dirty="0"/>
          </a:p>
        </p:txBody>
      </p:sp>
      <p:sp>
        <p:nvSpPr>
          <p:cNvPr id="10" name="bring-body"/>
          <p:cNvSpPr/>
          <p:nvPr/>
        </p:nvSpPr>
        <p:spPr>
          <a:xfrm>
            <a:off x="1092200" y="5130800"/>
            <a:ext cx="3860800" cy="167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3–5 student writing samples</a:t>
            </a:r>
            <a:endParaRPr lang="en-US" sz="2100" dirty="0"/>
          </a:p>
          <a:p>
            <a:pPr algn="l" indent="0" marL="0">
              <a:lnSpc>
                <a:spcPts val="2688"/>
              </a:lnSpc>
              <a:spcBef>
                <a:spcPts val="7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Task + standard</a:t>
            </a:r>
            <a:endParaRPr lang="en-US" sz="2100" dirty="0"/>
          </a:p>
          <a:p>
            <a:pPr algn="l" indent="0" marL="0">
              <a:lnSpc>
                <a:spcPts val="2688"/>
              </a:lnSpc>
              <a:spcBef>
                <a:spcPts val="7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Rubric or success criteria</a:t>
            </a:r>
            <a:endParaRPr lang="en-US" sz="2100" dirty="0"/>
          </a:p>
        </p:txBody>
      </p:sp>
      <p:sp>
        <p:nvSpPr>
          <p:cNvPr id="11" name="cover-shape-10"/>
          <p:cNvSpPr/>
          <p:nvPr/>
        </p:nvSpPr>
        <p:spPr>
          <a:xfrm>
            <a:off x="5842000" y="3556000"/>
            <a:ext cx="4572000" cy="3708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do-label"/>
          <p:cNvSpPr/>
          <p:nvPr/>
        </p:nvSpPr>
        <p:spPr>
          <a:xfrm>
            <a:off x="6197600" y="3911600"/>
            <a:ext cx="3860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TODAY</a:t>
            </a:r>
            <a:endParaRPr lang="en-US" sz="1400" dirty="0"/>
          </a:p>
        </p:txBody>
      </p:sp>
      <p:sp>
        <p:nvSpPr>
          <p:cNvPr id="13" name="do-title"/>
          <p:cNvSpPr/>
          <p:nvPr/>
        </p:nvSpPr>
        <p:spPr>
          <a:xfrm>
            <a:off x="6197600" y="4343400"/>
            <a:ext cx="3860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five steps</a:t>
            </a:r>
            <a:endParaRPr lang="en-US" sz="2500" dirty="0"/>
          </a:p>
        </p:txBody>
      </p:sp>
      <p:sp>
        <p:nvSpPr>
          <p:cNvPr id="14" name="do-body"/>
          <p:cNvSpPr/>
          <p:nvPr/>
        </p:nvSpPr>
        <p:spPr>
          <a:xfrm>
            <a:off x="6197600" y="5130800"/>
            <a:ext cx="3860800" cy="167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rubric.</a:t>
            </a:r>
            <a:endParaRPr lang="en-US" sz="2100" dirty="0"/>
          </a:p>
          <a:p>
            <a:pPr algn="l" indent="0" marL="0">
              <a:lnSpc>
                <a:spcPts val="2688"/>
              </a:lnSpc>
              <a:spcBef>
                <a:spcPts val="7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writing.</a:t>
            </a:r>
            <a:endParaRPr lang="en-US" sz="2100" dirty="0"/>
          </a:p>
          <a:p>
            <a:pPr algn="l" indent="0" marL="0">
              <a:lnSpc>
                <a:spcPts val="2688"/>
              </a:lnSpc>
              <a:spcBef>
                <a:spcPts val="7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need.</a:t>
            </a:r>
            <a:endParaRPr lang="en-US" sz="2100" dirty="0"/>
          </a:p>
        </p:txBody>
      </p:sp>
      <p:sp>
        <p:nvSpPr>
          <p:cNvPr id="15" name="cover-shape-14"/>
          <p:cNvSpPr/>
          <p:nvPr/>
        </p:nvSpPr>
        <p:spPr>
          <a:xfrm>
            <a:off x="10947400" y="3556000"/>
            <a:ext cx="4572000" cy="3708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leave-label"/>
          <p:cNvSpPr/>
          <p:nvPr/>
        </p:nvSpPr>
        <p:spPr>
          <a:xfrm>
            <a:off x="11303000" y="3911600"/>
            <a:ext cx="3860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LEAVE WITH</a:t>
            </a:r>
            <a:endParaRPr lang="en-US" sz="1400" dirty="0"/>
          </a:p>
        </p:txBody>
      </p:sp>
      <p:sp>
        <p:nvSpPr>
          <p:cNvPr id="17" name="leave-title"/>
          <p:cNvSpPr/>
          <p:nvPr/>
        </p:nvSpPr>
        <p:spPr>
          <a:xfrm>
            <a:off x="11303000" y="4343400"/>
            <a:ext cx="3860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clear plan</a:t>
            </a:r>
            <a:endParaRPr lang="en-US" sz="2500" dirty="0"/>
          </a:p>
        </p:txBody>
      </p:sp>
      <p:sp>
        <p:nvSpPr>
          <p:cNvPr id="18" name="leave-body"/>
          <p:cNvSpPr/>
          <p:nvPr/>
        </p:nvSpPr>
        <p:spPr>
          <a:xfrm>
            <a:off x="11303000" y="5130800"/>
            <a:ext cx="3860800" cy="167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feedback comment.</a:t>
            </a:r>
            <a:endParaRPr lang="en-US" sz="2100" dirty="0"/>
          </a:p>
          <a:p>
            <a:pPr algn="l" indent="0" marL="0">
              <a:lnSpc>
                <a:spcPts val="2688"/>
              </a:lnSpc>
              <a:spcBef>
                <a:spcPts val="7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next step.</a:t>
            </a:r>
            <a:endParaRPr lang="en-US" sz="2100" dirty="0"/>
          </a:p>
          <a:p>
            <a:pPr algn="l" indent="0" marL="0">
              <a:lnSpc>
                <a:spcPts val="2688"/>
              </a:lnSpc>
              <a:spcBef>
                <a:spcPts val="7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evidence check.</a:t>
            </a:r>
            <a:endParaRPr lang="en-US" sz="2100" dirty="0"/>
          </a:p>
        </p:txBody>
      </p:sp>
      <p:sp>
        <p:nvSpPr>
          <p:cNvPr id="19" name="cover-shape-18"/>
          <p:cNvSpPr/>
          <p:nvPr/>
        </p:nvSpPr>
        <p:spPr>
          <a:xfrm>
            <a:off x="736600" y="7747000"/>
            <a:ext cx="14782800" cy="7366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20" name="note"/>
          <p:cNvSpPr/>
          <p:nvPr/>
        </p:nvSpPr>
        <p:spPr>
          <a:xfrm>
            <a:off x="1092200" y="7962900"/>
            <a:ext cx="14071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your course rubric:</a:t>
            </a:r>
            <a:r>
              <a:rPr lang="en-US" alt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Biology may use Benchmark #1; other courses use their own rubric or success criteria.</a:t>
            </a:r>
            <a:endParaRPr lang="en-US" sz="1900" dirty="0"/>
          </a:p>
        </p:txBody>
      </p:sp>
      <p:sp>
        <p:nvSpPr>
          <p:cNvPr id="21" name="lit"/>
          <p:cNvSpPr/>
          <p:nvPr/>
        </p:nvSpPr>
        <p:spPr>
          <a:xfrm>
            <a:off x="736600" y="8686800"/>
            <a:ext cx="132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PROTOCOL  •  QUESTIONS 1, 3, 4  •  AFTER-LESSON REFLECTION</a:t>
            </a:r>
            <a:endParaRPr lang="en-US" sz="1300" dirty="0"/>
          </a:p>
        </p:txBody>
      </p:sp>
      <p:sp>
        <p:nvSpPr>
          <p:cNvPr id="22" name="page"/>
          <p:cNvSpPr/>
          <p:nvPr/>
        </p:nvSpPr>
        <p:spPr>
          <a:xfrm>
            <a:off x="14732000" y="86614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23" name="cover-shape-22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ycl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Five Steps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0:00–46:00  •  46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2080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rubric comes first. Every step uses the same rubric, the same student writing, and the same standard.</a:t>
            </a:r>
            <a:endParaRPr lang="en-US" sz="2200" dirty="0"/>
          </a:p>
        </p:txBody>
      </p:sp>
      <p:sp>
        <p:nvSpPr>
          <p:cNvPr id="6" name="cycle-shape-5"/>
          <p:cNvSpPr/>
          <p:nvPr/>
        </p:nvSpPr>
        <p:spPr>
          <a:xfrm>
            <a:off x="508000" y="2362200"/>
            <a:ext cx="2844800" cy="4191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7" name="s1-label"/>
          <p:cNvSpPr/>
          <p:nvPr/>
        </p:nvSpPr>
        <p:spPr>
          <a:xfrm>
            <a:off x="711200" y="2641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  •  4–10 MIN</a:t>
            </a:r>
            <a:endParaRPr lang="en-US" sz="1400" dirty="0"/>
          </a:p>
        </p:txBody>
      </p:sp>
      <p:sp>
        <p:nvSpPr>
          <p:cNvPr id="8" name="s1-title"/>
          <p:cNvSpPr/>
          <p:nvPr/>
        </p:nvSpPr>
        <p:spPr>
          <a:xfrm>
            <a:off x="711200" y="3022600"/>
            <a:ext cx="243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2"/>
              </a:lnSpc>
              <a:buNone/>
            </a:pPr>
            <a:r>
              <a:rPr lang="en-US" altLang="en-US" sz="21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with the rubric</a:t>
            </a:r>
            <a:endParaRPr lang="en-US" sz="2100" dirty="0"/>
          </a:p>
        </p:txBody>
      </p:sp>
      <p:sp>
        <p:nvSpPr>
          <p:cNvPr id="9" name="s1-body"/>
          <p:cNvSpPr/>
          <p:nvPr/>
        </p:nvSpPr>
        <p:spPr>
          <a:xfrm>
            <a:off x="711200" y="4038600"/>
            <a:ext cx="24384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task and standard, then underline the one or two criteria you will review.</a:t>
            </a:r>
            <a:endParaRPr lang="en-US" sz="1800" dirty="0"/>
          </a:p>
        </p:txBody>
      </p:sp>
      <p:sp>
        <p:nvSpPr>
          <p:cNvPr id="10" name="cycle-shape-9"/>
          <p:cNvSpPr/>
          <p:nvPr/>
        </p:nvSpPr>
        <p:spPr>
          <a:xfrm>
            <a:off x="3606800" y="2362200"/>
            <a:ext cx="28448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2-label"/>
          <p:cNvSpPr/>
          <p:nvPr/>
        </p:nvSpPr>
        <p:spPr>
          <a:xfrm>
            <a:off x="3810000" y="2641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  •  10–22 MIN</a:t>
            </a:r>
            <a:endParaRPr lang="en-US" sz="1400" dirty="0"/>
          </a:p>
        </p:txBody>
      </p:sp>
      <p:sp>
        <p:nvSpPr>
          <p:cNvPr id="12" name="s2-title"/>
          <p:cNvSpPr/>
          <p:nvPr/>
        </p:nvSpPr>
        <p:spPr>
          <a:xfrm>
            <a:off x="3810000" y="3022600"/>
            <a:ext cx="243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2"/>
              </a:lnSpc>
              <a:buNone/>
            </a:pPr>
            <a:r>
              <a:rPr lang="en-US" altLang="en-US" sz="21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samples</a:t>
            </a:r>
            <a:endParaRPr lang="en-US" sz="2100" dirty="0"/>
          </a:p>
        </p:txBody>
      </p:sp>
      <p:sp>
        <p:nvSpPr>
          <p:cNvPr id="13" name="s2-body"/>
          <p:cNvSpPr/>
          <p:nvPr/>
        </p:nvSpPr>
        <p:spPr>
          <a:xfrm>
            <a:off x="3810000" y="4038600"/>
            <a:ext cx="24384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3–5 student writing samples and mark what the writing shows against the rubric.</a:t>
            </a:r>
            <a:endParaRPr lang="en-US" sz="1800" dirty="0"/>
          </a:p>
        </p:txBody>
      </p:sp>
      <p:sp>
        <p:nvSpPr>
          <p:cNvPr id="14" name="cycle-shape-13"/>
          <p:cNvSpPr/>
          <p:nvPr/>
        </p:nvSpPr>
        <p:spPr>
          <a:xfrm>
            <a:off x="6705600" y="2362200"/>
            <a:ext cx="28448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5" name="s3-label"/>
          <p:cNvSpPr/>
          <p:nvPr/>
        </p:nvSpPr>
        <p:spPr>
          <a:xfrm>
            <a:off x="6908800" y="2641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3  •  22–30 MIN</a:t>
            </a:r>
            <a:endParaRPr lang="en-US" sz="1400" dirty="0"/>
          </a:p>
        </p:txBody>
      </p:sp>
      <p:sp>
        <p:nvSpPr>
          <p:cNvPr id="16" name="s3-title"/>
          <p:cNvSpPr/>
          <p:nvPr/>
        </p:nvSpPr>
        <p:spPr>
          <a:xfrm>
            <a:off x="6908800" y="3022600"/>
            <a:ext cx="243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2"/>
              </a:lnSpc>
              <a:buNone/>
            </a:pPr>
            <a:r>
              <a:rPr lang="en-US" altLang="en-US" sz="21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priority need</a:t>
            </a:r>
            <a:endParaRPr lang="en-US" sz="2100" dirty="0"/>
          </a:p>
        </p:txBody>
      </p:sp>
      <p:sp>
        <p:nvSpPr>
          <p:cNvPr id="17" name="s3-body"/>
          <p:cNvSpPr/>
          <p:nvPr/>
        </p:nvSpPr>
        <p:spPr>
          <a:xfrm>
            <a:off x="6908800" y="4038600"/>
            <a:ext cx="24384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 one strength and one rubric criterion that most needs work right now.</a:t>
            </a:r>
            <a:endParaRPr lang="en-US" sz="1800" dirty="0"/>
          </a:p>
        </p:txBody>
      </p:sp>
      <p:sp>
        <p:nvSpPr>
          <p:cNvPr id="18" name="cycle-shape-17"/>
          <p:cNvSpPr/>
          <p:nvPr/>
        </p:nvSpPr>
        <p:spPr>
          <a:xfrm>
            <a:off x="9804400" y="2362200"/>
            <a:ext cx="28448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9" name="s4-label"/>
          <p:cNvSpPr/>
          <p:nvPr/>
        </p:nvSpPr>
        <p:spPr>
          <a:xfrm>
            <a:off x="10007600" y="2641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4  •  30–37 MIN</a:t>
            </a:r>
            <a:endParaRPr lang="en-US" sz="1400" dirty="0"/>
          </a:p>
        </p:txBody>
      </p:sp>
      <p:sp>
        <p:nvSpPr>
          <p:cNvPr id="20" name="s4-title"/>
          <p:cNvSpPr/>
          <p:nvPr/>
        </p:nvSpPr>
        <p:spPr>
          <a:xfrm>
            <a:off x="10007600" y="3022600"/>
            <a:ext cx="243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2"/>
              </a:lnSpc>
              <a:buNone/>
            </a:pPr>
            <a:r>
              <a:rPr lang="en-US" altLang="en-US" sz="21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feedback</a:t>
            </a:r>
            <a:endParaRPr lang="en-US" sz="2100" dirty="0"/>
          </a:p>
        </p:txBody>
      </p:sp>
      <p:sp>
        <p:nvSpPr>
          <p:cNvPr id="21" name="s4-body"/>
          <p:cNvSpPr/>
          <p:nvPr/>
        </p:nvSpPr>
        <p:spPr>
          <a:xfrm>
            <a:off x="10007600" y="4038600"/>
            <a:ext cx="24384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criterion, point to the work, and ask for one revision. Do not give the answer.</a:t>
            </a:r>
            <a:endParaRPr lang="en-US" sz="1800" dirty="0"/>
          </a:p>
        </p:txBody>
      </p:sp>
      <p:sp>
        <p:nvSpPr>
          <p:cNvPr id="22" name="cycle-shape-21"/>
          <p:cNvSpPr/>
          <p:nvPr/>
        </p:nvSpPr>
        <p:spPr>
          <a:xfrm>
            <a:off x="12903200" y="2362200"/>
            <a:ext cx="28448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3" name="s5-label"/>
          <p:cNvSpPr/>
          <p:nvPr/>
        </p:nvSpPr>
        <p:spPr>
          <a:xfrm>
            <a:off x="13106400" y="2641600"/>
            <a:ext cx="243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5  •  37–43 MIN</a:t>
            </a:r>
            <a:endParaRPr lang="en-US" sz="1400" dirty="0"/>
          </a:p>
        </p:txBody>
      </p:sp>
      <p:sp>
        <p:nvSpPr>
          <p:cNvPr id="24" name="s5-title"/>
          <p:cNvSpPr/>
          <p:nvPr/>
        </p:nvSpPr>
        <p:spPr>
          <a:xfrm>
            <a:off x="13106400" y="3022600"/>
            <a:ext cx="24384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2"/>
              </a:lnSpc>
              <a:buNone/>
            </a:pPr>
            <a:r>
              <a:rPr lang="en-US" altLang="en-US" sz="21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the next step</a:t>
            </a:r>
            <a:endParaRPr lang="en-US" sz="2100" dirty="0"/>
          </a:p>
        </p:txBody>
      </p:sp>
      <p:sp>
        <p:nvSpPr>
          <p:cNvPr id="25" name="s5-body"/>
          <p:cNvSpPr/>
          <p:nvPr/>
        </p:nvSpPr>
        <p:spPr>
          <a:xfrm>
            <a:off x="13106400" y="4038600"/>
            <a:ext cx="24384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next instructional step and one short check that shows the criterion improved.</a:t>
            </a:r>
            <a:endParaRPr lang="en-US" sz="1800" dirty="0"/>
          </a:p>
        </p:txBody>
      </p:sp>
      <p:sp>
        <p:nvSpPr>
          <p:cNvPr id="26" name="cycle-shape-25"/>
          <p:cNvSpPr/>
          <p:nvPr/>
        </p:nvSpPr>
        <p:spPr>
          <a:xfrm>
            <a:off x="508000" y="6934200"/>
            <a:ext cx="15240000" cy="8128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27" name="anchor"/>
          <p:cNvSpPr/>
          <p:nvPr/>
        </p:nvSpPr>
        <p:spPr>
          <a:xfrm>
            <a:off x="812800" y="7137400"/>
            <a:ext cx="14605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rubric:</a:t>
            </a:r>
            <a:r>
              <a:rPr lang="en-US" alt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it gives everyone the same definition of strong writing, so it is used every time — alongside what the writing shows and what you know about your students. It is not for ranking.</a:t>
            </a:r>
            <a:endParaRPr lang="en-US" sz="1900" dirty="0"/>
          </a:p>
        </p:txBody>
      </p:sp>
      <p:sp>
        <p:nvSpPr>
          <p:cNvPr id="28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29" name="cycle-shape-28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y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1: Start With the Rubric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4–10 MIN  •  6 MIN</a:t>
            </a:r>
            <a:endParaRPr lang="en-US" sz="1600" dirty="0"/>
          </a:p>
        </p:txBody>
      </p:sp>
      <p:sp>
        <p:nvSpPr>
          <p:cNvPr id="5" name="lit"/>
          <p:cNvSpPr/>
          <p:nvPr/>
        </p:nvSpPr>
        <p:spPr>
          <a:xfrm>
            <a:off x="508000" y="1320800"/>
            <a:ext cx="1524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QUESTION 1</a:t>
            </a:r>
            <a:endParaRPr lang="en-US" sz="1400" dirty="0"/>
          </a:p>
        </p:txBody>
      </p:sp>
      <p:sp>
        <p:nvSpPr>
          <p:cNvPr id="6" name="intro"/>
          <p:cNvSpPr/>
          <p:nvPr/>
        </p:nvSpPr>
        <p:spPr>
          <a:xfrm>
            <a:off x="508000" y="1651000"/>
            <a:ext cx="1524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are students learning, and how will we know they learned it?</a:t>
            </a:r>
            <a:endParaRPr lang="en-US" sz="2100" dirty="0"/>
          </a:p>
        </p:txBody>
      </p:sp>
      <p:sp>
        <p:nvSpPr>
          <p:cNvPr id="7" name="mastery-shape-6"/>
          <p:cNvSpPr/>
          <p:nvPr/>
        </p:nvSpPr>
        <p:spPr>
          <a:xfrm>
            <a:off x="508000" y="2336800"/>
            <a:ext cx="4902200" cy="4089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8" name="one-label"/>
          <p:cNvSpPr/>
          <p:nvPr/>
        </p:nvSpPr>
        <p:spPr>
          <a:xfrm>
            <a:off x="889000" y="26670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one-title"/>
          <p:cNvSpPr/>
          <p:nvPr/>
        </p:nvSpPr>
        <p:spPr>
          <a:xfrm>
            <a:off x="889000" y="3124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task</a:t>
            </a:r>
            <a:endParaRPr lang="en-US" sz="2500" dirty="0"/>
          </a:p>
        </p:txBody>
      </p:sp>
      <p:sp>
        <p:nvSpPr>
          <p:cNvPr id="10" name="one-body"/>
          <p:cNvSpPr/>
          <p:nvPr/>
        </p:nvSpPr>
        <p:spPr>
          <a:xfrm>
            <a:off x="889000" y="4064000"/>
            <a:ext cx="4191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6"/>
              </a:lnSpc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task, standard, and student product on the form.</a:t>
            </a:r>
            <a:endParaRPr lang="en-US" sz="2200" dirty="0"/>
          </a:p>
        </p:txBody>
      </p:sp>
      <p:sp>
        <p:nvSpPr>
          <p:cNvPr id="11" name="mastery-shape-10"/>
          <p:cNvSpPr/>
          <p:nvPr/>
        </p:nvSpPr>
        <p:spPr>
          <a:xfrm>
            <a:off x="5676900" y="2336800"/>
            <a:ext cx="4902200" cy="4089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wo-label"/>
          <p:cNvSpPr/>
          <p:nvPr/>
        </p:nvSpPr>
        <p:spPr>
          <a:xfrm>
            <a:off x="6057900" y="26670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wo-title"/>
          <p:cNvSpPr/>
          <p:nvPr/>
        </p:nvSpPr>
        <p:spPr>
          <a:xfrm>
            <a:off x="6057900" y="3124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Underline the criteria</a:t>
            </a:r>
            <a:endParaRPr lang="en-US" sz="2500" dirty="0"/>
          </a:p>
        </p:txBody>
      </p:sp>
      <p:sp>
        <p:nvSpPr>
          <p:cNvPr id="14" name="two-body"/>
          <p:cNvSpPr/>
          <p:nvPr/>
        </p:nvSpPr>
        <p:spPr>
          <a:xfrm>
            <a:off x="6057900" y="4064000"/>
            <a:ext cx="4191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6"/>
              </a:lnSpc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the one or two rubric criteria you will review today.</a:t>
            </a:r>
            <a:endParaRPr lang="en-US" sz="2200" dirty="0"/>
          </a:p>
        </p:txBody>
      </p:sp>
      <p:sp>
        <p:nvSpPr>
          <p:cNvPr id="15" name="mastery-shape-14"/>
          <p:cNvSpPr/>
          <p:nvPr/>
        </p:nvSpPr>
        <p:spPr>
          <a:xfrm>
            <a:off x="10845800" y="2336800"/>
            <a:ext cx="4902200" cy="4089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three-label"/>
          <p:cNvSpPr/>
          <p:nvPr/>
        </p:nvSpPr>
        <p:spPr>
          <a:xfrm>
            <a:off x="11226800" y="26670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hree-title"/>
          <p:cNvSpPr/>
          <p:nvPr/>
        </p:nvSpPr>
        <p:spPr>
          <a:xfrm>
            <a:off x="11226800" y="3124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them aloud</a:t>
            </a:r>
            <a:endParaRPr lang="en-US" sz="2500" dirty="0"/>
          </a:p>
        </p:txBody>
      </p:sp>
      <p:sp>
        <p:nvSpPr>
          <p:cNvPr id="18" name="three-body"/>
          <p:cNvSpPr/>
          <p:nvPr/>
        </p:nvSpPr>
        <p:spPr>
          <a:xfrm>
            <a:off x="11226800" y="4064000"/>
            <a:ext cx="4191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6"/>
              </a:lnSpc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as a team: what does this criterion look like in student writing?</a:t>
            </a:r>
            <a:endParaRPr lang="en-US" sz="2200" dirty="0"/>
          </a:p>
        </p:txBody>
      </p:sp>
      <p:sp>
        <p:nvSpPr>
          <p:cNvPr id="19" name="mastery-shape-18"/>
          <p:cNvSpPr/>
          <p:nvPr/>
        </p:nvSpPr>
        <p:spPr>
          <a:xfrm>
            <a:off x="508000" y="6959600"/>
            <a:ext cx="15240000" cy="787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20" name="leave"/>
          <p:cNvSpPr/>
          <p:nvPr/>
        </p:nvSpPr>
        <p:spPr>
          <a:xfrm>
            <a:off x="812800" y="7188200"/>
            <a:ext cx="1460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Leave this step with: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task, standard, student product, and one or two criteria marked.</a:t>
            </a:r>
            <a:endParaRPr lang="en-US" sz="2000" dirty="0"/>
          </a:p>
        </p:txBody>
      </p:sp>
      <p:sp>
        <p:nvSpPr>
          <p:cNvPr id="21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mastery-shape-21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videnc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2: Read the Samples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10–22 MIN  •  12 MIN</a:t>
            </a:r>
            <a:endParaRPr lang="en-US" sz="1600" dirty="0"/>
          </a:p>
        </p:txBody>
      </p:sp>
      <p:sp>
        <p:nvSpPr>
          <p:cNvPr id="5" name="lit"/>
          <p:cNvSpPr/>
          <p:nvPr/>
        </p:nvSpPr>
        <p:spPr>
          <a:xfrm>
            <a:off x="508000" y="1320800"/>
            <a:ext cx="1524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AFTER-LESSON REFLECTION</a:t>
            </a:r>
            <a:endParaRPr lang="en-US" sz="1400" dirty="0"/>
          </a:p>
        </p:txBody>
      </p:sp>
      <p:sp>
        <p:nvSpPr>
          <p:cNvPr id="6" name="intro"/>
          <p:cNvSpPr/>
          <p:nvPr/>
        </p:nvSpPr>
        <p:spPr>
          <a:xfrm>
            <a:off x="508000" y="1651000"/>
            <a:ext cx="1524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the student work show about the rubric criteria?</a:t>
            </a:r>
            <a:endParaRPr lang="en-US" sz="2100" dirty="0"/>
          </a:p>
        </p:txBody>
      </p:sp>
      <p:sp>
        <p:nvSpPr>
          <p:cNvPr id="7" name="evidence-shape-6"/>
          <p:cNvSpPr/>
          <p:nvPr/>
        </p:nvSpPr>
        <p:spPr>
          <a:xfrm>
            <a:off x="508000" y="2336800"/>
            <a:ext cx="4902200" cy="40894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8" name="one-label"/>
          <p:cNvSpPr/>
          <p:nvPr/>
        </p:nvSpPr>
        <p:spPr>
          <a:xfrm>
            <a:off x="889000" y="26670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one-title"/>
          <p:cNvSpPr/>
          <p:nvPr/>
        </p:nvSpPr>
        <p:spPr>
          <a:xfrm>
            <a:off x="889000" y="3124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sample</a:t>
            </a:r>
            <a:endParaRPr lang="en-US" sz="2500" dirty="0"/>
          </a:p>
        </p:txBody>
      </p:sp>
      <p:sp>
        <p:nvSpPr>
          <p:cNvPr id="10" name="one-body"/>
          <p:cNvSpPr/>
          <p:nvPr/>
        </p:nvSpPr>
        <p:spPr>
          <a:xfrm>
            <a:off x="889000" y="4064000"/>
            <a:ext cx="4191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6"/>
              </a:lnSpc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sample once. Keep the rubric open beside it.</a:t>
            </a:r>
            <a:endParaRPr lang="en-US" sz="2200" dirty="0"/>
          </a:p>
        </p:txBody>
      </p:sp>
      <p:sp>
        <p:nvSpPr>
          <p:cNvPr id="11" name="evidence-shape-10"/>
          <p:cNvSpPr/>
          <p:nvPr/>
        </p:nvSpPr>
        <p:spPr>
          <a:xfrm>
            <a:off x="5676900" y="2336800"/>
            <a:ext cx="4902200" cy="4089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wo-label"/>
          <p:cNvSpPr/>
          <p:nvPr/>
        </p:nvSpPr>
        <p:spPr>
          <a:xfrm>
            <a:off x="6057900" y="26670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wo-title"/>
          <p:cNvSpPr/>
          <p:nvPr/>
        </p:nvSpPr>
        <p:spPr>
          <a:xfrm>
            <a:off x="6057900" y="3124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what you see</a:t>
            </a:r>
            <a:endParaRPr lang="en-US" sz="2500" dirty="0"/>
          </a:p>
        </p:txBody>
      </p:sp>
      <p:sp>
        <p:nvSpPr>
          <p:cNvPr id="14" name="two-body"/>
          <p:cNvSpPr/>
          <p:nvPr/>
        </p:nvSpPr>
        <p:spPr>
          <a:xfrm>
            <a:off x="6057900" y="4064000"/>
            <a:ext cx="4191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6"/>
              </a:lnSpc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Underline or quote one line that shows the criterion.</a:t>
            </a:r>
            <a:endParaRPr lang="en-US" sz="2200" dirty="0"/>
          </a:p>
        </p:txBody>
      </p:sp>
      <p:sp>
        <p:nvSpPr>
          <p:cNvPr id="15" name="evidence-shape-14"/>
          <p:cNvSpPr/>
          <p:nvPr/>
        </p:nvSpPr>
        <p:spPr>
          <a:xfrm>
            <a:off x="10845800" y="2336800"/>
            <a:ext cx="4902200" cy="4089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6" name="three-label"/>
          <p:cNvSpPr/>
          <p:nvPr/>
        </p:nvSpPr>
        <p:spPr>
          <a:xfrm>
            <a:off x="11226800" y="26670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hree-title"/>
          <p:cNvSpPr/>
          <p:nvPr/>
        </p:nvSpPr>
        <p:spPr>
          <a:xfrm>
            <a:off x="11226800" y="3124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the gap</a:t>
            </a:r>
            <a:endParaRPr lang="en-US" sz="2500" dirty="0"/>
          </a:p>
        </p:txBody>
      </p:sp>
      <p:sp>
        <p:nvSpPr>
          <p:cNvPr id="18" name="three-body"/>
          <p:cNvSpPr/>
          <p:nvPr/>
        </p:nvSpPr>
        <p:spPr>
          <a:xfrm>
            <a:off x="11226800" y="4064000"/>
            <a:ext cx="4191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6"/>
              </a:lnSpc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rubric criterion that is missing or only partly shown.</a:t>
            </a:r>
            <a:endParaRPr lang="en-US" sz="2200" dirty="0"/>
          </a:p>
        </p:txBody>
      </p:sp>
      <p:sp>
        <p:nvSpPr>
          <p:cNvPr id="19" name="evidence-shape-18"/>
          <p:cNvSpPr/>
          <p:nvPr/>
        </p:nvSpPr>
        <p:spPr>
          <a:xfrm>
            <a:off x="508000" y="6959600"/>
            <a:ext cx="15240000" cy="787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20" name="leave"/>
          <p:cNvSpPr/>
          <p:nvPr/>
        </p:nvSpPr>
        <p:spPr>
          <a:xfrm>
            <a:off x="812800" y="7188200"/>
            <a:ext cx="1460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B6E3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for 3–5 samples.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Leave this step with evidence of one strength and one need.</a:t>
            </a:r>
            <a:endParaRPr lang="en-US" sz="2000" dirty="0"/>
          </a:p>
        </p:txBody>
      </p:sp>
      <p:sp>
        <p:nvSpPr>
          <p:cNvPr id="21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evidence-shape-21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tter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3: Name One Priority Need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22–30 MIN  •  8 MIN</a:t>
            </a:r>
            <a:endParaRPr lang="en-US" sz="1600" dirty="0"/>
          </a:p>
        </p:txBody>
      </p:sp>
      <p:sp>
        <p:nvSpPr>
          <p:cNvPr id="5" name="lit"/>
          <p:cNvSpPr/>
          <p:nvPr/>
        </p:nvSpPr>
        <p:spPr>
          <a:xfrm>
            <a:off x="508000" y="1320800"/>
            <a:ext cx="1524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AFTER-LESSON REFLECTION</a:t>
            </a:r>
            <a:endParaRPr lang="en-US" sz="1400" dirty="0"/>
          </a:p>
        </p:txBody>
      </p:sp>
      <p:sp>
        <p:nvSpPr>
          <p:cNvPr id="6" name="intro"/>
          <p:cNvSpPr/>
          <p:nvPr/>
        </p:nvSpPr>
        <p:spPr>
          <a:xfrm>
            <a:off x="508000" y="1651000"/>
            <a:ext cx="1524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rubric need appears most often, and should guide the next response?</a:t>
            </a:r>
            <a:endParaRPr lang="en-US" sz="2100" dirty="0"/>
          </a:p>
        </p:txBody>
      </p:sp>
      <p:sp>
        <p:nvSpPr>
          <p:cNvPr id="7" name="pattern-shape-6"/>
          <p:cNvSpPr/>
          <p:nvPr/>
        </p:nvSpPr>
        <p:spPr>
          <a:xfrm>
            <a:off x="508000" y="2336800"/>
            <a:ext cx="4902200" cy="4089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one-label"/>
          <p:cNvSpPr/>
          <p:nvPr/>
        </p:nvSpPr>
        <p:spPr>
          <a:xfrm>
            <a:off x="889000" y="26670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one-title"/>
          <p:cNvSpPr/>
          <p:nvPr/>
        </p:nvSpPr>
        <p:spPr>
          <a:xfrm>
            <a:off x="889000" y="3124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Look for repeats</a:t>
            </a:r>
            <a:endParaRPr lang="en-US" sz="2500" dirty="0"/>
          </a:p>
        </p:txBody>
      </p:sp>
      <p:sp>
        <p:nvSpPr>
          <p:cNvPr id="10" name="one-body"/>
          <p:cNvSpPr/>
          <p:nvPr/>
        </p:nvSpPr>
        <p:spPr>
          <a:xfrm>
            <a:off x="889000" y="4064000"/>
            <a:ext cx="4191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6"/>
              </a:lnSpc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 you see in more than one sample?</a:t>
            </a:r>
            <a:endParaRPr lang="en-US" sz="2200" dirty="0"/>
          </a:p>
        </p:txBody>
      </p:sp>
      <p:sp>
        <p:nvSpPr>
          <p:cNvPr id="11" name="pattern-shape-10"/>
          <p:cNvSpPr/>
          <p:nvPr/>
        </p:nvSpPr>
        <p:spPr>
          <a:xfrm>
            <a:off x="5676900" y="2336800"/>
            <a:ext cx="4902200" cy="40894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12" name="two-label"/>
          <p:cNvSpPr/>
          <p:nvPr/>
        </p:nvSpPr>
        <p:spPr>
          <a:xfrm>
            <a:off x="6057900" y="26670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wo-title"/>
          <p:cNvSpPr/>
          <p:nvPr/>
        </p:nvSpPr>
        <p:spPr>
          <a:xfrm>
            <a:off x="6057900" y="3124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one strength</a:t>
            </a:r>
            <a:endParaRPr lang="en-US" sz="2500" dirty="0"/>
          </a:p>
        </p:txBody>
      </p:sp>
      <p:sp>
        <p:nvSpPr>
          <p:cNvPr id="14" name="two-body"/>
          <p:cNvSpPr/>
          <p:nvPr/>
        </p:nvSpPr>
        <p:spPr>
          <a:xfrm>
            <a:off x="6057900" y="4064000"/>
            <a:ext cx="4191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6"/>
              </a:lnSpc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 the sentence: “Students can ______.”</a:t>
            </a:r>
            <a:endParaRPr lang="en-US" sz="2200" dirty="0"/>
          </a:p>
        </p:txBody>
      </p:sp>
      <p:sp>
        <p:nvSpPr>
          <p:cNvPr id="15" name="pattern-shape-14"/>
          <p:cNvSpPr/>
          <p:nvPr/>
        </p:nvSpPr>
        <p:spPr>
          <a:xfrm>
            <a:off x="10845800" y="2336800"/>
            <a:ext cx="4902200" cy="4089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6" name="three-label"/>
          <p:cNvSpPr/>
          <p:nvPr/>
        </p:nvSpPr>
        <p:spPr>
          <a:xfrm>
            <a:off x="11226800" y="26670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hree-title"/>
          <p:cNvSpPr/>
          <p:nvPr/>
        </p:nvSpPr>
        <p:spPr>
          <a:xfrm>
            <a:off x="11226800" y="3124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need</a:t>
            </a:r>
            <a:endParaRPr lang="en-US" sz="2500" dirty="0"/>
          </a:p>
        </p:txBody>
      </p:sp>
      <p:sp>
        <p:nvSpPr>
          <p:cNvPr id="18" name="three-body"/>
          <p:cNvSpPr/>
          <p:nvPr/>
        </p:nvSpPr>
        <p:spPr>
          <a:xfrm>
            <a:off x="11226800" y="4064000"/>
            <a:ext cx="4191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6"/>
              </a:lnSpc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 the sentence: “Students need ______.” Use the rubric words.</a:t>
            </a:r>
            <a:endParaRPr lang="en-US" sz="2200" dirty="0"/>
          </a:p>
        </p:txBody>
      </p:sp>
      <p:sp>
        <p:nvSpPr>
          <p:cNvPr id="19" name="pattern-shape-18"/>
          <p:cNvSpPr/>
          <p:nvPr/>
        </p:nvSpPr>
        <p:spPr>
          <a:xfrm>
            <a:off x="508000" y="6959600"/>
            <a:ext cx="15240000" cy="787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20" name="check"/>
          <p:cNvSpPr/>
          <p:nvPr/>
        </p:nvSpPr>
        <p:spPr>
          <a:xfrm>
            <a:off x="812800" y="7188200"/>
            <a:ext cx="1460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Can you see the need in the writing and connect it to the rubric?</a:t>
            </a:r>
            <a:endParaRPr lang="en-US" sz="2000" dirty="0"/>
          </a:p>
        </p:txBody>
      </p:sp>
      <p:sp>
        <p:nvSpPr>
          <p:cNvPr id="21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pattern-shape-21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xt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4: Give Clear Feedback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30–37 MIN  •  7 MIN</a:t>
            </a:r>
            <a:endParaRPr lang="en-US" sz="1600" dirty="0"/>
          </a:p>
        </p:txBody>
      </p:sp>
      <p:sp>
        <p:nvSpPr>
          <p:cNvPr id="5" name="lit"/>
          <p:cNvSpPr/>
          <p:nvPr/>
        </p:nvSpPr>
        <p:spPr>
          <a:xfrm>
            <a:off x="508000" y="1320800"/>
            <a:ext cx="1524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QUESTION 3</a:t>
            </a:r>
            <a:endParaRPr lang="en-US" sz="1400" dirty="0"/>
          </a:p>
        </p:txBody>
      </p:sp>
      <p:sp>
        <p:nvSpPr>
          <p:cNvPr id="6" name="intro"/>
          <p:cNvSpPr/>
          <p:nvPr/>
        </p:nvSpPr>
        <p:spPr>
          <a:xfrm>
            <a:off x="508000" y="1651000"/>
            <a:ext cx="1524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feedback move will help students improve their writing?</a:t>
            </a:r>
            <a:endParaRPr lang="en-US" sz="2100" dirty="0"/>
          </a:p>
        </p:txBody>
      </p:sp>
      <p:sp>
        <p:nvSpPr>
          <p:cNvPr id="7" name="next-shape-6"/>
          <p:cNvSpPr/>
          <p:nvPr/>
        </p:nvSpPr>
        <p:spPr>
          <a:xfrm>
            <a:off x="508000" y="2336800"/>
            <a:ext cx="4902200" cy="4089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8" name="one-label"/>
          <p:cNvSpPr/>
          <p:nvPr/>
        </p:nvSpPr>
        <p:spPr>
          <a:xfrm>
            <a:off x="889000" y="26670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one-title"/>
          <p:cNvSpPr/>
          <p:nvPr/>
        </p:nvSpPr>
        <p:spPr>
          <a:xfrm>
            <a:off x="889000" y="3124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 what is missing</a:t>
            </a:r>
            <a:endParaRPr lang="en-US" sz="2500" dirty="0"/>
          </a:p>
        </p:txBody>
      </p:sp>
      <p:sp>
        <p:nvSpPr>
          <p:cNvPr id="10" name="one-body"/>
          <p:cNvSpPr/>
          <p:nvPr/>
        </p:nvSpPr>
        <p:spPr>
          <a:xfrm>
            <a:off x="889000" y="4064000"/>
            <a:ext cx="4191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6"/>
              </a:lnSpc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rubric word: “Your reasoning is missing.”</a:t>
            </a:r>
            <a:endParaRPr lang="en-US" sz="2200" dirty="0"/>
          </a:p>
        </p:txBody>
      </p:sp>
      <p:sp>
        <p:nvSpPr>
          <p:cNvPr id="11" name="next-shape-10"/>
          <p:cNvSpPr/>
          <p:nvPr/>
        </p:nvSpPr>
        <p:spPr>
          <a:xfrm>
            <a:off x="5676900" y="2336800"/>
            <a:ext cx="4902200" cy="4089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wo-label"/>
          <p:cNvSpPr/>
          <p:nvPr/>
        </p:nvSpPr>
        <p:spPr>
          <a:xfrm>
            <a:off x="6057900" y="26670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wo-title"/>
          <p:cNvSpPr/>
          <p:nvPr/>
        </p:nvSpPr>
        <p:spPr>
          <a:xfrm>
            <a:off x="6057900" y="3124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Tell where to look</a:t>
            </a:r>
            <a:endParaRPr lang="en-US" sz="2500" dirty="0"/>
          </a:p>
        </p:txBody>
      </p:sp>
      <p:sp>
        <p:nvSpPr>
          <p:cNvPr id="14" name="two-body"/>
          <p:cNvSpPr/>
          <p:nvPr/>
        </p:nvSpPr>
        <p:spPr>
          <a:xfrm>
            <a:off x="6057900" y="4064000"/>
            <a:ext cx="4191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6"/>
              </a:lnSpc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 to the writing or source: “Look at your graph.”</a:t>
            </a:r>
            <a:endParaRPr lang="en-US" sz="2200" dirty="0"/>
          </a:p>
        </p:txBody>
      </p:sp>
      <p:sp>
        <p:nvSpPr>
          <p:cNvPr id="15" name="next-shape-14"/>
          <p:cNvSpPr/>
          <p:nvPr/>
        </p:nvSpPr>
        <p:spPr>
          <a:xfrm>
            <a:off x="10845800" y="2336800"/>
            <a:ext cx="4902200" cy="4089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three-label"/>
          <p:cNvSpPr/>
          <p:nvPr/>
        </p:nvSpPr>
        <p:spPr>
          <a:xfrm>
            <a:off x="11226800" y="26670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hree-title"/>
          <p:cNvSpPr/>
          <p:nvPr/>
        </p:nvSpPr>
        <p:spPr>
          <a:xfrm>
            <a:off x="11226800" y="3124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Tell what to revise</a:t>
            </a:r>
            <a:endParaRPr lang="en-US" sz="2500" dirty="0"/>
          </a:p>
        </p:txBody>
      </p:sp>
      <p:sp>
        <p:nvSpPr>
          <p:cNvPr id="18" name="three-body"/>
          <p:cNvSpPr/>
          <p:nvPr/>
        </p:nvSpPr>
        <p:spPr>
          <a:xfrm>
            <a:off x="11226800" y="4064000"/>
            <a:ext cx="4191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6"/>
              </a:lnSpc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for one action: “Add one sentence that explains why.”</a:t>
            </a:r>
            <a:endParaRPr lang="en-US" sz="2200" dirty="0"/>
          </a:p>
        </p:txBody>
      </p:sp>
      <p:sp>
        <p:nvSpPr>
          <p:cNvPr id="19" name="next-shape-18"/>
          <p:cNvSpPr/>
          <p:nvPr/>
        </p:nvSpPr>
        <p:spPr>
          <a:xfrm>
            <a:off x="508000" y="6959600"/>
            <a:ext cx="15240000" cy="787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20" name="frame"/>
          <p:cNvSpPr/>
          <p:nvPr/>
        </p:nvSpPr>
        <p:spPr>
          <a:xfrm>
            <a:off x="812800" y="7188200"/>
            <a:ext cx="1460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this frame: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“You need to ______. Look at ______. Add or revise ______.”</a:t>
            </a:r>
            <a:endParaRPr lang="en-US" sz="2000" dirty="0"/>
          </a:p>
        </p:txBody>
      </p:sp>
      <p:sp>
        <p:nvSpPr>
          <p:cNvPr id="21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22" name="next-shape-21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5: Plan the Next Step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37–43 MIN  •  6 MIN</a:t>
            </a:r>
            <a:endParaRPr lang="en-US" sz="1600" dirty="0"/>
          </a:p>
        </p:txBody>
      </p:sp>
      <p:sp>
        <p:nvSpPr>
          <p:cNvPr id="5" name="lit"/>
          <p:cNvSpPr/>
          <p:nvPr/>
        </p:nvSpPr>
        <p:spPr>
          <a:xfrm>
            <a:off x="508000" y="1320800"/>
            <a:ext cx="1524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AFTER-LESSON REFLECTION</a:t>
            </a:r>
            <a:endParaRPr lang="en-US" sz="1400" dirty="0"/>
          </a:p>
        </p:txBody>
      </p:sp>
      <p:sp>
        <p:nvSpPr>
          <p:cNvPr id="6" name="intro"/>
          <p:cNvSpPr/>
          <p:nvPr/>
        </p:nvSpPr>
        <p:spPr>
          <a:xfrm>
            <a:off x="508000" y="1651000"/>
            <a:ext cx="1524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will we shift instruction to address this student need?</a:t>
            </a:r>
            <a:endParaRPr lang="en-US" sz="2100" dirty="0"/>
          </a:p>
        </p:txBody>
      </p:sp>
      <p:sp>
        <p:nvSpPr>
          <p:cNvPr id="7" name="plan-shape-6"/>
          <p:cNvSpPr/>
          <p:nvPr/>
        </p:nvSpPr>
        <p:spPr>
          <a:xfrm>
            <a:off x="508000" y="2336800"/>
            <a:ext cx="4902200" cy="4089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8" name="one-label"/>
          <p:cNvSpPr/>
          <p:nvPr/>
        </p:nvSpPr>
        <p:spPr>
          <a:xfrm>
            <a:off x="889000" y="26670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one-title"/>
          <p:cNvSpPr/>
          <p:nvPr/>
        </p:nvSpPr>
        <p:spPr>
          <a:xfrm>
            <a:off x="889000" y="3124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move</a:t>
            </a:r>
            <a:endParaRPr lang="en-US" sz="2500" dirty="0"/>
          </a:p>
        </p:txBody>
      </p:sp>
      <p:sp>
        <p:nvSpPr>
          <p:cNvPr id="10" name="one-body"/>
          <p:cNvSpPr/>
          <p:nvPr/>
        </p:nvSpPr>
        <p:spPr>
          <a:xfrm>
            <a:off x="889000" y="4064000"/>
            <a:ext cx="4191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6"/>
              </a:lnSpc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it, practice it, or run a short revision cycle.</a:t>
            </a:r>
            <a:endParaRPr lang="en-US" sz="2200" dirty="0"/>
          </a:p>
        </p:txBody>
      </p:sp>
      <p:sp>
        <p:nvSpPr>
          <p:cNvPr id="11" name="plan-shape-10"/>
          <p:cNvSpPr/>
          <p:nvPr/>
        </p:nvSpPr>
        <p:spPr>
          <a:xfrm>
            <a:off x="5676900" y="2336800"/>
            <a:ext cx="4902200" cy="4089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wo-label"/>
          <p:cNvSpPr/>
          <p:nvPr/>
        </p:nvSpPr>
        <p:spPr>
          <a:xfrm>
            <a:off x="6057900" y="26670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wo-title"/>
          <p:cNvSpPr/>
          <p:nvPr/>
        </p:nvSpPr>
        <p:spPr>
          <a:xfrm>
            <a:off x="6057900" y="3124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student work</a:t>
            </a:r>
            <a:endParaRPr lang="en-US" sz="2500" dirty="0"/>
          </a:p>
        </p:txBody>
      </p:sp>
      <p:sp>
        <p:nvSpPr>
          <p:cNvPr id="14" name="two-body"/>
          <p:cNvSpPr/>
          <p:nvPr/>
        </p:nvSpPr>
        <p:spPr>
          <a:xfrm>
            <a:off x="6057900" y="4064000"/>
            <a:ext cx="4191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6"/>
              </a:lnSpc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will students write, say, revise, or show?</a:t>
            </a:r>
            <a:endParaRPr lang="en-US" sz="2200" dirty="0"/>
          </a:p>
        </p:txBody>
      </p:sp>
      <p:sp>
        <p:nvSpPr>
          <p:cNvPr id="15" name="plan-shape-14"/>
          <p:cNvSpPr/>
          <p:nvPr/>
        </p:nvSpPr>
        <p:spPr>
          <a:xfrm>
            <a:off x="10845800" y="2336800"/>
            <a:ext cx="4902200" cy="40894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16" name="three-label"/>
          <p:cNvSpPr/>
          <p:nvPr/>
        </p:nvSpPr>
        <p:spPr>
          <a:xfrm>
            <a:off x="11226800" y="2667000"/>
            <a:ext cx="419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hree-title"/>
          <p:cNvSpPr/>
          <p:nvPr/>
        </p:nvSpPr>
        <p:spPr>
          <a:xfrm>
            <a:off x="11226800" y="3124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check</a:t>
            </a:r>
            <a:endParaRPr lang="en-US" sz="2500" dirty="0"/>
          </a:p>
        </p:txBody>
      </p:sp>
      <p:sp>
        <p:nvSpPr>
          <p:cNvPr id="18" name="three-body"/>
          <p:cNvSpPr/>
          <p:nvPr/>
        </p:nvSpPr>
        <p:spPr>
          <a:xfrm>
            <a:off x="11226800" y="4064000"/>
            <a:ext cx="4191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6"/>
              </a:lnSpc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will you collect and look for in the next piece of work?</a:t>
            </a:r>
            <a:endParaRPr lang="en-US" sz="2200" dirty="0"/>
          </a:p>
        </p:txBody>
      </p:sp>
      <p:sp>
        <p:nvSpPr>
          <p:cNvPr id="19" name="plan-shape-18"/>
          <p:cNvSpPr/>
          <p:nvPr/>
        </p:nvSpPr>
        <p:spPr>
          <a:xfrm>
            <a:off x="508000" y="6959600"/>
            <a:ext cx="15240000" cy="787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20" name="leave"/>
          <p:cNvSpPr/>
          <p:nvPr/>
        </p:nvSpPr>
        <p:spPr>
          <a:xfrm>
            <a:off x="812800" y="7188200"/>
            <a:ext cx="1460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B6E3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Leave this step with: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one next instructional step and one short evidence check.</a:t>
            </a:r>
            <a:endParaRPr lang="en-US" sz="2000" dirty="0"/>
          </a:p>
        </p:txBody>
      </p:sp>
      <p:sp>
        <p:nvSpPr>
          <p:cNvPr id="21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22" name="plan-shape-21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kicker"/>
          <p:cNvSpPr/>
          <p:nvPr/>
        </p:nvSpPr>
        <p:spPr>
          <a:xfrm>
            <a:off x="508000" y="355600"/>
            <a:ext cx="1143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 •  43–46 MIN  •  3 MIN</a:t>
            </a:r>
            <a:endParaRPr lang="en-US" sz="1600" dirty="0"/>
          </a:p>
        </p:txBody>
      </p:sp>
      <p:sp>
        <p:nvSpPr>
          <p:cNvPr id="4" name="title"/>
          <p:cNvSpPr/>
          <p:nvPr/>
        </p:nvSpPr>
        <p:spPr>
          <a:xfrm>
            <a:off x="736600" y="1600200"/>
            <a:ext cx="13970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0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4000" dirty="0"/>
          </a:p>
        </p:txBody>
      </p:sp>
      <p:sp>
        <p:nvSpPr>
          <p:cNvPr id="5" name="lit"/>
          <p:cNvSpPr/>
          <p:nvPr/>
        </p:nvSpPr>
        <p:spPr>
          <a:xfrm>
            <a:off x="736600" y="2514600"/>
            <a:ext cx="1397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AFTER-LESSON REFLECTION + FORWARD PLANNING</a:t>
            </a:r>
            <a:endParaRPr lang="en-US" sz="1400" dirty="0"/>
          </a:p>
        </p:txBody>
      </p:sp>
      <p:sp>
        <p:nvSpPr>
          <p:cNvPr id="6" name="subtitle"/>
          <p:cNvSpPr/>
          <p:nvPr/>
        </p:nvSpPr>
        <p:spPr>
          <a:xfrm>
            <a:off x="736600" y="2819400"/>
            <a:ext cx="1397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 these three actions, then keep the form and evidence for the next PLC.</a:t>
            </a:r>
            <a:endParaRPr lang="en-US" sz="2000" dirty="0"/>
          </a:p>
        </p:txBody>
      </p:sp>
      <p:sp>
        <p:nvSpPr>
          <p:cNvPr id="7" name="close-shape-6"/>
          <p:cNvSpPr/>
          <p:nvPr/>
        </p:nvSpPr>
        <p:spPr>
          <a:xfrm>
            <a:off x="736600" y="3454400"/>
            <a:ext cx="4699000" cy="3073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8" name="one-label"/>
          <p:cNvSpPr/>
          <p:nvPr/>
        </p:nvSpPr>
        <p:spPr>
          <a:xfrm>
            <a:off x="1117600" y="3784600"/>
            <a:ext cx="393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one-title"/>
          <p:cNvSpPr/>
          <p:nvPr/>
        </p:nvSpPr>
        <p:spPr>
          <a:xfrm>
            <a:off x="1117600" y="4216400"/>
            <a:ext cx="3937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the feedback</a:t>
            </a:r>
            <a:endParaRPr lang="en-US" sz="2400" dirty="0"/>
          </a:p>
        </p:txBody>
      </p:sp>
      <p:sp>
        <p:nvSpPr>
          <p:cNvPr id="10" name="one-body"/>
          <p:cNvSpPr/>
          <p:nvPr/>
        </p:nvSpPr>
        <p:spPr>
          <a:xfrm>
            <a:off x="1117600" y="5054600"/>
            <a:ext cx="3937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 the comment and give students time to revise.</a:t>
            </a:r>
            <a:endParaRPr lang="en-US" sz="2100" dirty="0"/>
          </a:p>
        </p:txBody>
      </p:sp>
      <p:sp>
        <p:nvSpPr>
          <p:cNvPr id="11" name="close-shape-10"/>
          <p:cNvSpPr/>
          <p:nvPr/>
        </p:nvSpPr>
        <p:spPr>
          <a:xfrm>
            <a:off x="5778500" y="3454400"/>
            <a:ext cx="4699000" cy="307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wo-label"/>
          <p:cNvSpPr/>
          <p:nvPr/>
        </p:nvSpPr>
        <p:spPr>
          <a:xfrm>
            <a:off x="6159500" y="3784600"/>
            <a:ext cx="393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wo-title"/>
          <p:cNvSpPr/>
          <p:nvPr/>
        </p:nvSpPr>
        <p:spPr>
          <a:xfrm>
            <a:off x="6159500" y="4216400"/>
            <a:ext cx="3937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 the revision</a:t>
            </a:r>
            <a:endParaRPr lang="en-US" sz="2400" dirty="0"/>
          </a:p>
        </p:txBody>
      </p:sp>
      <p:sp>
        <p:nvSpPr>
          <p:cNvPr id="14" name="two-body"/>
          <p:cNvSpPr/>
          <p:nvPr/>
        </p:nvSpPr>
        <p:spPr>
          <a:xfrm>
            <a:off x="6159500" y="5054600"/>
            <a:ext cx="3937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Look for the same rubric criterion in the revised work.</a:t>
            </a:r>
            <a:endParaRPr lang="en-US" sz="2100" dirty="0"/>
          </a:p>
        </p:txBody>
      </p:sp>
      <p:sp>
        <p:nvSpPr>
          <p:cNvPr id="15" name="close-shape-14"/>
          <p:cNvSpPr/>
          <p:nvPr/>
        </p:nvSpPr>
        <p:spPr>
          <a:xfrm>
            <a:off x="10820400" y="3454400"/>
            <a:ext cx="4927600" cy="3073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three-label"/>
          <p:cNvSpPr/>
          <p:nvPr/>
        </p:nvSpPr>
        <p:spPr>
          <a:xfrm>
            <a:off x="11201400" y="3784600"/>
            <a:ext cx="416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hree-title"/>
          <p:cNvSpPr/>
          <p:nvPr/>
        </p:nvSpPr>
        <p:spPr>
          <a:xfrm>
            <a:off x="11201400" y="4216400"/>
            <a:ext cx="41656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back evidence</a:t>
            </a:r>
            <a:endParaRPr lang="en-US" sz="2400" dirty="0"/>
          </a:p>
        </p:txBody>
      </p:sp>
      <p:sp>
        <p:nvSpPr>
          <p:cNvPr id="18" name="three-body"/>
          <p:cNvSpPr/>
          <p:nvPr/>
        </p:nvSpPr>
        <p:spPr>
          <a:xfrm>
            <a:off x="11201400" y="5054600"/>
            <a:ext cx="41656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the completed form and revised work to the next PLC.</a:t>
            </a:r>
            <a:endParaRPr lang="en-US" sz="2100" dirty="0"/>
          </a:p>
        </p:txBody>
      </p:sp>
      <p:sp>
        <p:nvSpPr>
          <p:cNvPr id="19" name="close-shape-18"/>
          <p:cNvSpPr/>
          <p:nvPr/>
        </p:nvSpPr>
        <p:spPr>
          <a:xfrm>
            <a:off x="736600" y="7010400"/>
            <a:ext cx="15011400" cy="8128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20" name="bottom"/>
          <p:cNvSpPr/>
          <p:nvPr/>
        </p:nvSpPr>
        <p:spPr>
          <a:xfrm>
            <a:off x="1117600" y="7239000"/>
            <a:ext cx="1422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the writing analysis form: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feedback, next step, and evidence check.</a:t>
            </a:r>
            <a:endParaRPr lang="en-US" sz="2000" dirty="0"/>
          </a:p>
        </p:txBody>
      </p:sp>
      <p:sp>
        <p:nvSpPr>
          <p:cNvPr id="21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300" dirty="0"/>
          </a:p>
        </p:txBody>
      </p:sp>
      <p:sp>
        <p:nvSpPr>
          <p:cNvPr id="22" name="close-shape-21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Friday, October 30 PLC — Use the Rubric to Read Student Writing and Plan the Next Step</dc:title>
  <dc:subject>Friday, October 30 PLC — Use the Rubric to Read Student Writing and Plan the Next Step</dc:subject>
  <dc:creator>Manus</dc:creator>
  <cp:lastModifiedBy>Manus</cp:lastModifiedBy>
  <cp:revision>1</cp:revision>
  <dcterms:created xsi:type="dcterms:W3CDTF">2026-10-30T01:24:52Z</dcterms:created>
  <dcterms:modified xsi:type="dcterms:W3CDTF">2026-10-30T01:24:52Z</dcterms:modified>
</cp:coreProperties>
</file>
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6256000" cy="9144000"/>
  <p:notesSz cx="9144000" cy="16256000"/>
  <p:embeddedFontLst>
    <p:embeddedFont>
      <p:font typeface="Inter" charset="-122" pitchFamily="34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406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676400"/>
            <a:ext cx="11176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to Read Student Writing</a:t>
            </a:r>
            <a:endParaRPr lang="en-US" sz="40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Plan the Next Step</a:t>
            </a:r>
            <a:endParaRPr lang="en-US" sz="4000" dirty="0"/>
          </a:p>
        </p:txBody>
      </p:sp>
      <p:sp>
        <p:nvSpPr>
          <p:cNvPr id="6" name="subtitle"/>
          <p:cNvSpPr/>
          <p:nvPr/>
        </p:nvSpPr>
        <p:spPr>
          <a:xfrm>
            <a:off x="736600" y="3708400"/>
            <a:ext cx="1092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4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the anchor today. Teachers read completed student writing against the rubric, give feedback students can act on, and choose one next instructional step.</a:t>
            </a:r>
            <a:endParaRPr lang="en-US" sz="23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1676400"/>
            <a:ext cx="3200400" cy="3200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47600" y="2006600"/>
            <a:ext cx="259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PURPOSE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616200"/>
            <a:ext cx="25908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rubric. Same bar. Feedback from evidence, not impressions.</a:t>
            </a:r>
            <a:endParaRPr lang="en-US" sz="20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130800"/>
            <a:ext cx="14706600" cy="1854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bring"/>
          <p:cNvSpPr/>
          <p:nvPr/>
        </p:nvSpPr>
        <p:spPr>
          <a:xfrm>
            <a:off x="1117600" y="53086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3–5 completed student writing samples, the task and source, and the rubric or success criteria you use.</a:t>
            </a:r>
            <a:endParaRPr lang="en-US" sz="2000" dirty="0"/>
          </a:p>
          <a:p>
            <a:pPr algn="l" indent="0" marL="0">
              <a:lnSpc>
                <a:spcPts val="2480"/>
              </a:lnSpc>
              <a:spcBef>
                <a:spcPts val="600"/>
              </a:spcBef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Biology example: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 #1 rubric, 10 points — Claim 1, Evidence 1, Reasoning 1, short response 2. Other courses bring their own rubric.</a:t>
            </a:r>
            <a:endParaRPr lang="en-US" sz="2000" dirty="0"/>
          </a:p>
        </p:txBody>
      </p:sp>
      <p:sp>
        <p:nvSpPr>
          <p:cNvPr id="12" name="cover-shape-11"/>
          <p:cNvSpPr/>
          <p:nvPr/>
        </p:nvSpPr>
        <p:spPr>
          <a:xfrm>
            <a:off x="736600" y="7061200"/>
            <a:ext cx="147066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ule"/>
          <p:cNvSpPr/>
          <p:nvPr/>
        </p:nvSpPr>
        <p:spPr>
          <a:xfrm>
            <a:off x="1117600" y="7277100"/>
            <a:ext cx="1397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describes the writing. It never ranks students, teachers, classes, or courses.</a:t>
            </a:r>
            <a:endParaRPr lang="en-US" sz="1900" dirty="0"/>
          </a:p>
        </p:txBody>
      </p:sp>
      <p:sp>
        <p:nvSpPr>
          <p:cNvPr id="14" name="footer"/>
          <p:cNvSpPr/>
          <p:nvPr/>
        </p:nvSpPr>
        <p:spPr>
          <a:xfrm>
            <a:off x="736600" y="7899400"/>
            <a:ext cx="13716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Balanced view: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rubric sets the shared bar and is used every time. It works alongside what the writing shows and what teachers know about their students.</a:t>
            </a:r>
            <a:endParaRPr lang="en-US" sz="1800" dirty="0"/>
          </a:p>
          <a:p>
            <a:pPr algn="l" indent="0" marL="0">
              <a:lnSpc>
                <a:spcPts val="2232"/>
              </a:lnSpc>
              <a:spcBef>
                <a:spcPts val="500"/>
              </a:spcBef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  •  Team Deep Dive Steps 3–5  •  After-Lesson Reflection.</a:t>
            </a:r>
            <a:endParaRPr lang="en-US" sz="1800" dirty="0"/>
          </a:p>
        </p:txBody>
      </p:sp>
      <p:sp>
        <p:nvSpPr>
          <p:cNvPr id="15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cover-shape-15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Five Steps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0:00–46:00  •  46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comes first. Every step uses the same rubric, the same student writing, and the same standard.</a:t>
            </a:r>
            <a:endParaRPr lang="en-US" sz="22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362200"/>
            <a:ext cx="28448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s1-label"/>
          <p:cNvSpPr/>
          <p:nvPr/>
        </p:nvSpPr>
        <p:spPr>
          <a:xfrm>
            <a:off x="7112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  •  4–10 MIN</a:t>
            </a:r>
            <a:endParaRPr lang="en-US" sz="1400" dirty="0"/>
          </a:p>
        </p:txBody>
      </p:sp>
      <p:sp>
        <p:nvSpPr>
          <p:cNvPr id="8" name="s1-title"/>
          <p:cNvSpPr/>
          <p:nvPr/>
        </p:nvSpPr>
        <p:spPr>
          <a:xfrm>
            <a:off x="7112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rubric</a:t>
            </a:r>
            <a:endParaRPr lang="en-US" sz="2100" dirty="0"/>
          </a:p>
        </p:txBody>
      </p:sp>
      <p:sp>
        <p:nvSpPr>
          <p:cNvPr id="9" name="s1-body"/>
          <p:cNvSpPr/>
          <p:nvPr/>
        </p:nvSpPr>
        <p:spPr>
          <a:xfrm>
            <a:off x="7112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task and standard, then underline the one or two criteria you will review.</a:t>
            </a:r>
            <a:endParaRPr lang="en-US" sz="1800" dirty="0"/>
          </a:p>
        </p:txBody>
      </p:sp>
      <p:sp>
        <p:nvSpPr>
          <p:cNvPr id="10" name="cycle-shape-9"/>
          <p:cNvSpPr/>
          <p:nvPr/>
        </p:nvSpPr>
        <p:spPr>
          <a:xfrm>
            <a:off x="36068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2-label"/>
          <p:cNvSpPr/>
          <p:nvPr/>
        </p:nvSpPr>
        <p:spPr>
          <a:xfrm>
            <a:off x="38100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  •  10–22 MIN</a:t>
            </a:r>
            <a:endParaRPr lang="en-US" sz="1400" dirty="0"/>
          </a:p>
        </p:txBody>
      </p:sp>
      <p:sp>
        <p:nvSpPr>
          <p:cNvPr id="12" name="s2-title"/>
          <p:cNvSpPr/>
          <p:nvPr/>
        </p:nvSpPr>
        <p:spPr>
          <a:xfrm>
            <a:off x="38100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samples</a:t>
            </a:r>
            <a:endParaRPr lang="en-US" sz="2100" dirty="0"/>
          </a:p>
        </p:txBody>
      </p:sp>
      <p:sp>
        <p:nvSpPr>
          <p:cNvPr id="13" name="s2-body"/>
          <p:cNvSpPr/>
          <p:nvPr/>
        </p:nvSpPr>
        <p:spPr>
          <a:xfrm>
            <a:off x="38100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3–5 student writing samples and mark what the writing shows against the rubric.</a:t>
            </a:r>
            <a:endParaRPr lang="en-US" sz="1800" dirty="0"/>
          </a:p>
        </p:txBody>
      </p:sp>
      <p:sp>
        <p:nvSpPr>
          <p:cNvPr id="14" name="cycle-shape-13"/>
          <p:cNvSpPr/>
          <p:nvPr/>
        </p:nvSpPr>
        <p:spPr>
          <a:xfrm>
            <a:off x="67056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3-label"/>
          <p:cNvSpPr/>
          <p:nvPr/>
        </p:nvSpPr>
        <p:spPr>
          <a:xfrm>
            <a:off x="69088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  •  22–30 MIN</a:t>
            </a:r>
            <a:endParaRPr lang="en-US" sz="1400" dirty="0"/>
          </a:p>
        </p:txBody>
      </p:sp>
      <p:sp>
        <p:nvSpPr>
          <p:cNvPr id="16" name="s3-title"/>
          <p:cNvSpPr/>
          <p:nvPr/>
        </p:nvSpPr>
        <p:spPr>
          <a:xfrm>
            <a:off x="69088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priority need</a:t>
            </a:r>
            <a:endParaRPr lang="en-US" sz="2100" dirty="0"/>
          </a:p>
        </p:txBody>
      </p:sp>
      <p:sp>
        <p:nvSpPr>
          <p:cNvPr id="17" name="s3-body"/>
          <p:cNvSpPr/>
          <p:nvPr/>
        </p:nvSpPr>
        <p:spPr>
          <a:xfrm>
            <a:off x="69088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one strength and one rubric criterion that most needs work right now.</a:t>
            </a:r>
            <a:endParaRPr lang="en-US" sz="1800" dirty="0"/>
          </a:p>
        </p:txBody>
      </p:sp>
      <p:sp>
        <p:nvSpPr>
          <p:cNvPr id="18" name="cycle-shape-17"/>
          <p:cNvSpPr/>
          <p:nvPr/>
        </p:nvSpPr>
        <p:spPr>
          <a:xfrm>
            <a:off x="98044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s4-label"/>
          <p:cNvSpPr/>
          <p:nvPr/>
        </p:nvSpPr>
        <p:spPr>
          <a:xfrm>
            <a:off x="100076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 •  30–37 MIN</a:t>
            </a:r>
            <a:endParaRPr lang="en-US" sz="1400" dirty="0"/>
          </a:p>
        </p:txBody>
      </p:sp>
      <p:sp>
        <p:nvSpPr>
          <p:cNvPr id="20" name="s4-title"/>
          <p:cNvSpPr/>
          <p:nvPr/>
        </p:nvSpPr>
        <p:spPr>
          <a:xfrm>
            <a:off x="100076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feedback</a:t>
            </a:r>
            <a:endParaRPr lang="en-US" sz="2100" dirty="0"/>
          </a:p>
        </p:txBody>
      </p:sp>
      <p:sp>
        <p:nvSpPr>
          <p:cNvPr id="21" name="s4-body"/>
          <p:cNvSpPr/>
          <p:nvPr/>
        </p:nvSpPr>
        <p:spPr>
          <a:xfrm>
            <a:off x="100076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criterion, point to the work, and ask for one revision. Do not give the answer.</a:t>
            </a:r>
            <a:endParaRPr lang="en-US" sz="1800" dirty="0"/>
          </a:p>
        </p:txBody>
      </p:sp>
      <p:sp>
        <p:nvSpPr>
          <p:cNvPr id="22" name="cycle-shape-21"/>
          <p:cNvSpPr/>
          <p:nvPr/>
        </p:nvSpPr>
        <p:spPr>
          <a:xfrm>
            <a:off x="129032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5-label"/>
          <p:cNvSpPr/>
          <p:nvPr/>
        </p:nvSpPr>
        <p:spPr>
          <a:xfrm>
            <a:off x="131064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  •  37–43 MIN</a:t>
            </a:r>
            <a:endParaRPr lang="en-US" sz="1400" dirty="0"/>
          </a:p>
        </p:txBody>
      </p:sp>
      <p:sp>
        <p:nvSpPr>
          <p:cNvPr id="24" name="s5-title"/>
          <p:cNvSpPr/>
          <p:nvPr/>
        </p:nvSpPr>
        <p:spPr>
          <a:xfrm>
            <a:off x="131064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next step</a:t>
            </a:r>
            <a:endParaRPr lang="en-US" sz="2100" dirty="0"/>
          </a:p>
        </p:txBody>
      </p:sp>
      <p:sp>
        <p:nvSpPr>
          <p:cNvPr id="25" name="s5-body"/>
          <p:cNvSpPr/>
          <p:nvPr/>
        </p:nvSpPr>
        <p:spPr>
          <a:xfrm>
            <a:off x="131064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next instructional step and one short check that shows the criterion improved.</a:t>
            </a:r>
            <a:endParaRPr lang="en-US" sz="1800" dirty="0"/>
          </a:p>
        </p:txBody>
      </p:sp>
      <p:sp>
        <p:nvSpPr>
          <p:cNvPr id="26" name="cycle-shape-25"/>
          <p:cNvSpPr/>
          <p:nvPr/>
        </p:nvSpPr>
        <p:spPr>
          <a:xfrm>
            <a:off x="508000" y="6934200"/>
            <a:ext cx="15240000" cy="812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7" name="anchor"/>
          <p:cNvSpPr/>
          <p:nvPr/>
        </p:nvSpPr>
        <p:spPr>
          <a:xfrm>
            <a:off x="812800" y="7137400"/>
            <a:ext cx="14605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rubric: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gives everyone the same definition of strong writing, so it is used every time — alongside what the writing shows and what you know about your students. It is not for ranking.</a:t>
            </a:r>
            <a:endParaRPr lang="en-US" sz="1900" dirty="0"/>
          </a:p>
        </p:txBody>
      </p:sp>
      <p:sp>
        <p:nvSpPr>
          <p:cNvPr id="2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cycle-shape-2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 Start With the Rubric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4–10 MIN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rubric or success criteria. Name the task and standard, then underline the one or two criteria you will review today.</a:t>
            </a:r>
            <a:endParaRPr lang="en-US" sz="22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362200"/>
            <a:ext cx="73660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924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THIS FIRST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4544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task, standard, and student product on the form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the 1–2 criteria you will look at today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those criteria out loud as a team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one example of meeting the criterion</a:t>
            </a:r>
            <a:endParaRPr lang="en-US" sz="2000" dirty="0"/>
          </a:p>
        </p:txBody>
      </p:sp>
      <p:sp>
        <p:nvSpPr>
          <p:cNvPr id="9" name="mastery-shape-8"/>
          <p:cNvSpPr/>
          <p:nvPr/>
        </p:nvSpPr>
        <p:spPr>
          <a:xfrm>
            <a:off x="8382000" y="2362200"/>
            <a:ext cx="7366000" cy="4267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924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BIOLOGY EXAMPLE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4544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#1 rubric, 10 points: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D81B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prediction stated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graph detail used accurately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food web quoted correctly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1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evidence linked to the science idea</a:t>
            </a:r>
            <a:endParaRPr lang="en-US" sz="20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69088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112000"/>
            <a:ext cx="146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courses use their own rubric or success criteria; the steps are the same. The rubric leads, and what you notice in the writing and know about your students matters too.</a:t>
            </a:r>
            <a:endParaRPr lang="en-US" sz="19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 Read 3–5 Samples With the Rubric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10–22 MIN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sample next to the rubric. Describe what is written in the piece before deciding what to do about it.</a:t>
            </a:r>
            <a:endParaRPr lang="en-US" sz="22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336800"/>
            <a:ext cx="7366000" cy="4191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670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PRESENT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4036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the line or phrase that shows the criterion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the criterion number or name beside it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the student did well in one sentence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for each of the 3–5 samples</a:t>
            </a:r>
            <a:endParaRPr lang="en-US" sz="2000" dirty="0"/>
          </a:p>
        </p:txBody>
      </p:sp>
      <p:sp>
        <p:nvSpPr>
          <p:cNvPr id="9" name="evidence-shape-8"/>
          <p:cNvSpPr/>
          <p:nvPr/>
        </p:nvSpPr>
        <p:spPr>
          <a:xfrm>
            <a:off x="8382000" y="2336800"/>
            <a:ext cx="73660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670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MISSING OR PARTIAL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403600"/>
            <a:ext cx="6604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 that is not yet met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whether the gap is claim, evidence, reasoning, or science language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 about the writing, not the student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wording so the team compares the same thing</a:t>
            </a:r>
            <a:endParaRPr lang="en-US" sz="2000" dirty="0"/>
          </a:p>
        </p:txBody>
      </p:sp>
      <p:sp>
        <p:nvSpPr>
          <p:cNvPr id="12" name="evidence-shape-11"/>
          <p:cNvSpPr/>
          <p:nvPr/>
        </p:nvSpPr>
        <p:spPr>
          <a:xfrm>
            <a:off x="508000" y="6858000"/>
            <a:ext cx="15240000" cy="889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ule"/>
          <p:cNvSpPr/>
          <p:nvPr/>
        </p:nvSpPr>
        <p:spPr>
          <a:xfrm>
            <a:off x="812800" y="7112000"/>
            <a:ext cx="14605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work. Do not rank students, teachers, classes, or courses, and do not sum up a course by one sample.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evidenc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 Name One Pattern and One Priority Need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22–30 MIN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samples, look for one pattern. Then choose the single need that will help students most right now.</a:t>
            </a:r>
            <a:endParaRPr lang="en-US" sz="22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p1-title"/>
          <p:cNvSpPr/>
          <p:nvPr/>
        </p:nvSpPr>
        <p:spPr>
          <a:xfrm>
            <a:off x="8890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Look across samples</a:t>
            </a:r>
            <a:endParaRPr lang="en-US" sz="2400" dirty="0"/>
          </a:p>
        </p:txBody>
      </p:sp>
      <p:sp>
        <p:nvSpPr>
          <p:cNvPr id="8" name="p1-body"/>
          <p:cNvSpPr/>
          <p:nvPr/>
        </p:nvSpPr>
        <p:spPr>
          <a:xfrm>
            <a:off x="889000" y="3454400"/>
            <a:ext cx="4191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strong in most papers?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is weak in most papers?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 appears in three or more samples?</a:t>
            </a:r>
            <a:endParaRPr lang="en-US" sz="2000" dirty="0"/>
          </a:p>
        </p:txBody>
      </p:sp>
      <p:sp>
        <p:nvSpPr>
          <p:cNvPr id="9" name="pattern-shape-8"/>
          <p:cNvSpPr/>
          <p:nvPr/>
        </p:nvSpPr>
        <p:spPr>
          <a:xfrm>
            <a:off x="56769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p2-title"/>
          <p:cNvSpPr/>
          <p:nvPr/>
        </p:nvSpPr>
        <p:spPr>
          <a:xfrm>
            <a:off x="60579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Write one sentence</a:t>
            </a:r>
            <a:endParaRPr lang="en-US" sz="2400" dirty="0"/>
          </a:p>
        </p:txBody>
      </p:sp>
      <p:sp>
        <p:nvSpPr>
          <p:cNvPr id="11" name="p2-body"/>
          <p:cNvSpPr/>
          <p:nvPr/>
        </p:nvSpPr>
        <p:spPr>
          <a:xfrm>
            <a:off x="6057900" y="3454400"/>
            <a:ext cx="4191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can ______, but most need ______ in the criterion of ______.”</a:t>
            </a:r>
            <a:endParaRPr lang="en-US" sz="2000" dirty="0"/>
          </a:p>
          <a:p>
            <a:pPr algn="l" indent="0" marL="0">
              <a:lnSpc>
                <a:spcPts val="256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wording in the blank so the need is measurable.</a:t>
            </a:r>
            <a:endParaRPr lang="en-US" sz="2000" dirty="0"/>
          </a:p>
        </p:txBody>
      </p:sp>
      <p:sp>
        <p:nvSpPr>
          <p:cNvPr id="12" name="pattern-shape-11"/>
          <p:cNvSpPr/>
          <p:nvPr/>
        </p:nvSpPr>
        <p:spPr>
          <a:xfrm>
            <a:off x="10845800" y="2336800"/>
            <a:ext cx="4902200" cy="4267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p3-title"/>
          <p:cNvSpPr/>
          <p:nvPr/>
        </p:nvSpPr>
        <p:spPr>
          <a:xfrm>
            <a:off x="112268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Keep it narrow</a:t>
            </a:r>
            <a:endParaRPr lang="en-US" sz="2400" dirty="0"/>
          </a:p>
        </p:txBody>
      </p:sp>
      <p:sp>
        <p:nvSpPr>
          <p:cNvPr id="14" name="p3-body"/>
          <p:cNvSpPr/>
          <p:nvPr/>
        </p:nvSpPr>
        <p:spPr>
          <a:xfrm>
            <a:off x="11226800" y="3429000"/>
            <a:ext cx="4191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need only — not a list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Criterion-based, not general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Fixable in one revision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broad reteach plan</a:t>
            </a:r>
            <a:endParaRPr lang="en-US" sz="1900" dirty="0"/>
          </a:p>
          <a:p>
            <a:pPr algn="l" marL="301625" indent="-301625">
              <a:lnSpc>
                <a:spcPts val="239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Shape it with what you know about your students</a:t>
            </a:r>
            <a:endParaRPr lang="en-US" sz="1900" dirty="0"/>
          </a:p>
        </p:txBody>
      </p:sp>
      <p:sp>
        <p:nvSpPr>
          <p:cNvPr id="15" name="pattern-shape-14"/>
          <p:cNvSpPr/>
          <p:nvPr/>
        </p:nvSpPr>
        <p:spPr>
          <a:xfrm>
            <a:off x="508000" y="69596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check"/>
          <p:cNvSpPr/>
          <p:nvPr/>
        </p:nvSpPr>
        <p:spPr>
          <a:xfrm>
            <a:off x="812800" y="7213600"/>
            <a:ext cx="146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Can you see this need in the student writing and connect it to the rubric?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pattern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 Write Feedback Students Can Use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30–37 MIN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short comment on the sample. It should send the student back to the rubric and back to their own writing.</a:t>
            </a:r>
            <a:endParaRPr lang="en-US" sz="2200" dirty="0"/>
          </a:p>
        </p:txBody>
      </p:sp>
      <p:sp>
        <p:nvSpPr>
          <p:cNvPr id="6" name="next-shape-5"/>
          <p:cNvSpPr/>
          <p:nvPr/>
        </p:nvSpPr>
        <p:spPr>
          <a:xfrm>
            <a:off x="508000" y="2286000"/>
            <a:ext cx="4902200" cy="431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n1-title"/>
          <p:cNvSpPr/>
          <p:nvPr/>
        </p:nvSpPr>
        <p:spPr>
          <a:xfrm>
            <a:off x="8890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Name the criterion</a:t>
            </a:r>
            <a:endParaRPr lang="en-US" sz="2400" dirty="0"/>
          </a:p>
        </p:txBody>
      </p:sp>
      <p:sp>
        <p:nvSpPr>
          <p:cNvPr id="8" name="n1-body"/>
          <p:cNvSpPr/>
          <p:nvPr/>
        </p:nvSpPr>
        <p:spPr>
          <a:xfrm>
            <a:off x="889000" y="3378200"/>
            <a:ext cx="4191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which rubric criterion the comment is about.</a:t>
            </a:r>
            <a:endParaRPr lang="en-US" sz="2000" dirty="0"/>
          </a:p>
        </p:txBody>
      </p:sp>
      <p:sp>
        <p:nvSpPr>
          <p:cNvPr id="9" name="n1-ex"/>
          <p:cNvSpPr/>
          <p:nvPr/>
        </p:nvSpPr>
        <p:spPr>
          <a:xfrm>
            <a:off x="889000" y="48514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“This is your claim, and it is clear.”</a:t>
            </a:r>
            <a:endParaRPr lang="en-US" sz="1900" dirty="0"/>
          </a:p>
        </p:txBody>
      </p:sp>
      <p:sp>
        <p:nvSpPr>
          <p:cNvPr id="10" name="next-shape-9"/>
          <p:cNvSpPr/>
          <p:nvPr/>
        </p:nvSpPr>
        <p:spPr>
          <a:xfrm>
            <a:off x="5676900" y="2286000"/>
            <a:ext cx="4902200" cy="431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n2-title"/>
          <p:cNvSpPr/>
          <p:nvPr/>
        </p:nvSpPr>
        <p:spPr>
          <a:xfrm>
            <a:off x="60579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Point to their work</a:t>
            </a:r>
            <a:endParaRPr lang="en-US" sz="2400" dirty="0"/>
          </a:p>
        </p:txBody>
      </p:sp>
      <p:sp>
        <p:nvSpPr>
          <p:cNvPr id="12" name="n2-body"/>
          <p:cNvSpPr/>
          <p:nvPr/>
        </p:nvSpPr>
        <p:spPr>
          <a:xfrm>
            <a:off x="6057900" y="3378200"/>
            <a:ext cx="4191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or point to the student's own words, graph detail, or food-web arrow.</a:t>
            </a:r>
            <a:endParaRPr lang="en-US" sz="2000" dirty="0"/>
          </a:p>
        </p:txBody>
      </p:sp>
      <p:sp>
        <p:nvSpPr>
          <p:cNvPr id="13" name="n2-ex"/>
          <p:cNvSpPr/>
          <p:nvPr/>
        </p:nvSpPr>
        <p:spPr>
          <a:xfrm>
            <a:off x="6057900" y="48514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wrote that frogs eat fruit flies.”</a:t>
            </a:r>
            <a:endParaRPr lang="en-US" sz="1900" dirty="0"/>
          </a:p>
        </p:txBody>
      </p:sp>
      <p:sp>
        <p:nvSpPr>
          <p:cNvPr id="14" name="next-shape-13"/>
          <p:cNvSpPr/>
          <p:nvPr/>
        </p:nvSpPr>
        <p:spPr>
          <a:xfrm>
            <a:off x="10845800" y="2286000"/>
            <a:ext cx="4902200" cy="431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n3-title"/>
          <p:cNvSpPr/>
          <p:nvPr/>
        </p:nvSpPr>
        <p:spPr>
          <a:xfrm>
            <a:off x="112268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Ask for one revision</a:t>
            </a:r>
            <a:endParaRPr lang="en-US" sz="2400" dirty="0"/>
          </a:p>
        </p:txBody>
      </p:sp>
      <p:sp>
        <p:nvSpPr>
          <p:cNvPr id="16" name="n3-body"/>
          <p:cNvSpPr/>
          <p:nvPr/>
        </p:nvSpPr>
        <p:spPr>
          <a:xfrm>
            <a:off x="11226800" y="3378200"/>
            <a:ext cx="4191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for one change the student can make. Do not give the answer or write it for them.</a:t>
            </a:r>
            <a:endParaRPr lang="en-US" sz="2000" dirty="0"/>
          </a:p>
        </p:txBody>
      </p:sp>
      <p:sp>
        <p:nvSpPr>
          <p:cNvPr id="17" name="n3-ex"/>
          <p:cNvSpPr/>
          <p:nvPr/>
        </p:nvSpPr>
        <p:spPr>
          <a:xfrm>
            <a:off x="11226800" y="48514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“Now explain how that makes the fruit-fly population drop.”</a:t>
            </a:r>
            <a:endParaRPr lang="en-US" sz="1900" dirty="0"/>
          </a:p>
        </p:txBody>
      </p:sp>
      <p:sp>
        <p:nvSpPr>
          <p:cNvPr id="18" name="next-shape-17"/>
          <p:cNvSpPr/>
          <p:nvPr/>
        </p:nvSpPr>
        <p:spPr>
          <a:xfrm>
            <a:off x="508000" y="69596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check"/>
          <p:cNvSpPr/>
          <p:nvPr/>
        </p:nvSpPr>
        <p:spPr>
          <a:xfrm>
            <a:off x="812800" y="7213600"/>
            <a:ext cx="146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does the comment name a criterion, point to the work, and ask for one action?</a:t>
            </a:r>
            <a:endParaRPr lang="en-US" sz="20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next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5: Plan the Next Instructional Step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37–43 MIN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step that targets the priority criterion. Keep it small enough to teach in the next lesson or two.</a:t>
            </a:r>
            <a:endParaRPr lang="en-US" sz="2200" dirty="0"/>
          </a:p>
        </p:txBody>
      </p:sp>
      <p:sp>
        <p:nvSpPr>
          <p:cNvPr id="6" name="plan-shape-5"/>
          <p:cNvSpPr/>
          <p:nvPr/>
        </p:nvSpPr>
        <p:spPr>
          <a:xfrm>
            <a:off x="508000" y="2286000"/>
            <a:ext cx="73660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6162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</a:t>
            </a:r>
            <a:endParaRPr lang="en-US" sz="2500" dirty="0"/>
          </a:p>
        </p:txBody>
      </p:sp>
      <p:sp>
        <p:nvSpPr>
          <p:cNvPr id="8" name="left-body"/>
          <p:cNvSpPr/>
          <p:nvPr/>
        </p:nvSpPr>
        <p:spPr>
          <a:xfrm>
            <a:off x="889000" y="3352800"/>
            <a:ext cx="6604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Re-teach one reasoning move with a model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selecting the strongest evidence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link evidence to the claim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short revision cycle on one paragraph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one science term students misuse</a:t>
            </a:r>
            <a:endParaRPr lang="en-US" sz="2000" dirty="0"/>
          </a:p>
        </p:txBody>
      </p:sp>
      <p:sp>
        <p:nvSpPr>
          <p:cNvPr id="9" name="plan-shape-8"/>
          <p:cNvSpPr/>
          <p:nvPr/>
        </p:nvSpPr>
        <p:spPr>
          <a:xfrm>
            <a:off x="8382000" y="2286000"/>
            <a:ext cx="73660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616200"/>
            <a:ext cx="660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SAY HOW YOU WILL KNOW</a:t>
            </a:r>
            <a:endParaRPr lang="en-US" sz="25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352800"/>
            <a:ext cx="6604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students will produce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the work must show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will collect it</a:t>
            </a:r>
            <a:endParaRPr lang="en-US" sz="2000" dirty="0"/>
          </a:p>
          <a:p>
            <a:pPr algn="l" marL="317500" indent="-317500">
              <a:lnSpc>
                <a:spcPts val="256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will look for in the work</a:t>
            </a:r>
            <a:endParaRPr lang="en-US" sz="2000" dirty="0"/>
          </a:p>
        </p:txBody>
      </p:sp>
      <p:sp>
        <p:nvSpPr>
          <p:cNvPr id="12" name="plan-shape-11"/>
          <p:cNvSpPr/>
          <p:nvPr/>
        </p:nvSpPr>
        <p:spPr>
          <a:xfrm>
            <a:off x="508000" y="68580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commit"/>
          <p:cNvSpPr/>
          <p:nvPr/>
        </p:nvSpPr>
        <p:spPr>
          <a:xfrm>
            <a:off x="812800" y="71120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the one-page writing analysis tool: task and standard, strengths, pattern, priority need, feedback, next step.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5" name="plan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kicker"/>
          <p:cNvSpPr/>
          <p:nvPr/>
        </p:nvSpPr>
        <p:spPr>
          <a:xfrm>
            <a:off x="508000" y="3556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43–46 MIN  •  3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00200"/>
            <a:ext cx="1397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→ Samples → Pattern → Feedback → Next Step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736600" y="2590800"/>
            <a:ext cx="1397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commitments before leaving, and the form goes with you.</a:t>
            </a:r>
            <a:endParaRPr lang="en-US" sz="2200" dirty="0"/>
          </a:p>
        </p:txBody>
      </p:sp>
      <p:sp>
        <p:nvSpPr>
          <p:cNvPr id="6" name="close-shape-5"/>
          <p:cNvSpPr/>
          <p:nvPr/>
        </p:nvSpPr>
        <p:spPr>
          <a:xfrm>
            <a:off x="736600" y="3403600"/>
            <a:ext cx="4699000" cy="2971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c1"/>
          <p:cNvSpPr/>
          <p:nvPr/>
        </p:nvSpPr>
        <p:spPr>
          <a:xfrm>
            <a:off x="1117600" y="3733800"/>
            <a:ext cx="39370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RETURN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the written comment back and give students time to revise.</a:t>
            </a:r>
            <a:endParaRPr lang="en-US" sz="2000" dirty="0"/>
          </a:p>
        </p:txBody>
      </p:sp>
      <p:sp>
        <p:nvSpPr>
          <p:cNvPr id="8" name="close-shape-7"/>
          <p:cNvSpPr/>
          <p:nvPr/>
        </p:nvSpPr>
        <p:spPr>
          <a:xfrm>
            <a:off x="5778500" y="3403600"/>
            <a:ext cx="4699000" cy="2971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2"/>
          <p:cNvSpPr/>
          <p:nvPr/>
        </p:nvSpPr>
        <p:spPr>
          <a:xfrm>
            <a:off x="6159500" y="3733800"/>
            <a:ext cx="39370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LOOK FOR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same criterion in the revised work, using the rubric.</a:t>
            </a:r>
            <a:endParaRPr lang="en-US" sz="2000" dirty="0"/>
          </a:p>
        </p:txBody>
      </p:sp>
      <p:sp>
        <p:nvSpPr>
          <p:cNvPr id="10" name="close-shape-9"/>
          <p:cNvSpPr/>
          <p:nvPr/>
        </p:nvSpPr>
        <p:spPr>
          <a:xfrm>
            <a:off x="10820400" y="3403600"/>
            <a:ext cx="4927600" cy="2971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3"/>
          <p:cNvSpPr/>
          <p:nvPr/>
        </p:nvSpPr>
        <p:spPr>
          <a:xfrm>
            <a:off x="11201400" y="3733800"/>
            <a:ext cx="41656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BRING BACK</a:t>
            </a:r>
            <a:endParaRPr lang="en-US" sz="2000" dirty="0"/>
          </a:p>
          <a:p>
            <a:pPr algn="l" indent="0" marL="0">
              <a:lnSpc>
                <a:spcPts val="252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form and a few revised samples to the next PLC.</a:t>
            </a:r>
            <a:endParaRPr lang="en-US" sz="2000" dirty="0"/>
          </a:p>
        </p:txBody>
      </p:sp>
      <p:sp>
        <p:nvSpPr>
          <p:cNvPr id="12" name="close-shape-11"/>
          <p:cNvSpPr/>
          <p:nvPr/>
        </p:nvSpPr>
        <p:spPr>
          <a:xfrm>
            <a:off x="736600" y="6807200"/>
            <a:ext cx="15011400" cy="965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bottom"/>
          <p:cNvSpPr/>
          <p:nvPr/>
        </p:nvSpPr>
        <p:spPr>
          <a:xfrm>
            <a:off x="1117600" y="7010400"/>
            <a:ext cx="1422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the rubric led the work. Keep the samples and the form — the next PLC starts with your evidence.</a:t>
            </a:r>
            <a:endParaRPr lang="en-US" sz="20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altLang="en-US" sz="2000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Aligned with the Lesson Internalization Protocol.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5" name="clos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Use the Rubric to Read Student Writing and Plan the Next Step</dc:title>
  <dc:subject>Friday, October 30 PLC — Use the Rubric to Read Student Writing and Plan the Next Step</dc:subject>
  <dc:creator>Manus</dc:creator>
  <cp:lastModifiedBy>Manus</cp:lastModifiedBy>
  <cp:revision>1</cp:revision>
  <dcterms:created xsi:type="dcterms:W3CDTF">2026-10-30T01:08:30Z</dcterms:created>
  <dcterms:modified xsi:type="dcterms:W3CDTF">2026-10-30T01:08:30Z</dcterms:modified>
</cp:coreProperties>
</file>
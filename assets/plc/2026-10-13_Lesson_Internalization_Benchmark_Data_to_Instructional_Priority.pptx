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ule"/>
          <p:cNvSpPr/>
          <p:nvPr/>
        </p:nvSpPr>
        <p:spPr>
          <a:xfrm>
            <a:off x="609600" y="1422400"/>
            <a:ext cx="150368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ept"/>
          <p:cNvSpPr/>
          <p:nvPr/>
        </p:nvSpPr>
        <p:spPr>
          <a:xfrm>
            <a:off x="609600" y="711200"/>
            <a:ext cx="825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BEDFORD HIGH SCHOOL · SCIENCE DEPARTMENT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609600" y="2082800"/>
            <a:ext cx="10287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altLang="en-US" sz="48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Data to an</a:t>
            </a:r>
            <a:endParaRPr lang="en-US" sz="4800" dirty="0"/>
          </a:p>
          <a:p>
            <a:pPr algn="l" indent="0" marL="0">
              <a:lnSpc>
                <a:spcPts val="4704"/>
              </a:lnSpc>
              <a:buNone/>
            </a:pPr>
            <a:r>
              <a:rPr lang="en-US" altLang="en-US" sz="48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Instructional Priority</a:t>
            </a:r>
            <a:endParaRPr lang="en-US" sz="4800" dirty="0"/>
          </a:p>
        </p:txBody>
      </p:sp>
      <p:sp>
        <p:nvSpPr>
          <p:cNvPr id="5" name="subband"/>
          <p:cNvSpPr/>
          <p:nvPr/>
        </p:nvSpPr>
        <p:spPr>
          <a:xfrm>
            <a:off x="609600" y="4191000"/>
            <a:ext cx="9779000" cy="10414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6" name="subtitle"/>
          <p:cNvSpPr/>
          <p:nvPr/>
        </p:nvSpPr>
        <p:spPr>
          <a:xfrm>
            <a:off x="990600" y="4394200"/>
            <a:ext cx="901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0"/>
              </a:lnSpc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 priority standard, the 1–2 skills students need to demonstrate, and an evidence-based learning pattern for an upcoming lesson.</a:t>
            </a:r>
            <a:endParaRPr lang="en-US" sz="1900" dirty="0"/>
          </a:p>
        </p:txBody>
      </p:sp>
      <p:sp>
        <p:nvSpPr>
          <p:cNvPr id="7" name="date-chip"/>
          <p:cNvSpPr/>
          <p:nvPr/>
        </p:nvSpPr>
        <p:spPr>
          <a:xfrm>
            <a:off x="609600" y="6375400"/>
            <a:ext cx="3835400" cy="558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date-label"/>
          <p:cNvSpPr/>
          <p:nvPr/>
        </p:nvSpPr>
        <p:spPr>
          <a:xfrm>
            <a:off x="838200" y="6553200"/>
            <a:ext cx="3378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OCTOBER 13, 2026</a:t>
            </a:r>
            <a:endParaRPr lang="en-US" sz="1400" dirty="0"/>
          </a:p>
        </p:txBody>
      </p:sp>
      <p:sp>
        <p:nvSpPr>
          <p:cNvPr id="9" name="time-chip"/>
          <p:cNvSpPr/>
          <p:nvPr/>
        </p:nvSpPr>
        <p:spPr>
          <a:xfrm>
            <a:off x="4648200" y="6375400"/>
            <a:ext cx="1905000" cy="55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ime-label"/>
          <p:cNvSpPr/>
          <p:nvPr/>
        </p:nvSpPr>
        <p:spPr>
          <a:xfrm>
            <a:off x="4648200" y="65532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1400" dirty="0"/>
          </a:p>
        </p:txBody>
      </p:sp>
      <p:sp>
        <p:nvSpPr>
          <p:cNvPr id="11" name="right-panel"/>
          <p:cNvSpPr/>
          <p:nvPr/>
        </p:nvSpPr>
        <p:spPr>
          <a:xfrm>
            <a:off x="11531600" y="2082800"/>
            <a:ext cx="4114800" cy="4851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panel-kicker"/>
          <p:cNvSpPr/>
          <p:nvPr/>
        </p:nvSpPr>
        <p:spPr>
          <a:xfrm>
            <a:off x="11938000" y="25908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 TODAY</a:t>
            </a:r>
            <a:endParaRPr lang="en-US" sz="1400" dirty="0"/>
          </a:p>
        </p:txBody>
      </p:sp>
      <p:sp>
        <p:nvSpPr>
          <p:cNvPr id="13" name="panel-title"/>
          <p:cNvSpPr/>
          <p:nvPr/>
        </p:nvSpPr>
        <p:spPr>
          <a:xfrm>
            <a:off x="11938000" y="3225800"/>
            <a:ext cx="3048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evidence—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hunch.</a:t>
            </a:r>
            <a:endParaRPr lang="en-US" sz="3000" dirty="0"/>
          </a:p>
        </p:txBody>
      </p:sp>
      <p:sp>
        <p:nvSpPr>
          <p:cNvPr id="14" name="panel-copy"/>
          <p:cNvSpPr/>
          <p:nvPr/>
        </p:nvSpPr>
        <p:spPr>
          <a:xfrm>
            <a:off x="11938000" y="4927600"/>
            <a:ext cx="3048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priority standard</a:t>
            </a:r>
            <a:endParaRPr lang="en-US" sz="19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1–2 target skills</a:t>
            </a:r>
            <a:endParaRPr lang="en-US" sz="19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learning pattern</a:t>
            </a:r>
            <a:endParaRPr lang="en-US" sz="1900" dirty="0"/>
          </a:p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One next lesson</a:t>
            </a:r>
            <a:endParaRPr lang="en-US" sz="1900" dirty="0"/>
          </a:p>
        </p:txBody>
      </p:sp>
      <p:sp>
        <p:nvSpPr>
          <p:cNvPr id="15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PLC · DATA → PATTERN → NEXT LESSON</a:t>
            </a:r>
            <a:endParaRPr lang="en-US" sz="1400" dirty="0"/>
          </a:p>
        </p:txBody>
      </p:sp>
      <p:sp>
        <p:nvSpPr>
          <p:cNvPr id="16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header-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965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Plan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-label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MINUTES</a:t>
            </a:r>
            <a:endParaRPr lang="en-US" sz="1400" dirty="0"/>
          </a:p>
        </p:txBody>
      </p:sp>
      <p:sp>
        <p:nvSpPr>
          <p:cNvPr id="7" name="intro"/>
          <p:cNvSpPr/>
          <p:nvPr/>
        </p:nvSpPr>
        <p:spPr>
          <a:xfrm>
            <a:off x="609600" y="1498600"/>
            <a:ext cx="134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of today is protected course-alike analysis—not a presentation about scores.</a:t>
            </a:r>
            <a:endParaRPr lang="en-US" sz="2000" dirty="0"/>
          </a:p>
        </p:txBody>
      </p:sp>
      <p:sp>
        <p:nvSpPr>
          <p:cNvPr id="8" name="card1"/>
          <p:cNvSpPr/>
          <p:nvPr/>
        </p:nvSpPr>
        <p:spPr>
          <a:xfrm>
            <a:off x="609600" y="2286000"/>
            <a:ext cx="7112000" cy="1346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card2"/>
          <p:cNvSpPr/>
          <p:nvPr/>
        </p:nvSpPr>
        <p:spPr>
          <a:xfrm>
            <a:off x="8534400" y="2286000"/>
            <a:ext cx="7112000" cy="1346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card3"/>
          <p:cNvSpPr/>
          <p:nvPr/>
        </p:nvSpPr>
        <p:spPr>
          <a:xfrm>
            <a:off x="609600" y="3886200"/>
            <a:ext cx="7112000" cy="1346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card4"/>
          <p:cNvSpPr/>
          <p:nvPr/>
        </p:nvSpPr>
        <p:spPr>
          <a:xfrm>
            <a:off x="8534400" y="3886200"/>
            <a:ext cx="7112000" cy="1346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card5"/>
          <p:cNvSpPr/>
          <p:nvPr/>
        </p:nvSpPr>
        <p:spPr>
          <a:xfrm>
            <a:off x="609600" y="5486400"/>
            <a:ext cx="7112000" cy="1346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card6"/>
          <p:cNvSpPr/>
          <p:nvPr/>
        </p:nvSpPr>
        <p:spPr>
          <a:xfrm>
            <a:off x="8534400" y="5486400"/>
            <a:ext cx="7112000" cy="13462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c1"/>
          <p:cNvSpPr/>
          <p:nvPr/>
        </p:nvSpPr>
        <p:spPr>
          <a:xfrm>
            <a:off x="965200" y="25654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0–4 MIN · Reconnect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evidence and locate the related course standard.</a:t>
            </a:r>
            <a:endParaRPr lang="en-US" sz="1900" dirty="0"/>
          </a:p>
        </p:txBody>
      </p:sp>
      <p:sp>
        <p:nvSpPr>
          <p:cNvPr id="15" name="c2"/>
          <p:cNvSpPr/>
          <p:nvPr/>
        </p:nvSpPr>
        <p:spPr>
          <a:xfrm>
            <a:off x="8890000" y="25654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4–10 MIN · Read the data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one priority standard and 1–2 target skills.</a:t>
            </a:r>
            <a:endParaRPr lang="en-US" sz="1900" dirty="0"/>
          </a:p>
        </p:txBody>
      </p:sp>
      <p:sp>
        <p:nvSpPr>
          <p:cNvPr id="16" name="c3"/>
          <p:cNvSpPr/>
          <p:nvPr/>
        </p:nvSpPr>
        <p:spPr>
          <a:xfrm>
            <a:off x="965200" y="41656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10–18 MIN · Name the pattern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what students can, partly can, or do not yet do with the skills.</a:t>
            </a:r>
            <a:endParaRPr lang="en-US" sz="1900" dirty="0"/>
          </a:p>
        </p:txBody>
      </p:sp>
      <p:sp>
        <p:nvSpPr>
          <p:cNvPr id="17" name="c4"/>
          <p:cNvSpPr/>
          <p:nvPr/>
        </p:nvSpPr>
        <p:spPr>
          <a:xfrm>
            <a:off x="8890000" y="41656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18–32 MIN · Team analysis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standard and skills to an upcoming lesson.</a:t>
            </a:r>
            <a:endParaRPr lang="en-US" sz="1900" dirty="0"/>
          </a:p>
        </p:txBody>
      </p:sp>
      <p:sp>
        <p:nvSpPr>
          <p:cNvPr id="18" name="c5"/>
          <p:cNvSpPr/>
          <p:nvPr/>
        </p:nvSpPr>
        <p:spPr>
          <a:xfrm>
            <a:off x="965200" y="57658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32–37 MIN · Calibrate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that the priority is evidence-based and grade-level.</a:t>
            </a:r>
            <a:endParaRPr lang="en-US" sz="1900" dirty="0"/>
          </a:p>
        </p:txBody>
      </p:sp>
      <p:sp>
        <p:nvSpPr>
          <p:cNvPr id="19" name="c6"/>
          <p:cNvSpPr/>
          <p:nvPr/>
        </p:nvSpPr>
        <p:spPr>
          <a:xfrm>
            <a:off x="8890000" y="57658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37–41 MIN · Close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the standard, skills, lesson, and materials for Friday.</a:t>
            </a:r>
            <a:endParaRPr lang="en-US" sz="1900" dirty="0"/>
          </a:p>
        </p:txBody>
      </p:sp>
      <p:sp>
        <p:nvSpPr>
          <p:cNvPr id="20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DATA PLC · TUESDAY, OCTOBER 13</a:t>
            </a:r>
            <a:endParaRPr lang="en-US" sz="1400" dirty="0"/>
          </a:p>
        </p:txBody>
      </p:sp>
      <p:sp>
        <p:nvSpPr>
          <p:cNvPr id="21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header-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1303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Evidence Belongs in the Planning Cycle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-label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MIN</a:t>
            </a:r>
            <a:endParaRPr lang="en-US" sz="1400" dirty="0"/>
          </a:p>
        </p:txBody>
      </p:sp>
      <p:sp>
        <p:nvSpPr>
          <p:cNvPr id="7" name="subtitle"/>
          <p:cNvSpPr/>
          <p:nvPr/>
        </p:nvSpPr>
        <p:spPr>
          <a:xfrm>
            <a:off x="609600" y="1498600"/>
            <a:ext cx="142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becomes useful when teams connect evidence to a priority standard, the target skills, and an upcoming learning experience.</a:t>
            </a:r>
            <a:endParaRPr lang="en-US" sz="2000" dirty="0"/>
          </a:p>
        </p:txBody>
      </p:sp>
      <p:sp>
        <p:nvSpPr>
          <p:cNvPr id="8" name="n1"/>
          <p:cNvSpPr/>
          <p:nvPr/>
        </p:nvSpPr>
        <p:spPr>
          <a:xfrm>
            <a:off x="609600" y="2946400"/>
            <a:ext cx="2489200" cy="1676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n2"/>
          <p:cNvSpPr/>
          <p:nvPr/>
        </p:nvSpPr>
        <p:spPr>
          <a:xfrm>
            <a:off x="3479800" y="2946400"/>
            <a:ext cx="2489200" cy="1676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n3"/>
          <p:cNvSpPr/>
          <p:nvPr/>
        </p:nvSpPr>
        <p:spPr>
          <a:xfrm>
            <a:off x="6350000" y="2946400"/>
            <a:ext cx="2489200" cy="1676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n4"/>
          <p:cNvSpPr/>
          <p:nvPr/>
        </p:nvSpPr>
        <p:spPr>
          <a:xfrm>
            <a:off x="9220200" y="2946400"/>
            <a:ext cx="2489200" cy="16764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n5"/>
          <p:cNvSpPr/>
          <p:nvPr/>
        </p:nvSpPr>
        <p:spPr>
          <a:xfrm>
            <a:off x="12090400" y="2946400"/>
            <a:ext cx="3556000" cy="1676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a1"/>
          <p:cNvSpPr/>
          <p:nvPr/>
        </p:nvSpPr>
        <p:spPr>
          <a:xfrm>
            <a:off x="3098800" y="3784600"/>
            <a:ext cx="3810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4" name="a2"/>
          <p:cNvSpPr/>
          <p:nvPr/>
        </p:nvSpPr>
        <p:spPr>
          <a:xfrm>
            <a:off x="5969000" y="3784600"/>
            <a:ext cx="3810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a3"/>
          <p:cNvSpPr/>
          <p:nvPr/>
        </p:nvSpPr>
        <p:spPr>
          <a:xfrm>
            <a:off x="8839200" y="3784600"/>
            <a:ext cx="3810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6" name="a4"/>
          <p:cNvSpPr/>
          <p:nvPr/>
        </p:nvSpPr>
        <p:spPr>
          <a:xfrm>
            <a:off x="11709400" y="3784600"/>
            <a:ext cx="381000" cy="9144"/>
          </a:xfrm>
          <a:prstGeom prst="line">
            <a:avLst/>
          </a:prstGeom>
          <a:ln w="381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7" name="t1"/>
          <p:cNvSpPr/>
          <p:nvPr/>
        </p:nvSpPr>
        <p:spPr>
          <a:xfrm>
            <a:off x="863600" y="3251200"/>
            <a:ext cx="1981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or student work</a:t>
            </a:r>
            <a:endParaRPr lang="en-US" sz="2000" dirty="0"/>
          </a:p>
        </p:txBody>
      </p:sp>
      <p:sp>
        <p:nvSpPr>
          <p:cNvPr id="18" name="t2"/>
          <p:cNvSpPr/>
          <p:nvPr/>
        </p:nvSpPr>
        <p:spPr>
          <a:xfrm>
            <a:off x="3733800" y="3251200"/>
            <a:ext cx="1981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+ skills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course expects</a:t>
            </a:r>
            <a:endParaRPr lang="en-US" sz="2000" dirty="0"/>
          </a:p>
        </p:txBody>
      </p:sp>
      <p:sp>
        <p:nvSpPr>
          <p:cNvPr id="19" name="t3"/>
          <p:cNvSpPr/>
          <p:nvPr/>
        </p:nvSpPr>
        <p:spPr>
          <a:xfrm>
            <a:off x="6604000" y="3251200"/>
            <a:ext cx="1981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show</a:t>
            </a:r>
            <a:endParaRPr lang="en-US" sz="2000" dirty="0"/>
          </a:p>
        </p:txBody>
      </p:sp>
      <p:sp>
        <p:nvSpPr>
          <p:cNvPr id="20" name="t4"/>
          <p:cNvSpPr/>
          <p:nvPr/>
        </p:nvSpPr>
        <p:spPr>
          <a:xfrm>
            <a:off x="9474200" y="3251200"/>
            <a:ext cx="1981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+ action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students practice next</a:t>
            </a:r>
            <a:endParaRPr lang="en-US" sz="2000" dirty="0"/>
          </a:p>
        </p:txBody>
      </p:sp>
      <p:sp>
        <p:nvSpPr>
          <p:cNvPr id="21" name="t5"/>
          <p:cNvSpPr/>
          <p:nvPr/>
        </p:nvSpPr>
        <p:spPr>
          <a:xfrm>
            <a:off x="12369800" y="3251200"/>
            <a:ext cx="2997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evidence</a:t>
            </a:r>
            <a:endParaRPr lang="en-US" sz="2000" dirty="0"/>
          </a:p>
          <a:p>
            <a:pPr algn="ctr" indent="0" marL="0">
              <a:lnSpc>
                <a:spcPts val="216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team learns next</a:t>
            </a:r>
            <a:endParaRPr lang="en-US" sz="2000" dirty="0"/>
          </a:p>
        </p:txBody>
      </p:sp>
      <p:sp>
        <p:nvSpPr>
          <p:cNvPr id="22" name="guardrail"/>
          <p:cNvSpPr/>
          <p:nvPr/>
        </p:nvSpPr>
        <p:spPr>
          <a:xfrm>
            <a:off x="609600" y="5791200"/>
            <a:ext cx="15036800" cy="11684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23" name="guardrail-text"/>
          <p:cNvSpPr/>
          <p:nvPr/>
        </p:nvSpPr>
        <p:spPr>
          <a:xfrm>
            <a:off x="1016000" y="6172200"/>
            <a:ext cx="14224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question: </a:t>
            </a:r>
            <a:r>
              <a:rPr lang="en-US" alt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standard and 1–2 skills does the evidence show the team should address next?</a:t>
            </a:r>
            <a:endParaRPr lang="en-US" sz="2200" dirty="0"/>
          </a:p>
        </p:txBody>
      </p:sp>
      <p:sp>
        <p:nvSpPr>
          <p:cNvPr id="24" name="footer"/>
          <p:cNvSpPr/>
          <p:nvPr/>
        </p:nvSpPr>
        <p:spPr>
          <a:xfrm>
            <a:off x="6096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· TEAM DEEP DIVE STEP 1: ANCHOR IN VISION &amp; DATA</a:t>
            </a:r>
            <a:endParaRPr lang="en-US" sz="1400" dirty="0"/>
          </a:p>
        </p:txBody>
      </p:sp>
      <p:sp>
        <p:nvSpPr>
          <p:cNvPr id="25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header-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0541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Data to Name a Learning Pattern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-label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MIN</a:t>
            </a:r>
            <a:endParaRPr lang="en-US" sz="1400" dirty="0"/>
          </a:p>
        </p:txBody>
      </p:sp>
      <p:sp>
        <p:nvSpPr>
          <p:cNvPr id="7" name="left-panel"/>
          <p:cNvSpPr/>
          <p:nvPr/>
        </p:nvSpPr>
        <p:spPr>
          <a:xfrm>
            <a:off x="609600" y="1803400"/>
            <a:ext cx="6934200" cy="5130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left-title"/>
          <p:cNvSpPr/>
          <p:nvPr/>
        </p:nvSpPr>
        <p:spPr>
          <a:xfrm>
            <a:off x="1016000" y="22606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Start with standards-aligned evidence</a:t>
            </a:r>
            <a:endParaRPr lang="en-US" sz="2200" dirty="0"/>
          </a:p>
        </p:txBody>
      </p:sp>
      <p:sp>
        <p:nvSpPr>
          <p:cNvPr id="9" name="left-copy"/>
          <p:cNvSpPr/>
          <p:nvPr/>
        </p:nvSpPr>
        <p:spPr>
          <a:xfrm>
            <a:off x="1016000" y="2946400"/>
            <a:ext cx="5918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Choose: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priority course standard and relevant evidence.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Name: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1–2 skills students must demonstrate within that standard.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Notice: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is accurate, partial, or missing.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Check: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 or responses when available.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not: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turn a score into a conclusion without naming the learning demand.</a:t>
            </a:r>
            <a:endParaRPr lang="en-US" sz="2000" dirty="0"/>
          </a:p>
        </p:txBody>
      </p:sp>
      <p:sp>
        <p:nvSpPr>
          <p:cNvPr id="10" name="right-panel"/>
          <p:cNvSpPr/>
          <p:nvPr/>
        </p:nvSpPr>
        <p:spPr>
          <a:xfrm>
            <a:off x="8305800" y="1803400"/>
            <a:ext cx="7340600" cy="513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right-title"/>
          <p:cNvSpPr/>
          <p:nvPr/>
        </p:nvSpPr>
        <p:spPr>
          <a:xfrm>
            <a:off x="8712200" y="22606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Write a student-centered pattern</a:t>
            </a:r>
            <a:endParaRPr lang="en-US" sz="2200" dirty="0"/>
          </a:p>
        </p:txBody>
      </p:sp>
      <p:sp>
        <p:nvSpPr>
          <p:cNvPr id="12" name="stems"/>
          <p:cNvSpPr/>
          <p:nvPr/>
        </p:nvSpPr>
        <p:spPr>
          <a:xfrm>
            <a:off x="8712200" y="2997200"/>
            <a:ext cx="62992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Standard: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Students are expected to ________.</a:t>
            </a:r>
            <a:endParaRPr lang="en-US" sz="200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Skill: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Students need to explain, model, analyze, apply, or argue from evidence.</a:t>
            </a:r>
            <a:endParaRPr lang="en-US" sz="200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can…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skill to ________.</a:t>
            </a:r>
            <a:endParaRPr lang="en-US" sz="2000" dirty="0"/>
          </a:p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need support to…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skill to ________.</a:t>
            </a:r>
            <a:endParaRPr lang="en-US" sz="2000" dirty="0"/>
          </a:p>
        </p:txBody>
      </p:sp>
      <p:sp>
        <p:nvSpPr>
          <p:cNvPr id="13" name="bottom-note"/>
          <p:cNvSpPr/>
          <p:nvPr/>
        </p:nvSpPr>
        <p:spPr>
          <a:xfrm>
            <a:off x="609600" y="7366000"/>
            <a:ext cx="15036800" cy="7112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4" name="bottom-note-text"/>
          <p:cNvSpPr/>
          <p:nvPr/>
        </p:nvSpPr>
        <p:spPr>
          <a:xfrm>
            <a:off x="965200" y="7607300"/>
            <a:ext cx="1432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EVIDENCE TO NAME WHAT STUDENTS NEED TO LEARN—NOT TO LABEL STUDENTS, CLASSES, OR TEACHERS.</a:t>
            </a:r>
            <a:endParaRPr lang="en-US" sz="1400" dirty="0"/>
          </a:p>
        </p:txBody>
      </p:sp>
      <p:sp>
        <p:nvSpPr>
          <p:cNvPr id="15" name="footer"/>
          <p:cNvSpPr/>
          <p:nvPr/>
        </p:nvSpPr>
        <p:spPr>
          <a:xfrm>
            <a:off x="6096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DAY QUESTION 1 · AFTER-LESSON REFLECTION</a:t>
            </a:r>
            <a:endParaRPr lang="en-US" sz="1400" dirty="0"/>
          </a:p>
        </p:txBody>
      </p:sp>
      <p:sp>
        <p:nvSpPr>
          <p:cNvPr id="16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header-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1557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Priority to an Upcoming Lesson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-label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MIN</a:t>
            </a:r>
            <a:endParaRPr lang="en-US" sz="1400" dirty="0"/>
          </a:p>
        </p:txBody>
      </p:sp>
      <p:sp>
        <p:nvSpPr>
          <p:cNvPr id="7" name="subtitle"/>
          <p:cNvSpPr/>
          <p:nvPr/>
        </p:nvSpPr>
        <p:spPr>
          <a:xfrm>
            <a:off x="609600" y="14986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from a standards-and-skills pattern to a real lesson—not a general reteach plan.</a:t>
            </a:r>
            <a:endParaRPr lang="en-US" sz="2000" dirty="0"/>
          </a:p>
        </p:txBody>
      </p:sp>
      <p:sp>
        <p:nvSpPr>
          <p:cNvPr id="8" name="q1"/>
          <p:cNvSpPr/>
          <p:nvPr/>
        </p:nvSpPr>
        <p:spPr>
          <a:xfrm>
            <a:off x="609600" y="2336800"/>
            <a:ext cx="7112000" cy="37338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am"/>
          <p:cNvSpPr/>
          <p:nvPr/>
        </p:nvSpPr>
        <p:spPr>
          <a:xfrm>
            <a:off x="8534400" y="2336800"/>
            <a:ext cx="7112000" cy="373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q1-title"/>
          <p:cNvSpPr/>
          <p:nvPr/>
        </p:nvSpPr>
        <p:spPr>
          <a:xfrm>
            <a:off x="1016000" y="27686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1 · PURPOSE &amp; MASTERY</a:t>
            </a:r>
            <a:endParaRPr lang="en-US" sz="2200" dirty="0"/>
          </a:p>
        </p:txBody>
      </p:sp>
      <p:sp>
        <p:nvSpPr>
          <p:cNvPr id="11" name="q1-copy"/>
          <p:cNvSpPr/>
          <p:nvPr/>
        </p:nvSpPr>
        <p:spPr>
          <a:xfrm>
            <a:off x="1016000" y="3327400"/>
            <a:ext cx="5969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Which course standard and 1–2 skills are the priority?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content and language objective will make them visible?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will students say, do, model, write, or produce to show progress?</a:t>
            </a:r>
            <a:endParaRPr lang="en-US" sz="2000" dirty="0"/>
          </a:p>
        </p:txBody>
      </p:sp>
      <p:sp>
        <p:nvSpPr>
          <p:cNvPr id="12" name="team-title"/>
          <p:cNvSpPr/>
          <p:nvPr/>
        </p:nvSpPr>
        <p:spPr>
          <a:xfrm>
            <a:off x="8940800" y="27686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DEEP DIVE · STEPS 1–2</a:t>
            </a:r>
            <a:endParaRPr lang="en-US" sz="2200" dirty="0"/>
          </a:p>
        </p:txBody>
      </p:sp>
      <p:sp>
        <p:nvSpPr>
          <p:cNvPr id="13" name="team-copy"/>
          <p:cNvSpPr/>
          <p:nvPr/>
        </p:nvSpPr>
        <p:spPr>
          <a:xfrm>
            <a:off x="8940800" y="3327400"/>
            <a:ext cx="596900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Where does this lesson sit in the unit?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Which task requires students to use the priority skills?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 criteria for success will make the standard and skills clear?</a:t>
            </a:r>
            <a:endParaRPr lang="en-US" sz="2000" dirty="0"/>
          </a:p>
        </p:txBody>
      </p:sp>
      <p:sp>
        <p:nvSpPr>
          <p:cNvPr id="14" name="product"/>
          <p:cNvSpPr/>
          <p:nvPr/>
        </p:nvSpPr>
        <p:spPr>
          <a:xfrm>
            <a:off x="609600" y="6680200"/>
            <a:ext cx="15036800" cy="914400"/>
          </a:xfrm>
          <a:prstGeom prst="rect">
            <a:avLst/>
          </a:prstGeom>
          <a:solidFill>
            <a:srgbClr val="FDECEE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5" name="product-text"/>
          <p:cNvSpPr/>
          <p:nvPr/>
        </p:nvSpPr>
        <p:spPr>
          <a:xfrm>
            <a:off x="1016000" y="69596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product: </a:t>
            </a:r>
            <a:r>
              <a:rPr lang="en-US" altLang="en-US" sz="22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standard + 1–2 skills + upcoming lesson/task + evidence of mastery</a:t>
            </a:r>
            <a:endParaRPr lang="en-US" sz="2200" dirty="0"/>
          </a:p>
        </p:txBody>
      </p:sp>
      <p:sp>
        <p:nvSpPr>
          <p:cNvPr id="16" name="footer"/>
          <p:cNvSpPr/>
          <p:nvPr/>
        </p:nvSpPr>
        <p:spPr>
          <a:xfrm>
            <a:off x="6096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 MATERIALS · PRIORITY STATEMENT · LESSON/TASK · BENCHMARK EVIDENCE</a:t>
            </a:r>
            <a:endParaRPr lang="en-US" sz="1400" dirty="0"/>
          </a:p>
        </p:txBody>
      </p:sp>
      <p:sp>
        <p:nvSpPr>
          <p:cNvPr id="17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16256000" cy="10668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3" name="header-rule"/>
          <p:cNvSpPr/>
          <p:nvPr/>
        </p:nvSpPr>
        <p:spPr>
          <a:xfrm>
            <a:off x="0" y="1066800"/>
            <a:ext cx="16256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itle"/>
          <p:cNvSpPr/>
          <p:nvPr/>
        </p:nvSpPr>
        <p:spPr>
          <a:xfrm>
            <a:off x="609600" y="304800"/>
            <a:ext cx="10668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Course-Alike Analysis</a:t>
            </a:r>
            <a:endParaRPr lang="en-US" sz="3200" dirty="0"/>
          </a:p>
        </p:txBody>
      </p:sp>
      <p:sp>
        <p:nvSpPr>
          <p:cNvPr id="5" name="time-chip"/>
          <p:cNvSpPr/>
          <p:nvPr/>
        </p:nvSpPr>
        <p:spPr>
          <a:xfrm>
            <a:off x="13741400" y="279400"/>
            <a:ext cx="19050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ime-label"/>
          <p:cNvSpPr/>
          <p:nvPr/>
        </p:nvSpPr>
        <p:spPr>
          <a:xfrm>
            <a:off x="13741400" y="419100"/>
            <a:ext cx="190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MIN</a:t>
            </a:r>
            <a:endParaRPr lang="en-US" sz="1400" dirty="0"/>
          </a:p>
        </p:txBody>
      </p:sp>
      <p:sp>
        <p:nvSpPr>
          <p:cNvPr id="7" name="steps-panel"/>
          <p:cNvSpPr/>
          <p:nvPr/>
        </p:nvSpPr>
        <p:spPr>
          <a:xfrm>
            <a:off x="609600" y="1803400"/>
            <a:ext cx="8890000" cy="5562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teps-title"/>
          <p:cNvSpPr/>
          <p:nvPr/>
        </p:nvSpPr>
        <p:spPr>
          <a:xfrm>
            <a:off x="1016000" y="22606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in this order</a:t>
            </a:r>
            <a:endParaRPr lang="en-US" sz="2200" dirty="0"/>
          </a:p>
        </p:txBody>
      </p:sp>
      <p:sp>
        <p:nvSpPr>
          <p:cNvPr id="9" name="steps"/>
          <p:cNvSpPr/>
          <p:nvPr/>
        </p:nvSpPr>
        <p:spPr>
          <a:xfrm>
            <a:off x="1016000" y="2870200"/>
            <a:ext cx="7874000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one priority course standard.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 the 1–2 skills students need to demonstrate.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evidence to write a student-centered learning pattern.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Select an upcoming task where students can use the skills.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Save the evidence and materials for Friday.</a:t>
            </a:r>
            <a:endParaRPr lang="en-US" sz="2000" dirty="0"/>
          </a:p>
        </p:txBody>
      </p:sp>
      <p:sp>
        <p:nvSpPr>
          <p:cNvPr id="10" name="product-panel"/>
          <p:cNvSpPr/>
          <p:nvPr/>
        </p:nvSpPr>
        <p:spPr>
          <a:xfrm>
            <a:off x="10134600" y="1803400"/>
            <a:ext cx="5511800" cy="55626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1" name="product-kicker"/>
          <p:cNvSpPr/>
          <p:nvPr/>
        </p:nvSpPr>
        <p:spPr>
          <a:xfrm>
            <a:off x="10591800" y="2311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400" dirty="0"/>
          </a:p>
        </p:txBody>
      </p:sp>
      <p:sp>
        <p:nvSpPr>
          <p:cNvPr id="12" name="product-title"/>
          <p:cNvSpPr/>
          <p:nvPr/>
        </p:nvSpPr>
        <p:spPr>
          <a:xfrm>
            <a:off x="10591800" y="2946400"/>
            <a:ext cx="4064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data-to-</a:t>
            </a:r>
            <a:endParaRPr lang="en-US" sz="30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plan</a:t>
            </a:r>
            <a:endParaRPr lang="en-US" sz="3000" dirty="0"/>
          </a:p>
        </p:txBody>
      </p:sp>
      <p:sp>
        <p:nvSpPr>
          <p:cNvPr id="13" name="product-copy"/>
          <p:cNvSpPr/>
          <p:nvPr/>
        </p:nvSpPr>
        <p:spPr>
          <a:xfrm>
            <a:off x="10591800" y="4445000"/>
            <a:ext cx="42164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Evidence source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Priority standard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1–2 target skills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Learning pattern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Upcoming lesson/task</a:t>
            </a:r>
            <a:endParaRPr lang="en-US" sz="1900" dirty="0"/>
          </a:p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Materials for Friday</a:t>
            </a:r>
            <a:endParaRPr lang="en-US" sz="1900" dirty="0"/>
          </a:p>
        </p:txBody>
      </p:sp>
      <p:sp>
        <p:nvSpPr>
          <p:cNvPr id="14" name="footer"/>
          <p:cNvSpPr/>
          <p:nvPr/>
        </p:nvSpPr>
        <p:spPr>
          <a:xfrm>
            <a:off x="609600" y="8509000"/>
            <a:ext cx="965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TIME FOR THE TEAM’S ACTUAL COURSE MATERIALS AND STUDENT EVIDENCE</a:t>
            </a:r>
            <a:endParaRPr lang="en-US" sz="1400" dirty="0"/>
          </a:p>
        </p:txBody>
      </p:sp>
      <p:sp>
        <p:nvSpPr>
          <p:cNvPr id="15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ule"/>
          <p:cNvSpPr/>
          <p:nvPr/>
        </p:nvSpPr>
        <p:spPr>
          <a:xfrm>
            <a:off x="609600" y="1473200"/>
            <a:ext cx="15036800" cy="101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ept"/>
          <p:cNvSpPr/>
          <p:nvPr/>
        </p:nvSpPr>
        <p:spPr>
          <a:xfrm>
            <a:off x="609600" y="711200"/>
            <a:ext cx="825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OCTOBER 13 CLOSE · DATA → PATTERN → NEXT LESSON</a:t>
            </a:r>
            <a:endParaRPr lang="en-US" sz="1400" dirty="0"/>
          </a:p>
        </p:txBody>
      </p:sp>
      <p:sp>
        <p:nvSpPr>
          <p:cNvPr id="4" name="title"/>
          <p:cNvSpPr/>
          <p:nvPr/>
        </p:nvSpPr>
        <p:spPr>
          <a:xfrm>
            <a:off x="609600" y="2133600"/>
            <a:ext cx="889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altLang="en-US" sz="4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priority</a:t>
            </a:r>
            <a:endParaRPr lang="en-US" sz="4800" dirty="0"/>
          </a:p>
          <a:p>
            <a:pPr algn="l" indent="0" marL="0">
              <a:lnSpc>
                <a:spcPts val="4704"/>
              </a:lnSpc>
              <a:buNone/>
            </a:pPr>
            <a:r>
              <a:rPr lang="en-US" altLang="en-US" sz="4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on Friday.</a:t>
            </a:r>
            <a:endParaRPr lang="en-US" sz="4800" dirty="0"/>
          </a:p>
        </p:txBody>
      </p:sp>
      <p:sp>
        <p:nvSpPr>
          <p:cNvPr id="5" name="subtitle"/>
          <p:cNvSpPr/>
          <p:nvPr/>
        </p:nvSpPr>
        <p:spPr>
          <a:xfrm>
            <a:off x="609600" y="3962400"/>
            <a:ext cx="863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buNone/>
            </a:pPr>
            <a:r>
              <a:rPr lang="en-US" altLang="en-US" sz="2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teams will turn this evidence-based pattern into a ready-to-teach learning experience.</a:t>
            </a:r>
            <a:endParaRPr lang="en-US" sz="2100" dirty="0"/>
          </a:p>
        </p:txBody>
      </p:sp>
      <p:sp>
        <p:nvSpPr>
          <p:cNvPr id="6" name="panel"/>
          <p:cNvSpPr/>
          <p:nvPr/>
        </p:nvSpPr>
        <p:spPr>
          <a:xfrm>
            <a:off x="10312400" y="2108200"/>
            <a:ext cx="5334000" cy="4241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panel-title"/>
          <p:cNvSpPr/>
          <p:nvPr/>
        </p:nvSpPr>
        <p:spPr>
          <a:xfrm>
            <a:off x="10769600" y="2641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 FRIDAY</a:t>
            </a:r>
            <a:endParaRPr lang="en-US" sz="2200" dirty="0"/>
          </a:p>
        </p:txBody>
      </p:sp>
      <p:sp>
        <p:nvSpPr>
          <p:cNvPr id="8" name="panel-copy"/>
          <p:cNvSpPr/>
          <p:nvPr/>
        </p:nvSpPr>
        <p:spPr>
          <a:xfrm>
            <a:off x="10769600" y="3200400"/>
            <a:ext cx="406400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Benchmark evidence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Priority standard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1–2 target skills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Learning pattern + lesson/task</a:t>
            </a:r>
            <a:endParaRPr lang="en-US" sz="2000" dirty="0"/>
          </a:p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Curriculum materials + Tool</a:t>
            </a:r>
            <a:endParaRPr lang="en-US" sz="2000" dirty="0"/>
          </a:p>
        </p:txBody>
      </p:sp>
      <p:sp>
        <p:nvSpPr>
          <p:cNvPr id="9" name="footer"/>
          <p:cNvSpPr/>
          <p:nvPr/>
        </p:nvSpPr>
        <p:spPr>
          <a:xfrm>
            <a:off x="609600" y="8509000"/>
            <a:ext cx="889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PLC · OCTOBER 13, 2026</a:t>
            </a:r>
            <a:endParaRPr lang="en-US" sz="1400" dirty="0"/>
          </a:p>
        </p:txBody>
      </p:sp>
      <p:sp>
        <p:nvSpPr>
          <p:cNvPr id="10" name="number"/>
          <p:cNvSpPr/>
          <p:nvPr/>
        </p:nvSpPr>
        <p:spPr>
          <a:xfrm>
            <a:off x="14732000" y="8509000"/>
            <a:ext cx="914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Benchmark Data to an Instructional Priority — October 13, 2026</dc:title>
  <dc:subject>From Benchmark Data to an Instructional Priority — October 13, 2026</dc:subject>
  <dc:creator>Manus</dc:creator>
  <cp:lastModifiedBy>Manus</cp:lastModifiedBy>
  <cp:revision>1</cp:revision>
  <dcterms:created xsi:type="dcterms:W3CDTF">2026-10-07T16:38:35Z</dcterms:created>
  <dcterms:modified xsi:type="dcterms:W3CDTF">2026-10-07T16:38:35Z</dcterms:modified>
</cp:coreProperties>
</file>
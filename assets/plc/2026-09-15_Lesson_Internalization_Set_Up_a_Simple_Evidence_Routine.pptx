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15,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763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400" dirty="0"/>
          </a:p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a Simple Evidence Routine</a:t>
            </a:r>
            <a:endParaRPr lang="en-US" sz="44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1750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one low-lift way to capture student thinking during the lesson.</a:t>
            </a:r>
            <a:endParaRPr lang="en-US" sz="22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2E32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20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20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1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Ready-to-teach lesson · student task or materials · Lesson Internalization Tool · a simple option for capturing evidence</a:t>
            </a:r>
            <a:endParaRPr lang="en-US" sz="19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E2E4E8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add a practical capture routine to the ready-to-teach lesson, so evidence will be available after students experience it.</a:t>
            </a:r>
            <a:endParaRPr lang="en-US" sz="19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Preparation</a:t>
            </a:r>
            <a:endParaRPr lang="en-US" sz="17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SIMPLE EVIDENCE ROUTINE · 9/15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46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41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a Simple Evidence Routine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8102E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Bring forward the ready-to-teach lesson and choose one evidence moment.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Routine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Choose what to collect, when to collect it, and how many examples to save.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Prepare one low-lift routine for collecting, saving, and later reviewing evidence.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31:00–37:00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Check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Check that the collection routine is feasible and will not interrupt the lesson flow.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will you collect, and when will you collect it?</a:t>
            </a:r>
            <a:endParaRPr lang="en-US" sz="2000" dirty="0"/>
          </a:p>
        </p:txBody>
      </p:sp>
      <p:sp>
        <p:nvSpPr>
          <p:cNvPr id="21" name="agenda-takeaway"/>
          <p:cNvSpPr/>
          <p:nvPr/>
        </p:nvSpPr>
        <p:spPr>
          <a:xfrm>
            <a:off x="8458200" y="4699000"/>
            <a:ext cx="657860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agenda-takeaway-label"/>
          <p:cNvSpPr/>
          <p:nvPr/>
        </p:nvSpPr>
        <p:spPr>
          <a:xfrm>
            <a:off x="8788400" y="49530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agenda-takeaway-text"/>
          <p:cNvSpPr/>
          <p:nvPr/>
        </p:nvSpPr>
        <p:spPr>
          <a:xfrm>
            <a:off x="8788400" y="5308600"/>
            <a:ext cx="590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 one simple, usable evidence-capture routine.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15, 2026 · EVIDENCE ROUTINE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482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a Simple Evidence Routine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8" name="question"/>
          <p:cNvSpPr/>
          <p:nvPr/>
        </p:nvSpPr>
        <p:spPr>
          <a:xfrm>
            <a:off x="914400" y="22352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altLang="en-US" sz="36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will we capture one useful piece of evidence without interrupting the lesson?</a:t>
            </a:r>
            <a:endParaRPr lang="en-US" sz="3600" dirty="0"/>
          </a:p>
        </p:txBody>
      </p:sp>
      <p:sp>
        <p:nvSpPr>
          <p:cNvPr id="9" name="context"/>
          <p:cNvSpPr/>
          <p:nvPr/>
        </p:nvSpPr>
        <p:spPr>
          <a:xfrm>
            <a:off x="914400" y="3733800"/>
            <a:ext cx="7239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lesson is already prepared. Today adds a practical routine for collecting and saving evidence that the team can review after students experience the lesson.</a:t>
            </a:r>
            <a:endParaRPr lang="en-US" sz="2000" dirty="0"/>
          </a:p>
        </p:txBody>
      </p:sp>
      <p:sp>
        <p:nvSpPr>
          <p:cNvPr id="10" name="point1-tile"/>
          <p:cNvSpPr/>
          <p:nvPr/>
        </p:nvSpPr>
        <p:spPr>
          <a:xfrm>
            <a:off x="914400" y="53340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point1-number"/>
          <p:cNvSpPr/>
          <p:nvPr/>
        </p:nvSpPr>
        <p:spPr>
          <a:xfrm>
            <a:off x="914400" y="5448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point1"/>
          <p:cNvSpPr/>
          <p:nvPr/>
        </p:nvSpPr>
        <p:spPr>
          <a:xfrm>
            <a:off x="1651000" y="53213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evidence item.</a:t>
            </a: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a response, artifact, tally, or brief note.</a:t>
            </a:r>
            <a:endParaRPr lang="en-US" sz="1900" dirty="0"/>
          </a:p>
        </p:txBody>
      </p:sp>
      <p:sp>
        <p:nvSpPr>
          <p:cNvPr id="13" name="point2-tile"/>
          <p:cNvSpPr/>
          <p:nvPr/>
        </p:nvSpPr>
        <p:spPr>
          <a:xfrm>
            <a:off x="914400" y="60706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point2-number"/>
          <p:cNvSpPr/>
          <p:nvPr/>
        </p:nvSpPr>
        <p:spPr>
          <a:xfrm>
            <a:off x="914400" y="61849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point2"/>
          <p:cNvSpPr/>
          <p:nvPr/>
        </p:nvSpPr>
        <p:spPr>
          <a:xfrm>
            <a:off x="1651000" y="60579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collection moment.</a:t>
            </a: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Keep the routine low-lift and feasible.</a:t>
            </a:r>
            <a:endParaRPr lang="en-US" sz="1900" dirty="0"/>
          </a:p>
        </p:txBody>
      </p:sp>
      <p:sp>
        <p:nvSpPr>
          <p:cNvPr id="16" name="point3-tile"/>
          <p:cNvSpPr/>
          <p:nvPr/>
        </p:nvSpPr>
        <p:spPr>
          <a:xfrm>
            <a:off x="914400" y="68072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point3-number"/>
          <p:cNvSpPr/>
          <p:nvPr/>
        </p:nvSpPr>
        <p:spPr>
          <a:xfrm>
            <a:off x="914400" y="69215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point3"/>
          <p:cNvSpPr/>
          <p:nvPr/>
        </p:nvSpPr>
        <p:spPr>
          <a:xfrm>
            <a:off x="1651000" y="67945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review path.</a:t>
            </a: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Decide where the evidence will be saved for September 18.</a:t>
            </a:r>
            <a:endParaRPr lang="en-US" sz="1900" dirty="0"/>
          </a:p>
        </p:txBody>
      </p:sp>
      <p:sp>
        <p:nvSpPr>
          <p:cNvPr id="19" name="rationale-card"/>
          <p:cNvSpPr/>
          <p:nvPr/>
        </p:nvSpPr>
        <p:spPr>
          <a:xfrm>
            <a:off x="9334500" y="2260600"/>
            <a:ext cx="5461000" cy="391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rationale-label"/>
          <p:cNvSpPr/>
          <p:nvPr/>
        </p:nvSpPr>
        <p:spPr>
          <a:xfrm>
            <a:off x="9728200" y="2603500"/>
            <a:ext cx="467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ROUTINE?</a:t>
            </a:r>
            <a:endParaRPr lang="en-US" sz="1300" dirty="0"/>
          </a:p>
        </p:txBody>
      </p:sp>
      <p:sp>
        <p:nvSpPr>
          <p:cNvPr id="21" name="rationale-copy"/>
          <p:cNvSpPr/>
          <p:nvPr/>
        </p:nvSpPr>
        <p:spPr>
          <a:xfrm>
            <a:off x="9728200" y="3073400"/>
            <a:ext cx="4648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is useful only if it can be collected during real instruction and brought back to the team. Keep the routine small enough to use without disrupting student thinking.</a:t>
            </a:r>
            <a:endParaRPr lang="en-US" sz="2100" dirty="0"/>
          </a:p>
        </p:txBody>
      </p:sp>
      <p:sp>
        <p:nvSpPr>
          <p:cNvPr id="22" name="rationale-line"/>
          <p:cNvSpPr/>
          <p:nvPr/>
        </p:nvSpPr>
        <p:spPr>
          <a:xfrm>
            <a:off x="9728200" y="5207000"/>
            <a:ext cx="4648200" cy="9144"/>
          </a:xfrm>
          <a:prstGeom prst="line">
            <a:avLst/>
          </a:prstGeom>
          <a:ln w="25400">
            <a:solidFill>
              <a:srgbClr val="C8102E"/>
            </a:solidFill>
            <a:prstDash val="solid"/>
          </a:ln>
        </p:spPr>
      </p:sp>
      <p:sp>
        <p:nvSpPr>
          <p:cNvPr id="23" name="rationale-bottom"/>
          <p:cNvSpPr/>
          <p:nvPr/>
        </p:nvSpPr>
        <p:spPr>
          <a:xfrm>
            <a:off x="9728200" y="5473700"/>
            <a:ext cx="464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one useful item — not everything.</a:t>
            </a:r>
            <a:endParaRPr lang="en-US" sz="1800" dirty="0"/>
          </a:p>
        </p:txBody>
      </p:sp>
      <p:sp>
        <p:nvSpPr>
          <p:cNvPr id="24" name="takeaway"/>
          <p:cNvSpPr/>
          <p:nvPr/>
        </p:nvSpPr>
        <p:spPr>
          <a:xfrm>
            <a:off x="9334500" y="6604000"/>
            <a:ext cx="5461000" cy="1041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akeaway-label"/>
          <p:cNvSpPr/>
          <p:nvPr/>
        </p:nvSpPr>
        <p:spPr>
          <a:xfrm>
            <a:off x="9652000" y="6832600"/>
            <a:ext cx="482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START</a:t>
            </a:r>
            <a:endParaRPr lang="en-US" sz="1200" dirty="0"/>
          </a:p>
        </p:txBody>
      </p:sp>
      <p:sp>
        <p:nvSpPr>
          <p:cNvPr id="26" name="takeaway-copy"/>
          <p:cNvSpPr/>
          <p:nvPr/>
        </p:nvSpPr>
        <p:spPr>
          <a:xfrm>
            <a:off x="9652000" y="71501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item, one moment, and one place to save it.</a:t>
            </a:r>
            <a:endParaRPr lang="en-US" sz="1800" dirty="0"/>
          </a:p>
        </p:txBody>
      </p:sp>
      <p:sp>
        <p:nvSpPr>
          <p:cNvPr id="2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SIMPLE EVIDENCE ROUTINE · 9/15</a:t>
            </a:r>
            <a:endParaRPr lang="en-US" sz="1200" dirty="0"/>
          </a:p>
        </p:txBody>
      </p:sp>
      <p:sp>
        <p:nvSpPr>
          <p:cNvPr id="2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CONNECTION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03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Evidence Capture to Team Review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protocol-panel"/>
          <p:cNvSpPr/>
          <p:nvPr/>
        </p:nvSpPr>
        <p:spPr>
          <a:xfrm>
            <a:off x="762000" y="2108200"/>
            <a:ext cx="14732000" cy="939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protocol-kicker"/>
          <p:cNvSpPr/>
          <p:nvPr/>
        </p:nvSpPr>
        <p:spPr>
          <a:xfrm>
            <a:off x="1066800" y="23622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TOOL</a:t>
            </a:r>
            <a:endParaRPr lang="en-US" sz="1200" dirty="0"/>
          </a:p>
        </p:txBody>
      </p:sp>
      <p:sp>
        <p:nvSpPr>
          <p:cNvPr id="10" name="protocol-copy"/>
          <p:cNvSpPr/>
          <p:nvPr/>
        </p:nvSpPr>
        <p:spPr>
          <a:xfrm>
            <a:off x="1066800" y="26416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preparation: collect one usable evidence item now so the team can examine a real learning pattern after instruction.</a:t>
            </a:r>
            <a:endParaRPr lang="en-US" sz="1800" dirty="0"/>
          </a:p>
        </p:txBody>
      </p:sp>
      <p:sp>
        <p:nvSpPr>
          <p:cNvPr id="11" name="card1"/>
          <p:cNvSpPr/>
          <p:nvPr/>
        </p:nvSpPr>
        <p:spPr>
          <a:xfrm>
            <a:off x="762000" y="3683000"/>
            <a:ext cx="3276600" cy="241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num1"/>
          <p:cNvSpPr/>
          <p:nvPr/>
        </p:nvSpPr>
        <p:spPr>
          <a:xfrm>
            <a:off x="1041400" y="39878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num1-text"/>
          <p:cNvSpPr/>
          <p:nvPr/>
        </p:nvSpPr>
        <p:spPr>
          <a:xfrm>
            <a:off x="1041400" y="4089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041400" y="46482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evidence item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041400" y="5181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one response, work sample, exit response, tally, or brief observation note.</a:t>
            </a:r>
            <a:endParaRPr lang="en-US" sz="1500" dirty="0"/>
          </a:p>
        </p:txBody>
      </p:sp>
      <p:sp>
        <p:nvSpPr>
          <p:cNvPr id="16" name="arrow1"/>
          <p:cNvSpPr/>
          <p:nvPr/>
        </p:nvSpPr>
        <p:spPr>
          <a:xfrm>
            <a:off x="4165600" y="4762500"/>
            <a:ext cx="609600" cy="9144"/>
          </a:xfrm>
          <a:prstGeom prst="line">
            <a:avLst/>
          </a:prstGeom>
          <a:ln w="12700">
            <a:solidFill>
              <a:srgbClr val="C8102E"/>
            </a:solidFill>
            <a:prstDash val="solid"/>
          </a:ln>
        </p:spPr>
      </p:sp>
      <p:sp>
        <p:nvSpPr>
          <p:cNvPr id="17" name="card2"/>
          <p:cNvSpPr/>
          <p:nvPr/>
        </p:nvSpPr>
        <p:spPr>
          <a:xfrm>
            <a:off x="4927600" y="3683000"/>
            <a:ext cx="3276600" cy="241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8" name="num2"/>
          <p:cNvSpPr/>
          <p:nvPr/>
        </p:nvSpPr>
        <p:spPr>
          <a:xfrm>
            <a:off x="5207000" y="39878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num2-text"/>
          <p:cNvSpPr/>
          <p:nvPr/>
        </p:nvSpPr>
        <p:spPr>
          <a:xfrm>
            <a:off x="5207000" y="4089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ard2-title"/>
          <p:cNvSpPr/>
          <p:nvPr/>
        </p:nvSpPr>
        <p:spPr>
          <a:xfrm>
            <a:off x="5207000" y="46482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collection moment</a:t>
            </a:r>
            <a:endParaRPr lang="en-US" sz="2000" dirty="0"/>
          </a:p>
        </p:txBody>
      </p:sp>
      <p:sp>
        <p:nvSpPr>
          <p:cNvPr id="21" name="card2-copy"/>
          <p:cNvSpPr/>
          <p:nvPr/>
        </p:nvSpPr>
        <p:spPr>
          <a:xfrm>
            <a:off x="5207000" y="5181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when the item will be collected without interrupting the lesson flow.</a:t>
            </a:r>
            <a:endParaRPr lang="en-US" sz="1500" dirty="0"/>
          </a:p>
        </p:txBody>
      </p:sp>
      <p:sp>
        <p:nvSpPr>
          <p:cNvPr id="22" name="arrow2"/>
          <p:cNvSpPr/>
          <p:nvPr/>
        </p:nvSpPr>
        <p:spPr>
          <a:xfrm>
            <a:off x="8331200" y="4762500"/>
            <a:ext cx="609600" cy="9144"/>
          </a:xfrm>
          <a:prstGeom prst="line">
            <a:avLst/>
          </a:prstGeom>
          <a:ln w="12700">
            <a:solidFill>
              <a:srgbClr val="C8102E"/>
            </a:solidFill>
            <a:prstDash val="solid"/>
          </a:ln>
        </p:spPr>
      </p:sp>
      <p:sp>
        <p:nvSpPr>
          <p:cNvPr id="23" name="card3"/>
          <p:cNvSpPr/>
          <p:nvPr/>
        </p:nvSpPr>
        <p:spPr>
          <a:xfrm>
            <a:off x="9093200" y="3683000"/>
            <a:ext cx="3276600" cy="241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4" name="num3"/>
          <p:cNvSpPr/>
          <p:nvPr/>
        </p:nvSpPr>
        <p:spPr>
          <a:xfrm>
            <a:off x="9372600" y="39878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num3-text"/>
          <p:cNvSpPr/>
          <p:nvPr/>
        </p:nvSpPr>
        <p:spPr>
          <a:xfrm>
            <a:off x="9372600" y="4089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card3-title"/>
          <p:cNvSpPr/>
          <p:nvPr/>
        </p:nvSpPr>
        <p:spPr>
          <a:xfrm>
            <a:off x="9372600" y="46482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evidence</a:t>
            </a:r>
            <a:endParaRPr lang="en-US" sz="2000" dirty="0"/>
          </a:p>
        </p:txBody>
      </p:sp>
      <p:sp>
        <p:nvSpPr>
          <p:cNvPr id="27" name="card3-copy"/>
          <p:cNvSpPr/>
          <p:nvPr/>
        </p:nvSpPr>
        <p:spPr>
          <a:xfrm>
            <a:off x="9372600" y="5181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where the team will keep the item after the lesson for the evidence review.</a:t>
            </a:r>
            <a:endParaRPr lang="en-US" sz="1500" dirty="0"/>
          </a:p>
        </p:txBody>
      </p:sp>
      <p:sp>
        <p:nvSpPr>
          <p:cNvPr id="28" name="arrow3"/>
          <p:cNvSpPr/>
          <p:nvPr/>
        </p:nvSpPr>
        <p:spPr>
          <a:xfrm>
            <a:off x="12496800" y="4762500"/>
            <a:ext cx="609600" cy="9144"/>
          </a:xfrm>
          <a:prstGeom prst="line">
            <a:avLst/>
          </a:prstGeom>
          <a:ln w="12700">
            <a:solidFill>
              <a:srgbClr val="C8102E"/>
            </a:solidFill>
            <a:prstDash val="solid"/>
          </a:ln>
        </p:spPr>
      </p:sp>
      <p:sp>
        <p:nvSpPr>
          <p:cNvPr id="29" name="card4"/>
          <p:cNvSpPr/>
          <p:nvPr/>
        </p:nvSpPr>
        <p:spPr>
          <a:xfrm>
            <a:off x="13258800" y="3683000"/>
            <a:ext cx="2235200" cy="2413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0" name="num4"/>
          <p:cNvSpPr/>
          <p:nvPr/>
        </p:nvSpPr>
        <p:spPr>
          <a:xfrm>
            <a:off x="13538200" y="39878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num4-text"/>
          <p:cNvSpPr/>
          <p:nvPr/>
        </p:nvSpPr>
        <p:spPr>
          <a:xfrm>
            <a:off x="13538200" y="4089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card4-title"/>
          <p:cNvSpPr/>
          <p:nvPr/>
        </p:nvSpPr>
        <p:spPr>
          <a:xfrm>
            <a:off x="13538200" y="4648200"/>
            <a:ext cx="165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review</a:t>
            </a:r>
            <a:endParaRPr lang="en-US" sz="2000" dirty="0"/>
          </a:p>
        </p:txBody>
      </p:sp>
      <p:sp>
        <p:nvSpPr>
          <p:cNvPr id="33" name="card4-copy"/>
          <p:cNvSpPr/>
          <p:nvPr/>
        </p:nvSpPr>
        <p:spPr>
          <a:xfrm>
            <a:off x="13538200" y="5410200"/>
            <a:ext cx="165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small evidence set to September 18.</a:t>
            </a:r>
            <a:endParaRPr lang="en-US" sz="1500" dirty="0"/>
          </a:p>
        </p:txBody>
      </p:sp>
      <p:sp>
        <p:nvSpPr>
          <p:cNvPr id="34" name="takeaway"/>
          <p:cNvSpPr/>
          <p:nvPr/>
        </p:nvSpPr>
        <p:spPr>
          <a:xfrm>
            <a:off x="762000" y="69850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akeaway-label"/>
          <p:cNvSpPr/>
          <p:nvPr/>
        </p:nvSpPr>
        <p:spPr>
          <a:xfrm>
            <a:off x="1092200" y="72009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TARGET</a:t>
            </a:r>
            <a:endParaRPr lang="en-US" sz="1200" dirty="0"/>
          </a:p>
        </p:txBody>
      </p:sp>
      <p:sp>
        <p:nvSpPr>
          <p:cNvPr id="36" name="takeaway-copy"/>
          <p:cNvSpPr/>
          <p:nvPr/>
        </p:nvSpPr>
        <p:spPr>
          <a:xfrm>
            <a:off x="1092200" y="75057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 one low-lift routine for collecting, saving, and reviewing evidence after the lesson.</a:t>
            </a:r>
            <a:endParaRPr lang="en-US" sz="18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SIMPLE EVIDENCE ROUTINE · 9/15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CONNECTION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PRACTICE · 21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117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Will Students Do, Say, Write, or Produce?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57400"/>
            <a:ext cx="1333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source of evidence that will help you understand the key thinking students are doing during the lesson.</a:t>
            </a:r>
            <a:endParaRPr lang="en-US" sz="2000" dirty="0"/>
          </a:p>
        </p:txBody>
      </p:sp>
      <p:sp>
        <p:nvSpPr>
          <p:cNvPr id="9" name="card1"/>
          <p:cNvSpPr/>
          <p:nvPr/>
        </p:nvSpPr>
        <p:spPr>
          <a:xfrm>
            <a:off x="762000" y="2870200"/>
            <a:ext cx="3365500" cy="3302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10414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n1text"/>
          <p:cNvSpPr/>
          <p:nvPr/>
        </p:nvSpPr>
        <p:spPr>
          <a:xfrm>
            <a:off x="10414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1title"/>
          <p:cNvSpPr/>
          <p:nvPr/>
        </p:nvSpPr>
        <p:spPr>
          <a:xfrm>
            <a:off x="10414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Talk</a:t>
            </a:r>
            <a:endParaRPr lang="en-US" sz="2100" dirty="0"/>
          </a:p>
        </p:txBody>
      </p:sp>
      <p:sp>
        <p:nvSpPr>
          <p:cNvPr id="13" name="c1copy"/>
          <p:cNvSpPr/>
          <p:nvPr/>
        </p:nvSpPr>
        <p:spPr>
          <a:xfrm>
            <a:off x="10414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explanations, comparisons, questions, or evidence do students share while working with peers?</a:t>
            </a:r>
            <a:endParaRPr lang="en-US" sz="1600" dirty="0"/>
          </a:p>
        </p:txBody>
      </p:sp>
      <p:sp>
        <p:nvSpPr>
          <p:cNvPr id="14" name="card2"/>
          <p:cNvSpPr/>
          <p:nvPr/>
        </p:nvSpPr>
        <p:spPr>
          <a:xfrm>
            <a:off x="4457700" y="2870200"/>
            <a:ext cx="3365500" cy="3302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n2"/>
          <p:cNvSpPr/>
          <p:nvPr/>
        </p:nvSpPr>
        <p:spPr>
          <a:xfrm>
            <a:off x="47371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n2text"/>
          <p:cNvSpPr/>
          <p:nvPr/>
        </p:nvSpPr>
        <p:spPr>
          <a:xfrm>
            <a:off x="47371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c2title"/>
          <p:cNvSpPr/>
          <p:nvPr/>
        </p:nvSpPr>
        <p:spPr>
          <a:xfrm>
            <a:off x="47371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Writing</a:t>
            </a:r>
            <a:endParaRPr lang="en-US" sz="2100" dirty="0"/>
          </a:p>
        </p:txBody>
      </p:sp>
      <p:sp>
        <p:nvSpPr>
          <p:cNvPr id="18" name="c2copy"/>
          <p:cNvSpPr/>
          <p:nvPr/>
        </p:nvSpPr>
        <p:spPr>
          <a:xfrm>
            <a:off x="47371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a response, notebook entry, model, explanation, or exit task show about student reasoning?</a:t>
            </a:r>
            <a:endParaRPr lang="en-US" sz="1600" dirty="0"/>
          </a:p>
        </p:txBody>
      </p:sp>
      <p:sp>
        <p:nvSpPr>
          <p:cNvPr id="19" name="card3"/>
          <p:cNvSpPr/>
          <p:nvPr/>
        </p:nvSpPr>
        <p:spPr>
          <a:xfrm>
            <a:off x="8153400" y="2870200"/>
            <a:ext cx="3365500" cy="3302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n3"/>
          <p:cNvSpPr/>
          <p:nvPr/>
        </p:nvSpPr>
        <p:spPr>
          <a:xfrm>
            <a:off x="84328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n3text"/>
          <p:cNvSpPr/>
          <p:nvPr/>
        </p:nvSpPr>
        <p:spPr>
          <a:xfrm>
            <a:off x="84328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c3title"/>
          <p:cNvSpPr/>
          <p:nvPr/>
        </p:nvSpPr>
        <p:spPr>
          <a:xfrm>
            <a:off x="84328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Work</a:t>
            </a:r>
            <a:endParaRPr lang="en-US" sz="2100" dirty="0"/>
          </a:p>
        </p:txBody>
      </p:sp>
      <p:sp>
        <p:nvSpPr>
          <p:cNvPr id="23" name="c3copy"/>
          <p:cNvSpPr/>
          <p:nvPr/>
        </p:nvSpPr>
        <p:spPr>
          <a:xfrm>
            <a:off x="84328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product, representation, calculation, investigation result, or model makes the learning visible?</a:t>
            </a:r>
            <a:endParaRPr lang="en-US" sz="1600" dirty="0"/>
          </a:p>
        </p:txBody>
      </p:sp>
      <p:sp>
        <p:nvSpPr>
          <p:cNvPr id="24" name="card4"/>
          <p:cNvSpPr/>
          <p:nvPr/>
        </p:nvSpPr>
        <p:spPr>
          <a:xfrm>
            <a:off x="11849100" y="2870200"/>
            <a:ext cx="3644900" cy="3302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5" name="n4"/>
          <p:cNvSpPr/>
          <p:nvPr/>
        </p:nvSpPr>
        <p:spPr>
          <a:xfrm>
            <a:off x="121285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n4text"/>
          <p:cNvSpPr/>
          <p:nvPr/>
        </p:nvSpPr>
        <p:spPr>
          <a:xfrm>
            <a:off x="121285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c4title"/>
          <p:cNvSpPr/>
          <p:nvPr/>
        </p:nvSpPr>
        <p:spPr>
          <a:xfrm>
            <a:off x="12128500" y="39370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Check</a:t>
            </a:r>
            <a:endParaRPr lang="en-US" sz="2100" dirty="0"/>
          </a:p>
        </p:txBody>
      </p:sp>
      <p:sp>
        <p:nvSpPr>
          <p:cNvPr id="28" name="c4copy"/>
          <p:cNvSpPr/>
          <p:nvPr/>
        </p:nvSpPr>
        <p:spPr>
          <a:xfrm>
            <a:off x="12128500" y="4495800"/>
            <a:ext cx="2984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short prompt, decision point, or visible action will quickly show how students are approaching the task?</a:t>
            </a:r>
            <a:endParaRPr lang="en-US" sz="1600" dirty="0"/>
          </a:p>
        </p:txBody>
      </p:sp>
      <p:sp>
        <p:nvSpPr>
          <p:cNvPr id="29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akeaway-label"/>
          <p:cNvSpPr/>
          <p:nvPr/>
        </p:nvSpPr>
        <p:spPr>
          <a:xfrm>
            <a:off x="1092200" y="71755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CHECK</a:t>
            </a:r>
            <a:endParaRPr lang="en-US" sz="1200" dirty="0"/>
          </a:p>
        </p:txBody>
      </p:sp>
      <p:sp>
        <p:nvSpPr>
          <p:cNvPr id="31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evidence that will best reveal the thinking connected to your learning goal — not the evidence that is easiest to collect.</a:t>
            </a:r>
            <a:endParaRPr lang="en-US" sz="1800" dirty="0"/>
          </a:p>
        </p:txBody>
      </p:sp>
      <p:sp>
        <p:nvSpPr>
          <p:cNvPr id="32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TO NOTICE STUDENT THINKING · 9/15</a:t>
            </a:r>
            <a:endParaRPr lang="en-US" sz="1200" dirty="0"/>
          </a:p>
        </p:txBody>
      </p:sp>
      <p:sp>
        <p:nvSpPr>
          <p:cNvPr id="34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PLANNING · 21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a Simple Evidence Routine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ready-to-teach lesson. Prepare one low-lift routine for collecting, saving, and later reviewing a useful evidence item.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evidence item.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one response, work sample, exit response, tally, or brief observation note to capture.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collection moment.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when the item will be collected during the lesson without interrupting the work.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evidence.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where the team will keep the evidence after the lesson for the September 18 review.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the review path.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what the team will examine together after the lesson and what it will look for.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evidence-capture routine: what to collect, when to collect it, and where to save it for team review.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SIMPLE EVIDENCE ROUTINE · 9/15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CHECK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017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 Plan Check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31:00–37:00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828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quick check with a colleague before you close the session.</a:t>
            </a:r>
            <a:endParaRPr lang="en-US" sz="2000" dirty="0"/>
          </a:p>
        </p:txBody>
      </p:sp>
      <p:sp>
        <p:nvSpPr>
          <p:cNvPr id="9" name="card1"/>
          <p:cNvSpPr/>
          <p:nvPr/>
        </p:nvSpPr>
        <p:spPr>
          <a:xfrm>
            <a:off x="762000" y="2768600"/>
            <a:ext cx="4572000" cy="3225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check1"/>
          <p:cNvSpPr/>
          <p:nvPr/>
        </p:nvSpPr>
        <p:spPr>
          <a:xfrm>
            <a:off x="1041400" y="30734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check1-text"/>
          <p:cNvSpPr/>
          <p:nvPr/>
        </p:nvSpPr>
        <p:spPr>
          <a:xfrm>
            <a:off x="1041400" y="31877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card1-title"/>
          <p:cNvSpPr/>
          <p:nvPr/>
        </p:nvSpPr>
        <p:spPr>
          <a:xfrm>
            <a:off x="1041400" y="3860800"/>
            <a:ext cx="3886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Thinking</a:t>
            </a:r>
            <a:endParaRPr lang="en-US" sz="2100" dirty="0"/>
          </a:p>
        </p:txBody>
      </p:sp>
      <p:sp>
        <p:nvSpPr>
          <p:cNvPr id="13" name="card1-copy"/>
          <p:cNvSpPr/>
          <p:nvPr/>
        </p:nvSpPr>
        <p:spPr>
          <a:xfrm>
            <a:off x="1041400" y="4419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evidence connected to the task or question where students must do the most important thinking?</a:t>
            </a:r>
            <a:endParaRPr lang="en-US" sz="1800" dirty="0"/>
          </a:p>
        </p:txBody>
      </p:sp>
      <p:sp>
        <p:nvSpPr>
          <p:cNvPr id="14" name="card2"/>
          <p:cNvSpPr/>
          <p:nvPr/>
        </p:nvSpPr>
        <p:spPr>
          <a:xfrm>
            <a:off x="5842000" y="2768600"/>
            <a:ext cx="4572000" cy="3225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check2"/>
          <p:cNvSpPr/>
          <p:nvPr/>
        </p:nvSpPr>
        <p:spPr>
          <a:xfrm>
            <a:off x="6121400" y="30734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check2-text"/>
          <p:cNvSpPr/>
          <p:nvPr/>
        </p:nvSpPr>
        <p:spPr>
          <a:xfrm>
            <a:off x="6121400" y="31877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card2-title"/>
          <p:cNvSpPr/>
          <p:nvPr/>
        </p:nvSpPr>
        <p:spPr>
          <a:xfrm>
            <a:off x="6121400" y="3860800"/>
            <a:ext cx="3886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Look-For</a:t>
            </a:r>
            <a:endParaRPr lang="en-US" sz="2100" dirty="0"/>
          </a:p>
        </p:txBody>
      </p:sp>
      <p:sp>
        <p:nvSpPr>
          <p:cNvPr id="18" name="card2-copy"/>
          <p:cNvSpPr/>
          <p:nvPr/>
        </p:nvSpPr>
        <p:spPr>
          <a:xfrm>
            <a:off x="6121400" y="4419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 you named what students will do, say, write, or produce that will help you understand their approach?</a:t>
            </a:r>
            <a:endParaRPr lang="en-US" sz="1800" dirty="0"/>
          </a:p>
        </p:txBody>
      </p:sp>
      <p:sp>
        <p:nvSpPr>
          <p:cNvPr id="19" name="card3"/>
          <p:cNvSpPr/>
          <p:nvPr/>
        </p:nvSpPr>
        <p:spPr>
          <a:xfrm>
            <a:off x="10922000" y="2768600"/>
            <a:ext cx="4572000" cy="3225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check3"/>
          <p:cNvSpPr/>
          <p:nvPr/>
        </p:nvSpPr>
        <p:spPr>
          <a:xfrm>
            <a:off x="11201400" y="3073400"/>
            <a:ext cx="482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check3-text"/>
          <p:cNvSpPr/>
          <p:nvPr/>
        </p:nvSpPr>
        <p:spPr>
          <a:xfrm>
            <a:off x="11201400" y="31877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card3-title"/>
          <p:cNvSpPr/>
          <p:nvPr/>
        </p:nvSpPr>
        <p:spPr>
          <a:xfrm>
            <a:off x="11201400" y="3860800"/>
            <a:ext cx="3886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Routine</a:t>
            </a:r>
            <a:endParaRPr lang="en-US" sz="2100" dirty="0"/>
          </a:p>
        </p:txBody>
      </p:sp>
      <p:sp>
        <p:nvSpPr>
          <p:cNvPr id="23" name="card3-copy"/>
          <p:cNvSpPr/>
          <p:nvPr/>
        </p:nvSpPr>
        <p:spPr>
          <a:xfrm>
            <a:off x="11201400" y="4419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routine simple enough to use while students continue to do the intellectual work?</a:t>
            </a:r>
            <a:endParaRPr lang="en-US" sz="1800" dirty="0"/>
          </a:p>
        </p:txBody>
      </p:sp>
      <p:sp>
        <p:nvSpPr>
          <p:cNvPr id="24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TEACH</a:t>
            </a:r>
            <a:endParaRPr lang="en-US" sz="1200" dirty="0"/>
          </a:p>
        </p:txBody>
      </p:sp>
      <p:sp>
        <p:nvSpPr>
          <p:cNvPr id="26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key thinking moment · one focused evidence look-for · one practical collection routine.</a:t>
            </a:r>
            <a:endParaRPr lang="en-US" sz="1800" dirty="0"/>
          </a:p>
        </p:txBody>
      </p:sp>
      <p:sp>
        <p:nvSpPr>
          <p:cNvPr id="2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TO NOTICE STUDENT THINKING · 9/15</a:t>
            </a:r>
            <a:endParaRPr lang="en-US" sz="1200" dirty="0"/>
          </a:p>
        </p:txBody>
      </p:sp>
      <p:sp>
        <p:nvSpPr>
          <p:cNvPr id="2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CHECK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4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 and Carry It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evidence will tell you the most about student learning in this lesson?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evidence and the key thinking it will help you notice.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· SEPTEMBER 18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Student Evidence Together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small anonymous set of student work, exit responses, observation notes, or another evidence source from a recently taught lesson.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evidence before the lesson so the next instructional decision can be grounded in what students actually show.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TO NOTICE STUDENT THINKING · 9/15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Plan to Notice Student Thinking</dc:title>
  <dc:subject>Lesson Internalization: Plan to Notice Student Thinking</dc:subject>
  <dc:creator>Manus</dc:creator>
  <cp:lastModifiedBy>Manus</cp:lastModifiedBy>
  <cp:revision>1</cp:revision>
  <dcterms:created xsi:type="dcterms:W3CDTF">2026-09-14T18:45:32Z</dcterms:created>
  <dcterms:modified xsi:type="dcterms:W3CDTF">2026-09-14T18:45:32Z</dcterms:modified>
</cp:coreProperties>
</file>
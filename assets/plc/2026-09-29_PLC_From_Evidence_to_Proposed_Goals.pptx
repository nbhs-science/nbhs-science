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9144000" cy="16256000"/>
  <p:embeddedFontLst>
    <p:embeddedFont>
      <p:font typeface="Inter" panose="02000503000000020004" pitchFamily="2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832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-block"/>
          <p:cNvSpPr/>
          <p:nvPr/>
        </p:nvSpPr>
        <p:spPr>
          <a:xfrm>
            <a:off x="508000" y="1320800"/>
            <a:ext cx="10414000" cy="3860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accent-bar"/>
          <p:cNvSpPr/>
          <p:nvPr/>
        </p:nvSpPr>
        <p:spPr>
          <a:xfrm>
            <a:off x="508000" y="1320800"/>
            <a:ext cx="177800" cy="386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department"/>
          <p:cNvSpPr/>
          <p:nvPr/>
        </p:nvSpPr>
        <p:spPr>
          <a:xfrm>
            <a:off x="1041400" y="1778000"/>
            <a:ext cx="825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BEDFORD HIGH SCHOOL · SCIENCE DEPARTMENT</a:t>
            </a:r>
            <a:endParaRPr lang="en-US" sz="1400" dirty="0"/>
          </a:p>
        </p:txBody>
      </p:sp>
      <p:sp>
        <p:nvSpPr>
          <p:cNvPr id="6" name="title"/>
          <p:cNvSpPr/>
          <p:nvPr/>
        </p:nvSpPr>
        <p:spPr>
          <a:xfrm>
            <a:off x="1041400" y="2362200"/>
            <a:ext cx="9017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8"/>
              </a:lnSpc>
              <a:buNone/>
            </a:pPr>
            <a:r>
              <a:rPr lang="en-US" altLang="en-US" sz="4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Evidence to</a:t>
            </a:r>
            <a:endParaRPr lang="en-US" sz="4600" dirty="0"/>
          </a:p>
          <a:p>
            <a:pPr marL="0" indent="0" algn="l">
              <a:lnSpc>
                <a:spcPts val="4508"/>
              </a:lnSpc>
              <a:buNone/>
            </a:pPr>
            <a:r>
              <a:rPr lang="en-US" altLang="en-US" sz="4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Goals</a:t>
            </a:r>
            <a:endParaRPr lang="en-US" sz="4600" dirty="0"/>
          </a:p>
        </p:txBody>
      </p:sp>
      <p:sp>
        <p:nvSpPr>
          <p:cNvPr id="7" name="subtitle"/>
          <p:cNvSpPr/>
          <p:nvPr/>
        </p:nvSpPr>
        <p:spPr>
          <a:xfrm>
            <a:off x="1041400" y="4127500"/>
            <a:ext cx="876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altLang="en-US" sz="20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current student evidence and the Lesson Internalization Tool to draft proposed Student Learning and Professional Practice SMART Goals.</a:t>
            </a:r>
            <a:endParaRPr lang="en-US" sz="2000" dirty="0"/>
          </a:p>
        </p:txBody>
      </p:sp>
      <p:sp>
        <p:nvSpPr>
          <p:cNvPr id="8" name="date-chip"/>
          <p:cNvSpPr/>
          <p:nvPr/>
        </p:nvSpPr>
        <p:spPr>
          <a:xfrm>
            <a:off x="508000" y="5765800"/>
            <a:ext cx="3632200" cy="5334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date"/>
          <p:cNvSpPr/>
          <p:nvPr/>
        </p:nvSpPr>
        <p:spPr>
          <a:xfrm>
            <a:off x="508000" y="5892800"/>
            <a:ext cx="363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TUESDAY, SEPTEMBER 29, 2026</a:t>
            </a:r>
            <a:endParaRPr lang="en-US" sz="1400" dirty="0"/>
          </a:p>
        </p:txBody>
      </p:sp>
      <p:sp>
        <p:nvSpPr>
          <p:cNvPr id="10" name="time-chip"/>
          <p:cNvSpPr/>
          <p:nvPr/>
        </p:nvSpPr>
        <p:spPr>
          <a:xfrm>
            <a:off x="4572000" y="5765800"/>
            <a:ext cx="2286000" cy="533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me"/>
          <p:cNvSpPr/>
          <p:nvPr/>
        </p:nvSpPr>
        <p:spPr>
          <a:xfrm>
            <a:off x="4572000" y="58928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MINUTES</a:t>
            </a:r>
            <a:endParaRPr lang="en-US" sz="1400" dirty="0"/>
          </a:p>
        </p:txBody>
      </p:sp>
      <p:sp>
        <p:nvSpPr>
          <p:cNvPr id="12" name="right-panel"/>
          <p:cNvSpPr/>
          <p:nvPr/>
        </p:nvSpPr>
        <p:spPr>
          <a:xfrm>
            <a:off x="11531600" y="1320800"/>
            <a:ext cx="4216400" cy="4978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evidenc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3400" y="1828800"/>
            <a:ext cx="533400" cy="533400"/>
          </a:xfrm>
          <a:prstGeom prst="rect">
            <a:avLst/>
          </a:prstGeom>
        </p:spPr>
      </p:pic>
      <p:sp>
        <p:nvSpPr>
          <p:cNvPr id="14" name="right-title"/>
          <p:cNvSpPr/>
          <p:nvPr/>
        </p:nvSpPr>
        <p:spPr>
          <a:xfrm>
            <a:off x="11963400" y="2692400"/>
            <a:ext cx="317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altLang="en-US" sz="2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</a:t>
            </a:r>
            <a:endParaRPr lang="en-US" sz="2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altLang="en-US" sz="2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Evidence</a:t>
            </a:r>
            <a:endParaRPr lang="en-US" sz="2600" dirty="0"/>
          </a:p>
        </p:txBody>
      </p:sp>
      <p:sp>
        <p:nvSpPr>
          <p:cNvPr id="15" name="right-copy"/>
          <p:cNvSpPr/>
          <p:nvPr/>
        </p:nvSpPr>
        <p:spPr>
          <a:xfrm>
            <a:off x="11963400" y="3733800"/>
            <a:ext cx="31496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8"/>
              </a:lnSpc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one available baseline:</a:t>
            </a:r>
            <a:endParaRPr lang="en-US" sz="1800" dirty="0"/>
          </a:p>
          <a:p>
            <a:pPr marL="0" indent="0" algn="l">
              <a:lnSpc>
                <a:spcPts val="2088"/>
              </a:lnSpc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BOY benchmark or common assessment</a:t>
            </a:r>
            <a:endParaRPr lang="en-US" sz="1800" dirty="0"/>
          </a:p>
          <a:p>
            <a:pPr marL="0" indent="0" algn="l">
              <a:lnSpc>
                <a:spcPts val="2088"/>
              </a:lnSpc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Student work or exit response</a:t>
            </a:r>
            <a:endParaRPr lang="en-US" sz="1800" dirty="0"/>
          </a:p>
          <a:p>
            <a:pPr marL="0" indent="0" algn="l">
              <a:lnSpc>
                <a:spcPts val="2088"/>
              </a:lnSpc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Observation or discussion notes</a:t>
            </a:r>
            <a:endParaRPr lang="en-US" sz="1800" dirty="0"/>
          </a:p>
        </p:txBody>
      </p:sp>
      <p:sp>
        <p:nvSpPr>
          <p:cNvPr id="16" name="footer-left"/>
          <p:cNvSpPr/>
          <p:nvPr/>
        </p:nvSpPr>
        <p:spPr>
          <a:xfrm>
            <a:off x="508000" y="8509000"/>
            <a:ext cx="863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&amp; GOAL SETTING PLC</a:t>
            </a:r>
            <a:endParaRPr lang="en-US" sz="1400" dirty="0"/>
          </a:p>
        </p:txBody>
      </p:sp>
      <p:sp>
        <p:nvSpPr>
          <p:cNvPr id="17" name="footer-right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-band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header-accent"/>
          <p:cNvSpPr/>
          <p:nvPr/>
        </p:nvSpPr>
        <p:spPr>
          <a:xfrm>
            <a:off x="0" y="11684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/>
          <p:nvPr/>
        </p:nvSpPr>
        <p:spPr>
          <a:xfrm>
            <a:off x="508000" y="381000"/>
            <a:ext cx="1244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September’s PLC cycle to proposed goals</a:t>
            </a:r>
            <a:endParaRPr lang="en-US" sz="3200" dirty="0"/>
          </a:p>
        </p:txBody>
      </p:sp>
      <p:sp>
        <p:nvSpPr>
          <p:cNvPr id="6" name="intro"/>
          <p:cNvSpPr/>
          <p:nvPr/>
        </p:nvSpPr>
        <p:spPr>
          <a:xfrm>
            <a:off x="508000" y="1676400"/>
            <a:ext cx="137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 already completed gives teachers a practical evidence-to-action foundation for the Goal Setting Form.</a:t>
            </a:r>
            <a:endParaRPr lang="en-US" sz="2000" dirty="0"/>
          </a:p>
        </p:txBody>
      </p:sp>
      <p:sp>
        <p:nvSpPr>
          <p:cNvPr id="7" name="step1"/>
          <p:cNvSpPr/>
          <p:nvPr/>
        </p:nvSpPr>
        <p:spPr>
          <a:xfrm>
            <a:off x="508000" y="2997200"/>
            <a:ext cx="2489200" cy="195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ep1-num"/>
          <p:cNvSpPr/>
          <p:nvPr/>
        </p:nvSpPr>
        <p:spPr>
          <a:xfrm>
            <a:off x="812800" y="3276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6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tep1-copy"/>
          <p:cNvSpPr/>
          <p:nvPr/>
        </p:nvSpPr>
        <p:spPr>
          <a:xfrm>
            <a:off x="812800" y="3937000"/>
            <a:ext cx="1879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buNone/>
            </a:pPr>
            <a:r>
              <a:rPr lang="en-US" altLang="en-US" sz="1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the lesson</a:t>
            </a:r>
            <a:endParaRPr lang="en-US" sz="1900" dirty="0"/>
          </a:p>
          <a:p>
            <a:pPr marL="0" indent="0" algn="l">
              <a:lnSpc>
                <a:spcPts val="1995"/>
              </a:lnSpc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notice thinking</a:t>
            </a:r>
            <a:endParaRPr lang="en-US" sz="1900" dirty="0"/>
          </a:p>
        </p:txBody>
      </p:sp>
      <p:sp>
        <p:nvSpPr>
          <p:cNvPr id="10" name="arrow1"/>
          <p:cNvSpPr/>
          <p:nvPr/>
        </p:nvSpPr>
        <p:spPr>
          <a:xfrm>
            <a:off x="3200400" y="3759200"/>
            <a:ext cx="609600" cy="406400"/>
          </a:xfrm>
          <a:prstGeom prst="rightArrow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tep2"/>
          <p:cNvSpPr/>
          <p:nvPr/>
        </p:nvSpPr>
        <p:spPr>
          <a:xfrm>
            <a:off x="4013200" y="2997200"/>
            <a:ext cx="2489200" cy="195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2-num"/>
          <p:cNvSpPr/>
          <p:nvPr/>
        </p:nvSpPr>
        <p:spPr>
          <a:xfrm>
            <a:off x="4318000" y="3276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6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tep2-copy"/>
          <p:cNvSpPr/>
          <p:nvPr/>
        </p:nvSpPr>
        <p:spPr>
          <a:xfrm>
            <a:off x="4318000" y="3937000"/>
            <a:ext cx="1879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buNone/>
            </a:pPr>
            <a:r>
              <a:rPr lang="en-US" altLang="en-US" sz="1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evidence</a:t>
            </a:r>
            <a:endParaRPr lang="en-US" sz="1900" dirty="0"/>
          </a:p>
          <a:p>
            <a:pPr marL="0" indent="0" algn="l">
              <a:lnSpc>
                <a:spcPts val="1995"/>
              </a:lnSpc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learning patterns</a:t>
            </a:r>
            <a:endParaRPr lang="en-US" sz="1900" dirty="0"/>
          </a:p>
        </p:txBody>
      </p:sp>
      <p:sp>
        <p:nvSpPr>
          <p:cNvPr id="14" name="arrow2"/>
          <p:cNvSpPr/>
          <p:nvPr/>
        </p:nvSpPr>
        <p:spPr>
          <a:xfrm>
            <a:off x="6705600" y="3759200"/>
            <a:ext cx="609600" cy="406400"/>
          </a:xfrm>
          <a:prstGeom prst="rightArrow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tep3"/>
          <p:cNvSpPr/>
          <p:nvPr/>
        </p:nvSpPr>
        <p:spPr>
          <a:xfrm>
            <a:off x="7518400" y="2997200"/>
            <a:ext cx="2489200" cy="195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3-num"/>
          <p:cNvSpPr/>
          <p:nvPr/>
        </p:nvSpPr>
        <p:spPr>
          <a:xfrm>
            <a:off x="7823200" y="3276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6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step3-copy"/>
          <p:cNvSpPr/>
          <p:nvPr/>
        </p:nvSpPr>
        <p:spPr>
          <a:xfrm>
            <a:off x="7823200" y="3937000"/>
            <a:ext cx="1879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buNone/>
            </a:pPr>
            <a:r>
              <a:rPr lang="en-US" altLang="en-US" sz="1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feedback</a:t>
            </a:r>
            <a:endParaRPr lang="en-US" sz="1900" dirty="0"/>
          </a:p>
          <a:p>
            <a:pPr marL="0" indent="0" algn="l">
              <a:lnSpc>
                <a:spcPts val="1995"/>
              </a:lnSpc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student action</a:t>
            </a:r>
            <a:endParaRPr lang="en-US" sz="1900" dirty="0"/>
          </a:p>
        </p:txBody>
      </p:sp>
      <p:sp>
        <p:nvSpPr>
          <p:cNvPr id="18" name="arrow3"/>
          <p:cNvSpPr/>
          <p:nvPr/>
        </p:nvSpPr>
        <p:spPr>
          <a:xfrm>
            <a:off x="10210800" y="3759200"/>
            <a:ext cx="609600" cy="406400"/>
          </a:xfrm>
          <a:prstGeom prst="rightArrow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tep4"/>
          <p:cNvSpPr/>
          <p:nvPr/>
        </p:nvSpPr>
        <p:spPr>
          <a:xfrm>
            <a:off x="11023600" y="2997200"/>
            <a:ext cx="2489200" cy="195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4-num"/>
          <p:cNvSpPr/>
          <p:nvPr/>
        </p:nvSpPr>
        <p:spPr>
          <a:xfrm>
            <a:off x="11328400" y="3276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6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step4-copy"/>
          <p:cNvSpPr/>
          <p:nvPr/>
        </p:nvSpPr>
        <p:spPr>
          <a:xfrm>
            <a:off x="11328400" y="3937000"/>
            <a:ext cx="1879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buNone/>
            </a:pPr>
            <a:r>
              <a:rPr lang="en-US" altLang="en-US" sz="1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Revise the next</a:t>
            </a:r>
            <a:endParaRPr lang="en-US" sz="1900" dirty="0"/>
          </a:p>
          <a:p>
            <a:pPr marL="0" indent="0" algn="l">
              <a:lnSpc>
                <a:spcPts val="1995"/>
              </a:lnSpc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experience</a:t>
            </a:r>
            <a:endParaRPr lang="en-US" sz="1900" dirty="0"/>
          </a:p>
        </p:txBody>
      </p:sp>
      <p:sp>
        <p:nvSpPr>
          <p:cNvPr id="22" name="arrow4"/>
          <p:cNvSpPr/>
          <p:nvPr/>
        </p:nvSpPr>
        <p:spPr>
          <a:xfrm>
            <a:off x="13716000" y="3759200"/>
            <a:ext cx="609600" cy="406400"/>
          </a:xfrm>
          <a:prstGeom prst="rightArrow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tep5"/>
          <p:cNvSpPr/>
          <p:nvPr/>
        </p:nvSpPr>
        <p:spPr>
          <a:xfrm>
            <a:off x="11988800" y="5765800"/>
            <a:ext cx="3149600" cy="1600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tep5-label"/>
          <p:cNvSpPr/>
          <p:nvPr/>
        </p:nvSpPr>
        <p:spPr>
          <a:xfrm>
            <a:off x="12319000" y="6070600"/>
            <a:ext cx="2463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CONTINUATION</a:t>
            </a:r>
            <a:endParaRPr lang="en-US" sz="1400" dirty="0"/>
          </a:p>
        </p:txBody>
      </p:sp>
      <p:sp>
        <p:nvSpPr>
          <p:cNvPr id="25" name="step5-copy"/>
          <p:cNvSpPr/>
          <p:nvPr/>
        </p:nvSpPr>
        <p:spPr>
          <a:xfrm>
            <a:off x="12319000" y="6438900"/>
            <a:ext cx="246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both</a:t>
            </a:r>
            <a:endParaRPr lang="en-US" sz="20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SMART goals.</a:t>
            </a:r>
            <a:endParaRPr lang="en-US" sz="2000" dirty="0"/>
          </a:p>
        </p:txBody>
      </p:sp>
      <p:sp>
        <p:nvSpPr>
          <p:cNvPr id="26" name="callout"/>
          <p:cNvSpPr/>
          <p:nvPr/>
        </p:nvSpPr>
        <p:spPr>
          <a:xfrm>
            <a:off x="508000" y="5765800"/>
            <a:ext cx="10718800" cy="16002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callout-copy"/>
          <p:cNvSpPr/>
          <p:nvPr/>
        </p:nvSpPr>
        <p:spPr>
          <a:xfrm>
            <a:off x="914400" y="6083300"/>
            <a:ext cx="9906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2"/>
              </a:lnSpc>
              <a:buNone/>
            </a:pPr>
            <a:r>
              <a:rPr lang="en-US" altLang="en-US" sz="2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current evidence to draft the Student Learning Goal, then use the Lesson Internalization practice lever to draft the connected Professional Practice Goal.</a:t>
            </a:r>
            <a:endParaRPr lang="en-US" sz="2100" dirty="0"/>
          </a:p>
        </p:txBody>
      </p:sp>
      <p:sp>
        <p:nvSpPr>
          <p:cNvPr id="28" name="footer-left"/>
          <p:cNvSpPr/>
          <p:nvPr/>
        </p:nvSpPr>
        <p:spPr>
          <a:xfrm>
            <a:off x="508000" y="8509000"/>
            <a:ext cx="762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→ ACTION → PROPOSED GOALS</a:t>
            </a:r>
            <a:endParaRPr lang="en-US" sz="1400" dirty="0"/>
          </a:p>
        </p:txBody>
      </p:sp>
      <p:sp>
        <p:nvSpPr>
          <p:cNvPr id="29" name="footer-right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-band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header-accent"/>
          <p:cNvSpPr/>
          <p:nvPr/>
        </p:nvSpPr>
        <p:spPr>
          <a:xfrm>
            <a:off x="0" y="11684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/>
          <p:nvPr/>
        </p:nvSpPr>
        <p:spPr>
          <a:xfrm>
            <a:off x="508000" y="381000"/>
            <a:ext cx="12192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evidence for the proposed goals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508000" y="1676400"/>
            <a:ext cx="138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evidence that already exists and can be revisited later. The goals should describe the student-learning pattern the evidence shows.</a:t>
            </a:r>
            <a:endParaRPr lang="en-US" sz="2000" dirty="0"/>
          </a:p>
        </p:txBody>
      </p:sp>
      <p:sp>
        <p:nvSpPr>
          <p:cNvPr id="7" name="e1"/>
          <p:cNvSpPr/>
          <p:nvPr/>
        </p:nvSpPr>
        <p:spPr>
          <a:xfrm>
            <a:off x="508000" y="2667000"/>
            <a:ext cx="4470400" cy="177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e1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97200"/>
            <a:ext cx="431800" cy="431800"/>
          </a:xfrm>
          <a:prstGeom prst="rect">
            <a:avLst/>
          </a:prstGeom>
        </p:spPr>
      </p:pic>
      <p:sp>
        <p:nvSpPr>
          <p:cNvPr id="9" name="e1-title"/>
          <p:cNvSpPr/>
          <p:nvPr/>
        </p:nvSpPr>
        <p:spPr>
          <a:xfrm>
            <a:off x="1549400" y="30226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BOY benchmark</a:t>
            </a:r>
            <a:endParaRPr lang="en-US" sz="2100" dirty="0"/>
          </a:p>
        </p:txBody>
      </p:sp>
      <p:sp>
        <p:nvSpPr>
          <p:cNvPr id="10" name="e1-copy"/>
          <p:cNvSpPr/>
          <p:nvPr/>
        </p:nvSpPr>
        <p:spPr>
          <a:xfrm>
            <a:off x="838200" y="3708400"/>
            <a:ext cx="355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baseline trend or identified skill need.</a:t>
            </a:r>
            <a:endParaRPr lang="en-US" sz="1800" dirty="0"/>
          </a:p>
        </p:txBody>
      </p:sp>
      <p:sp>
        <p:nvSpPr>
          <p:cNvPr id="11" name="e2"/>
          <p:cNvSpPr/>
          <p:nvPr/>
        </p:nvSpPr>
        <p:spPr>
          <a:xfrm>
            <a:off x="5892800" y="2667000"/>
            <a:ext cx="4470400" cy="177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e2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2997200"/>
            <a:ext cx="431800" cy="431800"/>
          </a:xfrm>
          <a:prstGeom prst="rect">
            <a:avLst/>
          </a:prstGeom>
        </p:spPr>
      </p:pic>
      <p:sp>
        <p:nvSpPr>
          <p:cNvPr id="13" name="e2-title"/>
          <p:cNvSpPr/>
          <p:nvPr/>
        </p:nvSpPr>
        <p:spPr>
          <a:xfrm>
            <a:off x="6934200" y="30226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assessment</a:t>
            </a:r>
            <a:endParaRPr lang="en-US" sz="2100" dirty="0"/>
          </a:p>
        </p:txBody>
      </p:sp>
      <p:sp>
        <p:nvSpPr>
          <p:cNvPr id="14" name="e2-copy"/>
          <p:cNvSpPr/>
          <p:nvPr/>
        </p:nvSpPr>
        <p:spPr>
          <a:xfrm>
            <a:off x="6223000" y="3708400"/>
            <a:ext cx="355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shared item, task, quiz, or target task.</a:t>
            </a:r>
            <a:endParaRPr lang="en-US" sz="1800" dirty="0"/>
          </a:p>
        </p:txBody>
      </p:sp>
      <p:sp>
        <p:nvSpPr>
          <p:cNvPr id="15" name="e3"/>
          <p:cNvSpPr/>
          <p:nvPr/>
        </p:nvSpPr>
        <p:spPr>
          <a:xfrm>
            <a:off x="11277600" y="2667000"/>
            <a:ext cx="4470400" cy="177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e3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7800" y="2997200"/>
            <a:ext cx="431800" cy="431800"/>
          </a:xfrm>
          <a:prstGeom prst="rect">
            <a:avLst/>
          </a:prstGeom>
        </p:spPr>
      </p:pic>
      <p:sp>
        <p:nvSpPr>
          <p:cNvPr id="17" name="e3-title"/>
          <p:cNvSpPr/>
          <p:nvPr/>
        </p:nvSpPr>
        <p:spPr>
          <a:xfrm>
            <a:off x="12319000" y="30226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work</a:t>
            </a:r>
            <a:endParaRPr lang="en-US" sz="2100" dirty="0"/>
          </a:p>
        </p:txBody>
      </p:sp>
      <p:sp>
        <p:nvSpPr>
          <p:cNvPr id="18" name="e3-copy"/>
          <p:cNvSpPr/>
          <p:nvPr/>
        </p:nvSpPr>
        <p:spPr>
          <a:xfrm>
            <a:off x="11607800" y="3708400"/>
            <a:ext cx="355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Responses, models, explanations, or writing.</a:t>
            </a:r>
            <a:endParaRPr lang="en-US" sz="1800" dirty="0"/>
          </a:p>
        </p:txBody>
      </p:sp>
      <p:sp>
        <p:nvSpPr>
          <p:cNvPr id="19" name="e4"/>
          <p:cNvSpPr/>
          <p:nvPr/>
        </p:nvSpPr>
        <p:spPr>
          <a:xfrm>
            <a:off x="508000" y="4851400"/>
            <a:ext cx="4470400" cy="177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e4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181600"/>
            <a:ext cx="431800" cy="431800"/>
          </a:xfrm>
          <a:prstGeom prst="rect">
            <a:avLst/>
          </a:prstGeom>
        </p:spPr>
      </p:pic>
      <p:sp>
        <p:nvSpPr>
          <p:cNvPr id="21" name="e4-title"/>
          <p:cNvSpPr/>
          <p:nvPr/>
        </p:nvSpPr>
        <p:spPr>
          <a:xfrm>
            <a:off x="1549400" y="52070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response</a:t>
            </a:r>
            <a:endParaRPr lang="en-US" sz="2100" dirty="0"/>
          </a:p>
        </p:txBody>
      </p:sp>
      <p:sp>
        <p:nvSpPr>
          <p:cNvPr id="22" name="e4-copy"/>
          <p:cNvSpPr/>
          <p:nvPr/>
        </p:nvSpPr>
        <p:spPr>
          <a:xfrm>
            <a:off x="838200" y="5892800"/>
            <a:ext cx="355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brief check for current understanding.</a:t>
            </a:r>
            <a:endParaRPr lang="en-US" sz="1800" dirty="0"/>
          </a:p>
        </p:txBody>
      </p:sp>
      <p:sp>
        <p:nvSpPr>
          <p:cNvPr id="23" name="e5"/>
          <p:cNvSpPr/>
          <p:nvPr/>
        </p:nvSpPr>
        <p:spPr>
          <a:xfrm>
            <a:off x="5892800" y="4851400"/>
            <a:ext cx="4470400" cy="177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e5-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3000" y="5181600"/>
            <a:ext cx="431800" cy="431800"/>
          </a:xfrm>
          <a:prstGeom prst="rect">
            <a:avLst/>
          </a:prstGeom>
        </p:spPr>
      </p:pic>
      <p:sp>
        <p:nvSpPr>
          <p:cNvPr id="25" name="e5-title"/>
          <p:cNvSpPr/>
          <p:nvPr/>
        </p:nvSpPr>
        <p:spPr>
          <a:xfrm>
            <a:off x="6934200" y="52070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 / observation</a:t>
            </a:r>
            <a:endParaRPr lang="en-US" sz="2100" dirty="0"/>
          </a:p>
        </p:txBody>
      </p:sp>
      <p:sp>
        <p:nvSpPr>
          <p:cNvPr id="26" name="e5-copy"/>
          <p:cNvSpPr/>
          <p:nvPr/>
        </p:nvSpPr>
        <p:spPr>
          <a:xfrm>
            <a:off x="6223000" y="5892800"/>
            <a:ext cx="355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 on participation, reasoning, or discourse.</a:t>
            </a:r>
            <a:endParaRPr lang="en-US" sz="1800" dirty="0"/>
          </a:p>
        </p:txBody>
      </p:sp>
      <p:sp>
        <p:nvSpPr>
          <p:cNvPr id="27" name="e6"/>
          <p:cNvSpPr/>
          <p:nvPr/>
        </p:nvSpPr>
        <p:spPr>
          <a:xfrm>
            <a:off x="11277600" y="4851400"/>
            <a:ext cx="4470400" cy="17780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e6-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07800" y="5181600"/>
            <a:ext cx="431800" cy="431800"/>
          </a:xfrm>
          <a:prstGeom prst="rect">
            <a:avLst/>
          </a:prstGeom>
        </p:spPr>
      </p:pic>
      <p:sp>
        <p:nvSpPr>
          <p:cNvPr id="29" name="e6-title"/>
          <p:cNvSpPr/>
          <p:nvPr/>
        </p:nvSpPr>
        <p:spPr>
          <a:xfrm>
            <a:off x="12319000" y="52070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available data</a:t>
            </a:r>
            <a:endParaRPr lang="en-US" sz="2100" dirty="0"/>
          </a:p>
        </p:txBody>
      </p:sp>
      <p:sp>
        <p:nvSpPr>
          <p:cNvPr id="30" name="e6-copy"/>
          <p:cNvSpPr/>
          <p:nvPr/>
        </p:nvSpPr>
        <p:spPr>
          <a:xfrm>
            <a:off x="11607800" y="5892800"/>
            <a:ext cx="355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source your team can describe and revisit.</a:t>
            </a:r>
            <a:endParaRPr lang="en-US" sz="1800" dirty="0"/>
          </a:p>
        </p:txBody>
      </p:sp>
      <p:sp>
        <p:nvSpPr>
          <p:cNvPr id="31" name="note"/>
          <p:cNvSpPr/>
          <p:nvPr/>
        </p:nvSpPr>
        <p:spPr>
          <a:xfrm>
            <a:off x="508000" y="7137400"/>
            <a:ext cx="15240000" cy="711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note-copy"/>
          <p:cNvSpPr/>
          <p:nvPr/>
        </p:nvSpPr>
        <p:spPr>
          <a:xfrm>
            <a:off x="889000" y="7340600"/>
            <a:ext cx="1447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what the evidence shows, then identify the student-learning priority and the instructional response.</a:t>
            </a:r>
            <a:endParaRPr lang="en-US" sz="1800" dirty="0"/>
          </a:p>
        </p:txBody>
      </p:sp>
      <p:sp>
        <p:nvSpPr>
          <p:cNvPr id="33" name="footer-left"/>
          <p:cNvSpPr/>
          <p:nvPr/>
        </p:nvSpPr>
        <p:spPr>
          <a:xfrm>
            <a:off x="508000" y="8509000"/>
            <a:ext cx="762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BASELINE</a:t>
            </a:r>
            <a:endParaRPr lang="en-US" sz="1400" dirty="0"/>
          </a:p>
        </p:txBody>
      </p:sp>
      <p:sp>
        <p:nvSpPr>
          <p:cNvPr id="34" name="footer-right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-band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header-accent"/>
          <p:cNvSpPr/>
          <p:nvPr/>
        </p:nvSpPr>
        <p:spPr>
          <a:xfrm>
            <a:off x="0" y="11684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/>
          <p:nvPr/>
        </p:nvSpPr>
        <p:spPr>
          <a:xfrm>
            <a:off x="508000" y="381000"/>
            <a:ext cx="13208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protocol to connect the two proposed goals</a:t>
            </a:r>
            <a:endParaRPr lang="en-US" sz="3200" dirty="0"/>
          </a:p>
        </p:txBody>
      </p:sp>
      <p:sp>
        <p:nvSpPr>
          <p:cNvPr id="6" name="q-card"/>
          <p:cNvSpPr/>
          <p:nvPr/>
        </p:nvSpPr>
        <p:spPr>
          <a:xfrm>
            <a:off x="508000" y="1828800"/>
            <a:ext cx="5435600" cy="5410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q-label"/>
          <p:cNvSpPr/>
          <p:nvPr/>
        </p:nvSpPr>
        <p:spPr>
          <a:xfrm>
            <a:off x="889000" y="2235200"/>
            <a:ext cx="406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DAY QUESTION 1</a:t>
            </a:r>
            <a:endParaRPr lang="en-US" sz="1400" dirty="0"/>
          </a:p>
        </p:txBody>
      </p:sp>
      <p:sp>
        <p:nvSpPr>
          <p:cNvPr id="8" name="q-title"/>
          <p:cNvSpPr/>
          <p:nvPr/>
        </p:nvSpPr>
        <p:spPr>
          <a:xfrm>
            <a:off x="889000" y="2844800"/>
            <a:ext cx="42418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6"/>
              </a:lnSpc>
              <a:buNone/>
            </a:pPr>
            <a:r>
              <a:rPr lang="en-US" alt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are students</a:t>
            </a:r>
            <a:endParaRPr lang="en-US" sz="2800" dirty="0"/>
          </a:p>
          <a:p>
            <a:pPr marL="0" indent="0" algn="l">
              <a:lnSpc>
                <a:spcPts val="2856"/>
              </a:lnSpc>
              <a:buNone/>
            </a:pPr>
            <a:r>
              <a:rPr lang="en-US" alt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in this lesson,</a:t>
            </a:r>
            <a:endParaRPr lang="en-US" sz="2800" dirty="0"/>
          </a:p>
          <a:p>
            <a:pPr marL="0" indent="0" algn="l">
              <a:lnSpc>
                <a:spcPts val="2856"/>
              </a:lnSpc>
              <a:buNone/>
            </a:pPr>
            <a:r>
              <a:rPr lang="en-US" alt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why, and how will I</a:t>
            </a:r>
            <a:endParaRPr lang="en-US" sz="2800" dirty="0"/>
          </a:p>
          <a:p>
            <a:pPr marL="0" indent="0" algn="l">
              <a:lnSpc>
                <a:spcPts val="2856"/>
              </a:lnSpc>
              <a:buNone/>
            </a:pPr>
            <a:r>
              <a:rPr lang="en-US" alt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they learned it?</a:t>
            </a:r>
            <a:endParaRPr lang="en-US" sz="2800" dirty="0"/>
          </a:p>
        </p:txBody>
      </p:sp>
      <p:sp>
        <p:nvSpPr>
          <p:cNvPr id="9" name="q-line"/>
          <p:cNvSpPr/>
          <p:nvPr/>
        </p:nvSpPr>
        <p:spPr>
          <a:xfrm>
            <a:off x="889000" y="4495800"/>
            <a:ext cx="4064000" cy="9144"/>
          </a:xfrm>
          <a:prstGeom prst="line">
            <a:avLst/>
          </a:prstGeom>
          <a:ln w="12700">
            <a:solidFill>
              <a:srgbClr val="FFFFFF">
                <a:alpha val="3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q-copy"/>
          <p:cNvSpPr/>
          <p:nvPr/>
        </p:nvSpPr>
        <p:spPr>
          <a:xfrm>
            <a:off x="889000" y="4902200"/>
            <a:ext cx="4038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8"/>
              </a:lnSpc>
              <a:buNone/>
            </a:pPr>
            <a:r>
              <a:rPr lang="en-US" alt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content/language objective, expected student work, criteria for success, and mastery task as the lens for examining your data.</a:t>
            </a:r>
            <a:endParaRPr lang="en-US" sz="1800" dirty="0"/>
          </a:p>
        </p:txBody>
      </p:sp>
      <p:sp>
        <p:nvSpPr>
          <p:cNvPr id="11" name="map-card"/>
          <p:cNvSpPr/>
          <p:nvPr/>
        </p:nvSpPr>
        <p:spPr>
          <a:xfrm>
            <a:off x="6451600" y="1828800"/>
            <a:ext cx="9296400" cy="541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map-label"/>
          <p:cNvSpPr/>
          <p:nvPr/>
        </p:nvSpPr>
        <p:spPr>
          <a:xfrm>
            <a:off x="6832600" y="22352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EVIDENCE INTO TWO CONNECTED GOALS</a:t>
            </a:r>
            <a:endParaRPr lang="en-US" sz="1400" dirty="0"/>
          </a:p>
        </p:txBody>
      </p:sp>
      <p:sp>
        <p:nvSpPr>
          <p:cNvPr id="13" name="m1"/>
          <p:cNvSpPr/>
          <p:nvPr/>
        </p:nvSpPr>
        <p:spPr>
          <a:xfrm>
            <a:off x="6832600" y="2870200"/>
            <a:ext cx="79248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m1-copy"/>
          <p:cNvSpPr/>
          <p:nvPr/>
        </p:nvSpPr>
        <p:spPr>
          <a:xfrm>
            <a:off x="7162800" y="3124200"/>
            <a:ext cx="721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</a:t>
            </a:r>
            <a:r>
              <a:rPr lang="en-US" altLang="en-US" sz="1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expectation:</a:t>
            </a: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should students understand or be able to do?</a:t>
            </a:r>
            <a:endParaRPr lang="en-US" sz="1900" dirty="0"/>
          </a:p>
        </p:txBody>
      </p:sp>
      <p:sp>
        <p:nvSpPr>
          <p:cNvPr id="15" name="m2"/>
          <p:cNvSpPr/>
          <p:nvPr/>
        </p:nvSpPr>
        <p:spPr>
          <a:xfrm>
            <a:off x="6832600" y="3987800"/>
            <a:ext cx="79248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m2-copy"/>
          <p:cNvSpPr/>
          <p:nvPr/>
        </p:nvSpPr>
        <p:spPr>
          <a:xfrm>
            <a:off x="7162800" y="4241800"/>
            <a:ext cx="721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</a:t>
            </a:r>
            <a:r>
              <a:rPr lang="en-US" altLang="en-US" sz="1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evidence:</a:t>
            </a: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does the selected data show students can do now?</a:t>
            </a:r>
            <a:endParaRPr lang="en-US" sz="1900" dirty="0"/>
          </a:p>
        </p:txBody>
      </p:sp>
      <p:sp>
        <p:nvSpPr>
          <p:cNvPr id="17" name="m3"/>
          <p:cNvSpPr/>
          <p:nvPr/>
        </p:nvSpPr>
        <p:spPr>
          <a:xfrm>
            <a:off x="6832600" y="5105400"/>
            <a:ext cx="7924800" cy="8890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m3-copy"/>
          <p:cNvSpPr/>
          <p:nvPr/>
        </p:nvSpPr>
        <p:spPr>
          <a:xfrm>
            <a:off x="7162800" y="5359400"/>
            <a:ext cx="721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</a:t>
            </a:r>
            <a:r>
              <a:rPr lang="en-US" altLang="en-US" sz="1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response:</a:t>
            </a: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educator action from Questions 3–4 can support this pattern?</a:t>
            </a:r>
            <a:endParaRPr lang="en-US" sz="1900" dirty="0"/>
          </a:p>
        </p:txBody>
      </p:sp>
      <p:sp>
        <p:nvSpPr>
          <p:cNvPr id="19" name="tip"/>
          <p:cNvSpPr/>
          <p:nvPr/>
        </p:nvSpPr>
        <p:spPr>
          <a:xfrm>
            <a:off x="6832600" y="6477000"/>
            <a:ext cx="795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Learning Goal = learning need. Professional Practice Goal = educator action that can support it.</a:t>
            </a:r>
            <a:endParaRPr lang="en-US" sz="1800" dirty="0"/>
          </a:p>
        </p:txBody>
      </p:sp>
      <p:sp>
        <p:nvSpPr>
          <p:cNvPr id="20" name="footer-left"/>
          <p:cNvSpPr/>
          <p:nvPr/>
        </p:nvSpPr>
        <p:spPr>
          <a:xfrm>
            <a:off x="508000" y="8509000"/>
            <a:ext cx="762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→ EVIDENCE → PRACTICE</a:t>
            </a:r>
            <a:endParaRPr lang="en-US" sz="1400" dirty="0"/>
          </a:p>
        </p:txBody>
      </p:sp>
      <p:sp>
        <p:nvSpPr>
          <p:cNvPr id="21" name="footer-right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header-rule"/>
          <p:cNvSpPr/>
          <p:nvPr/>
        </p:nvSpPr>
        <p:spPr>
          <a:xfrm>
            <a:off x="0" y="11684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/>
          <p:nvPr/>
        </p:nvSpPr>
        <p:spPr>
          <a:xfrm>
            <a:off x="508000" y="381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both proposed SMART Goals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508000" y="1676400"/>
            <a:ext cx="139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Goal Setting Form requires one Student Learning Goal and one connected Professional Practice Goal.</a:t>
            </a:r>
            <a:endParaRPr lang="en-US" sz="2000" dirty="0"/>
          </a:p>
        </p:txBody>
      </p:sp>
      <p:sp>
        <p:nvSpPr>
          <p:cNvPr id="7" name="student"/>
          <p:cNvSpPr/>
          <p:nvPr/>
        </p:nvSpPr>
        <p:spPr>
          <a:xfrm>
            <a:off x="508000" y="2692400"/>
            <a:ext cx="7213600" cy="330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ractice"/>
          <p:cNvSpPr/>
          <p:nvPr/>
        </p:nvSpPr>
        <p:spPr>
          <a:xfrm>
            <a:off x="8534400" y="2692400"/>
            <a:ext cx="7213600" cy="33020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-label"/>
          <p:cNvSpPr/>
          <p:nvPr/>
        </p:nvSpPr>
        <p:spPr>
          <a:xfrm>
            <a:off x="914400" y="30988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LEARNING SMART GOAL</a:t>
            </a:r>
            <a:endParaRPr lang="en-US" sz="1400" dirty="0"/>
          </a:p>
        </p:txBody>
      </p:sp>
      <p:sp>
        <p:nvSpPr>
          <p:cNvPr id="10" name="s-copy"/>
          <p:cNvSpPr/>
          <p:nvPr/>
        </p:nvSpPr>
        <p:spPr>
          <a:xfrm>
            <a:off x="914400" y="3784600"/>
            <a:ext cx="6096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8"/>
              </a:lnSpc>
              <a:buNone/>
            </a:pP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</a:t>
            </a:r>
            <a:r>
              <a:rPr lang="en-US" alt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[review point]</a:t>
            </a: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students will </a:t>
            </a:r>
            <a:r>
              <a:rPr lang="en-US" alt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[learning outcome]</a:t>
            </a: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as shown by </a:t>
            </a:r>
            <a:r>
              <a:rPr lang="en-US" alt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[measure/evidence]</a:t>
            </a: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moving from the documented baseline of </a:t>
            </a:r>
            <a:r>
              <a:rPr lang="en-US" alt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[current evidence]</a:t>
            </a: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200" dirty="0"/>
          </a:p>
        </p:txBody>
      </p:sp>
      <p:sp>
        <p:nvSpPr>
          <p:cNvPr id="11" name="p-label"/>
          <p:cNvSpPr/>
          <p:nvPr/>
        </p:nvSpPr>
        <p:spPr>
          <a:xfrm>
            <a:off x="8940800" y="3098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PRACTICE SMART GOAL</a:t>
            </a:r>
            <a:endParaRPr lang="en-US" sz="1400" dirty="0"/>
          </a:p>
        </p:txBody>
      </p:sp>
      <p:sp>
        <p:nvSpPr>
          <p:cNvPr id="12" name="p-copy"/>
          <p:cNvSpPr/>
          <p:nvPr/>
        </p:nvSpPr>
        <p:spPr>
          <a:xfrm>
            <a:off x="8940800" y="3784600"/>
            <a:ext cx="6096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8"/>
              </a:lnSpc>
              <a:buNone/>
            </a:pP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year, I will </a:t>
            </a:r>
            <a:r>
              <a:rPr lang="en-US" alt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[instructional practice]</a:t>
            </a: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during </a:t>
            </a:r>
            <a:r>
              <a:rPr lang="en-US" alt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[lesson moment]</a:t>
            </a: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that students can </a:t>
            </a:r>
            <a:r>
              <a:rPr lang="en-US" alt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[learning outcome]</a:t>
            </a: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monitored through </a:t>
            </a:r>
            <a:r>
              <a:rPr lang="en-US" alt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[student evidence]</a:t>
            </a: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200" dirty="0"/>
          </a:p>
        </p:txBody>
      </p:sp>
      <p:sp>
        <p:nvSpPr>
          <p:cNvPr id="13" name="connect"/>
          <p:cNvSpPr/>
          <p:nvPr/>
        </p:nvSpPr>
        <p:spPr>
          <a:xfrm>
            <a:off x="508000" y="6527800"/>
            <a:ext cx="15240000" cy="5334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connect-copy"/>
          <p:cNvSpPr/>
          <p:nvPr/>
        </p:nvSpPr>
        <p:spPr>
          <a:xfrm>
            <a:off x="812800" y="6680200"/>
            <a:ext cx="1463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the second goal to the first: the practice goal should name an educator action that can move the documented student-learning need.</a:t>
            </a:r>
            <a:endParaRPr lang="en-US" sz="1400" dirty="0"/>
          </a:p>
        </p:txBody>
      </p:sp>
      <p:sp>
        <p:nvSpPr>
          <p:cNvPr id="15" name="smart"/>
          <p:cNvSpPr/>
          <p:nvPr/>
        </p:nvSpPr>
        <p:spPr>
          <a:xfrm>
            <a:off x="508000" y="7442200"/>
            <a:ext cx="15240000" cy="66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mart-copy"/>
          <p:cNvSpPr/>
          <p:nvPr/>
        </p:nvSpPr>
        <p:spPr>
          <a:xfrm>
            <a:off x="812800" y="7645400"/>
            <a:ext cx="1463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S.M.A.R.T.</a:t>
            </a: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Specific &amp; Strategic · Measurable · Action-Oriented · Rigorous, Realistic &amp; Results-Focused · Timed &amp; Tracked</a:t>
            </a:r>
            <a:endParaRPr lang="en-US" sz="1800" dirty="0"/>
          </a:p>
        </p:txBody>
      </p:sp>
      <p:sp>
        <p:nvSpPr>
          <p:cNvPr id="17" name="footer-left"/>
          <p:cNvSpPr/>
          <p:nvPr/>
        </p:nvSpPr>
        <p:spPr>
          <a:xfrm>
            <a:off x="508000" y="8509000"/>
            <a:ext cx="889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 SETTING FORM: TWO CONNECTED PROPOSED GOALS</a:t>
            </a:r>
            <a:endParaRPr lang="en-US" sz="1400" dirty="0"/>
          </a:p>
        </p:txBody>
      </p:sp>
      <p:sp>
        <p:nvSpPr>
          <p:cNvPr id="18" name="footer-right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-band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header-accent"/>
          <p:cNvSpPr/>
          <p:nvPr/>
        </p:nvSpPr>
        <p:spPr>
          <a:xfrm>
            <a:off x="0" y="11684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/>
          <p:nvPr/>
        </p:nvSpPr>
        <p:spPr>
          <a:xfrm>
            <a:off x="508000" y="381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Goal Setting Form work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508000" y="1676400"/>
            <a:ext cx="1257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individually first. Use colleagues to make the evidence, Student Learning Goal, and Professional Practice Goal clearer.</a:t>
            </a:r>
            <a:endParaRPr lang="en-US" sz="2000" dirty="0"/>
          </a:p>
        </p:txBody>
      </p:sp>
      <p:sp>
        <p:nvSpPr>
          <p:cNvPr id="7" name="timeline-line"/>
          <p:cNvSpPr/>
          <p:nvPr/>
        </p:nvSpPr>
        <p:spPr>
          <a:xfrm>
            <a:off x="1168400" y="3632200"/>
            <a:ext cx="8509000" cy="9144"/>
          </a:xfrm>
          <a:prstGeom prst="line">
            <a:avLst/>
          </a:prstGeom>
          <a:ln w="381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ode1"/>
          <p:cNvSpPr/>
          <p:nvPr/>
        </p:nvSpPr>
        <p:spPr>
          <a:xfrm>
            <a:off x="914400" y="3378200"/>
            <a:ext cx="508000" cy="50800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node1n"/>
          <p:cNvSpPr/>
          <p:nvPr/>
        </p:nvSpPr>
        <p:spPr>
          <a:xfrm>
            <a:off x="914400" y="3492500"/>
            <a:ext cx="50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node2"/>
          <p:cNvSpPr/>
          <p:nvPr/>
        </p:nvSpPr>
        <p:spPr>
          <a:xfrm>
            <a:off x="3708400" y="3378200"/>
            <a:ext cx="508000" cy="50800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node2n"/>
          <p:cNvSpPr/>
          <p:nvPr/>
        </p:nvSpPr>
        <p:spPr>
          <a:xfrm>
            <a:off x="3708400" y="3492500"/>
            <a:ext cx="50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node3"/>
          <p:cNvSpPr/>
          <p:nvPr/>
        </p:nvSpPr>
        <p:spPr>
          <a:xfrm>
            <a:off x="6502400" y="3378200"/>
            <a:ext cx="508000" cy="50800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node3n"/>
          <p:cNvSpPr/>
          <p:nvPr/>
        </p:nvSpPr>
        <p:spPr>
          <a:xfrm>
            <a:off x="6502400" y="3492500"/>
            <a:ext cx="50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node4"/>
          <p:cNvSpPr/>
          <p:nvPr/>
        </p:nvSpPr>
        <p:spPr>
          <a:xfrm>
            <a:off x="9296400" y="3378200"/>
            <a:ext cx="508000" cy="508000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node4n"/>
          <p:cNvSpPr/>
          <p:nvPr/>
        </p:nvSpPr>
        <p:spPr>
          <a:xfrm>
            <a:off x="9296400" y="3492500"/>
            <a:ext cx="50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step1"/>
          <p:cNvSpPr/>
          <p:nvPr/>
        </p:nvSpPr>
        <p:spPr>
          <a:xfrm>
            <a:off x="558800" y="4216400"/>
            <a:ext cx="14224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</a:t>
            </a:r>
            <a:endParaRPr lang="en-US" sz="1800" dirty="0"/>
          </a:p>
          <a:p>
            <a:pPr marL="0" indent="0" algn="ctr">
              <a:lnSpc>
                <a:spcPts val="1980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evidence source</a:t>
            </a:r>
            <a:endParaRPr lang="en-US" sz="1800" dirty="0"/>
          </a:p>
        </p:txBody>
      </p:sp>
      <p:sp>
        <p:nvSpPr>
          <p:cNvPr id="17" name="step2"/>
          <p:cNvSpPr/>
          <p:nvPr/>
        </p:nvSpPr>
        <p:spPr>
          <a:xfrm>
            <a:off x="3352800" y="4216400"/>
            <a:ext cx="14224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</a:t>
            </a:r>
            <a:endParaRPr lang="en-US" sz="1800" dirty="0"/>
          </a:p>
          <a:p>
            <a:pPr marL="0" indent="0" algn="ctr">
              <a:lnSpc>
                <a:spcPts val="1980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evidence statement</a:t>
            </a:r>
            <a:endParaRPr lang="en-US" sz="1800" dirty="0"/>
          </a:p>
        </p:txBody>
      </p:sp>
      <p:sp>
        <p:nvSpPr>
          <p:cNvPr id="18" name="step3"/>
          <p:cNvSpPr/>
          <p:nvPr/>
        </p:nvSpPr>
        <p:spPr>
          <a:xfrm>
            <a:off x="6146800" y="4216400"/>
            <a:ext cx="14224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</a:t>
            </a:r>
            <a:endParaRPr lang="en-US" sz="1800" dirty="0"/>
          </a:p>
          <a:p>
            <a:pPr marL="0" indent="0" algn="ctr">
              <a:lnSpc>
                <a:spcPts val="1980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Student Learning Goal</a:t>
            </a:r>
            <a:endParaRPr lang="en-US" sz="1800" dirty="0"/>
          </a:p>
        </p:txBody>
      </p:sp>
      <p:sp>
        <p:nvSpPr>
          <p:cNvPr id="19" name="step4"/>
          <p:cNvSpPr/>
          <p:nvPr/>
        </p:nvSpPr>
        <p:spPr>
          <a:xfrm>
            <a:off x="8940800" y="4216400"/>
            <a:ext cx="14224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alt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</a:t>
            </a:r>
            <a:endParaRPr lang="en-US" sz="1800" dirty="0"/>
          </a:p>
          <a:p>
            <a:pPr marL="0" indent="0" algn="ctr">
              <a:lnSpc>
                <a:spcPts val="1980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Professional Practice Goal</a:t>
            </a:r>
            <a:endParaRPr lang="en-US" sz="1800" dirty="0"/>
          </a:p>
        </p:txBody>
      </p:sp>
      <p:sp>
        <p:nvSpPr>
          <p:cNvPr id="20" name="check-panel"/>
          <p:cNvSpPr/>
          <p:nvPr/>
        </p:nvSpPr>
        <p:spPr>
          <a:xfrm>
            <a:off x="11074400" y="2768600"/>
            <a:ext cx="467360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heck-title"/>
          <p:cNvSpPr/>
          <p:nvPr/>
        </p:nvSpPr>
        <p:spPr>
          <a:xfrm>
            <a:off x="11480800" y="3149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 course-alike colleague</a:t>
            </a:r>
            <a:endParaRPr lang="en-US" sz="2400" dirty="0"/>
          </a:p>
        </p:txBody>
      </p:sp>
      <p:sp>
        <p:nvSpPr>
          <p:cNvPr id="22" name="check-copy"/>
          <p:cNvSpPr/>
          <p:nvPr/>
        </p:nvSpPr>
        <p:spPr>
          <a:xfrm>
            <a:off x="11480800" y="391160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6"/>
              </a:lnSpc>
              <a:buNone/>
            </a:pPr>
            <a:r>
              <a:rPr lang="en-US" altLang="en-US" sz="1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Does the Student Learning Goal name learning, not completion?</a:t>
            </a:r>
            <a:endParaRPr lang="en-US" sz="1900" dirty="0"/>
          </a:p>
          <a:p>
            <a:pPr marL="0" indent="0" algn="l">
              <a:lnSpc>
                <a:spcPts val="2356"/>
              </a:lnSpc>
              <a:buNone/>
            </a:pPr>
            <a:r>
              <a:rPr lang="en-US" altLang="en-US" sz="1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Is the baseline tied to real evidence?</a:t>
            </a:r>
            <a:endParaRPr lang="en-US" sz="1900" dirty="0"/>
          </a:p>
          <a:p>
            <a:pPr marL="0" indent="0" algn="l">
              <a:lnSpc>
                <a:spcPts val="2356"/>
              </a:lnSpc>
              <a:buNone/>
            </a:pPr>
            <a:r>
              <a:rPr lang="en-US" altLang="en-US" sz="1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Does the practice goal name one educator action?</a:t>
            </a:r>
            <a:endParaRPr lang="en-US" sz="1900" dirty="0"/>
          </a:p>
          <a:p>
            <a:pPr marL="0" indent="0" algn="l">
              <a:lnSpc>
                <a:spcPts val="2356"/>
              </a:lnSpc>
              <a:buNone/>
            </a:pPr>
            <a:r>
              <a:rPr lang="en-US" altLang="en-US" sz="1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Are both goals SMART and connected?</a:t>
            </a:r>
            <a:endParaRPr lang="en-US" sz="1900" dirty="0"/>
          </a:p>
        </p:txBody>
      </p:sp>
      <p:sp>
        <p:nvSpPr>
          <p:cNvPr id="23" name="close-strip"/>
          <p:cNvSpPr/>
          <p:nvPr/>
        </p:nvSpPr>
        <p:spPr>
          <a:xfrm>
            <a:off x="508000" y="7493000"/>
            <a:ext cx="15240000" cy="381000"/>
          </a:xfrm>
          <a:prstGeom prst="rect">
            <a:avLst/>
          </a:prstGeom>
          <a:solidFill>
            <a:srgbClr val="FDE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close-copy"/>
          <p:cNvSpPr/>
          <p:nvPr/>
        </p:nvSpPr>
        <p:spPr>
          <a:xfrm>
            <a:off x="508000" y="7569200"/>
            <a:ext cx="152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 proposed Goal Setting Form, evidence source, measure, and review point for Friday’s Self-Assessment.</a:t>
            </a:r>
            <a:endParaRPr lang="en-US" sz="1400" dirty="0"/>
          </a:p>
        </p:txBody>
      </p:sp>
      <p:sp>
        <p:nvSpPr>
          <p:cNvPr id="25" name="footer-left"/>
          <p:cNvSpPr/>
          <p:nvPr/>
        </p:nvSpPr>
        <p:spPr>
          <a:xfrm>
            <a:off x="508000" y="8509000"/>
            <a:ext cx="762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INDIVIDUAL WORK WITH COLLEAGUE SUPPORT</a:t>
            </a:r>
            <a:endParaRPr lang="en-US" sz="1400" dirty="0"/>
          </a:p>
        </p:txBody>
      </p:sp>
      <p:sp>
        <p:nvSpPr>
          <p:cNvPr id="26" name="footer-right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-block"/>
          <p:cNvSpPr/>
          <p:nvPr/>
        </p:nvSpPr>
        <p:spPr>
          <a:xfrm>
            <a:off x="508000" y="1320800"/>
            <a:ext cx="10160000" cy="31750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accent-bar"/>
          <p:cNvSpPr/>
          <p:nvPr/>
        </p:nvSpPr>
        <p:spPr>
          <a:xfrm>
            <a:off x="508000" y="1320800"/>
            <a:ext cx="177800" cy="31750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label"/>
          <p:cNvSpPr/>
          <p:nvPr/>
        </p:nvSpPr>
        <p:spPr>
          <a:xfrm>
            <a:off x="1041400" y="1828800"/>
            <a:ext cx="787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YOU LEAVE</a:t>
            </a:r>
            <a:endParaRPr lang="en-US" sz="1400" dirty="0"/>
          </a:p>
        </p:txBody>
      </p:sp>
      <p:sp>
        <p:nvSpPr>
          <p:cNvPr id="6" name="title"/>
          <p:cNvSpPr/>
          <p:nvPr/>
        </p:nvSpPr>
        <p:spPr>
          <a:xfrm>
            <a:off x="1041400" y="2438400"/>
            <a:ext cx="8255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 proposed</a:t>
            </a:r>
            <a:endParaRPr lang="en-US" sz="4200" dirty="0"/>
          </a:p>
          <a:p>
            <a:pPr marL="0" indent="0" algn="l">
              <a:lnSpc>
                <a:spcPts val="4200"/>
              </a:lnSpc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 Setting Form.</a:t>
            </a:r>
            <a:endParaRPr lang="en-US" sz="4200" dirty="0"/>
          </a:p>
        </p:txBody>
      </p:sp>
      <p:sp>
        <p:nvSpPr>
          <p:cNvPr id="7" name="sub"/>
          <p:cNvSpPr/>
          <p:nvPr/>
        </p:nvSpPr>
        <p:spPr>
          <a:xfrm>
            <a:off x="1041400" y="3759200"/>
            <a:ext cx="787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Friday’s Self-Assessment will help confirm that the goals are grounded in evidence and an authentic area of practice.</a:t>
            </a:r>
            <a:endParaRPr lang="en-US" sz="1900" dirty="0"/>
          </a:p>
        </p:txBody>
      </p:sp>
      <p:sp>
        <p:nvSpPr>
          <p:cNvPr id="8" name="check1"/>
          <p:cNvSpPr/>
          <p:nvPr/>
        </p:nvSpPr>
        <p:spPr>
          <a:xfrm>
            <a:off x="11379200" y="1320800"/>
            <a:ext cx="4368800" cy="965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0" y="1600200"/>
            <a:ext cx="355600" cy="355600"/>
          </a:xfrm>
          <a:prstGeom prst="rect">
            <a:avLst/>
          </a:prstGeom>
        </p:spPr>
      </p:pic>
      <p:sp>
        <p:nvSpPr>
          <p:cNvPr id="10" name="c1"/>
          <p:cNvSpPr/>
          <p:nvPr/>
        </p:nvSpPr>
        <p:spPr>
          <a:xfrm>
            <a:off x="12344400" y="1574800"/>
            <a:ext cx="294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evidence source</a:t>
            </a:r>
            <a:endParaRPr lang="en-US" sz="1900" dirty="0"/>
          </a:p>
        </p:txBody>
      </p:sp>
      <p:sp>
        <p:nvSpPr>
          <p:cNvPr id="11" name="check2"/>
          <p:cNvSpPr/>
          <p:nvPr/>
        </p:nvSpPr>
        <p:spPr>
          <a:xfrm>
            <a:off x="11379200" y="2514600"/>
            <a:ext cx="4368800" cy="965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0" y="2794000"/>
            <a:ext cx="355600" cy="355600"/>
          </a:xfrm>
          <a:prstGeom prst="rect">
            <a:avLst/>
          </a:prstGeom>
        </p:spPr>
      </p:pic>
      <p:sp>
        <p:nvSpPr>
          <p:cNvPr id="13" name="c2"/>
          <p:cNvSpPr/>
          <p:nvPr/>
        </p:nvSpPr>
        <p:spPr>
          <a:xfrm>
            <a:off x="12344400" y="2768600"/>
            <a:ext cx="294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statement</a:t>
            </a:r>
            <a:endParaRPr lang="en-US" sz="1900" dirty="0"/>
          </a:p>
        </p:txBody>
      </p:sp>
      <p:sp>
        <p:nvSpPr>
          <p:cNvPr id="14" name="check3"/>
          <p:cNvSpPr/>
          <p:nvPr/>
        </p:nvSpPr>
        <p:spPr>
          <a:xfrm>
            <a:off x="11379200" y="3708400"/>
            <a:ext cx="4368800" cy="965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0" y="3987800"/>
            <a:ext cx="355600" cy="355600"/>
          </a:xfrm>
          <a:prstGeom prst="rect">
            <a:avLst/>
          </a:prstGeom>
        </p:spPr>
      </p:pic>
      <p:sp>
        <p:nvSpPr>
          <p:cNvPr id="16" name="c3"/>
          <p:cNvSpPr/>
          <p:nvPr/>
        </p:nvSpPr>
        <p:spPr>
          <a:xfrm>
            <a:off x="12344400" y="3962400"/>
            <a:ext cx="294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Learning Goal</a:t>
            </a:r>
            <a:endParaRPr lang="en-US" sz="1900" dirty="0"/>
          </a:p>
        </p:txBody>
      </p:sp>
      <p:sp>
        <p:nvSpPr>
          <p:cNvPr id="17" name="check4"/>
          <p:cNvSpPr/>
          <p:nvPr/>
        </p:nvSpPr>
        <p:spPr>
          <a:xfrm>
            <a:off x="11379200" y="4902200"/>
            <a:ext cx="4368800" cy="965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0" y="5181600"/>
            <a:ext cx="355600" cy="355600"/>
          </a:xfrm>
          <a:prstGeom prst="rect">
            <a:avLst/>
          </a:prstGeom>
        </p:spPr>
      </p:pic>
      <p:sp>
        <p:nvSpPr>
          <p:cNvPr id="19" name="c4"/>
          <p:cNvSpPr/>
          <p:nvPr/>
        </p:nvSpPr>
        <p:spPr>
          <a:xfrm>
            <a:off x="12344400" y="5156200"/>
            <a:ext cx="294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Practice Goal</a:t>
            </a:r>
            <a:endParaRPr lang="en-US" sz="1900" dirty="0"/>
          </a:p>
        </p:txBody>
      </p:sp>
      <p:sp>
        <p:nvSpPr>
          <p:cNvPr id="20" name="quote-panel"/>
          <p:cNvSpPr/>
          <p:nvPr/>
        </p:nvSpPr>
        <p:spPr>
          <a:xfrm>
            <a:off x="508000" y="5867400"/>
            <a:ext cx="15240000" cy="14224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quote-label"/>
          <p:cNvSpPr/>
          <p:nvPr/>
        </p:nvSpPr>
        <p:spPr>
          <a:xfrm>
            <a:off x="889000" y="61468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PROMPT</a:t>
            </a:r>
            <a:endParaRPr lang="en-US" sz="1400" dirty="0"/>
          </a:p>
        </p:txBody>
      </p:sp>
      <p:sp>
        <p:nvSpPr>
          <p:cNvPr id="22" name="quote"/>
          <p:cNvSpPr/>
          <p:nvPr/>
        </p:nvSpPr>
        <p:spPr>
          <a:xfrm>
            <a:off x="889000" y="6629400"/>
            <a:ext cx="139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the evidence suggest students need—and what educator practice can support that learning?</a:t>
            </a:r>
            <a:endParaRPr lang="en-US" sz="2200" dirty="0"/>
          </a:p>
        </p:txBody>
      </p:sp>
      <p:sp>
        <p:nvSpPr>
          <p:cNvPr id="23" name="footer-left"/>
          <p:cNvSpPr/>
          <p:nvPr/>
        </p:nvSpPr>
        <p:spPr>
          <a:xfrm>
            <a:off x="508000" y="8509000"/>
            <a:ext cx="965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SELF-ASSESSMENT TO STRENGTHEN THE GOALS · OCTOBER 2</a:t>
            </a:r>
            <a:endParaRPr lang="en-US" sz="1400" dirty="0"/>
          </a:p>
        </p:txBody>
      </p:sp>
      <p:sp>
        <p:nvSpPr>
          <p:cNvPr id="24" name="footer-right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756</Words>
  <Application>Microsoft Macintosh PowerPoint</Application>
  <PresentationFormat>Custom</PresentationFormat>
  <Paragraphs>116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Evidence to Proposed Goals — September 29, 2026</dc:title>
  <dc:subject>From Evidence to Proposed Goals — September 29, 2026</dc:subject>
  <dc:creator>Manus</dc:creator>
  <cp:lastModifiedBy>Chu Kwen Ho</cp:lastModifiedBy>
  <cp:revision>2</cp:revision>
  <dcterms:created xsi:type="dcterms:W3CDTF">2026-09-28T12:57:11Z</dcterms:created>
  <dcterms:modified xsi:type="dcterms:W3CDTF">2026-09-28T13:02:24Z</dcterms:modified>
</cp:coreProperties>
</file>
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9144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ept"/>
          <p:cNvSpPr/>
          <p:nvPr/>
        </p:nvSpPr>
        <p:spPr>
          <a:xfrm>
            <a:off x="812800" y="11176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812800" y="2057400"/>
            <a:ext cx="9652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Goals to an</a:t>
            </a:r>
            <a:endParaRPr lang="en-US" sz="48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Educator Plan</a:t>
            </a:r>
            <a:endParaRPr lang="en-US" sz="4800" dirty="0"/>
          </a:p>
        </p:txBody>
      </p:sp>
      <p:sp>
        <p:nvSpPr>
          <p:cNvPr id="5" name="subtitle"/>
          <p:cNvSpPr/>
          <p:nvPr/>
        </p:nvSpPr>
        <p:spPr>
          <a:xfrm>
            <a:off x="812800" y="4140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proposed goals into practical actions, supports, timeline, and feedback for improvement in one upcoming lesson.</a:t>
            </a:r>
            <a:endParaRPr lang="en-US" sz="2100" dirty="0"/>
          </a:p>
        </p:txBody>
      </p:sp>
      <p:sp>
        <p:nvSpPr>
          <p:cNvPr id="6" name="date"/>
          <p:cNvSpPr/>
          <p:nvPr/>
        </p:nvSpPr>
        <p:spPr>
          <a:xfrm>
            <a:off x="812800" y="5638800"/>
            <a:ext cx="3454400" cy="533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date-text"/>
          <p:cNvSpPr/>
          <p:nvPr/>
        </p:nvSpPr>
        <p:spPr>
          <a:xfrm>
            <a:off x="812800" y="5791200"/>
            <a:ext cx="345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MONDAY, OCTOBER 5, 2026</a:t>
            </a:r>
            <a:endParaRPr lang="en-US" sz="1400" dirty="0"/>
          </a:p>
        </p:txBody>
      </p:sp>
      <p:sp>
        <p:nvSpPr>
          <p:cNvPr id="8" name="time"/>
          <p:cNvSpPr/>
          <p:nvPr/>
        </p:nvSpPr>
        <p:spPr>
          <a:xfrm>
            <a:off x="4572000" y="5638800"/>
            <a:ext cx="2235200" cy="53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ime-text"/>
          <p:cNvSpPr/>
          <p:nvPr/>
        </p:nvSpPr>
        <p:spPr>
          <a:xfrm>
            <a:off x="4572000" y="5791200"/>
            <a:ext cx="223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11430000" y="1473200"/>
            <a:ext cx="3810000" cy="4699000"/>
          </a:xfrm>
          <a:prstGeom prst="rect">
            <a:avLst/>
          </a:prstGeom>
          <a:solidFill>
            <a:srgbClr val="3B3B3B"/>
          </a:solidFill>
          <a:ln w="12700">
            <a:solidFill>
              <a:srgbClr val="595959"/>
            </a:solidFill>
            <a:prstDash val="solid"/>
          </a:ln>
        </p:spPr>
      </p:sp>
      <p:pic>
        <p:nvPicPr>
          <p:cNvPr id="11" name="pla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600" y="2006600"/>
            <a:ext cx="533400" cy="533400"/>
          </a:xfrm>
          <a:prstGeom prst="rect">
            <a:avLst/>
          </a:prstGeom>
        </p:spPr>
      </p:pic>
      <p:sp>
        <p:nvSpPr>
          <p:cNvPr id="12" name="panel-title"/>
          <p:cNvSpPr/>
          <p:nvPr/>
        </p:nvSpPr>
        <p:spPr>
          <a:xfrm>
            <a:off x="11912600" y="2946400"/>
            <a:ext cx="2667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</a:t>
            </a:r>
            <a:endParaRPr lang="en-US" sz="2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plan.</a:t>
            </a:r>
            <a:endParaRPr lang="en-US" sz="2700" dirty="0"/>
          </a:p>
        </p:txBody>
      </p:sp>
      <p:sp>
        <p:nvSpPr>
          <p:cNvPr id="13" name="panel-copy"/>
          <p:cNvSpPr/>
          <p:nvPr/>
        </p:nvSpPr>
        <p:spPr>
          <a:xfrm>
            <a:off x="11912600" y="4191000"/>
            <a:ext cx="2667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upcoming lesson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practice routine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evidence check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812800" y="8509000"/>
            <a:ext cx="914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&amp; GOAL SETTING PLC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5080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become useful when they appear in real lessons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508000" y="16764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Educator Plan connects the forms to the lesson internalization cycle: plan, teach, collect evidence, reflect, and adjust.</a:t>
            </a:r>
            <a:endParaRPr lang="en-US" sz="2000" dirty="0"/>
          </a:p>
        </p:txBody>
      </p:sp>
      <p:sp>
        <p:nvSpPr>
          <p:cNvPr id="6" name="s1"/>
          <p:cNvSpPr/>
          <p:nvPr/>
        </p:nvSpPr>
        <p:spPr>
          <a:xfrm>
            <a:off x="508000" y="3073400"/>
            <a:ext cx="2336800" cy="18542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2"/>
          <p:cNvSpPr/>
          <p:nvPr/>
        </p:nvSpPr>
        <p:spPr>
          <a:xfrm>
            <a:off x="3302000" y="3073400"/>
            <a:ext cx="2336800" cy="18542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3"/>
          <p:cNvSpPr/>
          <p:nvPr/>
        </p:nvSpPr>
        <p:spPr>
          <a:xfrm>
            <a:off x="6096000" y="3073400"/>
            <a:ext cx="2336800" cy="18542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4"/>
          <p:cNvSpPr/>
          <p:nvPr/>
        </p:nvSpPr>
        <p:spPr>
          <a:xfrm>
            <a:off x="8890000" y="3073400"/>
            <a:ext cx="2336800" cy="18542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5"/>
          <p:cNvSpPr/>
          <p:nvPr/>
        </p:nvSpPr>
        <p:spPr>
          <a:xfrm>
            <a:off x="11684000" y="3073400"/>
            <a:ext cx="4064000" cy="1854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1"/>
          <p:cNvSpPr/>
          <p:nvPr/>
        </p:nvSpPr>
        <p:spPr>
          <a:xfrm>
            <a:off x="838200" y="3505200"/>
            <a:ext cx="167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need</a:t>
            </a:r>
            <a:endParaRPr lang="en-US" sz="2000" dirty="0"/>
          </a:p>
        </p:txBody>
      </p:sp>
      <p:sp>
        <p:nvSpPr>
          <p:cNvPr id="12" name="t2"/>
          <p:cNvSpPr/>
          <p:nvPr/>
        </p:nvSpPr>
        <p:spPr>
          <a:xfrm>
            <a:off x="3632200" y="3505200"/>
            <a:ext cx="167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Educator Plan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will do</a:t>
            </a:r>
            <a:endParaRPr lang="en-US" sz="2000" dirty="0"/>
          </a:p>
        </p:txBody>
      </p:sp>
      <p:sp>
        <p:nvSpPr>
          <p:cNvPr id="13" name="t3"/>
          <p:cNvSpPr/>
          <p:nvPr/>
        </p:nvSpPr>
        <p:spPr>
          <a:xfrm>
            <a:off x="6426200" y="3505200"/>
            <a:ext cx="167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appears</a:t>
            </a:r>
            <a:endParaRPr lang="en-US" sz="2000" dirty="0"/>
          </a:p>
        </p:txBody>
      </p:sp>
      <p:sp>
        <p:nvSpPr>
          <p:cNvPr id="14" name="t4"/>
          <p:cNvSpPr/>
          <p:nvPr/>
        </p:nvSpPr>
        <p:spPr>
          <a:xfrm>
            <a:off x="9220200" y="3505200"/>
            <a:ext cx="167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show</a:t>
            </a:r>
            <a:endParaRPr lang="en-US" sz="2000" dirty="0"/>
          </a:p>
        </p:txBody>
      </p:sp>
      <p:sp>
        <p:nvSpPr>
          <p:cNvPr id="15" name="t5"/>
          <p:cNvSpPr/>
          <p:nvPr/>
        </p:nvSpPr>
        <p:spPr>
          <a:xfrm>
            <a:off x="12065000" y="3505200"/>
            <a:ext cx="3098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+ adjustment</a:t>
            </a:r>
            <a:endParaRPr lang="en-US" sz="20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change next</a:t>
            </a:r>
            <a:endParaRPr lang="en-US" sz="2000" dirty="0"/>
          </a:p>
        </p:txBody>
      </p:sp>
      <p:sp>
        <p:nvSpPr>
          <p:cNvPr id="16" name="callout"/>
          <p:cNvSpPr/>
          <p:nvPr/>
        </p:nvSpPr>
        <p:spPr>
          <a:xfrm>
            <a:off x="508000" y="5918200"/>
            <a:ext cx="15240000" cy="13462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7" name="callout-title"/>
          <p:cNvSpPr/>
          <p:nvPr/>
        </p:nvSpPr>
        <p:spPr>
          <a:xfrm>
            <a:off x="914400" y="62230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CONNECTION</a:t>
            </a:r>
            <a:endParaRPr lang="en-US" sz="1400" dirty="0"/>
          </a:p>
        </p:txBody>
      </p:sp>
      <p:sp>
        <p:nvSpPr>
          <p:cNvPr id="18" name="callout-copy"/>
          <p:cNvSpPr/>
          <p:nvPr/>
        </p:nvSpPr>
        <p:spPr>
          <a:xfrm>
            <a:off x="914400" y="66802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one manageable Lesson Internalization routine as the action in the Educator Plan—not a broad list of activities.</a:t>
            </a:r>
            <a:endParaRPr lang="en-US" sz="2100" dirty="0"/>
          </a:p>
        </p:txBody>
      </p:sp>
      <p:sp>
        <p:nvSpPr>
          <p:cNvPr id="19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→ PLAN → LESSON → EVIDENCE → ADJUSTMENT</a:t>
            </a:r>
            <a:endParaRPr lang="en-US" sz="1400" dirty="0"/>
          </a:p>
        </p:txBody>
      </p:sp>
      <p:sp>
        <p:nvSpPr>
          <p:cNvPr id="20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508000" y="3810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first implementation lesson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real upcoming lesson, task, investigation, discussion, or assessment moment where the practice can appear.</a:t>
            </a:r>
            <a:endParaRPr lang="en-US" sz="2000" dirty="0"/>
          </a:p>
        </p:txBody>
      </p:sp>
      <p:sp>
        <p:nvSpPr>
          <p:cNvPr id="6" name="left"/>
          <p:cNvSpPr/>
          <p:nvPr/>
        </p:nvSpPr>
        <p:spPr>
          <a:xfrm>
            <a:off x="508000" y="2717800"/>
            <a:ext cx="6959600" cy="4318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left-label"/>
          <p:cNvSpPr/>
          <p:nvPr/>
        </p:nvSpPr>
        <p:spPr>
          <a:xfrm>
            <a:off x="914400" y="30988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UPCOMING LESSON</a:t>
            </a:r>
            <a:endParaRPr lang="en-US" sz="1400" dirty="0"/>
          </a:p>
        </p:txBody>
      </p:sp>
      <p:sp>
        <p:nvSpPr>
          <p:cNvPr id="8" name="left-copy"/>
          <p:cNvSpPr/>
          <p:nvPr/>
        </p:nvSpPr>
        <p:spPr>
          <a:xfrm>
            <a:off x="914400" y="3835400"/>
            <a:ext cx="57658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Identify: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key task or question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student-work moment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evidence students will produce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point where feedback or facilitation matters most</a:t>
            </a:r>
            <a:endParaRPr lang="en-US" sz="2200" dirty="0"/>
          </a:p>
        </p:txBody>
      </p:sp>
      <p:sp>
        <p:nvSpPr>
          <p:cNvPr id="9" name="right"/>
          <p:cNvSpPr/>
          <p:nvPr/>
        </p:nvSpPr>
        <p:spPr>
          <a:xfrm>
            <a:off x="8280400" y="2717800"/>
            <a:ext cx="7467600" cy="43180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0" name="right-label"/>
          <p:cNvSpPr/>
          <p:nvPr/>
        </p:nvSpPr>
        <p:spPr>
          <a:xfrm>
            <a:off x="8686800" y="3098800"/>
            <a:ext cx="558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3–4: THE PRACTICE LENS</a:t>
            </a:r>
            <a:endParaRPr lang="en-US" sz="1400" dirty="0"/>
          </a:p>
        </p:txBody>
      </p:sp>
      <p:sp>
        <p:nvSpPr>
          <p:cNvPr id="11" name="right-copy"/>
          <p:cNvSpPr/>
          <p:nvPr/>
        </p:nvSpPr>
        <p:spPr>
          <a:xfrm>
            <a:off x="8686800" y="3835400"/>
            <a:ext cx="62992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3:</a:t>
            </a: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feedback, facilitation, or support will help students do more of the thinking?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4:</a:t>
            </a: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will students access, participate in, and experience the lesson?</a:t>
            </a:r>
            <a:endParaRPr lang="en-US" sz="2200" dirty="0"/>
          </a:p>
        </p:txBody>
      </p:sp>
      <p:sp>
        <p:nvSpPr>
          <p:cNvPr id="12" name="bottom"/>
          <p:cNvSpPr/>
          <p:nvPr/>
        </p:nvSpPr>
        <p:spPr>
          <a:xfrm>
            <a:off x="508000" y="7493000"/>
            <a:ext cx="15240000" cy="406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bottom-copy"/>
          <p:cNvSpPr/>
          <p:nvPr/>
        </p:nvSpPr>
        <p:spPr>
          <a:xfrm>
            <a:off x="508000" y="7581900"/>
            <a:ext cx="152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selected lesson as the anchor for the Educator Plan and Tuesday’s feedback-planning work.</a:t>
            </a:r>
            <a:endParaRPr lang="en-US" sz="1400" dirty="0"/>
          </a:p>
        </p:txBody>
      </p:sp>
      <p:sp>
        <p:nvSpPr>
          <p:cNvPr id="14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LESSON · ONE STUDENT-WORK MOMENT · ONE PRACTICE ROUTINE</a:t>
            </a:r>
            <a:endParaRPr lang="en-US" sz="1400" dirty="0"/>
          </a:p>
        </p:txBody>
      </p:sp>
      <p:sp>
        <p:nvSpPr>
          <p:cNvPr id="15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Educator Plan Form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the two proposed goals into practical activities, supports, a timeline, and feedback for improvement.</a:t>
            </a:r>
            <a:endParaRPr lang="en-US" sz="2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616200"/>
          <a:ext cx="15240000" cy="3962400"/>
        </p:xfrm>
        <a:graphic>
          <a:graphicData uri="http://schemas.openxmlformats.org/drawingml/2006/table">
            <a:tbl>
              <a:tblPr/>
              <a:tblGrid>
                <a:gridCol w="4572000"/>
                <a:gridCol w="6096000"/>
                <a:gridCol w="4572000"/>
              </a:tblGrid>
              <a:tr h="711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EDUCATOR PLAN FIELD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TO RECORD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LESSON INTERNALIZATION CONNECTION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Planned activities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educator action that connects to the Professional Practice Goal and can appear in the upcoming lesson.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Questions 3–4: student thinking, feedback, facilitation, access, participation, pacing.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C81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Supports, resources &amp; timeline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Course-alike planning, curriculum materials, protocol use, evidence review, feedback partner, and when/how often the practice will occur.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After-lesson reflection and a new evidence check.</a:t>
                      </a:r>
                      <a:endParaRPr lang="en-US" sz="1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03200" marR="203200" marT="177800" marB="1778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note"/>
          <p:cNvSpPr/>
          <p:nvPr/>
        </p:nvSpPr>
        <p:spPr>
          <a:xfrm>
            <a:off x="508000" y="7086600"/>
            <a:ext cx="15240000" cy="736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8" name="note-copy"/>
          <p:cNvSpPr/>
          <p:nvPr/>
        </p:nvSpPr>
        <p:spPr>
          <a:xfrm>
            <a:off x="889000" y="7315200"/>
            <a:ext cx="144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educator practice you will use—not only the task students will complete.</a:t>
            </a:r>
            <a:endParaRPr lang="en-US" sz="1900" dirty="0"/>
          </a:p>
        </p:txBody>
      </p:sp>
      <p:sp>
        <p:nvSpPr>
          <p:cNvPr id="9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EDUCATOR PLAN: ACTIONS · SUPPORTS/RESOURCES · TIMELINE/FREQUENCY</a:t>
            </a:r>
            <a:endParaRPr lang="en-US" sz="1400" dirty="0"/>
          </a:p>
        </p:txBody>
      </p:sp>
      <p:sp>
        <p:nvSpPr>
          <p:cNvPr id="10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508000" y="3810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feedback for improvement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508000" y="1676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Educator Plan should name how feedback will help refine the practice and shape the next lesson decision.</a:t>
            </a:r>
            <a:endParaRPr lang="en-US" sz="2000" dirty="0"/>
          </a:p>
        </p:txBody>
      </p:sp>
      <p:sp>
        <p:nvSpPr>
          <p:cNvPr id="6" name="c1"/>
          <p:cNvSpPr/>
          <p:nvPr/>
        </p:nvSpPr>
        <p:spPr>
          <a:xfrm>
            <a:off x="508000" y="2997200"/>
            <a:ext cx="3352800" cy="264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c2"/>
          <p:cNvSpPr/>
          <p:nvPr/>
        </p:nvSpPr>
        <p:spPr>
          <a:xfrm>
            <a:off x="4368800" y="2997200"/>
            <a:ext cx="3352800" cy="264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c3"/>
          <p:cNvSpPr/>
          <p:nvPr/>
        </p:nvSpPr>
        <p:spPr>
          <a:xfrm>
            <a:off x="8229600" y="2997200"/>
            <a:ext cx="3352800" cy="264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c4"/>
          <p:cNvSpPr/>
          <p:nvPr/>
        </p:nvSpPr>
        <p:spPr>
          <a:xfrm>
            <a:off x="12090400" y="2997200"/>
            <a:ext cx="3657600" cy="264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x1"/>
          <p:cNvSpPr/>
          <p:nvPr/>
        </p:nvSpPr>
        <p:spPr>
          <a:xfrm>
            <a:off x="889000" y="3378200"/>
            <a:ext cx="259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Feedback source</a:t>
            </a:r>
            <a:endParaRPr lang="en-US" sz="1900" dirty="0"/>
          </a:p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will provide feedback: course-alike colleague, supervisor, coach, or self-review?</a:t>
            </a:r>
            <a:endParaRPr lang="en-US" sz="1900" dirty="0"/>
          </a:p>
        </p:txBody>
      </p:sp>
      <p:sp>
        <p:nvSpPr>
          <p:cNvPr id="11" name="x2"/>
          <p:cNvSpPr/>
          <p:nvPr/>
        </p:nvSpPr>
        <p:spPr>
          <a:xfrm>
            <a:off x="4749800" y="3378200"/>
            <a:ext cx="259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Evidence to bring</a:t>
            </a:r>
            <a:endParaRPr lang="en-US" sz="1900" dirty="0"/>
          </a:p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 work, observation notes, or lesson artifact will be reviewed?</a:t>
            </a:r>
            <a:endParaRPr lang="en-US" sz="1900" dirty="0"/>
          </a:p>
        </p:txBody>
      </p:sp>
      <p:sp>
        <p:nvSpPr>
          <p:cNvPr id="12" name="x3"/>
          <p:cNvSpPr/>
          <p:nvPr/>
        </p:nvSpPr>
        <p:spPr>
          <a:xfrm>
            <a:off x="8610600" y="3378200"/>
            <a:ext cx="259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Reflection point</a:t>
            </a:r>
            <a:endParaRPr lang="en-US" sz="1900" dirty="0"/>
          </a:p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will you look at the evidence and consider the feedback?</a:t>
            </a:r>
            <a:endParaRPr lang="en-US" sz="1900" dirty="0"/>
          </a:p>
        </p:txBody>
      </p:sp>
      <p:sp>
        <p:nvSpPr>
          <p:cNvPr id="13" name="x4"/>
          <p:cNvSpPr/>
          <p:nvPr/>
        </p:nvSpPr>
        <p:spPr>
          <a:xfrm>
            <a:off x="12471400" y="3378200"/>
            <a:ext cx="289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Next decision</a:t>
            </a:r>
            <a:endParaRPr lang="en-US" sz="1900" dirty="0"/>
          </a:p>
          <a:p>
            <a:pPr algn="l" indent="0" marL="0">
              <a:lnSpc>
                <a:spcPts val="2109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you adjust in the next learning experience?</a:t>
            </a:r>
            <a:endParaRPr lang="en-US" sz="1900" dirty="0"/>
          </a:p>
        </p:txBody>
      </p:sp>
      <p:sp>
        <p:nvSpPr>
          <p:cNvPr id="14" name="strip"/>
          <p:cNvSpPr/>
          <p:nvPr/>
        </p:nvSpPr>
        <p:spPr>
          <a:xfrm>
            <a:off x="508000" y="6604000"/>
            <a:ext cx="15240000" cy="736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5" name="strip-copy"/>
          <p:cNvSpPr/>
          <p:nvPr/>
        </p:nvSpPr>
        <p:spPr>
          <a:xfrm>
            <a:off x="914400" y="6743700"/>
            <a:ext cx="14427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altLang="en-US" sz="1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for improvement is useful when it helps clarify the educator action and improve the next lesson—not when it becomes an evaluation task.</a:t>
            </a:r>
            <a:endParaRPr lang="en-US" sz="1800" dirty="0"/>
          </a:p>
        </p:txBody>
      </p:sp>
      <p:sp>
        <p:nvSpPr>
          <p:cNvPr id="16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EDUCATOR PLAN: FEEDBACK FOR IMPROVEMENT</a:t>
            </a:r>
            <a:endParaRPr lang="en-US" sz="1400" dirty="0"/>
          </a:p>
        </p:txBody>
      </p:sp>
      <p:sp>
        <p:nvSpPr>
          <p:cNvPr id="17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1176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itle"/>
          <p:cNvSpPr/>
          <p:nvPr/>
        </p:nvSpPr>
        <p:spPr>
          <a:xfrm>
            <a:off x="508000" y="381000"/>
            <a:ext cx="12446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form work and course-alike check</a:t>
            </a:r>
            <a:endParaRPr lang="en-US" sz="3200" dirty="0"/>
          </a:p>
        </p:txBody>
      </p:sp>
      <p:sp>
        <p:nvSpPr>
          <p:cNvPr id="5" name="left"/>
          <p:cNvSpPr/>
          <p:nvPr/>
        </p:nvSpPr>
        <p:spPr>
          <a:xfrm>
            <a:off x="508000" y="2209800"/>
            <a:ext cx="7213600" cy="492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right"/>
          <p:cNvSpPr/>
          <p:nvPr/>
        </p:nvSpPr>
        <p:spPr>
          <a:xfrm>
            <a:off x="8534400" y="2209800"/>
            <a:ext cx="7213600" cy="49276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7" name="left-label"/>
          <p:cNvSpPr/>
          <p:nvPr/>
        </p:nvSpPr>
        <p:spPr>
          <a:xfrm>
            <a:off x="914400" y="26416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EDUCATOR PLAN WORK</a:t>
            </a:r>
            <a:endParaRPr lang="en-US" sz="1400" dirty="0"/>
          </a:p>
        </p:txBody>
      </p:sp>
      <p:sp>
        <p:nvSpPr>
          <p:cNvPr id="8" name="left-copy"/>
          <p:cNvSpPr/>
          <p:nvPr/>
        </p:nvSpPr>
        <p:spPr>
          <a:xfrm>
            <a:off x="914400" y="3302000"/>
            <a:ext cx="5969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Select the first implementation lesson.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Write the planned educator action.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Name supports/resources and timeline.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Add the feedback-for-improvement loop.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Identify the student evidence to revisit.</a:t>
            </a:r>
            <a:endParaRPr lang="en-US" sz="2200" dirty="0"/>
          </a:p>
        </p:txBody>
      </p:sp>
      <p:sp>
        <p:nvSpPr>
          <p:cNvPr id="9" name="right-label"/>
          <p:cNvSpPr/>
          <p:nvPr/>
        </p:nvSpPr>
        <p:spPr>
          <a:xfrm>
            <a:off x="8940800" y="2641600"/>
            <a:ext cx="406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CALIBRATION</a:t>
            </a:r>
            <a:endParaRPr lang="en-US" sz="1400" dirty="0"/>
          </a:p>
        </p:txBody>
      </p:sp>
      <p:sp>
        <p:nvSpPr>
          <p:cNvPr id="10" name="right-copy"/>
          <p:cNvSpPr/>
          <p:nvPr/>
        </p:nvSpPr>
        <p:spPr>
          <a:xfrm>
            <a:off x="8940800" y="3302000"/>
            <a:ext cx="5969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action connected to the goal?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 it be seen in the upcoming lesson?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Will students show evidence of learning?</a:t>
            </a:r>
            <a:endParaRPr lang="en-US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en-US" altLang="en-US" sz="22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Is the plan realistic and repeatable?</a:t>
            </a:r>
            <a:endParaRPr lang="en-US" sz="2200" dirty="0"/>
          </a:p>
        </p:txBody>
      </p:sp>
      <p:sp>
        <p:nvSpPr>
          <p:cNvPr id="11" name="close"/>
          <p:cNvSpPr/>
          <p:nvPr/>
        </p:nvSpPr>
        <p:spPr>
          <a:xfrm>
            <a:off x="508000" y="7645400"/>
            <a:ext cx="15240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close-copy"/>
          <p:cNvSpPr/>
          <p:nvPr/>
        </p:nvSpPr>
        <p:spPr>
          <a:xfrm>
            <a:off x="508000" y="7734300"/>
            <a:ext cx="152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Educator Plan and bring the selected lesson Tuesday to plan feedback that prompts student action.</a:t>
            </a:r>
            <a:endParaRPr lang="en-US" sz="1400" dirty="0"/>
          </a:p>
        </p:txBody>
      </p:sp>
      <p:sp>
        <p:nvSpPr>
          <p:cNvPr id="13" name="footer"/>
          <p:cNvSpPr/>
          <p:nvPr/>
        </p:nvSpPr>
        <p:spPr>
          <a:xfrm>
            <a:off x="508000" y="8509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INDIVIDUAL WORK WITH COLLEAGUE SUPPORT</a:t>
            </a:r>
            <a:endParaRPr lang="en-US" sz="1400" dirty="0"/>
          </a:p>
        </p:txBody>
      </p:sp>
      <p:sp>
        <p:nvSpPr>
          <p:cNvPr id="14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8600" cy="9144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label"/>
          <p:cNvSpPr/>
          <p:nvPr/>
        </p:nvSpPr>
        <p:spPr>
          <a:xfrm>
            <a:off x="812800" y="11684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812800" y="2057400"/>
            <a:ext cx="965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first</a:t>
            </a:r>
            <a:endParaRPr lang="en-US" sz="46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altLang="en-US" sz="4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plan.</a:t>
            </a:r>
            <a:endParaRPr lang="en-US" sz="4600" dirty="0"/>
          </a:p>
        </p:txBody>
      </p:sp>
      <p:sp>
        <p:nvSpPr>
          <p:cNvPr id="5" name="sub"/>
          <p:cNvSpPr/>
          <p:nvPr/>
        </p:nvSpPr>
        <p:spPr>
          <a:xfrm>
            <a:off x="812800" y="4165600"/>
            <a:ext cx="889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Tomorrow, use the selected lesson to plan feedback students can act on—then identify the evidence you will collect afterward.</a:t>
            </a:r>
            <a:endParaRPr lang="en-US" sz="2100" dirty="0"/>
          </a:p>
        </p:txBody>
      </p:sp>
      <p:sp>
        <p:nvSpPr>
          <p:cNvPr id="6" name="check"/>
          <p:cNvSpPr/>
          <p:nvPr/>
        </p:nvSpPr>
        <p:spPr>
          <a:xfrm>
            <a:off x="11328400" y="1320800"/>
            <a:ext cx="3937000" cy="4749800"/>
          </a:xfrm>
          <a:prstGeom prst="rect">
            <a:avLst/>
          </a:prstGeom>
          <a:solidFill>
            <a:srgbClr val="3B3B3B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" name="check-label"/>
          <p:cNvSpPr/>
          <p:nvPr/>
        </p:nvSpPr>
        <p:spPr>
          <a:xfrm>
            <a:off x="11760200" y="18034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THESE ITEMS</a:t>
            </a:r>
            <a:endParaRPr lang="en-US" sz="1400" dirty="0"/>
          </a:p>
        </p:txBody>
      </p:sp>
      <p:sp>
        <p:nvSpPr>
          <p:cNvPr id="8" name="check-copy"/>
          <p:cNvSpPr/>
          <p:nvPr/>
        </p:nvSpPr>
        <p:spPr>
          <a:xfrm>
            <a:off x="11760200" y="2565400"/>
            <a:ext cx="279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Both proposed goals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Self-Assessment Form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Educator Plan Form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Selected lesson</a:t>
            </a:r>
            <a:endParaRPr lang="en-US" sz="2100" dirty="0"/>
          </a:p>
          <a:p>
            <a:pPr algn="l" indent="0" marL="0">
              <a:lnSpc>
                <a:spcPts val="2898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Evidence look-for</a:t>
            </a:r>
            <a:endParaRPr lang="en-US" sz="2100" dirty="0"/>
          </a:p>
        </p:txBody>
      </p:sp>
      <p:sp>
        <p:nvSpPr>
          <p:cNvPr id="9" name="footer"/>
          <p:cNvSpPr/>
          <p:nvPr/>
        </p:nvSpPr>
        <p:spPr>
          <a:xfrm>
            <a:off x="812800" y="8509000"/>
            <a:ext cx="1143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PLAN FEEDBACK THAT PROMPTS STUDENT ACTION · TUESDAY, OCTOBER 6</a:t>
            </a:r>
            <a:endParaRPr lang="en-US" sz="1400" dirty="0"/>
          </a:p>
        </p:txBody>
      </p:sp>
      <p:sp>
        <p:nvSpPr>
          <p:cNvPr id="10" name="num"/>
          <p:cNvSpPr/>
          <p:nvPr/>
        </p:nvSpPr>
        <p:spPr>
          <a:xfrm>
            <a:off x="14732000" y="8509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Goals to an Educator Plan — October 5, 2026</dc:title>
  <dc:subject>From Goals to an Educator Plan — October 5, 2026</dc:subject>
  <dc:creator>Manus</dc:creator>
  <cp:lastModifiedBy>Manus</cp:lastModifiedBy>
  <cp:revision>1</cp:revision>
  <dcterms:created xsi:type="dcterms:W3CDTF">2026-09-28T12:57:42Z</dcterms:created>
  <dcterms:modified xsi:type="dcterms:W3CDTF">2026-09-28T12:57:42Z</dcterms:modified>
</cp:coreProperties>
</file>
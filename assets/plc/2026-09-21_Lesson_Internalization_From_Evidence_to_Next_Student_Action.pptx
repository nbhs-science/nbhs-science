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6256000" cy="9144000"/>
  <p:notesSz cx="9144000" cy="16256000"/>
  <p:embeddedFontLst>
    <p:embeddedFont>
      <p:font typeface="Inter" charset="-122" pitchFamily="34"/>
      <p:regular r:id="rId1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rule"/>
          <p:cNvSpPr/>
          <p:nvPr/>
        </p:nvSpPr>
        <p:spPr>
          <a:xfrm>
            <a:off x="508000" y="304800"/>
            <a:ext cx="15240000" cy="76200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3" name="date-chip"/>
          <p:cNvSpPr/>
          <p:nvPr/>
        </p:nvSpPr>
        <p:spPr>
          <a:xfrm>
            <a:off x="508000" y="889000"/>
            <a:ext cx="2844800" cy="381000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4" name="date-chip-text"/>
          <p:cNvSpPr/>
          <p:nvPr/>
        </p:nvSpPr>
        <p:spPr>
          <a:xfrm>
            <a:off x="635000" y="977900"/>
            <a:ext cx="25908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MONDAY, SEPTEMBER 21, 2026</a:t>
            </a:r>
            <a:endParaRPr lang="en-US" sz="1200" dirty="0"/>
          </a:p>
        </p:txBody>
      </p:sp>
      <p:sp>
        <p:nvSpPr>
          <p:cNvPr id="5" name="cover-title"/>
          <p:cNvSpPr/>
          <p:nvPr/>
        </p:nvSpPr>
        <p:spPr>
          <a:xfrm>
            <a:off x="508000" y="1549400"/>
            <a:ext cx="8890000" cy="149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85"/>
              </a:lnSpc>
              <a:buNone/>
            </a:pPr>
            <a:r>
              <a:rPr lang="en-US" altLang="en-US" sz="4300" dirty="0">
                <a:solidFill>
                  <a:srgbClr val="C4123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Lesson Internalization:</a:t>
            </a:r>
            <a:endParaRPr lang="en-US" sz="4300" dirty="0"/>
          </a:p>
          <a:p>
            <a:pPr algn="l" indent="0" marL="0">
              <a:lnSpc>
                <a:spcPts val="4085"/>
              </a:lnSpc>
              <a:buNone/>
            </a:pPr>
            <a:r>
              <a:rPr lang="en-US" altLang="en-US" sz="4300" dirty="0">
                <a:solidFill>
                  <a:srgbClr val="C4123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From Evidence to the Next Student Action</a:t>
            </a:r>
            <a:endParaRPr lang="en-US" sz="4300" dirty="0"/>
          </a:p>
        </p:txBody>
      </p:sp>
      <p:sp>
        <p:nvSpPr>
          <p:cNvPr id="6" name="cover-subtitle"/>
          <p:cNvSpPr/>
          <p:nvPr/>
        </p:nvSpPr>
        <p:spPr>
          <a:xfrm>
            <a:off x="508000" y="3200400"/>
            <a:ext cx="8191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15"/>
              </a:lnSpc>
              <a:buNone/>
            </a:pPr>
            <a:r>
              <a:rPr lang="en-US" altLang="en-US" sz="21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an actual learning pattern to plan what students will do next.</a:t>
            </a:r>
            <a:endParaRPr lang="en-US" sz="2100" dirty="0"/>
          </a:p>
        </p:txBody>
      </p:sp>
      <p:sp>
        <p:nvSpPr>
          <p:cNvPr id="7" name="cover-divider"/>
          <p:cNvSpPr/>
          <p:nvPr/>
        </p:nvSpPr>
        <p:spPr>
          <a:xfrm>
            <a:off x="508000" y="4114800"/>
            <a:ext cx="8255000" cy="9144"/>
          </a:xfrm>
          <a:prstGeom prst="line">
            <a:avLst/>
          </a:prstGeom>
          <a:ln w="25400">
            <a:solidFill>
              <a:srgbClr val="2D2E32"/>
            </a:solidFill>
            <a:prstDash val="solid"/>
          </a:ln>
        </p:spPr>
      </p:sp>
      <p:sp>
        <p:nvSpPr>
          <p:cNvPr id="8" name="type-card"/>
          <p:cNvSpPr/>
          <p:nvPr/>
        </p:nvSpPr>
        <p:spPr>
          <a:xfrm>
            <a:off x="508000" y="4470400"/>
            <a:ext cx="2387600" cy="1168400"/>
          </a:xfrm>
          <a:prstGeom prst="rect">
            <a:avLst/>
          </a:prstGeom>
          <a:solidFill>
            <a:srgbClr val="F5F6F8"/>
          </a:solidFill>
          <a:ln w="12700">
            <a:solidFill>
              <a:srgbClr val="E2E4E8"/>
            </a:solidFill>
            <a:prstDash val="solid"/>
          </a:ln>
        </p:spPr>
      </p:sp>
      <p:sp>
        <p:nvSpPr>
          <p:cNvPr id="9" name="type-label"/>
          <p:cNvSpPr/>
          <p:nvPr/>
        </p:nvSpPr>
        <p:spPr>
          <a:xfrm>
            <a:off x="711200" y="4673600"/>
            <a:ext cx="1981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b="1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 TYPE</a:t>
            </a:r>
            <a:endParaRPr lang="en-US" sz="1200" dirty="0"/>
          </a:p>
        </p:txBody>
      </p:sp>
      <p:sp>
        <p:nvSpPr>
          <p:cNvPr id="10" name="type-value"/>
          <p:cNvSpPr/>
          <p:nvPr/>
        </p:nvSpPr>
        <p:spPr>
          <a:xfrm>
            <a:off x="711200" y="4978400"/>
            <a:ext cx="19812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altLang="en-US" sz="19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Science Dept.</a:t>
            </a:r>
            <a:endParaRPr lang="en-US" sz="19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altLang="en-US" sz="19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PLC</a:t>
            </a:r>
            <a:endParaRPr lang="en-US" sz="1900" dirty="0"/>
          </a:p>
        </p:txBody>
      </p:sp>
      <p:sp>
        <p:nvSpPr>
          <p:cNvPr id="11" name="time-card"/>
          <p:cNvSpPr/>
          <p:nvPr/>
        </p:nvSpPr>
        <p:spPr>
          <a:xfrm>
            <a:off x="3073400" y="4470400"/>
            <a:ext cx="2387600" cy="1168400"/>
          </a:xfrm>
          <a:prstGeom prst="rect">
            <a:avLst/>
          </a:prstGeom>
          <a:solidFill>
            <a:srgbClr val="F5F6F8"/>
          </a:solidFill>
          <a:ln w="12700">
            <a:solidFill>
              <a:srgbClr val="E2E4E8"/>
            </a:solidFill>
            <a:prstDash val="solid"/>
          </a:ln>
        </p:spPr>
      </p:sp>
      <p:sp>
        <p:nvSpPr>
          <p:cNvPr id="12" name="time-label"/>
          <p:cNvSpPr/>
          <p:nvPr/>
        </p:nvSpPr>
        <p:spPr>
          <a:xfrm>
            <a:off x="3276600" y="4673600"/>
            <a:ext cx="1981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b="1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</a:t>
            </a:r>
            <a:endParaRPr lang="en-US" sz="1200" dirty="0"/>
          </a:p>
        </p:txBody>
      </p:sp>
      <p:sp>
        <p:nvSpPr>
          <p:cNvPr id="13" name="time-value"/>
          <p:cNvSpPr/>
          <p:nvPr/>
        </p:nvSpPr>
        <p:spPr>
          <a:xfrm>
            <a:off x="3276600" y="5029200"/>
            <a:ext cx="19812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0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41 Minutes</a:t>
            </a:r>
            <a:endParaRPr lang="en-US" sz="2000" dirty="0"/>
          </a:p>
        </p:txBody>
      </p:sp>
      <p:sp>
        <p:nvSpPr>
          <p:cNvPr id="14" name="audience-card"/>
          <p:cNvSpPr/>
          <p:nvPr/>
        </p:nvSpPr>
        <p:spPr>
          <a:xfrm>
            <a:off x="5638800" y="4470400"/>
            <a:ext cx="3124200" cy="1168400"/>
          </a:xfrm>
          <a:prstGeom prst="rect">
            <a:avLst/>
          </a:prstGeom>
          <a:solidFill>
            <a:srgbClr val="F5F6F8"/>
          </a:solidFill>
          <a:ln w="12700">
            <a:solidFill>
              <a:srgbClr val="E2E4E8"/>
            </a:solidFill>
            <a:prstDash val="solid"/>
          </a:ln>
        </p:spPr>
      </p:sp>
      <p:sp>
        <p:nvSpPr>
          <p:cNvPr id="15" name="audience-label"/>
          <p:cNvSpPr/>
          <p:nvPr/>
        </p:nvSpPr>
        <p:spPr>
          <a:xfrm>
            <a:off x="5842000" y="4673600"/>
            <a:ext cx="2717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b="1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AUDIENCE</a:t>
            </a:r>
            <a:endParaRPr lang="en-US" sz="1200" dirty="0"/>
          </a:p>
        </p:txBody>
      </p:sp>
      <p:sp>
        <p:nvSpPr>
          <p:cNvPr id="16" name="audience-value"/>
          <p:cNvSpPr/>
          <p:nvPr/>
        </p:nvSpPr>
        <p:spPr>
          <a:xfrm>
            <a:off x="5842000" y="5029200"/>
            <a:ext cx="27178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0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Grades 9–12 Science</a:t>
            </a:r>
            <a:endParaRPr lang="en-US" sz="2000" dirty="0"/>
          </a:p>
        </p:txBody>
      </p:sp>
      <p:sp>
        <p:nvSpPr>
          <p:cNvPr id="17" name="materials-title"/>
          <p:cNvSpPr/>
          <p:nvPr/>
        </p:nvSpPr>
        <p:spPr>
          <a:xfrm>
            <a:off x="508000" y="6146800"/>
            <a:ext cx="787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300" b="1" dirty="0">
                <a:solidFill>
                  <a:srgbClr val="C412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TO BRING</a:t>
            </a:r>
            <a:endParaRPr lang="en-US" sz="1300" dirty="0"/>
          </a:p>
        </p:txBody>
      </p:sp>
      <p:sp>
        <p:nvSpPr>
          <p:cNvPr id="18" name="materials-copy"/>
          <p:cNvSpPr/>
          <p:nvPr/>
        </p:nvSpPr>
        <p:spPr>
          <a:xfrm>
            <a:off x="508000" y="6527800"/>
            <a:ext cx="8064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altLang="en-US" sz="1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shared learning pattern from September 18 · next-lesson materials · Lesson Internalization Tool</a:t>
            </a:r>
            <a:endParaRPr lang="en-US" sz="1800" dirty="0"/>
          </a:p>
        </p:txBody>
      </p:sp>
      <p:sp>
        <p:nvSpPr>
          <p:cNvPr id="19" name="arc-panel"/>
          <p:cNvSpPr/>
          <p:nvPr/>
        </p:nvSpPr>
        <p:spPr>
          <a:xfrm>
            <a:off x="9779000" y="1422400"/>
            <a:ext cx="5969000" cy="6121400"/>
          </a:xfrm>
          <a:prstGeom prst="rect">
            <a:avLst/>
          </a:prstGeom>
          <a:solidFill>
            <a:srgbClr val="F5F6F8"/>
          </a:solidFill>
          <a:ln w="12700">
            <a:solidFill>
              <a:srgbClr val="E2E4E8"/>
            </a:solidFill>
            <a:prstDash val="solid"/>
          </a:ln>
        </p:spPr>
      </p:sp>
      <p:sp>
        <p:nvSpPr>
          <p:cNvPr id="20" name="arc-kicker"/>
          <p:cNvSpPr/>
          <p:nvPr/>
        </p:nvSpPr>
        <p:spPr>
          <a:xfrm>
            <a:off x="10134600" y="1803400"/>
            <a:ext cx="5207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300" b="1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FIVE-SESSION CONTINUATION ARC</a:t>
            </a:r>
            <a:endParaRPr lang="en-US" sz="1300" dirty="0"/>
          </a:p>
        </p:txBody>
      </p:sp>
      <p:sp>
        <p:nvSpPr>
          <p:cNvPr id="21" name="arc-title"/>
          <p:cNvSpPr/>
          <p:nvPr/>
        </p:nvSpPr>
        <p:spPr>
          <a:xfrm>
            <a:off x="10134600" y="2235200"/>
            <a:ext cx="5207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altLang="en-US" sz="2800" dirty="0">
                <a:solidFill>
                  <a:srgbClr val="2D2E3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Teach, Notice, Respond &amp; Replan</a:t>
            </a:r>
            <a:endParaRPr lang="en-US" sz="2800" dirty="0"/>
          </a:p>
        </p:txBody>
      </p:sp>
      <p:sp>
        <p:nvSpPr>
          <p:cNvPr id="22" name="arc-line"/>
          <p:cNvSpPr/>
          <p:nvPr/>
        </p:nvSpPr>
        <p:spPr>
          <a:xfrm>
            <a:off x="10375900" y="3479800"/>
            <a:ext cx="4749800" cy="9144"/>
          </a:xfrm>
          <a:prstGeom prst="line">
            <a:avLst/>
          </a:prstGeom>
          <a:ln w="50800">
            <a:solidFill>
              <a:srgbClr val="E2E4E8"/>
            </a:solidFill>
            <a:prstDash val="solid"/>
          </a:ln>
        </p:spPr>
      </p:sp>
      <p:sp>
        <p:nvSpPr>
          <p:cNvPr id="23" name="arc1"/>
          <p:cNvSpPr/>
          <p:nvPr/>
        </p:nvSpPr>
        <p:spPr>
          <a:xfrm>
            <a:off x="10134600" y="3124200"/>
            <a:ext cx="990600" cy="736600"/>
          </a:xfrm>
          <a:prstGeom prst="rect">
            <a:avLst/>
          </a:prstGeom>
          <a:solidFill>
            <a:srgbClr val="2D2E32"/>
          </a:solidFill>
          <a:ln/>
        </p:spPr>
      </p:sp>
      <p:sp>
        <p:nvSpPr>
          <p:cNvPr id="24" name="arc1-text"/>
          <p:cNvSpPr/>
          <p:nvPr/>
        </p:nvSpPr>
        <p:spPr>
          <a:xfrm>
            <a:off x="10210800" y="3225800"/>
            <a:ext cx="838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45"/>
              </a:lnSpc>
              <a:buNone/>
            </a:pPr>
            <a:r>
              <a:rPr lang="en-US" alt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9/15</a:t>
            </a:r>
            <a:endParaRPr lang="en-US" sz="1100" dirty="0"/>
          </a:p>
          <a:p>
            <a:pPr algn="ctr" indent="0" marL="0">
              <a:lnSpc>
                <a:spcPts val="1045"/>
              </a:lnSpc>
              <a:buNone/>
            </a:pPr>
            <a:r>
              <a:rPr lang="en-US" alt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CAPTURE</a:t>
            </a:r>
            <a:endParaRPr lang="en-US" sz="1100" dirty="0"/>
          </a:p>
        </p:txBody>
      </p:sp>
      <p:sp>
        <p:nvSpPr>
          <p:cNvPr id="25" name="arc2"/>
          <p:cNvSpPr/>
          <p:nvPr/>
        </p:nvSpPr>
        <p:spPr>
          <a:xfrm>
            <a:off x="11201400" y="3124200"/>
            <a:ext cx="990600" cy="736600"/>
          </a:xfrm>
          <a:prstGeom prst="rect">
            <a:avLst/>
          </a:prstGeom>
          <a:solidFill>
            <a:srgbClr val="2D2E32"/>
          </a:solidFill>
          <a:ln/>
        </p:spPr>
      </p:sp>
      <p:sp>
        <p:nvSpPr>
          <p:cNvPr id="26" name="arc2-text"/>
          <p:cNvSpPr/>
          <p:nvPr/>
        </p:nvSpPr>
        <p:spPr>
          <a:xfrm>
            <a:off x="11277600" y="3225800"/>
            <a:ext cx="838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45"/>
              </a:lnSpc>
              <a:buNone/>
            </a:pPr>
            <a:r>
              <a:rPr lang="en-US" alt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9/18</a:t>
            </a:r>
            <a:endParaRPr lang="en-US" sz="1100" dirty="0"/>
          </a:p>
          <a:p>
            <a:pPr algn="ctr" indent="0" marL="0">
              <a:lnSpc>
                <a:spcPts val="1045"/>
              </a:lnSpc>
              <a:buNone/>
            </a:pPr>
            <a:r>
              <a:rPr lang="en-US" alt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NOTICE</a:t>
            </a:r>
            <a:endParaRPr lang="en-US" sz="1100" dirty="0"/>
          </a:p>
        </p:txBody>
      </p:sp>
      <p:sp>
        <p:nvSpPr>
          <p:cNvPr id="27" name="arc3"/>
          <p:cNvSpPr/>
          <p:nvPr/>
        </p:nvSpPr>
        <p:spPr>
          <a:xfrm>
            <a:off x="12268200" y="3124200"/>
            <a:ext cx="990600" cy="736600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28" name="arc3-text"/>
          <p:cNvSpPr/>
          <p:nvPr/>
        </p:nvSpPr>
        <p:spPr>
          <a:xfrm>
            <a:off x="12344400" y="3225800"/>
            <a:ext cx="838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45"/>
              </a:lnSpc>
              <a:buNone/>
            </a:pPr>
            <a:r>
              <a:rPr lang="en-US" alt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9/21</a:t>
            </a:r>
            <a:endParaRPr lang="en-US" sz="1100" dirty="0"/>
          </a:p>
          <a:p>
            <a:pPr algn="ctr" indent="0" marL="0">
              <a:lnSpc>
                <a:spcPts val="1045"/>
              </a:lnSpc>
              <a:buNone/>
            </a:pPr>
            <a:r>
              <a:rPr lang="en-US" alt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</a:t>
            </a:r>
            <a:endParaRPr lang="en-US" sz="1100" dirty="0"/>
          </a:p>
        </p:txBody>
      </p:sp>
      <p:sp>
        <p:nvSpPr>
          <p:cNvPr id="29" name="arc4"/>
          <p:cNvSpPr/>
          <p:nvPr/>
        </p:nvSpPr>
        <p:spPr>
          <a:xfrm>
            <a:off x="13335000" y="3124200"/>
            <a:ext cx="990600" cy="736600"/>
          </a:xfrm>
          <a:prstGeom prst="rect">
            <a:avLst/>
          </a:prstGeom>
          <a:solidFill>
            <a:srgbClr val="2D2E32"/>
          </a:solidFill>
          <a:ln/>
        </p:spPr>
      </p:sp>
      <p:sp>
        <p:nvSpPr>
          <p:cNvPr id="30" name="arc4-text"/>
          <p:cNvSpPr/>
          <p:nvPr/>
        </p:nvSpPr>
        <p:spPr>
          <a:xfrm>
            <a:off x="13411200" y="3225800"/>
            <a:ext cx="838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45"/>
              </a:lnSpc>
              <a:buNone/>
            </a:pPr>
            <a:r>
              <a:rPr lang="en-US" alt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9/22</a:t>
            </a:r>
            <a:endParaRPr lang="en-US" sz="1100" dirty="0"/>
          </a:p>
          <a:p>
            <a:pPr algn="ctr" indent="0" marL="0">
              <a:lnSpc>
                <a:spcPts val="1045"/>
              </a:lnSpc>
              <a:buNone/>
            </a:pPr>
            <a:r>
              <a:rPr lang="en-US" alt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REPLAN</a:t>
            </a:r>
            <a:endParaRPr lang="en-US" sz="1100" dirty="0"/>
          </a:p>
        </p:txBody>
      </p:sp>
      <p:sp>
        <p:nvSpPr>
          <p:cNvPr id="31" name="arc5"/>
          <p:cNvSpPr/>
          <p:nvPr/>
        </p:nvSpPr>
        <p:spPr>
          <a:xfrm>
            <a:off x="14401800" y="3124200"/>
            <a:ext cx="990600" cy="736600"/>
          </a:xfrm>
          <a:prstGeom prst="rect">
            <a:avLst/>
          </a:prstGeom>
          <a:solidFill>
            <a:srgbClr val="2D2E32"/>
          </a:solidFill>
          <a:ln/>
        </p:spPr>
      </p:sp>
      <p:sp>
        <p:nvSpPr>
          <p:cNvPr id="32" name="arc5-text"/>
          <p:cNvSpPr/>
          <p:nvPr/>
        </p:nvSpPr>
        <p:spPr>
          <a:xfrm>
            <a:off x="14478000" y="3225800"/>
            <a:ext cx="838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45"/>
              </a:lnSpc>
              <a:buNone/>
            </a:pPr>
            <a:r>
              <a:rPr lang="en-US" alt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9/25</a:t>
            </a:r>
            <a:endParaRPr lang="en-US" sz="1100" dirty="0"/>
          </a:p>
          <a:p>
            <a:pPr algn="ctr" indent="0" marL="0">
              <a:lnSpc>
                <a:spcPts val="1045"/>
              </a:lnSpc>
              <a:buNone/>
            </a:pPr>
            <a:r>
              <a:rPr lang="en-US" alt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CALIBRATE</a:t>
            </a:r>
            <a:endParaRPr lang="en-US" sz="1100" dirty="0"/>
          </a:p>
        </p:txBody>
      </p:sp>
      <p:sp>
        <p:nvSpPr>
          <p:cNvPr id="33" name="arc-detail"/>
          <p:cNvSpPr/>
          <p:nvPr/>
        </p:nvSpPr>
        <p:spPr>
          <a:xfrm>
            <a:off x="10236200" y="4445000"/>
            <a:ext cx="50546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52"/>
              </a:lnSpc>
              <a:buNone/>
            </a:pPr>
            <a:r>
              <a:rPr lang="en-US" altLang="en-US" sz="1800" dirty="0">
                <a:solidFill>
                  <a:srgbClr val="2D2E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Today, teams turn actual student evidence into one follow-up action that helps students move forward.</a:t>
            </a:r>
            <a:endParaRPr lang="en-US" sz="1800" dirty="0"/>
          </a:p>
        </p:txBody>
      </p:sp>
      <p:sp>
        <p:nvSpPr>
          <p:cNvPr id="34" name="protocol-strip"/>
          <p:cNvSpPr/>
          <p:nvPr/>
        </p:nvSpPr>
        <p:spPr>
          <a:xfrm>
            <a:off x="10134600" y="5842000"/>
            <a:ext cx="5257800" cy="1117600"/>
          </a:xfrm>
          <a:prstGeom prst="rect">
            <a:avLst/>
          </a:prstGeom>
          <a:solidFill>
            <a:srgbClr val="2D2E32"/>
          </a:solidFill>
          <a:ln/>
        </p:spPr>
      </p:sp>
      <p:sp>
        <p:nvSpPr>
          <p:cNvPr id="35" name="protocol-strip-label"/>
          <p:cNvSpPr/>
          <p:nvPr/>
        </p:nvSpPr>
        <p:spPr>
          <a:xfrm>
            <a:off x="10414000" y="6045200"/>
            <a:ext cx="4699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PROTOCOL FOCUS</a:t>
            </a:r>
            <a:endParaRPr lang="en-US" sz="1200" dirty="0"/>
          </a:p>
        </p:txBody>
      </p:sp>
      <p:sp>
        <p:nvSpPr>
          <p:cNvPr id="36" name="protocol-strip-copy"/>
          <p:cNvSpPr/>
          <p:nvPr/>
        </p:nvSpPr>
        <p:spPr>
          <a:xfrm>
            <a:off x="10414000" y="6388100"/>
            <a:ext cx="469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alt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After-Lesson Reflection &amp; Forward Planning</a:t>
            </a:r>
            <a:endParaRPr lang="en-US" sz="1600" dirty="0"/>
          </a:p>
        </p:txBody>
      </p:sp>
      <p:sp>
        <p:nvSpPr>
          <p:cNvPr id="37" name="footer-rule"/>
          <p:cNvSpPr/>
          <p:nvPr/>
        </p:nvSpPr>
        <p:spPr>
          <a:xfrm>
            <a:off x="508000" y="8559800"/>
            <a:ext cx="15240000" cy="50800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38" name="footer-left"/>
          <p:cNvSpPr/>
          <p:nvPr/>
        </p:nvSpPr>
        <p:spPr>
          <a:xfrm>
            <a:off x="508000" y="8712200"/>
            <a:ext cx="6858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EVIDENCE TO THE NEXT STUDENT ACTION · 9/21</a:t>
            </a:r>
            <a:endParaRPr lang="en-US" sz="1200" dirty="0"/>
          </a:p>
        </p:txBody>
      </p:sp>
      <p:sp>
        <p:nvSpPr>
          <p:cNvPr id="39" name="footer-right"/>
          <p:cNvSpPr/>
          <p:nvPr/>
        </p:nvSpPr>
        <p:spPr>
          <a:xfrm>
            <a:off x="11684000" y="8712200"/>
            <a:ext cx="4064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rgbClr val="C412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SCIENCE DEPARTMENT PLC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D2E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rule"/>
          <p:cNvSpPr/>
          <p:nvPr/>
        </p:nvSpPr>
        <p:spPr>
          <a:xfrm>
            <a:off x="508000" y="304800"/>
            <a:ext cx="15240000" cy="76200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3" name="agenda-label"/>
          <p:cNvSpPr/>
          <p:nvPr/>
        </p:nvSpPr>
        <p:spPr>
          <a:xfrm>
            <a:off x="711200" y="736600"/>
            <a:ext cx="5588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TODAY’S AGENDA · 41 MINUTES</a:t>
            </a:r>
            <a:endParaRPr lang="en-US" sz="1300" dirty="0"/>
          </a:p>
        </p:txBody>
      </p:sp>
      <p:sp>
        <p:nvSpPr>
          <p:cNvPr id="4" name="agenda-title"/>
          <p:cNvSpPr/>
          <p:nvPr/>
        </p:nvSpPr>
        <p:spPr>
          <a:xfrm>
            <a:off x="711200" y="10414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4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From Evidence to the Next Student Action</a:t>
            </a:r>
            <a:endParaRPr lang="en-US" sz="3400" dirty="0"/>
          </a:p>
        </p:txBody>
      </p:sp>
      <p:sp>
        <p:nvSpPr>
          <p:cNvPr id="5" name="agenda-divider"/>
          <p:cNvSpPr/>
          <p:nvPr/>
        </p:nvSpPr>
        <p:spPr>
          <a:xfrm>
            <a:off x="711200" y="1803400"/>
            <a:ext cx="14833600" cy="9144"/>
          </a:xfrm>
          <a:prstGeom prst="line">
            <a:avLst/>
          </a:prstGeom>
          <a:ln w="25400">
            <a:solidFill>
              <a:srgbClr val="C41230"/>
            </a:solidFill>
            <a:prstDash val="solid"/>
          </a:ln>
        </p:spPr>
      </p:sp>
      <p:sp>
        <p:nvSpPr>
          <p:cNvPr id="6" name="t1"/>
          <p:cNvSpPr/>
          <p:nvPr/>
        </p:nvSpPr>
        <p:spPr>
          <a:xfrm>
            <a:off x="762000" y="2235200"/>
            <a:ext cx="1371600" cy="482600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7" name="t1-text"/>
          <p:cNvSpPr/>
          <p:nvPr/>
        </p:nvSpPr>
        <p:spPr>
          <a:xfrm>
            <a:off x="762000" y="2374900"/>
            <a:ext cx="13716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0:00–4:00</a:t>
            </a:r>
            <a:endParaRPr lang="en-US" sz="1200" dirty="0"/>
          </a:p>
        </p:txBody>
      </p:sp>
      <p:sp>
        <p:nvSpPr>
          <p:cNvPr id="8" name="a1"/>
          <p:cNvSpPr/>
          <p:nvPr/>
        </p:nvSpPr>
        <p:spPr>
          <a:xfrm>
            <a:off x="2387600" y="2235200"/>
            <a:ext cx="4953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alt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Reconnect</a:t>
            </a:r>
            <a:r>
              <a:rPr lang="en-US" alt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Bring forward the actual learning pattern and original learning goal.</a:t>
            </a:r>
            <a:endParaRPr lang="en-US" sz="2000" dirty="0"/>
          </a:p>
        </p:txBody>
      </p:sp>
      <p:sp>
        <p:nvSpPr>
          <p:cNvPr id="9" name="t2"/>
          <p:cNvSpPr/>
          <p:nvPr/>
        </p:nvSpPr>
        <p:spPr>
          <a:xfrm>
            <a:off x="762000" y="3251200"/>
            <a:ext cx="1371600" cy="482600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10" name="t2-text"/>
          <p:cNvSpPr/>
          <p:nvPr/>
        </p:nvSpPr>
        <p:spPr>
          <a:xfrm>
            <a:off x="762000" y="3390900"/>
            <a:ext cx="13716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4:00–10:00</a:t>
            </a:r>
            <a:endParaRPr lang="en-US" sz="1200" dirty="0"/>
          </a:p>
        </p:txBody>
      </p:sp>
      <p:sp>
        <p:nvSpPr>
          <p:cNvPr id="11" name="a2"/>
          <p:cNvSpPr/>
          <p:nvPr/>
        </p:nvSpPr>
        <p:spPr>
          <a:xfrm>
            <a:off x="2387600" y="3251200"/>
            <a:ext cx="495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alt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Name the Next Action</a:t>
            </a:r>
            <a:r>
              <a:rPr lang="en-US" alt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Decide what students should do next because of the evidence.</a:t>
            </a:r>
            <a:endParaRPr lang="en-US" sz="2000" dirty="0"/>
          </a:p>
        </p:txBody>
      </p:sp>
      <p:sp>
        <p:nvSpPr>
          <p:cNvPr id="12" name="t3"/>
          <p:cNvSpPr/>
          <p:nvPr/>
        </p:nvSpPr>
        <p:spPr>
          <a:xfrm>
            <a:off x="762000" y="4368800"/>
            <a:ext cx="1371600" cy="482600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13" name="t3-text"/>
          <p:cNvSpPr/>
          <p:nvPr/>
        </p:nvSpPr>
        <p:spPr>
          <a:xfrm>
            <a:off x="762000" y="4508500"/>
            <a:ext cx="13716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10:00–31:00</a:t>
            </a:r>
            <a:endParaRPr lang="en-US" sz="1200" dirty="0"/>
          </a:p>
        </p:txBody>
      </p:sp>
      <p:sp>
        <p:nvSpPr>
          <p:cNvPr id="14" name="a3"/>
          <p:cNvSpPr/>
          <p:nvPr/>
        </p:nvSpPr>
        <p:spPr>
          <a:xfrm>
            <a:off x="2387600" y="4368800"/>
            <a:ext cx="49530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alt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Protected Team Work</a:t>
            </a:r>
            <a:r>
              <a:rPr lang="en-US" alt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Design one short follow-up task, prompt, routine, support, or representation.</a:t>
            </a:r>
            <a:endParaRPr lang="en-US" sz="2000" dirty="0"/>
          </a:p>
        </p:txBody>
      </p:sp>
      <p:sp>
        <p:nvSpPr>
          <p:cNvPr id="15" name="t4"/>
          <p:cNvSpPr/>
          <p:nvPr/>
        </p:nvSpPr>
        <p:spPr>
          <a:xfrm>
            <a:off x="8458200" y="2235200"/>
            <a:ext cx="1371600" cy="482600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16" name="t4-text"/>
          <p:cNvSpPr/>
          <p:nvPr/>
        </p:nvSpPr>
        <p:spPr>
          <a:xfrm>
            <a:off x="8458200" y="2374900"/>
            <a:ext cx="13716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31:00–37:00</a:t>
            </a:r>
            <a:endParaRPr lang="en-US" sz="1200" dirty="0"/>
          </a:p>
        </p:txBody>
      </p:sp>
      <p:sp>
        <p:nvSpPr>
          <p:cNvPr id="17" name="a4"/>
          <p:cNvSpPr/>
          <p:nvPr/>
        </p:nvSpPr>
        <p:spPr>
          <a:xfrm>
            <a:off x="10083800" y="2235200"/>
            <a:ext cx="495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alt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 the Follow-Up</a:t>
            </a:r>
            <a:r>
              <a:rPr lang="en-US" alt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Practice the student direction and protect the thinking the evidence revealed.</a:t>
            </a:r>
            <a:endParaRPr lang="en-US" sz="2000" dirty="0"/>
          </a:p>
        </p:txBody>
      </p:sp>
      <p:sp>
        <p:nvSpPr>
          <p:cNvPr id="18" name="t5"/>
          <p:cNvSpPr/>
          <p:nvPr/>
        </p:nvSpPr>
        <p:spPr>
          <a:xfrm>
            <a:off x="8458200" y="3454400"/>
            <a:ext cx="1371600" cy="482600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19" name="t5-text"/>
          <p:cNvSpPr/>
          <p:nvPr/>
        </p:nvSpPr>
        <p:spPr>
          <a:xfrm>
            <a:off x="8458200" y="3594100"/>
            <a:ext cx="13716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37:00–41:00</a:t>
            </a:r>
            <a:endParaRPr lang="en-US" sz="1200" dirty="0"/>
          </a:p>
        </p:txBody>
      </p:sp>
      <p:sp>
        <p:nvSpPr>
          <p:cNvPr id="20" name="a5"/>
          <p:cNvSpPr/>
          <p:nvPr/>
        </p:nvSpPr>
        <p:spPr>
          <a:xfrm>
            <a:off x="10083800" y="3454400"/>
            <a:ext cx="4953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alt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Reflection &amp; Close</a:t>
            </a:r>
            <a:r>
              <a:rPr lang="en-US" alt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What new evidence will show whether the follow-up helped?</a:t>
            </a:r>
            <a:endParaRPr lang="en-US" sz="2000" dirty="0"/>
          </a:p>
        </p:txBody>
      </p:sp>
      <p:sp>
        <p:nvSpPr>
          <p:cNvPr id="21" name="outcome-card"/>
          <p:cNvSpPr/>
          <p:nvPr/>
        </p:nvSpPr>
        <p:spPr>
          <a:xfrm>
            <a:off x="8458200" y="4724400"/>
            <a:ext cx="6578600" cy="119380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9000"/>
              </a:srgbClr>
            </a:solidFill>
            <a:prstDash val="solid"/>
          </a:ln>
        </p:spPr>
      </p:sp>
      <p:sp>
        <p:nvSpPr>
          <p:cNvPr id="22" name="outcome-label"/>
          <p:cNvSpPr/>
          <p:nvPr/>
        </p:nvSpPr>
        <p:spPr>
          <a:xfrm>
            <a:off x="8788400" y="4978400"/>
            <a:ext cx="5905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 OUTCOME</a:t>
            </a:r>
            <a:endParaRPr lang="en-US" sz="1200" dirty="0"/>
          </a:p>
        </p:txBody>
      </p:sp>
      <p:sp>
        <p:nvSpPr>
          <p:cNvPr id="23" name="outcome-copy"/>
          <p:cNvSpPr/>
          <p:nvPr/>
        </p:nvSpPr>
        <p:spPr>
          <a:xfrm>
            <a:off x="8788400" y="5346700"/>
            <a:ext cx="59055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alt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follow-up that prompts a clear next student action and new evidence.</a:t>
            </a:r>
            <a:endParaRPr lang="en-US" sz="1800" dirty="0"/>
          </a:p>
        </p:txBody>
      </p:sp>
      <p:sp>
        <p:nvSpPr>
          <p:cNvPr id="24" name="footer-rule"/>
          <p:cNvSpPr/>
          <p:nvPr/>
        </p:nvSpPr>
        <p:spPr>
          <a:xfrm>
            <a:off x="508000" y="8559800"/>
            <a:ext cx="15240000" cy="50800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25" name="footer-left"/>
          <p:cNvSpPr/>
          <p:nvPr/>
        </p:nvSpPr>
        <p:spPr>
          <a:xfrm>
            <a:off x="508000" y="8712200"/>
            <a:ext cx="6604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MONDAY, SEPTEMBER 21, 2026 · NEXT STUDENT ACTION</a:t>
            </a:r>
            <a:endParaRPr lang="en-US" sz="1200" dirty="0"/>
          </a:p>
        </p:txBody>
      </p:sp>
      <p:sp>
        <p:nvSpPr>
          <p:cNvPr id="26" name="footer-right"/>
          <p:cNvSpPr/>
          <p:nvPr/>
        </p:nvSpPr>
        <p:spPr>
          <a:xfrm>
            <a:off x="11430000" y="8712200"/>
            <a:ext cx="4318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SCIENCE DEPARTMENT PLC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rule"/>
          <p:cNvSpPr/>
          <p:nvPr/>
        </p:nvSpPr>
        <p:spPr>
          <a:xfrm>
            <a:off x="508000" y="304800"/>
            <a:ext cx="15240000" cy="76200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3" name="header-band"/>
          <p:cNvSpPr/>
          <p:nvPr/>
        </p:nvSpPr>
        <p:spPr>
          <a:xfrm>
            <a:off x="508000" y="533400"/>
            <a:ext cx="15240000" cy="1117600"/>
          </a:xfrm>
          <a:prstGeom prst="rect">
            <a:avLst/>
          </a:prstGeom>
          <a:solidFill>
            <a:srgbClr val="2D2E32"/>
          </a:solidFill>
          <a:ln/>
        </p:spPr>
      </p:sp>
      <p:sp>
        <p:nvSpPr>
          <p:cNvPr id="4" name="header-label"/>
          <p:cNvSpPr/>
          <p:nvPr/>
        </p:nvSpPr>
        <p:spPr>
          <a:xfrm>
            <a:off x="762000" y="762000"/>
            <a:ext cx="5461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EVIDENCE-TO-ACTION FOCUS · 6 MINUTES</a:t>
            </a:r>
            <a:endParaRPr lang="en-US" sz="1200" dirty="0"/>
          </a:p>
        </p:txBody>
      </p:sp>
      <p:sp>
        <p:nvSpPr>
          <p:cNvPr id="5" name="header-title"/>
          <p:cNvSpPr/>
          <p:nvPr/>
        </p:nvSpPr>
        <p:spPr>
          <a:xfrm>
            <a:off x="762000" y="1066800"/>
            <a:ext cx="10033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Use Actual Evidence to Plan the Next Action</a:t>
            </a:r>
            <a:endParaRPr lang="en-US" sz="3100" dirty="0"/>
          </a:p>
        </p:txBody>
      </p:sp>
      <p:sp>
        <p:nvSpPr>
          <p:cNvPr id="6" name="time-block"/>
          <p:cNvSpPr/>
          <p:nvPr/>
        </p:nvSpPr>
        <p:spPr>
          <a:xfrm>
            <a:off x="13843000" y="787400"/>
            <a:ext cx="1397000" cy="381000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7" name="time-text"/>
          <p:cNvSpPr/>
          <p:nvPr/>
        </p:nvSpPr>
        <p:spPr>
          <a:xfrm>
            <a:off x="13843000" y="889000"/>
            <a:ext cx="1397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4:00–10:00</a:t>
            </a:r>
            <a:endParaRPr lang="en-US" sz="1200" dirty="0"/>
          </a:p>
        </p:txBody>
      </p:sp>
      <p:sp>
        <p:nvSpPr>
          <p:cNvPr id="8" name="question"/>
          <p:cNvSpPr/>
          <p:nvPr/>
        </p:nvSpPr>
        <p:spPr>
          <a:xfrm>
            <a:off x="914400" y="2362200"/>
            <a:ext cx="723900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altLang="en-US" sz="3500" dirty="0">
                <a:solidFill>
                  <a:srgbClr val="2D2E3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should students do next because of what the evidence actually shows?</a:t>
            </a:r>
            <a:endParaRPr lang="en-US" sz="3500" dirty="0"/>
          </a:p>
        </p:txBody>
      </p:sp>
      <p:sp>
        <p:nvSpPr>
          <p:cNvPr id="9" name="context"/>
          <p:cNvSpPr/>
          <p:nvPr/>
        </p:nvSpPr>
        <p:spPr>
          <a:xfrm>
            <a:off x="914400" y="3860800"/>
            <a:ext cx="7112000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0"/>
              </a:lnSpc>
              <a:buNone/>
            </a:pPr>
            <a:r>
              <a:rPr lang="en-US" altLang="en-US" sz="20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September 11 anticipated possible facilitation moves. Today begins with an actual learning pattern and plans the next student action: revise, explain, compare, model, discuss, correct, extend, or apply.</a:t>
            </a:r>
            <a:endParaRPr lang="en-US" sz="2000" dirty="0"/>
          </a:p>
        </p:txBody>
      </p:sp>
      <p:sp>
        <p:nvSpPr>
          <p:cNvPr id="10" name="principle1"/>
          <p:cNvSpPr/>
          <p:nvPr/>
        </p:nvSpPr>
        <p:spPr>
          <a:xfrm>
            <a:off x="914400" y="5511800"/>
            <a:ext cx="6858000" cy="558800"/>
          </a:xfrm>
          <a:prstGeom prst="rect">
            <a:avLst/>
          </a:prstGeom>
          <a:solidFill>
            <a:srgbClr val="F5F6F8"/>
          </a:solidFill>
          <a:ln w="12700">
            <a:solidFill>
              <a:srgbClr val="E2E4E8"/>
            </a:solidFill>
            <a:prstDash val="solid"/>
          </a:ln>
        </p:spPr>
      </p:sp>
      <p:sp>
        <p:nvSpPr>
          <p:cNvPr id="11" name="principle1text"/>
          <p:cNvSpPr/>
          <p:nvPr/>
        </p:nvSpPr>
        <p:spPr>
          <a:xfrm>
            <a:off x="1143000" y="5676900"/>
            <a:ext cx="635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700" b="1" dirty="0">
                <a:solidFill>
                  <a:srgbClr val="2D2E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the cognitive demand intact.</a:t>
            </a:r>
            <a:r>
              <a:rPr lang="en-US" altLang="en-US" sz="1700" dirty="0">
                <a:solidFill>
                  <a:srgbClr val="2D2E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Support access without lowering the goal.</a:t>
            </a:r>
            <a:endParaRPr lang="en-US" sz="1700" dirty="0"/>
          </a:p>
        </p:txBody>
      </p:sp>
      <p:sp>
        <p:nvSpPr>
          <p:cNvPr id="12" name="avoid-card"/>
          <p:cNvSpPr/>
          <p:nvPr/>
        </p:nvSpPr>
        <p:spPr>
          <a:xfrm>
            <a:off x="9499600" y="2362200"/>
            <a:ext cx="5334000" cy="1549400"/>
          </a:xfrm>
          <a:prstGeom prst="rect">
            <a:avLst/>
          </a:prstGeom>
          <a:solidFill>
            <a:srgbClr val="F5F6F8"/>
          </a:solidFill>
          <a:ln w="12700">
            <a:solidFill>
              <a:srgbClr val="E2E4E8"/>
            </a:solidFill>
            <a:prstDash val="solid"/>
          </a:ln>
        </p:spPr>
      </p:sp>
      <p:sp>
        <p:nvSpPr>
          <p:cNvPr id="13" name="avoid-label"/>
          <p:cNvSpPr/>
          <p:nvPr/>
        </p:nvSpPr>
        <p:spPr>
          <a:xfrm>
            <a:off x="9829800" y="2667000"/>
            <a:ext cx="4572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b="1" dirty="0">
                <a:solidFill>
                  <a:srgbClr val="C412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NOT REPEAT</a:t>
            </a:r>
            <a:endParaRPr lang="en-US" sz="1200" dirty="0"/>
          </a:p>
        </p:txBody>
      </p:sp>
      <p:sp>
        <p:nvSpPr>
          <p:cNvPr id="14" name="avoid-copy"/>
          <p:cNvSpPr/>
          <p:nvPr/>
        </p:nvSpPr>
        <p:spPr>
          <a:xfrm>
            <a:off x="9829800" y="3073400"/>
            <a:ext cx="457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8"/>
              </a:lnSpc>
              <a:buNone/>
            </a:pPr>
            <a:r>
              <a:rPr lang="en-US" altLang="en-US" sz="1900" dirty="0">
                <a:solidFill>
                  <a:srgbClr val="2D2E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not return to predicted responses or rewrite the pre-lesson facilitation plan.</a:t>
            </a:r>
            <a:endParaRPr lang="en-US" sz="1900" dirty="0"/>
          </a:p>
        </p:txBody>
      </p:sp>
      <p:sp>
        <p:nvSpPr>
          <p:cNvPr id="15" name="plan-card"/>
          <p:cNvSpPr/>
          <p:nvPr/>
        </p:nvSpPr>
        <p:spPr>
          <a:xfrm>
            <a:off x="9499600" y="4343400"/>
            <a:ext cx="5334000" cy="1778000"/>
          </a:xfrm>
          <a:prstGeom prst="rect">
            <a:avLst/>
          </a:prstGeom>
          <a:solidFill>
            <a:srgbClr val="2D2E32"/>
          </a:solidFill>
          <a:ln/>
        </p:spPr>
      </p:sp>
      <p:sp>
        <p:nvSpPr>
          <p:cNvPr id="16" name="plan-label"/>
          <p:cNvSpPr/>
          <p:nvPr/>
        </p:nvSpPr>
        <p:spPr>
          <a:xfrm>
            <a:off x="9829800" y="4648200"/>
            <a:ext cx="4572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 NEXT</a:t>
            </a:r>
            <a:endParaRPr lang="en-US" sz="1200" dirty="0"/>
          </a:p>
        </p:txBody>
      </p:sp>
      <p:sp>
        <p:nvSpPr>
          <p:cNvPr id="17" name="plan-copy"/>
          <p:cNvSpPr/>
          <p:nvPr/>
        </p:nvSpPr>
        <p:spPr>
          <a:xfrm>
            <a:off x="9829800" y="5054600"/>
            <a:ext cx="4572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8"/>
              </a:lnSpc>
              <a:buNone/>
            </a:pPr>
            <a:r>
              <a:rPr lang="en-US" altLang="en-US" sz="1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short follow-up task, prompt, discussion, representation, or support that prompts a clear next student action.</a:t>
            </a:r>
            <a:endParaRPr lang="en-US" sz="1900" dirty="0"/>
          </a:p>
        </p:txBody>
      </p:sp>
      <p:sp>
        <p:nvSpPr>
          <p:cNvPr id="18" name="takeaway"/>
          <p:cNvSpPr/>
          <p:nvPr/>
        </p:nvSpPr>
        <p:spPr>
          <a:xfrm>
            <a:off x="762000" y="6959600"/>
            <a:ext cx="14732000" cy="889000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19" name="takeaway-label"/>
          <p:cNvSpPr/>
          <p:nvPr/>
        </p:nvSpPr>
        <p:spPr>
          <a:xfrm>
            <a:off x="1092200" y="7175500"/>
            <a:ext cx="3302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PROTOCOL CONNECTION</a:t>
            </a:r>
            <a:endParaRPr lang="en-US" sz="1200" dirty="0"/>
          </a:p>
        </p:txBody>
      </p:sp>
      <p:sp>
        <p:nvSpPr>
          <p:cNvPr id="20" name="takeaway-copy"/>
          <p:cNvSpPr/>
          <p:nvPr/>
        </p:nvSpPr>
        <p:spPr>
          <a:xfrm>
            <a:off x="1092200" y="7480300"/>
            <a:ext cx="1397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a documented learning pattern to plan one next action students will take and one new piece of evidence the team will collect.</a:t>
            </a:r>
            <a:endParaRPr lang="en-US" sz="1800" dirty="0"/>
          </a:p>
        </p:txBody>
      </p:sp>
      <p:sp>
        <p:nvSpPr>
          <p:cNvPr id="21" name="footer-rule"/>
          <p:cNvSpPr/>
          <p:nvPr/>
        </p:nvSpPr>
        <p:spPr>
          <a:xfrm>
            <a:off x="508000" y="8559800"/>
            <a:ext cx="15240000" cy="50800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22" name="footer-left"/>
          <p:cNvSpPr/>
          <p:nvPr/>
        </p:nvSpPr>
        <p:spPr>
          <a:xfrm>
            <a:off x="508000" y="8712200"/>
            <a:ext cx="7112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EVIDENCE TO THE NEXT STUDENT ACTION · 9/21</a:t>
            </a:r>
            <a:endParaRPr lang="en-US" sz="1200" dirty="0"/>
          </a:p>
        </p:txBody>
      </p:sp>
      <p:sp>
        <p:nvSpPr>
          <p:cNvPr id="23" name="footer-right"/>
          <p:cNvSpPr/>
          <p:nvPr/>
        </p:nvSpPr>
        <p:spPr>
          <a:xfrm>
            <a:off x="11684000" y="8712200"/>
            <a:ext cx="4064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rgbClr val="C412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RESPONSE FOCUS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rule"/>
          <p:cNvSpPr/>
          <p:nvPr/>
        </p:nvSpPr>
        <p:spPr>
          <a:xfrm>
            <a:off x="508000" y="304800"/>
            <a:ext cx="15240000" cy="76200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3" name="header-band"/>
          <p:cNvSpPr/>
          <p:nvPr/>
        </p:nvSpPr>
        <p:spPr>
          <a:xfrm>
            <a:off x="508000" y="533400"/>
            <a:ext cx="15240000" cy="1117600"/>
          </a:xfrm>
          <a:prstGeom prst="rect">
            <a:avLst/>
          </a:prstGeom>
          <a:solidFill>
            <a:srgbClr val="2D2E32"/>
          </a:solidFill>
          <a:ln/>
        </p:spPr>
      </p:sp>
      <p:sp>
        <p:nvSpPr>
          <p:cNvPr id="4" name="header-label"/>
          <p:cNvSpPr/>
          <p:nvPr/>
        </p:nvSpPr>
        <p:spPr>
          <a:xfrm>
            <a:off x="762000" y="762000"/>
            <a:ext cx="5461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FACILITATION OPTIONS · 21 MINUTES</a:t>
            </a:r>
            <a:endParaRPr lang="en-US" sz="1200" dirty="0"/>
          </a:p>
        </p:txBody>
      </p:sp>
      <p:sp>
        <p:nvSpPr>
          <p:cNvPr id="5" name="header-title"/>
          <p:cNvSpPr/>
          <p:nvPr/>
        </p:nvSpPr>
        <p:spPr>
          <a:xfrm>
            <a:off x="762000" y="1066800"/>
            <a:ext cx="9906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Choose a Response That Prompts Action</a:t>
            </a:r>
            <a:endParaRPr lang="en-US" sz="3100" dirty="0"/>
          </a:p>
        </p:txBody>
      </p:sp>
      <p:sp>
        <p:nvSpPr>
          <p:cNvPr id="6" name="time-block"/>
          <p:cNvSpPr/>
          <p:nvPr/>
        </p:nvSpPr>
        <p:spPr>
          <a:xfrm>
            <a:off x="13843000" y="787400"/>
            <a:ext cx="1397000" cy="381000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7" name="time-text"/>
          <p:cNvSpPr/>
          <p:nvPr/>
        </p:nvSpPr>
        <p:spPr>
          <a:xfrm>
            <a:off x="13843000" y="889000"/>
            <a:ext cx="1397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10:00–31:00</a:t>
            </a:r>
            <a:endParaRPr lang="en-US" sz="1200" dirty="0"/>
          </a:p>
        </p:txBody>
      </p:sp>
      <p:sp>
        <p:nvSpPr>
          <p:cNvPr id="8" name="intro"/>
          <p:cNvSpPr/>
          <p:nvPr/>
        </p:nvSpPr>
        <p:spPr>
          <a:xfrm>
            <a:off x="762000" y="2032000"/>
            <a:ext cx="13843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9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 the response that best helps students act on the evidence pattern while continuing the grade-level thinking.</a:t>
            </a:r>
            <a:endParaRPr lang="en-US" sz="1900" dirty="0"/>
          </a:p>
        </p:txBody>
      </p:sp>
      <p:sp>
        <p:nvSpPr>
          <p:cNvPr id="9" name="c1"/>
          <p:cNvSpPr/>
          <p:nvPr/>
        </p:nvSpPr>
        <p:spPr>
          <a:xfrm>
            <a:off x="762000" y="2667000"/>
            <a:ext cx="4572000" cy="1549400"/>
          </a:xfrm>
          <a:prstGeom prst="rect">
            <a:avLst/>
          </a:prstGeom>
          <a:solidFill>
            <a:srgbClr val="F5F6F8"/>
          </a:solidFill>
          <a:ln w="12700">
            <a:solidFill>
              <a:srgbClr val="E2E4E8"/>
            </a:solidFill>
            <a:prstDash val="solid"/>
          </a:ln>
        </p:spPr>
      </p:sp>
      <p:sp>
        <p:nvSpPr>
          <p:cNvPr id="10" name="n1"/>
          <p:cNvSpPr/>
          <p:nvPr/>
        </p:nvSpPr>
        <p:spPr>
          <a:xfrm>
            <a:off x="1016000" y="2921000"/>
            <a:ext cx="406400" cy="406400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11" name="n1t"/>
          <p:cNvSpPr/>
          <p:nvPr/>
        </p:nvSpPr>
        <p:spPr>
          <a:xfrm>
            <a:off x="1016000" y="3009900"/>
            <a:ext cx="40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c1t"/>
          <p:cNvSpPr/>
          <p:nvPr/>
        </p:nvSpPr>
        <p:spPr>
          <a:xfrm>
            <a:off x="1676400" y="2832100"/>
            <a:ext cx="3276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9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</a:t>
            </a:r>
            <a:endParaRPr lang="en-US" sz="1900" dirty="0"/>
          </a:p>
        </p:txBody>
      </p:sp>
      <p:sp>
        <p:nvSpPr>
          <p:cNvPr id="13" name="c1b"/>
          <p:cNvSpPr/>
          <p:nvPr/>
        </p:nvSpPr>
        <p:spPr>
          <a:xfrm>
            <a:off x="1676400" y="3276600"/>
            <a:ext cx="32766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 students to explain, compare, justify, or revisit their reasoning.</a:t>
            </a:r>
            <a:endParaRPr lang="en-US" sz="1400" dirty="0"/>
          </a:p>
        </p:txBody>
      </p:sp>
      <p:sp>
        <p:nvSpPr>
          <p:cNvPr id="14" name="c2"/>
          <p:cNvSpPr/>
          <p:nvPr/>
        </p:nvSpPr>
        <p:spPr>
          <a:xfrm>
            <a:off x="5842000" y="2667000"/>
            <a:ext cx="4572000" cy="1549400"/>
          </a:xfrm>
          <a:prstGeom prst="rect">
            <a:avLst/>
          </a:prstGeom>
          <a:solidFill>
            <a:srgbClr val="F5F6F8"/>
          </a:solidFill>
          <a:ln w="12700">
            <a:solidFill>
              <a:srgbClr val="E2E4E8"/>
            </a:solidFill>
            <a:prstDash val="solid"/>
          </a:ln>
        </p:spPr>
      </p:sp>
      <p:sp>
        <p:nvSpPr>
          <p:cNvPr id="15" name="n2"/>
          <p:cNvSpPr/>
          <p:nvPr/>
        </p:nvSpPr>
        <p:spPr>
          <a:xfrm>
            <a:off x="6096000" y="2921000"/>
            <a:ext cx="406400" cy="406400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16" name="n2t"/>
          <p:cNvSpPr/>
          <p:nvPr/>
        </p:nvSpPr>
        <p:spPr>
          <a:xfrm>
            <a:off x="6096000" y="3009900"/>
            <a:ext cx="40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c2t"/>
          <p:cNvSpPr/>
          <p:nvPr/>
        </p:nvSpPr>
        <p:spPr>
          <a:xfrm>
            <a:off x="6756400" y="2832100"/>
            <a:ext cx="3276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9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Feedback Prompt</a:t>
            </a:r>
            <a:endParaRPr lang="en-US" sz="1900" dirty="0"/>
          </a:p>
        </p:txBody>
      </p:sp>
      <p:sp>
        <p:nvSpPr>
          <p:cNvPr id="18" name="c2b"/>
          <p:cNvSpPr/>
          <p:nvPr/>
        </p:nvSpPr>
        <p:spPr>
          <a:xfrm>
            <a:off x="6756400" y="3276600"/>
            <a:ext cx="32766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Help students revise, correct, extend, or apply their own work.</a:t>
            </a:r>
            <a:endParaRPr lang="en-US" sz="1400" dirty="0"/>
          </a:p>
        </p:txBody>
      </p:sp>
      <p:sp>
        <p:nvSpPr>
          <p:cNvPr id="19" name="c3"/>
          <p:cNvSpPr/>
          <p:nvPr/>
        </p:nvSpPr>
        <p:spPr>
          <a:xfrm>
            <a:off x="10922000" y="2667000"/>
            <a:ext cx="4572000" cy="1549400"/>
          </a:xfrm>
          <a:prstGeom prst="rect">
            <a:avLst/>
          </a:prstGeom>
          <a:solidFill>
            <a:srgbClr val="F5F6F8"/>
          </a:solidFill>
          <a:ln w="12700">
            <a:solidFill>
              <a:srgbClr val="E2E4E8"/>
            </a:solidFill>
            <a:prstDash val="solid"/>
          </a:ln>
        </p:spPr>
      </p:sp>
      <p:sp>
        <p:nvSpPr>
          <p:cNvPr id="20" name="n3"/>
          <p:cNvSpPr/>
          <p:nvPr/>
        </p:nvSpPr>
        <p:spPr>
          <a:xfrm>
            <a:off x="11176000" y="2921000"/>
            <a:ext cx="406400" cy="406400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21" name="n3t"/>
          <p:cNvSpPr/>
          <p:nvPr/>
        </p:nvSpPr>
        <p:spPr>
          <a:xfrm>
            <a:off x="11176000" y="3009900"/>
            <a:ext cx="40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c3t"/>
          <p:cNvSpPr/>
          <p:nvPr/>
        </p:nvSpPr>
        <p:spPr>
          <a:xfrm>
            <a:off x="11836400" y="2832100"/>
            <a:ext cx="3276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9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Discussion Routine</a:t>
            </a:r>
            <a:endParaRPr lang="en-US" sz="1900" dirty="0"/>
          </a:p>
        </p:txBody>
      </p:sp>
      <p:sp>
        <p:nvSpPr>
          <p:cNvPr id="23" name="c3b"/>
          <p:cNvSpPr/>
          <p:nvPr/>
        </p:nvSpPr>
        <p:spPr>
          <a:xfrm>
            <a:off x="11836400" y="3276600"/>
            <a:ext cx="32766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 student-to-student talk around evidence and explanation.</a:t>
            </a:r>
            <a:endParaRPr lang="en-US" sz="1400" dirty="0"/>
          </a:p>
        </p:txBody>
      </p:sp>
      <p:sp>
        <p:nvSpPr>
          <p:cNvPr id="24" name="c4"/>
          <p:cNvSpPr/>
          <p:nvPr/>
        </p:nvSpPr>
        <p:spPr>
          <a:xfrm>
            <a:off x="762000" y="4699000"/>
            <a:ext cx="4572000" cy="1549400"/>
          </a:xfrm>
          <a:prstGeom prst="rect">
            <a:avLst/>
          </a:prstGeom>
          <a:solidFill>
            <a:srgbClr val="F5F6F8"/>
          </a:solidFill>
          <a:ln w="12700">
            <a:solidFill>
              <a:srgbClr val="E2E4E8"/>
            </a:solidFill>
            <a:prstDash val="solid"/>
          </a:ln>
        </p:spPr>
      </p:sp>
      <p:sp>
        <p:nvSpPr>
          <p:cNvPr id="25" name="n4"/>
          <p:cNvSpPr/>
          <p:nvPr/>
        </p:nvSpPr>
        <p:spPr>
          <a:xfrm>
            <a:off x="1016000" y="4953000"/>
            <a:ext cx="406400" cy="406400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26" name="n4t"/>
          <p:cNvSpPr/>
          <p:nvPr/>
        </p:nvSpPr>
        <p:spPr>
          <a:xfrm>
            <a:off x="1016000" y="5041900"/>
            <a:ext cx="40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c4t"/>
          <p:cNvSpPr/>
          <p:nvPr/>
        </p:nvSpPr>
        <p:spPr>
          <a:xfrm>
            <a:off x="1676400" y="4864100"/>
            <a:ext cx="3276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9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Representation</a:t>
            </a:r>
            <a:endParaRPr lang="en-US" sz="1900" dirty="0"/>
          </a:p>
        </p:txBody>
      </p:sp>
      <p:sp>
        <p:nvSpPr>
          <p:cNvPr id="28" name="c4b"/>
          <p:cNvSpPr/>
          <p:nvPr/>
        </p:nvSpPr>
        <p:spPr>
          <a:xfrm>
            <a:off x="1676400" y="5308600"/>
            <a:ext cx="32766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Offer a model, example, visual, or tool that supports entry into the task.</a:t>
            </a:r>
            <a:endParaRPr lang="en-US" sz="1400" dirty="0"/>
          </a:p>
        </p:txBody>
      </p:sp>
      <p:sp>
        <p:nvSpPr>
          <p:cNvPr id="29" name="c5"/>
          <p:cNvSpPr/>
          <p:nvPr/>
        </p:nvSpPr>
        <p:spPr>
          <a:xfrm>
            <a:off x="5842000" y="4699000"/>
            <a:ext cx="4572000" cy="1549400"/>
          </a:xfrm>
          <a:prstGeom prst="rect">
            <a:avLst/>
          </a:prstGeom>
          <a:solidFill>
            <a:srgbClr val="F5F6F8"/>
          </a:solidFill>
          <a:ln w="12700">
            <a:solidFill>
              <a:srgbClr val="E2E4E8"/>
            </a:solidFill>
            <a:prstDash val="solid"/>
          </a:ln>
        </p:spPr>
      </p:sp>
      <p:sp>
        <p:nvSpPr>
          <p:cNvPr id="30" name="n5"/>
          <p:cNvSpPr/>
          <p:nvPr/>
        </p:nvSpPr>
        <p:spPr>
          <a:xfrm>
            <a:off x="6096000" y="4953000"/>
            <a:ext cx="406400" cy="406400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31" name="n5t"/>
          <p:cNvSpPr/>
          <p:nvPr/>
        </p:nvSpPr>
        <p:spPr>
          <a:xfrm>
            <a:off x="6096000" y="5041900"/>
            <a:ext cx="40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c5t"/>
          <p:cNvSpPr/>
          <p:nvPr/>
        </p:nvSpPr>
        <p:spPr>
          <a:xfrm>
            <a:off x="6756400" y="4864100"/>
            <a:ext cx="3276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9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Grouping Move</a:t>
            </a:r>
            <a:endParaRPr lang="en-US" sz="1900" dirty="0"/>
          </a:p>
        </p:txBody>
      </p:sp>
      <p:sp>
        <p:nvSpPr>
          <p:cNvPr id="33" name="c5b"/>
          <p:cNvSpPr/>
          <p:nvPr/>
        </p:nvSpPr>
        <p:spPr>
          <a:xfrm>
            <a:off x="6756400" y="5308600"/>
            <a:ext cx="32766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Adjust participation so students can make their thinking visible with peers.</a:t>
            </a:r>
            <a:endParaRPr lang="en-US" sz="1400" dirty="0"/>
          </a:p>
        </p:txBody>
      </p:sp>
      <p:sp>
        <p:nvSpPr>
          <p:cNvPr id="34" name="c6"/>
          <p:cNvSpPr/>
          <p:nvPr/>
        </p:nvSpPr>
        <p:spPr>
          <a:xfrm>
            <a:off x="10922000" y="4699000"/>
            <a:ext cx="4572000" cy="1549400"/>
          </a:xfrm>
          <a:prstGeom prst="rect">
            <a:avLst/>
          </a:prstGeom>
          <a:solidFill>
            <a:srgbClr val="F5F6F8"/>
          </a:solidFill>
          <a:ln w="12700">
            <a:solidFill>
              <a:srgbClr val="E2E4E8"/>
            </a:solidFill>
            <a:prstDash val="solid"/>
          </a:ln>
        </p:spPr>
      </p:sp>
      <p:sp>
        <p:nvSpPr>
          <p:cNvPr id="35" name="n6"/>
          <p:cNvSpPr/>
          <p:nvPr/>
        </p:nvSpPr>
        <p:spPr>
          <a:xfrm>
            <a:off x="11176000" y="4953000"/>
            <a:ext cx="406400" cy="406400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36" name="n6t"/>
          <p:cNvSpPr/>
          <p:nvPr/>
        </p:nvSpPr>
        <p:spPr>
          <a:xfrm>
            <a:off x="11176000" y="5041900"/>
            <a:ext cx="40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600" dirty="0"/>
          </a:p>
        </p:txBody>
      </p:sp>
      <p:sp>
        <p:nvSpPr>
          <p:cNvPr id="37" name="c6t"/>
          <p:cNvSpPr/>
          <p:nvPr/>
        </p:nvSpPr>
        <p:spPr>
          <a:xfrm>
            <a:off x="11836400" y="4864100"/>
            <a:ext cx="3276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9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 Support</a:t>
            </a:r>
            <a:endParaRPr lang="en-US" sz="1900" dirty="0"/>
          </a:p>
        </p:txBody>
      </p:sp>
      <p:sp>
        <p:nvSpPr>
          <p:cNvPr id="38" name="c6b"/>
          <p:cNvSpPr/>
          <p:nvPr/>
        </p:nvSpPr>
        <p:spPr>
          <a:xfrm>
            <a:off x="11836400" y="5308600"/>
            <a:ext cx="32766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language, materials, or routines that support the same learning goal.</a:t>
            </a:r>
            <a:endParaRPr lang="en-US" sz="1400" dirty="0"/>
          </a:p>
        </p:txBody>
      </p:sp>
      <p:sp>
        <p:nvSpPr>
          <p:cNvPr id="39" name="takeaway"/>
          <p:cNvSpPr/>
          <p:nvPr/>
        </p:nvSpPr>
        <p:spPr>
          <a:xfrm>
            <a:off x="762000" y="6959600"/>
            <a:ext cx="14732000" cy="889000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40" name="takeaway-label"/>
          <p:cNvSpPr/>
          <p:nvPr/>
        </p:nvSpPr>
        <p:spPr>
          <a:xfrm>
            <a:off x="1092200" y="7175500"/>
            <a:ext cx="3175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DECISION</a:t>
            </a:r>
            <a:endParaRPr lang="en-US" sz="1200" dirty="0"/>
          </a:p>
        </p:txBody>
      </p:sp>
      <p:sp>
        <p:nvSpPr>
          <p:cNvPr id="41" name="takeaway-copy"/>
          <p:cNvSpPr/>
          <p:nvPr/>
        </p:nvSpPr>
        <p:spPr>
          <a:xfrm>
            <a:off x="1092200" y="7480300"/>
            <a:ext cx="1397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Choose one response that prompts a student action and keeps the cognitive demand intact.</a:t>
            </a:r>
            <a:endParaRPr lang="en-US" sz="1800" dirty="0"/>
          </a:p>
        </p:txBody>
      </p:sp>
      <p:sp>
        <p:nvSpPr>
          <p:cNvPr id="42" name="footer-rule"/>
          <p:cNvSpPr/>
          <p:nvPr/>
        </p:nvSpPr>
        <p:spPr>
          <a:xfrm>
            <a:off x="508000" y="8559800"/>
            <a:ext cx="15240000" cy="50800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43" name="footer-left"/>
          <p:cNvSpPr/>
          <p:nvPr/>
        </p:nvSpPr>
        <p:spPr>
          <a:xfrm>
            <a:off x="508000" y="8712200"/>
            <a:ext cx="7112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RESPOND WITHOUT TAKING OVER THE THINKING · 9/21</a:t>
            </a:r>
            <a:endParaRPr lang="en-US" sz="1200" dirty="0"/>
          </a:p>
        </p:txBody>
      </p:sp>
      <p:sp>
        <p:nvSpPr>
          <p:cNvPr id="44" name="footer-right"/>
          <p:cNvSpPr/>
          <p:nvPr/>
        </p:nvSpPr>
        <p:spPr>
          <a:xfrm>
            <a:off x="11684000" y="8712200"/>
            <a:ext cx="4064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rgbClr val="C412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RESPONSE OPTIONS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rule"/>
          <p:cNvSpPr/>
          <p:nvPr/>
        </p:nvSpPr>
        <p:spPr>
          <a:xfrm>
            <a:off x="508000" y="304800"/>
            <a:ext cx="15240000" cy="76200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3" name="header-band"/>
          <p:cNvSpPr/>
          <p:nvPr/>
        </p:nvSpPr>
        <p:spPr>
          <a:xfrm>
            <a:off x="508000" y="533400"/>
            <a:ext cx="15240000" cy="1117600"/>
          </a:xfrm>
          <a:prstGeom prst="rect">
            <a:avLst/>
          </a:prstGeom>
          <a:solidFill>
            <a:srgbClr val="2D2E32"/>
          </a:solidFill>
          <a:ln/>
        </p:spPr>
      </p:sp>
      <p:sp>
        <p:nvSpPr>
          <p:cNvPr id="4" name="header-label"/>
          <p:cNvSpPr/>
          <p:nvPr/>
        </p:nvSpPr>
        <p:spPr>
          <a:xfrm>
            <a:off x="762000" y="762000"/>
            <a:ext cx="5715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PLANNING · 21 MINUTES</a:t>
            </a:r>
            <a:endParaRPr lang="en-US" sz="1200" dirty="0"/>
          </a:p>
        </p:txBody>
      </p:sp>
      <p:sp>
        <p:nvSpPr>
          <p:cNvPr id="5" name="header-title"/>
          <p:cNvSpPr/>
          <p:nvPr/>
        </p:nvSpPr>
        <p:spPr>
          <a:xfrm>
            <a:off x="762000" y="1066800"/>
            <a:ext cx="9652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Plan and Rehearse the Response</a:t>
            </a:r>
            <a:endParaRPr lang="en-US" sz="3100" dirty="0"/>
          </a:p>
        </p:txBody>
      </p:sp>
      <p:sp>
        <p:nvSpPr>
          <p:cNvPr id="6" name="time-block"/>
          <p:cNvSpPr/>
          <p:nvPr/>
        </p:nvSpPr>
        <p:spPr>
          <a:xfrm>
            <a:off x="13843000" y="787400"/>
            <a:ext cx="1397000" cy="381000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7" name="time-text"/>
          <p:cNvSpPr/>
          <p:nvPr/>
        </p:nvSpPr>
        <p:spPr>
          <a:xfrm>
            <a:off x="13843000" y="889000"/>
            <a:ext cx="1397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10:00–31:00</a:t>
            </a:r>
            <a:endParaRPr lang="en-US" sz="1200" dirty="0"/>
          </a:p>
        </p:txBody>
      </p:sp>
      <p:sp>
        <p:nvSpPr>
          <p:cNvPr id="8" name="work-marker"/>
          <p:cNvSpPr/>
          <p:nvPr/>
        </p:nvSpPr>
        <p:spPr>
          <a:xfrm>
            <a:off x="762000" y="2082800"/>
            <a:ext cx="2032000" cy="685800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9" name="work-marker-text"/>
          <p:cNvSpPr/>
          <p:nvPr/>
        </p:nvSpPr>
        <p:spPr>
          <a:xfrm>
            <a:off x="762000" y="2197100"/>
            <a:ext cx="2032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alt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 WITH</a:t>
            </a:r>
            <a:endParaRPr lang="en-US" sz="20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alt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COLLEAGUES</a:t>
            </a:r>
            <a:endParaRPr lang="en-US" sz="2000" dirty="0"/>
          </a:p>
        </p:txBody>
      </p:sp>
      <p:sp>
        <p:nvSpPr>
          <p:cNvPr id="10" name="work-prompt"/>
          <p:cNvSpPr/>
          <p:nvPr/>
        </p:nvSpPr>
        <p:spPr>
          <a:xfrm>
            <a:off x="3149600" y="2171700"/>
            <a:ext cx="11684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altLang="en-US" sz="20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the evidence pattern from September 18. Plan one practical move that will help students continue the grade-level work.</a:t>
            </a:r>
            <a:endParaRPr lang="en-US" sz="2000" dirty="0"/>
          </a:p>
        </p:txBody>
      </p:sp>
      <p:sp>
        <p:nvSpPr>
          <p:cNvPr id="11" name="card1"/>
          <p:cNvSpPr/>
          <p:nvPr/>
        </p:nvSpPr>
        <p:spPr>
          <a:xfrm>
            <a:off x="762000" y="3276600"/>
            <a:ext cx="6858000" cy="1270000"/>
          </a:xfrm>
          <a:prstGeom prst="rect">
            <a:avLst/>
          </a:prstGeom>
          <a:solidFill>
            <a:srgbClr val="F5F6F8"/>
          </a:solidFill>
          <a:ln w="12700">
            <a:solidFill>
              <a:srgbClr val="E2E4E8"/>
            </a:solidFill>
            <a:prstDash val="solid"/>
          </a:ln>
        </p:spPr>
      </p:sp>
      <p:sp>
        <p:nvSpPr>
          <p:cNvPr id="12" name="tile1"/>
          <p:cNvSpPr/>
          <p:nvPr/>
        </p:nvSpPr>
        <p:spPr>
          <a:xfrm>
            <a:off x="1016000" y="3556000"/>
            <a:ext cx="457200" cy="457200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13" name="tile1-text"/>
          <p:cNvSpPr/>
          <p:nvPr/>
        </p:nvSpPr>
        <p:spPr>
          <a:xfrm>
            <a:off x="1016000" y="36703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800" dirty="0"/>
          </a:p>
        </p:txBody>
      </p:sp>
      <p:sp>
        <p:nvSpPr>
          <p:cNvPr id="14" name="card1-title"/>
          <p:cNvSpPr/>
          <p:nvPr/>
        </p:nvSpPr>
        <p:spPr>
          <a:xfrm>
            <a:off x="1752600" y="3467100"/>
            <a:ext cx="546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Restate the evidence pattern.</a:t>
            </a:r>
            <a:endParaRPr lang="en-US" sz="2000" dirty="0"/>
          </a:p>
        </p:txBody>
      </p:sp>
      <p:sp>
        <p:nvSpPr>
          <p:cNvPr id="15" name="card1-copy"/>
          <p:cNvSpPr/>
          <p:nvPr/>
        </p:nvSpPr>
        <p:spPr>
          <a:xfrm>
            <a:off x="1752600" y="3898900"/>
            <a:ext cx="5461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Name the student thinking the team wants to address and connect it to the learning goal.</a:t>
            </a:r>
            <a:endParaRPr lang="en-US" sz="1500" dirty="0"/>
          </a:p>
        </p:txBody>
      </p:sp>
      <p:sp>
        <p:nvSpPr>
          <p:cNvPr id="16" name="card2"/>
          <p:cNvSpPr/>
          <p:nvPr/>
        </p:nvSpPr>
        <p:spPr>
          <a:xfrm>
            <a:off x="7874000" y="3276600"/>
            <a:ext cx="7620000" cy="1270000"/>
          </a:xfrm>
          <a:prstGeom prst="rect">
            <a:avLst/>
          </a:prstGeom>
          <a:solidFill>
            <a:srgbClr val="F5F6F8"/>
          </a:solidFill>
          <a:ln w="12700">
            <a:solidFill>
              <a:srgbClr val="E2E4E8"/>
            </a:solidFill>
            <a:prstDash val="solid"/>
          </a:ln>
        </p:spPr>
      </p:sp>
      <p:sp>
        <p:nvSpPr>
          <p:cNvPr id="17" name="tile2"/>
          <p:cNvSpPr/>
          <p:nvPr/>
        </p:nvSpPr>
        <p:spPr>
          <a:xfrm>
            <a:off x="8128000" y="3556000"/>
            <a:ext cx="457200" cy="457200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18" name="tile2-text"/>
          <p:cNvSpPr/>
          <p:nvPr/>
        </p:nvSpPr>
        <p:spPr>
          <a:xfrm>
            <a:off x="8128000" y="36703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card2-title"/>
          <p:cNvSpPr/>
          <p:nvPr/>
        </p:nvSpPr>
        <p:spPr>
          <a:xfrm>
            <a:off x="8864600" y="3467100"/>
            <a:ext cx="6172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Choose the response type.</a:t>
            </a:r>
            <a:endParaRPr lang="en-US" sz="2000" dirty="0"/>
          </a:p>
        </p:txBody>
      </p:sp>
      <p:sp>
        <p:nvSpPr>
          <p:cNvPr id="20" name="card2-copy"/>
          <p:cNvSpPr/>
          <p:nvPr/>
        </p:nvSpPr>
        <p:spPr>
          <a:xfrm>
            <a:off x="8864600" y="3898900"/>
            <a:ext cx="6172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 a question, feedback prompt, discussion routine, representation, grouping move, or access support.</a:t>
            </a:r>
            <a:endParaRPr lang="en-US" sz="1500" dirty="0"/>
          </a:p>
        </p:txBody>
      </p:sp>
      <p:sp>
        <p:nvSpPr>
          <p:cNvPr id="21" name="card3"/>
          <p:cNvSpPr/>
          <p:nvPr/>
        </p:nvSpPr>
        <p:spPr>
          <a:xfrm>
            <a:off x="762000" y="4927600"/>
            <a:ext cx="6858000" cy="1270000"/>
          </a:xfrm>
          <a:prstGeom prst="rect">
            <a:avLst/>
          </a:prstGeom>
          <a:solidFill>
            <a:srgbClr val="F5F6F8"/>
          </a:solidFill>
          <a:ln w="12700">
            <a:solidFill>
              <a:srgbClr val="E2E4E8"/>
            </a:solidFill>
            <a:prstDash val="solid"/>
          </a:ln>
        </p:spPr>
      </p:sp>
      <p:sp>
        <p:nvSpPr>
          <p:cNvPr id="22" name="tile3"/>
          <p:cNvSpPr/>
          <p:nvPr/>
        </p:nvSpPr>
        <p:spPr>
          <a:xfrm>
            <a:off x="1016000" y="5207000"/>
            <a:ext cx="457200" cy="457200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23" name="tile3-text"/>
          <p:cNvSpPr/>
          <p:nvPr/>
        </p:nvSpPr>
        <p:spPr>
          <a:xfrm>
            <a:off x="1016000" y="53213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card3-title"/>
          <p:cNvSpPr/>
          <p:nvPr/>
        </p:nvSpPr>
        <p:spPr>
          <a:xfrm>
            <a:off x="1752600" y="5118100"/>
            <a:ext cx="546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 the cognitive demand.</a:t>
            </a:r>
            <a:endParaRPr lang="en-US" sz="2000" dirty="0"/>
          </a:p>
        </p:txBody>
      </p:sp>
      <p:sp>
        <p:nvSpPr>
          <p:cNvPr id="25" name="card3-copy"/>
          <p:cNvSpPr/>
          <p:nvPr/>
        </p:nvSpPr>
        <p:spPr>
          <a:xfrm>
            <a:off x="1752600" y="5549900"/>
            <a:ext cx="5461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 that students will still need to reason, explain, model, or use evidence.</a:t>
            </a:r>
            <a:endParaRPr lang="en-US" sz="1500" dirty="0"/>
          </a:p>
        </p:txBody>
      </p:sp>
      <p:sp>
        <p:nvSpPr>
          <p:cNvPr id="26" name="card4"/>
          <p:cNvSpPr/>
          <p:nvPr/>
        </p:nvSpPr>
        <p:spPr>
          <a:xfrm>
            <a:off x="7874000" y="4927600"/>
            <a:ext cx="7620000" cy="1270000"/>
          </a:xfrm>
          <a:prstGeom prst="rect">
            <a:avLst/>
          </a:prstGeom>
          <a:solidFill>
            <a:srgbClr val="F5F6F8"/>
          </a:solidFill>
          <a:ln w="12700">
            <a:solidFill>
              <a:srgbClr val="E2E4E8"/>
            </a:solidFill>
            <a:prstDash val="solid"/>
          </a:ln>
        </p:spPr>
      </p:sp>
      <p:sp>
        <p:nvSpPr>
          <p:cNvPr id="27" name="tile4"/>
          <p:cNvSpPr/>
          <p:nvPr/>
        </p:nvSpPr>
        <p:spPr>
          <a:xfrm>
            <a:off x="8128000" y="5207000"/>
            <a:ext cx="457200" cy="457200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28" name="tile4-text"/>
          <p:cNvSpPr/>
          <p:nvPr/>
        </p:nvSpPr>
        <p:spPr>
          <a:xfrm>
            <a:off x="8128000" y="53213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card4-title"/>
          <p:cNvSpPr/>
          <p:nvPr/>
        </p:nvSpPr>
        <p:spPr>
          <a:xfrm>
            <a:off x="8864600" y="5118100"/>
            <a:ext cx="6172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Rehearse the language.</a:t>
            </a:r>
            <a:endParaRPr lang="en-US" sz="2000" dirty="0"/>
          </a:p>
        </p:txBody>
      </p:sp>
      <p:sp>
        <p:nvSpPr>
          <p:cNvPr id="30" name="card4-copy"/>
          <p:cNvSpPr/>
          <p:nvPr/>
        </p:nvSpPr>
        <p:spPr>
          <a:xfrm>
            <a:off x="8864600" y="5549900"/>
            <a:ext cx="6172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the response and identify what students will do next because of it.</a:t>
            </a:r>
            <a:endParaRPr lang="en-US" sz="1500" dirty="0"/>
          </a:p>
        </p:txBody>
      </p:sp>
      <p:sp>
        <p:nvSpPr>
          <p:cNvPr id="31" name="takeaway"/>
          <p:cNvSpPr/>
          <p:nvPr/>
        </p:nvSpPr>
        <p:spPr>
          <a:xfrm>
            <a:off x="762000" y="6959600"/>
            <a:ext cx="14732000" cy="889000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32" name="takeaway-label"/>
          <p:cNvSpPr/>
          <p:nvPr/>
        </p:nvSpPr>
        <p:spPr>
          <a:xfrm>
            <a:off x="1092200" y="7175500"/>
            <a:ext cx="2667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LEAVE WITH</a:t>
            </a:r>
            <a:endParaRPr lang="en-US" sz="1200" dirty="0"/>
          </a:p>
        </p:txBody>
      </p:sp>
      <p:sp>
        <p:nvSpPr>
          <p:cNvPr id="33" name="takeaway-copy"/>
          <p:cNvSpPr/>
          <p:nvPr/>
        </p:nvSpPr>
        <p:spPr>
          <a:xfrm>
            <a:off x="1092200" y="7480300"/>
            <a:ext cx="1397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rehearsed response that is specific, practical, and connected to an evidence-based learning pattern.</a:t>
            </a:r>
            <a:endParaRPr lang="en-US" sz="1800" dirty="0"/>
          </a:p>
        </p:txBody>
      </p:sp>
      <p:sp>
        <p:nvSpPr>
          <p:cNvPr id="34" name="footer-rule"/>
          <p:cNvSpPr/>
          <p:nvPr/>
        </p:nvSpPr>
        <p:spPr>
          <a:xfrm>
            <a:off x="508000" y="8559800"/>
            <a:ext cx="15240000" cy="50800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35" name="footer-left"/>
          <p:cNvSpPr/>
          <p:nvPr/>
        </p:nvSpPr>
        <p:spPr>
          <a:xfrm>
            <a:off x="508000" y="8712200"/>
            <a:ext cx="7112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RESPOND WITHOUT TAKING OVER THE THINKING · 9/21</a:t>
            </a:r>
            <a:endParaRPr lang="en-US" sz="1200" dirty="0"/>
          </a:p>
        </p:txBody>
      </p:sp>
      <p:sp>
        <p:nvSpPr>
          <p:cNvPr id="36" name="footer-right"/>
          <p:cNvSpPr/>
          <p:nvPr/>
        </p:nvSpPr>
        <p:spPr>
          <a:xfrm>
            <a:off x="11684000" y="8712200"/>
            <a:ext cx="4064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rgbClr val="C412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PROTECTED WORK TIME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rule"/>
          <p:cNvSpPr/>
          <p:nvPr/>
        </p:nvSpPr>
        <p:spPr>
          <a:xfrm>
            <a:off x="508000" y="304800"/>
            <a:ext cx="15240000" cy="76200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3" name="header-band"/>
          <p:cNvSpPr/>
          <p:nvPr/>
        </p:nvSpPr>
        <p:spPr>
          <a:xfrm>
            <a:off x="508000" y="533400"/>
            <a:ext cx="15240000" cy="1117600"/>
          </a:xfrm>
          <a:prstGeom prst="rect">
            <a:avLst/>
          </a:prstGeom>
          <a:solidFill>
            <a:srgbClr val="2D2E32"/>
          </a:solidFill>
          <a:ln/>
        </p:spPr>
      </p:sp>
      <p:sp>
        <p:nvSpPr>
          <p:cNvPr id="4" name="header-label"/>
          <p:cNvSpPr/>
          <p:nvPr/>
        </p:nvSpPr>
        <p:spPr>
          <a:xfrm>
            <a:off x="762000" y="762000"/>
            <a:ext cx="5461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REFLECTION &amp; PREVIEW · 4 MINUTES</a:t>
            </a:r>
            <a:endParaRPr lang="en-US" sz="1200" dirty="0"/>
          </a:p>
        </p:txBody>
      </p:sp>
      <p:sp>
        <p:nvSpPr>
          <p:cNvPr id="5" name="header-title"/>
          <p:cNvSpPr/>
          <p:nvPr/>
        </p:nvSpPr>
        <p:spPr>
          <a:xfrm>
            <a:off x="762000" y="1066800"/>
            <a:ext cx="9144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Reflect and Carry It Forward</a:t>
            </a:r>
            <a:endParaRPr lang="en-US" sz="3100" dirty="0"/>
          </a:p>
        </p:txBody>
      </p:sp>
      <p:sp>
        <p:nvSpPr>
          <p:cNvPr id="6" name="time-block"/>
          <p:cNvSpPr/>
          <p:nvPr/>
        </p:nvSpPr>
        <p:spPr>
          <a:xfrm>
            <a:off x="13843000" y="787400"/>
            <a:ext cx="1397000" cy="381000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7" name="time-text"/>
          <p:cNvSpPr/>
          <p:nvPr/>
        </p:nvSpPr>
        <p:spPr>
          <a:xfrm>
            <a:off x="13843000" y="889000"/>
            <a:ext cx="1397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37:00–41:00</a:t>
            </a:r>
            <a:endParaRPr lang="en-US" sz="1200" dirty="0"/>
          </a:p>
        </p:txBody>
      </p:sp>
      <p:sp>
        <p:nvSpPr>
          <p:cNvPr id="8" name="reflection-label"/>
          <p:cNvSpPr/>
          <p:nvPr/>
        </p:nvSpPr>
        <p:spPr>
          <a:xfrm>
            <a:off x="914400" y="2413000"/>
            <a:ext cx="2667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300" b="1" dirty="0">
                <a:solidFill>
                  <a:srgbClr val="C412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EXIT REFLECTION</a:t>
            </a:r>
            <a:endParaRPr lang="en-US" sz="1300" dirty="0"/>
          </a:p>
        </p:txBody>
      </p:sp>
      <p:sp>
        <p:nvSpPr>
          <p:cNvPr id="9" name="reflection-question"/>
          <p:cNvSpPr/>
          <p:nvPr/>
        </p:nvSpPr>
        <p:spPr>
          <a:xfrm>
            <a:off x="914400" y="2895600"/>
            <a:ext cx="6858000" cy="134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altLang="en-US" sz="3500" dirty="0">
                <a:solidFill>
                  <a:srgbClr val="2D2E3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will students do next because of this response?</a:t>
            </a:r>
            <a:endParaRPr lang="en-US" sz="3500" dirty="0"/>
          </a:p>
        </p:txBody>
      </p:sp>
      <p:sp>
        <p:nvSpPr>
          <p:cNvPr id="10" name="reflection-direction"/>
          <p:cNvSpPr/>
          <p:nvPr/>
        </p:nvSpPr>
        <p:spPr>
          <a:xfrm>
            <a:off x="914400" y="4775200"/>
            <a:ext cx="6350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6"/>
              </a:lnSpc>
              <a:buNone/>
            </a:pPr>
            <a:r>
              <a:rPr lang="en-US" altLang="en-US" sz="19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Write one or two sentences. Name the response and the student action it is intended to prompt.</a:t>
            </a:r>
            <a:endParaRPr lang="en-US" sz="1900" dirty="0"/>
          </a:p>
        </p:txBody>
      </p:sp>
      <p:sp>
        <p:nvSpPr>
          <p:cNvPr id="11" name="preview-card"/>
          <p:cNvSpPr/>
          <p:nvPr/>
        </p:nvSpPr>
        <p:spPr>
          <a:xfrm>
            <a:off x="9271000" y="2463800"/>
            <a:ext cx="5588000" cy="3505200"/>
          </a:xfrm>
          <a:prstGeom prst="rect">
            <a:avLst/>
          </a:prstGeom>
          <a:solidFill>
            <a:srgbClr val="F5F6F8"/>
          </a:solidFill>
          <a:ln w="12700">
            <a:solidFill>
              <a:srgbClr val="E2E4E8"/>
            </a:solidFill>
            <a:prstDash val="solid"/>
          </a:ln>
        </p:spPr>
      </p:sp>
      <p:sp>
        <p:nvSpPr>
          <p:cNvPr id="12" name="preview-date"/>
          <p:cNvSpPr/>
          <p:nvPr/>
        </p:nvSpPr>
        <p:spPr>
          <a:xfrm>
            <a:off x="9677400" y="2819400"/>
            <a:ext cx="4775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300" b="1" dirty="0">
                <a:solidFill>
                  <a:srgbClr val="C412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TUESDAY · SEPTEMBER 22</a:t>
            </a:r>
            <a:endParaRPr lang="en-US" sz="1300" dirty="0"/>
          </a:p>
        </p:txBody>
      </p:sp>
      <p:sp>
        <p:nvSpPr>
          <p:cNvPr id="13" name="preview-title"/>
          <p:cNvSpPr/>
          <p:nvPr/>
        </p:nvSpPr>
        <p:spPr>
          <a:xfrm>
            <a:off x="9677400" y="3302000"/>
            <a:ext cx="47752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altLang="en-US" sz="3000" dirty="0">
                <a:solidFill>
                  <a:srgbClr val="2D2E3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Replan the Next Learning Experience</a:t>
            </a:r>
            <a:endParaRPr lang="en-US" sz="3000" dirty="0"/>
          </a:p>
        </p:txBody>
      </p:sp>
      <p:sp>
        <p:nvSpPr>
          <p:cNvPr id="14" name="preview-copy"/>
          <p:cNvSpPr/>
          <p:nvPr/>
        </p:nvSpPr>
        <p:spPr>
          <a:xfrm>
            <a:off x="9677400" y="4368800"/>
            <a:ext cx="4775200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en-US" altLang="en-US" sz="19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Bring the next lesson and the team’s evidence-based response. You will make one visible revision to strengthen what students experience next.</a:t>
            </a:r>
            <a:endParaRPr lang="en-US" sz="1900" dirty="0"/>
          </a:p>
        </p:txBody>
      </p:sp>
      <p:sp>
        <p:nvSpPr>
          <p:cNvPr id="15" name="takeaway"/>
          <p:cNvSpPr/>
          <p:nvPr/>
        </p:nvSpPr>
        <p:spPr>
          <a:xfrm>
            <a:off x="762000" y="6959600"/>
            <a:ext cx="14732000" cy="889000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16" name="takeaway-label"/>
          <p:cNvSpPr/>
          <p:nvPr/>
        </p:nvSpPr>
        <p:spPr>
          <a:xfrm>
            <a:off x="1092200" y="7175500"/>
            <a:ext cx="3175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 TAKEAWAY</a:t>
            </a:r>
            <a:endParaRPr lang="en-US" sz="1200" dirty="0"/>
          </a:p>
        </p:txBody>
      </p:sp>
      <p:sp>
        <p:nvSpPr>
          <p:cNvPr id="17" name="takeaway-copy"/>
          <p:cNvSpPr/>
          <p:nvPr/>
        </p:nvSpPr>
        <p:spPr>
          <a:xfrm>
            <a:off x="1092200" y="7480300"/>
            <a:ext cx="1397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useful response helps students re-enter the task, make their thinking visible, and continue moving toward the learning goal.</a:t>
            </a:r>
            <a:endParaRPr lang="en-US" sz="1800" dirty="0"/>
          </a:p>
        </p:txBody>
      </p:sp>
      <p:sp>
        <p:nvSpPr>
          <p:cNvPr id="18" name="footer-rule"/>
          <p:cNvSpPr/>
          <p:nvPr/>
        </p:nvSpPr>
        <p:spPr>
          <a:xfrm>
            <a:off x="508000" y="8559800"/>
            <a:ext cx="15240000" cy="50800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19" name="footer-left"/>
          <p:cNvSpPr/>
          <p:nvPr/>
        </p:nvSpPr>
        <p:spPr>
          <a:xfrm>
            <a:off x="508000" y="8712200"/>
            <a:ext cx="7112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RESPOND WITHOUT TAKING OVER THE THINKING · 9/21</a:t>
            </a:r>
            <a:endParaRPr lang="en-US" sz="1200" dirty="0"/>
          </a:p>
        </p:txBody>
      </p:sp>
      <p:sp>
        <p:nvSpPr>
          <p:cNvPr id="20" name="footer-right"/>
          <p:cNvSpPr/>
          <p:nvPr/>
        </p:nvSpPr>
        <p:spPr>
          <a:xfrm>
            <a:off x="11684000" y="8712200"/>
            <a:ext cx="4064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rgbClr val="C412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CLOSING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Manus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Internalization: Respond Without Taking Over the Thinking</dc:title>
  <dc:subject>Lesson Internalization: Respond Without Taking Over the Thinking</dc:subject>
  <dc:creator>Manus</dc:creator>
  <cp:lastModifiedBy>Manus</cp:lastModifiedBy>
  <cp:revision>1</cp:revision>
  <dcterms:created xsi:type="dcterms:W3CDTF">2026-09-14T18:45:33Z</dcterms:created>
  <dcterms:modified xsi:type="dcterms:W3CDTF">2026-09-14T18:45:33Z</dcterms:modified>
</cp:coreProperties>
</file>
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889000" y="1168400"/>
            <a:ext cx="1905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cover-kicker"/>
          <p:cNvSpPr/>
          <p:nvPr/>
        </p:nvSpPr>
        <p:spPr>
          <a:xfrm>
            <a:off x="889000" y="1600200"/>
            <a:ext cx="1206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MONDAY, OCTOBER 26, 2026  •  41 MINUTES</a:t>
            </a:r>
            <a:endParaRPr lang="en-US" sz="1700" dirty="0"/>
          </a:p>
        </p:txBody>
      </p:sp>
      <p:sp>
        <p:nvSpPr>
          <p:cNvPr id="5" name="cover-title"/>
          <p:cNvSpPr/>
          <p:nvPr/>
        </p:nvSpPr>
        <p:spPr>
          <a:xfrm>
            <a:off x="889000" y="2387600"/>
            <a:ext cx="133350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Benchmark → Anticipated Student Thinking</a:t>
            </a:r>
            <a:endParaRPr lang="en-US" sz="4500" dirty="0"/>
          </a:p>
          <a:p>
            <a:pPr algn="l" indent="0" marL="0">
              <a:lnSpc>
                <a:spcPts val="4860"/>
              </a:lnSpc>
              <a:buNone/>
            </a:pPr>
            <a:r>
              <a:rPr lang="en-US" altLang="en-US" sz="4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Feedback + Student Action</a:t>
            </a:r>
            <a:endParaRPr lang="en-US" sz="4500" dirty="0"/>
          </a:p>
        </p:txBody>
      </p:sp>
      <p:sp>
        <p:nvSpPr>
          <p:cNvPr id="6" name="cover-shape-5"/>
          <p:cNvSpPr/>
          <p:nvPr/>
        </p:nvSpPr>
        <p:spPr>
          <a:xfrm>
            <a:off x="889000" y="4597400"/>
            <a:ext cx="12954000" cy="9144"/>
          </a:xfrm>
          <a:prstGeom prst="line">
            <a:avLst/>
          </a:prstGeom>
          <a:ln w="12700">
            <a:solidFill>
              <a:srgbClr val="72777D"/>
            </a:solidFill>
            <a:prstDash val="solid"/>
          </a:ln>
        </p:spPr>
      </p:sp>
      <p:sp>
        <p:nvSpPr>
          <p:cNvPr id="7" name="cover-subtitle"/>
          <p:cNvSpPr/>
          <p:nvPr/>
        </p:nvSpPr>
        <p:spPr>
          <a:xfrm>
            <a:off x="889000" y="5016500"/>
            <a:ext cx="10668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50"/>
              </a:lnSpc>
              <a:buNone/>
            </a:pPr>
            <a:r>
              <a:rPr lang="en-US" altLang="en-US" sz="25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upcoming standards-aligned science writing task to anticipate responses and plan feedback that helps students revise or act.</a:t>
            </a:r>
            <a:endParaRPr lang="en-US" sz="2500" dirty="0"/>
          </a:p>
        </p:txBody>
      </p:sp>
      <p:sp>
        <p:nvSpPr>
          <p:cNvPr id="8" name="cover-shape-7"/>
          <p:cNvSpPr/>
          <p:nvPr/>
        </p:nvSpPr>
        <p:spPr>
          <a:xfrm>
            <a:off x="11912600" y="5308600"/>
            <a:ext cx="3098800" cy="17272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9" name="cover-outcome-label"/>
          <p:cNvSpPr/>
          <p:nvPr/>
        </p:nvSpPr>
        <p:spPr>
          <a:xfrm>
            <a:off x="12166600" y="5588000"/>
            <a:ext cx="2590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altLang="en-US" sz="13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OUTCOME</a:t>
            </a:r>
            <a:endParaRPr lang="en-US" sz="1300" dirty="0"/>
          </a:p>
        </p:txBody>
      </p:sp>
      <p:sp>
        <p:nvSpPr>
          <p:cNvPr id="10" name="cover-outcome"/>
          <p:cNvSpPr/>
          <p:nvPr/>
        </p:nvSpPr>
        <p:spPr>
          <a:xfrm>
            <a:off x="12141200" y="5969000"/>
            <a:ext cx="264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72"/>
              </a:lnSpc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task, one anticipated need, one feedback prompt, and one student action.</a:t>
            </a:r>
            <a:endParaRPr lang="en-US" sz="1700" dirty="0"/>
          </a:p>
        </p:txBody>
      </p:sp>
      <p:sp>
        <p:nvSpPr>
          <p:cNvPr id="11" name="cover-footer"/>
          <p:cNvSpPr/>
          <p:nvPr/>
        </p:nvSpPr>
        <p:spPr>
          <a:xfrm>
            <a:off x="889000" y="7493000"/>
            <a:ext cx="1168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</a:t>
            </a:r>
            <a:endParaRPr lang="en-US" sz="2200" dirty="0"/>
          </a:p>
        </p:txBody>
      </p:sp>
      <p:sp>
        <p:nvSpPr>
          <p:cNvPr id="12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cover-shape-12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Coherent Science Literacy Evidence Cycle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0:00–4:00  •  4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71600"/>
            <a:ext cx="14859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 stays with the same standards-aligned writing task from planning through evidence review. CUBS and CER make student thinking visible; they do not become a separate initiative.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768600"/>
            <a:ext cx="2286000" cy="3111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step1"/>
          <p:cNvSpPr/>
          <p:nvPr/>
        </p:nvSpPr>
        <p:spPr>
          <a:xfrm>
            <a:off x="7366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benchmark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Task, source, criteria, and anticipated responses.</a:t>
            </a:r>
            <a:endParaRPr lang="en-US" sz="1800" dirty="0"/>
          </a:p>
        </p:txBody>
      </p:sp>
      <p:sp>
        <p:nvSpPr>
          <p:cNvPr id="8" name="arrow1"/>
          <p:cNvSpPr/>
          <p:nvPr/>
        </p:nvSpPr>
        <p:spPr>
          <a:xfrm>
            <a:off x="28702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cycle-shape-8"/>
          <p:cNvSpPr/>
          <p:nvPr/>
        </p:nvSpPr>
        <p:spPr>
          <a:xfrm>
            <a:off x="34036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tep2"/>
          <p:cNvSpPr/>
          <p:nvPr/>
        </p:nvSpPr>
        <p:spPr>
          <a:xfrm>
            <a:off x="36322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+ action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criterion, prompt, student move, and evidence look-for.</a:t>
            </a:r>
            <a:endParaRPr lang="en-US" sz="1800" dirty="0"/>
          </a:p>
        </p:txBody>
      </p:sp>
      <p:sp>
        <p:nvSpPr>
          <p:cNvPr id="11" name="arrow2"/>
          <p:cNvSpPr/>
          <p:nvPr/>
        </p:nvSpPr>
        <p:spPr>
          <a:xfrm>
            <a:off x="57658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cycle-shape-11"/>
          <p:cNvSpPr/>
          <p:nvPr/>
        </p:nvSpPr>
        <p:spPr>
          <a:xfrm>
            <a:off x="62992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step3"/>
          <p:cNvSpPr/>
          <p:nvPr/>
        </p:nvSpPr>
        <p:spPr>
          <a:xfrm>
            <a:off x="65278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WED. PD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Calibrate the bar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task, criteria, samples, feedback, and revision.</a:t>
            </a:r>
            <a:endParaRPr lang="en-US" sz="1800" dirty="0"/>
          </a:p>
        </p:txBody>
      </p:sp>
      <p:sp>
        <p:nvSpPr>
          <p:cNvPr id="14" name="arrow3"/>
          <p:cNvSpPr/>
          <p:nvPr/>
        </p:nvSpPr>
        <p:spPr>
          <a:xfrm>
            <a:off x="86614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5" name="cycle-shape-14"/>
          <p:cNvSpPr/>
          <p:nvPr/>
        </p:nvSpPr>
        <p:spPr>
          <a:xfrm>
            <a:off x="9194800" y="2768600"/>
            <a:ext cx="2286000" cy="31115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tep4"/>
          <p:cNvSpPr/>
          <p:nvPr/>
        </p:nvSpPr>
        <p:spPr>
          <a:xfrm>
            <a:off x="9423400" y="3098800"/>
            <a:ext cx="1828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review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samples + unit-test evidence where available.</a:t>
            </a:r>
            <a:endParaRPr lang="en-US" sz="1800" dirty="0"/>
          </a:p>
        </p:txBody>
      </p:sp>
      <p:sp>
        <p:nvSpPr>
          <p:cNvPr id="17" name="arrow4"/>
          <p:cNvSpPr/>
          <p:nvPr/>
        </p:nvSpPr>
        <p:spPr>
          <a:xfrm>
            <a:off x="11557000" y="4038600"/>
            <a:ext cx="457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2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cycle-shape-17"/>
          <p:cNvSpPr/>
          <p:nvPr/>
        </p:nvSpPr>
        <p:spPr>
          <a:xfrm>
            <a:off x="12090400" y="2768600"/>
            <a:ext cx="3657600" cy="3111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step5"/>
          <p:cNvSpPr/>
          <p:nvPr/>
        </p:nvSpPr>
        <p:spPr>
          <a:xfrm>
            <a:off x="12420600" y="3098800"/>
            <a:ext cx="2997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2"/>
              </a:lnSpc>
              <a:buNone/>
            </a:pPr>
            <a:r>
              <a:rPr lang="en-US" altLang="en-US" sz="14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LEARNING EXPERIENCE</a:t>
            </a:r>
            <a:endParaRPr lang="en-US" sz="1800" dirty="0"/>
          </a:p>
          <a:p>
            <a:pPr algn="l" indent="0" marL="0">
              <a:lnSpc>
                <a:spcPts val="2596"/>
              </a:lnSpc>
              <a:spcBef>
                <a:spcPts val="1200"/>
              </a:spcBef>
              <a:buNone/>
            </a:pPr>
            <a:r>
              <a:rPr lang="en-US" alt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 to a supported learning pattern</a:t>
            </a:r>
            <a:endParaRPr lang="en-US" sz="1800" dirty="0"/>
          </a:p>
          <a:p>
            <a:pPr algn="l" indent="0" marL="0">
              <a:lnSpc>
                <a:spcPts val="2124"/>
              </a:lnSpc>
              <a:spcBef>
                <a:spcPts val="1000"/>
              </a:spcBef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next student action and a brief evidence check.</a:t>
            </a:r>
            <a:endParaRPr lang="en-US" sz="1800" dirty="0"/>
          </a:p>
        </p:txBody>
      </p:sp>
      <p:sp>
        <p:nvSpPr>
          <p:cNvPr id="20" name="cycle-shape-19"/>
          <p:cNvSpPr/>
          <p:nvPr/>
        </p:nvSpPr>
        <p:spPr>
          <a:xfrm>
            <a:off x="508000" y="6731000"/>
            <a:ext cx="15240000" cy="1168400"/>
          </a:xfrm>
          <a:prstGeom prst="rect">
            <a:avLst/>
          </a:prstGeom>
          <a:solidFill>
            <a:srgbClr val="F8F9FA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1" name="cycle-icon-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0" y="7048500"/>
            <a:ext cx="482600" cy="482600"/>
          </a:xfrm>
          <a:prstGeom prst="rect">
            <a:avLst/>
          </a:prstGeom>
        </p:spPr>
      </p:pic>
      <p:sp>
        <p:nvSpPr>
          <p:cNvPr id="22" name="anchor"/>
          <p:cNvSpPr/>
          <p:nvPr/>
        </p:nvSpPr>
        <p:spPr>
          <a:xfrm>
            <a:off x="1574800" y="6959600"/>
            <a:ext cx="133985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6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Non-evaluative evidence story: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work from the task and evidence, not from teacher, student, or course comparisons. Avoid broad reteach plans.</a:t>
            </a:r>
            <a:endParaRPr lang="en-US" sz="2200" dirty="0"/>
          </a:p>
        </p:txBody>
      </p:sp>
      <p:sp>
        <p:nvSpPr>
          <p:cNvPr id="23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4" name="cycle-shape-2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bs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to Analyze the Source Students Will Use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60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CUBS to the article, data display, model, investigation result, or prompt that supports the upcoming writing benchmark.</a:t>
            </a:r>
            <a:endParaRPr lang="en-US" sz="2300" dirty="0"/>
          </a:p>
        </p:txBody>
      </p:sp>
      <p:sp>
        <p:nvSpPr>
          <p:cNvPr id="6" name="cubs-shape-5"/>
          <p:cNvSpPr/>
          <p:nvPr/>
        </p:nvSpPr>
        <p:spPr>
          <a:xfrm>
            <a:off x="508000" y="2463800"/>
            <a:ext cx="3479800" cy="3708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cubs-c"/>
          <p:cNvSpPr/>
          <p:nvPr/>
        </p:nvSpPr>
        <p:spPr>
          <a:xfrm>
            <a:off x="787400" y="2794000"/>
            <a:ext cx="2921000" cy="774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58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5800" dirty="0"/>
          </a:p>
        </p:txBody>
      </p:sp>
      <p:sp>
        <p:nvSpPr>
          <p:cNvPr id="8" name="cubs-c-title"/>
          <p:cNvSpPr/>
          <p:nvPr/>
        </p:nvSpPr>
        <p:spPr>
          <a:xfrm>
            <a:off x="787400" y="3695700"/>
            <a:ext cx="292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</a:t>
            </a:r>
            <a:endParaRPr lang="en-US" sz="2600" dirty="0"/>
          </a:p>
        </p:txBody>
      </p:sp>
      <p:sp>
        <p:nvSpPr>
          <p:cNvPr id="9" name="cubs-c-body"/>
          <p:cNvSpPr/>
          <p:nvPr/>
        </p:nvSpPr>
        <p:spPr>
          <a:xfrm>
            <a:off x="787400" y="4330700"/>
            <a:ext cx="2794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central idea or scientific claim students need to understand before they write.</a:t>
            </a:r>
            <a:endParaRPr lang="en-US" sz="2100" dirty="0"/>
          </a:p>
        </p:txBody>
      </p:sp>
      <p:sp>
        <p:nvSpPr>
          <p:cNvPr id="10" name="cubs-shape-9"/>
          <p:cNvSpPr/>
          <p:nvPr/>
        </p:nvSpPr>
        <p:spPr>
          <a:xfrm>
            <a:off x="4267200" y="2463800"/>
            <a:ext cx="3479800" cy="3708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ubs-u"/>
          <p:cNvSpPr/>
          <p:nvPr/>
        </p:nvSpPr>
        <p:spPr>
          <a:xfrm>
            <a:off x="4546600" y="2794000"/>
            <a:ext cx="2921000" cy="774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58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endParaRPr lang="en-US" sz="5800" dirty="0"/>
          </a:p>
        </p:txBody>
      </p:sp>
      <p:sp>
        <p:nvSpPr>
          <p:cNvPr id="12" name="cubs-u-title"/>
          <p:cNvSpPr/>
          <p:nvPr/>
        </p:nvSpPr>
        <p:spPr>
          <a:xfrm>
            <a:off x="4546600" y="3695700"/>
            <a:ext cx="292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</a:t>
            </a:r>
            <a:endParaRPr lang="en-US" sz="2600" dirty="0"/>
          </a:p>
        </p:txBody>
      </p:sp>
      <p:sp>
        <p:nvSpPr>
          <p:cNvPr id="13" name="cubs-u-body"/>
          <p:cNvSpPr/>
          <p:nvPr/>
        </p:nvSpPr>
        <p:spPr>
          <a:xfrm>
            <a:off x="4546600" y="4330700"/>
            <a:ext cx="2794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data, details, observations, or relationships students can use as evidence.</a:t>
            </a:r>
            <a:endParaRPr lang="en-US" sz="2100" dirty="0"/>
          </a:p>
        </p:txBody>
      </p:sp>
      <p:sp>
        <p:nvSpPr>
          <p:cNvPr id="14" name="cubs-shape-13"/>
          <p:cNvSpPr/>
          <p:nvPr/>
        </p:nvSpPr>
        <p:spPr>
          <a:xfrm>
            <a:off x="8026400" y="2463800"/>
            <a:ext cx="3479800" cy="3708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cubs-b"/>
          <p:cNvSpPr/>
          <p:nvPr/>
        </p:nvSpPr>
        <p:spPr>
          <a:xfrm>
            <a:off x="8305800" y="2794000"/>
            <a:ext cx="2921000" cy="774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58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5800" dirty="0"/>
          </a:p>
        </p:txBody>
      </p:sp>
      <p:sp>
        <p:nvSpPr>
          <p:cNvPr id="16" name="cubs-b-title"/>
          <p:cNvSpPr/>
          <p:nvPr/>
        </p:nvSpPr>
        <p:spPr>
          <a:xfrm>
            <a:off x="8305800" y="3695700"/>
            <a:ext cx="292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</a:t>
            </a:r>
            <a:endParaRPr lang="en-US" sz="2600" dirty="0"/>
          </a:p>
        </p:txBody>
      </p:sp>
      <p:sp>
        <p:nvSpPr>
          <p:cNvPr id="17" name="cubs-b-body"/>
          <p:cNvSpPr/>
          <p:nvPr/>
        </p:nvSpPr>
        <p:spPr>
          <a:xfrm>
            <a:off x="8305800" y="4330700"/>
            <a:ext cx="2794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vocabulary, language, or representations that may prevent access to the task.</a:t>
            </a:r>
            <a:endParaRPr lang="en-US" sz="2100" dirty="0"/>
          </a:p>
        </p:txBody>
      </p:sp>
      <p:sp>
        <p:nvSpPr>
          <p:cNvPr id="18" name="cubs-shape-17"/>
          <p:cNvSpPr/>
          <p:nvPr/>
        </p:nvSpPr>
        <p:spPr>
          <a:xfrm>
            <a:off x="11785600" y="2463800"/>
            <a:ext cx="3962400" cy="3708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9" name="cubs-s"/>
          <p:cNvSpPr/>
          <p:nvPr/>
        </p:nvSpPr>
        <p:spPr>
          <a:xfrm>
            <a:off x="12065000" y="2794000"/>
            <a:ext cx="3175000" cy="774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58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800" dirty="0"/>
          </a:p>
        </p:txBody>
      </p:sp>
      <p:sp>
        <p:nvSpPr>
          <p:cNvPr id="20" name="cubs-s-title"/>
          <p:cNvSpPr/>
          <p:nvPr/>
        </p:nvSpPr>
        <p:spPr>
          <a:xfrm>
            <a:off x="12065000" y="3695700"/>
            <a:ext cx="3175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</a:t>
            </a:r>
            <a:endParaRPr lang="en-US" sz="2600" dirty="0"/>
          </a:p>
        </p:txBody>
      </p:sp>
      <p:sp>
        <p:nvSpPr>
          <p:cNvPr id="21" name="cubs-s-body"/>
          <p:cNvSpPr/>
          <p:nvPr/>
        </p:nvSpPr>
        <p:spPr>
          <a:xfrm>
            <a:off x="12065000" y="4330700"/>
            <a:ext cx="330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2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source helps students explain—or the question they still need to resolve.</a:t>
            </a:r>
            <a:endParaRPr lang="en-US" sz="2100" dirty="0"/>
          </a:p>
        </p:txBody>
      </p:sp>
      <p:sp>
        <p:nvSpPr>
          <p:cNvPr id="22" name="cubs-shape-21"/>
          <p:cNvSpPr/>
          <p:nvPr/>
        </p:nvSpPr>
        <p:spPr>
          <a:xfrm>
            <a:off x="508000" y="6794500"/>
            <a:ext cx="15240000" cy="1117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3" name="cubs-bottom"/>
          <p:cNvSpPr/>
          <p:nvPr/>
        </p:nvSpPr>
        <p:spPr>
          <a:xfrm>
            <a:off x="825500" y="6997700"/>
            <a:ext cx="1455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altLang="en-US" sz="21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it as an access routine:</a:t>
            </a: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CUBS prepares students to use the source in their science writing. It is not a separate activity or grading category.</a:t>
            </a:r>
            <a:endParaRPr lang="en-US" sz="2100" dirty="0"/>
          </a:p>
        </p:txBody>
      </p:sp>
      <p:sp>
        <p:nvSpPr>
          <p:cNvPr id="2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cubs-shape-2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r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Anticipate Student Thinking With CER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10:00–17:00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97000"/>
            <a:ext cx="14478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exemplar or anticipated response to name what quality looks like and where students may need a prompt—not an answer.</a:t>
            </a:r>
            <a:endParaRPr lang="en-US" sz="2300" dirty="0"/>
          </a:p>
        </p:txBody>
      </p:sp>
      <p:sp>
        <p:nvSpPr>
          <p:cNvPr id="6" name="cer-shape-5"/>
          <p:cNvSpPr/>
          <p:nvPr/>
        </p:nvSpPr>
        <p:spPr>
          <a:xfrm>
            <a:off x="508000" y="2463800"/>
            <a:ext cx="3530600" cy="3429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claim-label"/>
          <p:cNvSpPr/>
          <p:nvPr/>
        </p:nvSpPr>
        <p:spPr>
          <a:xfrm>
            <a:off x="8128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</a:t>
            </a:r>
            <a:endParaRPr lang="en-US" sz="2400" dirty="0"/>
          </a:p>
        </p:txBody>
      </p:sp>
      <p:sp>
        <p:nvSpPr>
          <p:cNvPr id="8" name="claim-body"/>
          <p:cNvSpPr/>
          <p:nvPr/>
        </p:nvSpPr>
        <p:spPr>
          <a:xfrm>
            <a:off x="8128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conclusion, explanation, or position should the student state clearly?</a:t>
            </a:r>
            <a:endParaRPr lang="en-US" sz="2000" dirty="0"/>
          </a:p>
        </p:txBody>
      </p:sp>
      <p:sp>
        <p:nvSpPr>
          <p:cNvPr id="9" name="cer-shape-8"/>
          <p:cNvSpPr/>
          <p:nvPr/>
        </p:nvSpPr>
        <p:spPr>
          <a:xfrm>
            <a:off x="4292600" y="2463800"/>
            <a:ext cx="3530600" cy="3429000"/>
          </a:xfrm>
          <a:prstGeom prst="rect">
            <a:avLst/>
          </a:prstGeom>
          <a:solidFill>
            <a:srgbClr val="EAF2FC"/>
          </a:solidFill>
          <a:ln w="25400">
            <a:solidFill>
              <a:srgbClr val="1D4ED8"/>
            </a:solidFill>
            <a:prstDash val="solid"/>
          </a:ln>
        </p:spPr>
      </p:sp>
      <p:sp>
        <p:nvSpPr>
          <p:cNvPr id="10" name="evidence-label"/>
          <p:cNvSpPr/>
          <p:nvPr/>
        </p:nvSpPr>
        <p:spPr>
          <a:xfrm>
            <a:off x="45974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2400" dirty="0"/>
          </a:p>
        </p:txBody>
      </p:sp>
      <p:sp>
        <p:nvSpPr>
          <p:cNvPr id="11" name="evidence-body"/>
          <p:cNvSpPr/>
          <p:nvPr/>
        </p:nvSpPr>
        <p:spPr>
          <a:xfrm>
            <a:off x="45974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data, observation, or source detail should students select and use accurately?</a:t>
            </a:r>
            <a:endParaRPr lang="en-US" sz="2000" dirty="0"/>
          </a:p>
        </p:txBody>
      </p:sp>
      <p:sp>
        <p:nvSpPr>
          <p:cNvPr id="12" name="cer-shape-11"/>
          <p:cNvSpPr/>
          <p:nvPr/>
        </p:nvSpPr>
        <p:spPr>
          <a:xfrm>
            <a:off x="8077200" y="2463800"/>
            <a:ext cx="3530600" cy="3429000"/>
          </a:xfrm>
          <a:prstGeom prst="rect">
            <a:avLst/>
          </a:prstGeom>
          <a:solidFill>
            <a:srgbClr val="FFF1E7"/>
          </a:solidFill>
          <a:ln w="25400">
            <a:solidFill>
              <a:srgbClr val="C56B00"/>
            </a:solidFill>
            <a:prstDash val="solid"/>
          </a:ln>
        </p:spPr>
      </p:sp>
      <p:sp>
        <p:nvSpPr>
          <p:cNvPr id="13" name="reasoning-label"/>
          <p:cNvSpPr/>
          <p:nvPr/>
        </p:nvSpPr>
        <p:spPr>
          <a:xfrm>
            <a:off x="8382000" y="2819400"/>
            <a:ext cx="29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C56B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</a:t>
            </a:r>
            <a:endParaRPr lang="en-US" sz="2400" dirty="0"/>
          </a:p>
        </p:txBody>
      </p:sp>
      <p:sp>
        <p:nvSpPr>
          <p:cNvPr id="14" name="reasoning-body"/>
          <p:cNvSpPr/>
          <p:nvPr/>
        </p:nvSpPr>
        <p:spPr>
          <a:xfrm>
            <a:off x="8382000" y="35560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scientific idea explains why that evidence supports the claim?</a:t>
            </a:r>
            <a:endParaRPr lang="en-US" sz="2000" dirty="0"/>
          </a:p>
        </p:txBody>
      </p:sp>
      <p:sp>
        <p:nvSpPr>
          <p:cNvPr id="15" name="cer-shape-14"/>
          <p:cNvSpPr/>
          <p:nvPr/>
        </p:nvSpPr>
        <p:spPr>
          <a:xfrm>
            <a:off x="11861800" y="2463800"/>
            <a:ext cx="3886200" cy="3429000"/>
          </a:xfrm>
          <a:prstGeom prst="rect">
            <a:avLst/>
          </a:prstGeom>
          <a:solidFill>
            <a:srgbClr val="F3ECFB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6" name="language-label"/>
          <p:cNvSpPr/>
          <p:nvPr/>
        </p:nvSpPr>
        <p:spPr>
          <a:xfrm>
            <a:off x="12166600" y="2819400"/>
            <a:ext cx="327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 + LINKS</a:t>
            </a:r>
            <a:endParaRPr lang="en-US" sz="2400" dirty="0"/>
          </a:p>
        </p:txBody>
      </p:sp>
      <p:sp>
        <p:nvSpPr>
          <p:cNvPr id="17" name="language-body"/>
          <p:cNvSpPr/>
          <p:nvPr/>
        </p:nvSpPr>
        <p:spPr>
          <a:xfrm>
            <a:off x="12166600" y="3556000"/>
            <a:ext cx="32766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words, transitions, or representations help readers follow the science thinking?</a:t>
            </a:r>
            <a:endParaRPr lang="en-US" sz="2000" dirty="0"/>
          </a:p>
        </p:txBody>
      </p:sp>
      <p:sp>
        <p:nvSpPr>
          <p:cNvPr id="18" name="cer-shape-17"/>
          <p:cNvSpPr/>
          <p:nvPr/>
        </p:nvSpPr>
        <p:spPr>
          <a:xfrm>
            <a:off x="508000" y="6477000"/>
            <a:ext cx="15240000" cy="1371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9" name="cer-icon-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00" y="6870700"/>
            <a:ext cx="482600" cy="482600"/>
          </a:xfrm>
          <a:prstGeom prst="rect">
            <a:avLst/>
          </a:prstGeom>
        </p:spPr>
      </p:pic>
      <p:sp>
        <p:nvSpPr>
          <p:cNvPr id="20" name="talk-move"/>
          <p:cNvSpPr/>
          <p:nvPr/>
        </p:nvSpPr>
        <p:spPr>
          <a:xfrm>
            <a:off x="1600200" y="6680200"/>
            <a:ext cx="13335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Anticipate: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“What might students write, say, or leave out? Which criterion would move their thinking forward most?”</a:t>
            </a:r>
            <a:endParaRPr lang="en-US" sz="2200" dirty="0"/>
          </a:p>
        </p:txBody>
      </p:sp>
      <p:sp>
        <p:nvSpPr>
          <p:cNvPr id="21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cer-shape-21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nalysis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Internalize the Upcoming Writing Benchmark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081000" y="355600"/>
            <a:ext cx="266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17:00–25:00  •  8 MIN</a:t>
            </a:r>
            <a:endParaRPr lang="en-US" sz="1600" dirty="0"/>
          </a:p>
        </p:txBody>
      </p:sp>
      <p:sp>
        <p:nvSpPr>
          <p:cNvPr id="5" name="analysis-shape-4"/>
          <p:cNvSpPr/>
          <p:nvPr/>
        </p:nvSpPr>
        <p:spPr>
          <a:xfrm>
            <a:off x="508000" y="1422400"/>
            <a:ext cx="2692400" cy="1143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r-label"/>
          <p:cNvSpPr/>
          <p:nvPr/>
        </p:nvSpPr>
        <p:spPr>
          <a:xfrm>
            <a:off x="698500" y="1651000"/>
            <a:ext cx="231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COURSE-ALIKE WORK</a:t>
            </a:r>
            <a:endParaRPr lang="en-US" sz="1400" dirty="0"/>
          </a:p>
        </p:txBody>
      </p:sp>
      <p:sp>
        <p:nvSpPr>
          <p:cNvPr id="7" name="timer"/>
          <p:cNvSpPr/>
          <p:nvPr/>
        </p:nvSpPr>
        <p:spPr>
          <a:xfrm>
            <a:off x="698500" y="1930400"/>
            <a:ext cx="2311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3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min</a:t>
            </a:r>
            <a:endParaRPr lang="en-US" sz="3400" dirty="0"/>
          </a:p>
        </p:txBody>
      </p:sp>
      <p:sp>
        <p:nvSpPr>
          <p:cNvPr id="8" name="instruction"/>
          <p:cNvSpPr/>
          <p:nvPr/>
        </p:nvSpPr>
        <p:spPr>
          <a:xfrm>
            <a:off x="3594100" y="1625600"/>
            <a:ext cx="1117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actual task rather than a generic example. Start alone, then compare a few high-leverage decisions with course-alike colleagues.</a:t>
            </a:r>
            <a:endParaRPr lang="en-US" sz="2300" dirty="0"/>
          </a:p>
        </p:txBody>
      </p:sp>
      <p:sp>
        <p:nvSpPr>
          <p:cNvPr id="9" name="analysis-shape-8"/>
          <p:cNvSpPr/>
          <p:nvPr/>
        </p:nvSpPr>
        <p:spPr>
          <a:xfrm>
            <a:off x="508000" y="3098800"/>
            <a:ext cx="7023100" cy="4445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left-title"/>
          <p:cNvSpPr/>
          <p:nvPr/>
        </p:nvSpPr>
        <p:spPr>
          <a:xfrm>
            <a:off x="838200" y="3454400"/>
            <a:ext cx="5969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Place the task on the learning arc</a:t>
            </a:r>
            <a:endParaRPr lang="en-US" sz="2600" dirty="0"/>
          </a:p>
        </p:txBody>
      </p:sp>
      <p:sp>
        <p:nvSpPr>
          <p:cNvPr id="11" name="left-body"/>
          <p:cNvSpPr/>
          <p:nvPr/>
        </p:nvSpPr>
        <p:spPr>
          <a:xfrm>
            <a:off x="838200" y="4191000"/>
            <a:ext cx="609600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standard and science skill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prompt and student product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Source, data, model, or investigation evidence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 criteria: what must be visible?</a:t>
            </a:r>
            <a:endParaRPr lang="en-US" sz="2100" dirty="0"/>
          </a:p>
        </p:txBody>
      </p:sp>
      <p:sp>
        <p:nvSpPr>
          <p:cNvPr id="12" name="analysis-shape-11"/>
          <p:cNvSpPr/>
          <p:nvPr/>
        </p:nvSpPr>
        <p:spPr>
          <a:xfrm>
            <a:off x="8039100" y="3098800"/>
            <a:ext cx="7708900" cy="444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right-title"/>
          <p:cNvSpPr/>
          <p:nvPr/>
        </p:nvSpPr>
        <p:spPr>
          <a:xfrm>
            <a:off x="8369300" y="3454400"/>
            <a:ext cx="660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Anticipate student thinking</a:t>
            </a:r>
            <a:endParaRPr lang="en-US" sz="2600" dirty="0"/>
          </a:p>
        </p:txBody>
      </p:sp>
      <p:sp>
        <p:nvSpPr>
          <p:cNvPr id="14" name="right-body"/>
          <p:cNvSpPr/>
          <p:nvPr/>
        </p:nvSpPr>
        <p:spPr>
          <a:xfrm>
            <a:off x="8369300" y="4191000"/>
            <a:ext cx="673100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could a strong response include?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partial response is likely?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may students confuse evidence and reasoning?</a:t>
            </a:r>
            <a:endParaRPr lang="en-US" sz="2100" dirty="0"/>
          </a:p>
          <a:p>
            <a:pPr algn="l" marL="333375" indent="-333375">
              <a:lnSpc>
                <a:spcPts val="2688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feedback prompt could lead to a next move?</a:t>
            </a:r>
            <a:endParaRPr lang="en-US" sz="2100" dirty="0"/>
          </a:p>
        </p:txBody>
      </p:sp>
      <p:sp>
        <p:nvSpPr>
          <p:cNvPr id="15" name="bottom"/>
          <p:cNvSpPr/>
          <p:nvPr/>
        </p:nvSpPr>
        <p:spPr>
          <a:xfrm>
            <a:off x="508000" y="8001000"/>
            <a:ext cx="1384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 connection:</a:t>
            </a: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4; Team Deep Dive Steps 2–4. Keep the same task at the center.</a:t>
            </a:r>
            <a:endParaRPr lang="en-US" sz="19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analysis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Course-Alike Planning Time</a:t>
            </a:r>
            <a:endParaRPr lang="en-US" sz="3000" dirty="0"/>
          </a:p>
        </p:txBody>
      </p:sp>
      <p:sp>
        <p:nvSpPr>
          <p:cNvPr id="4" name="header-time"/>
          <p:cNvSpPr/>
          <p:nvPr/>
        </p:nvSpPr>
        <p:spPr>
          <a:xfrm>
            <a:off x="13208000" y="355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25:00–36:00  •  11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508000" y="1574800"/>
            <a:ext cx="3810000" cy="56134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work-label"/>
          <p:cNvSpPr/>
          <p:nvPr/>
        </p:nvSpPr>
        <p:spPr>
          <a:xfrm>
            <a:off x="863600" y="2247900"/>
            <a:ext cx="3098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800" dirty="0">
                <a:solidFill>
                  <a:srgbClr val="FDEC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PROTECTED INDIVIDUAL-FIRST WORK</a:t>
            </a:r>
            <a:endParaRPr lang="en-US" sz="1800" dirty="0"/>
          </a:p>
        </p:txBody>
      </p:sp>
      <p:sp>
        <p:nvSpPr>
          <p:cNvPr id="7" name="work-timer"/>
          <p:cNvSpPr/>
          <p:nvPr/>
        </p:nvSpPr>
        <p:spPr>
          <a:xfrm>
            <a:off x="889000" y="2921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7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min</a:t>
            </a:r>
            <a:endParaRPr lang="en-US" sz="7400" dirty="0"/>
          </a:p>
        </p:txBody>
      </p:sp>
      <p:sp>
        <p:nvSpPr>
          <p:cNvPr id="8" name="worktime-shape-7"/>
          <p:cNvSpPr/>
          <p:nvPr/>
        </p:nvSpPr>
        <p:spPr>
          <a:xfrm>
            <a:off x="1041400" y="4978400"/>
            <a:ext cx="2743200" cy="9144"/>
          </a:xfrm>
          <a:prstGeom prst="line">
            <a:avLst/>
          </a:prstGeom>
          <a:ln w="25400">
            <a:solidFill>
              <a:srgbClr val="F6B4BA"/>
            </a:solidFill>
            <a:prstDash val="solid"/>
          </a:ln>
        </p:spPr>
      </p:sp>
      <p:sp>
        <p:nvSpPr>
          <p:cNvPr id="9" name="work-support"/>
          <p:cNvSpPr/>
          <p:nvPr/>
        </p:nvSpPr>
        <p:spPr>
          <a:xfrm>
            <a:off x="901700" y="5384800"/>
            <a:ext cx="3022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independently first. Then use your course-alike to sharpen one decision about student thinking.</a:t>
            </a:r>
            <a:endParaRPr lang="en-US" sz="2000" dirty="0"/>
          </a:p>
        </p:txBody>
      </p:sp>
      <p:sp>
        <p:nvSpPr>
          <p:cNvPr id="10" name="worktime-shape-9"/>
          <p:cNvSpPr/>
          <p:nvPr/>
        </p:nvSpPr>
        <p:spPr>
          <a:xfrm>
            <a:off x="4826000" y="15748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one-title"/>
          <p:cNvSpPr/>
          <p:nvPr/>
        </p:nvSpPr>
        <p:spPr>
          <a:xfrm>
            <a:off x="5181600" y="1854200"/>
            <a:ext cx="495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NAME THE TASK + BAR FOR MASTERY</a:t>
            </a:r>
            <a:endParaRPr lang="en-US" sz="2400" dirty="0"/>
          </a:p>
        </p:txBody>
      </p:sp>
      <p:sp>
        <p:nvSpPr>
          <p:cNvPr id="12" name="one-body"/>
          <p:cNvSpPr/>
          <p:nvPr/>
        </p:nvSpPr>
        <p:spPr>
          <a:xfrm>
            <a:off x="5181600" y="2336800"/>
            <a:ext cx="9842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writing task, source/evidence, priority criterion, and what a successful response must make visible.</a:t>
            </a:r>
            <a:endParaRPr lang="en-US" sz="2100" dirty="0"/>
          </a:p>
        </p:txBody>
      </p:sp>
      <p:sp>
        <p:nvSpPr>
          <p:cNvPr id="13" name="worktime-shape-12"/>
          <p:cNvSpPr/>
          <p:nvPr/>
        </p:nvSpPr>
        <p:spPr>
          <a:xfrm>
            <a:off x="4826000" y="3403600"/>
            <a:ext cx="10922000" cy="1498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wo-title"/>
          <p:cNvSpPr/>
          <p:nvPr/>
        </p:nvSpPr>
        <p:spPr>
          <a:xfrm>
            <a:off x="5181600" y="3683000"/>
            <a:ext cx="635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ANTICIPATE ONE LIKELY STUDENT RESPONSE</a:t>
            </a:r>
            <a:endParaRPr lang="en-US" sz="2400" dirty="0"/>
          </a:p>
        </p:txBody>
      </p:sp>
      <p:sp>
        <p:nvSpPr>
          <p:cNvPr id="15" name="two-body"/>
          <p:cNvSpPr/>
          <p:nvPr/>
        </p:nvSpPr>
        <p:spPr>
          <a:xfrm>
            <a:off x="5181600" y="4165600"/>
            <a:ext cx="98425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what may be partial, missing, or confused. Use CUBS/CER only where it helps students access the task.</a:t>
            </a:r>
            <a:endParaRPr lang="en-US" sz="2100" dirty="0"/>
          </a:p>
        </p:txBody>
      </p:sp>
      <p:sp>
        <p:nvSpPr>
          <p:cNvPr id="16" name="worktime-shape-15"/>
          <p:cNvSpPr/>
          <p:nvPr/>
        </p:nvSpPr>
        <p:spPr>
          <a:xfrm>
            <a:off x="4826000" y="5232400"/>
            <a:ext cx="10922000" cy="19558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7" name="three-title"/>
          <p:cNvSpPr/>
          <p:nvPr/>
        </p:nvSpPr>
        <p:spPr>
          <a:xfrm>
            <a:off x="5181600" y="55245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FEEDBACK + STUDENT ACTION</a:t>
            </a:r>
            <a:endParaRPr lang="en-US" sz="2400" dirty="0"/>
          </a:p>
        </p:txBody>
      </p:sp>
      <p:sp>
        <p:nvSpPr>
          <p:cNvPr id="18" name="three-body"/>
          <p:cNvSpPr/>
          <p:nvPr/>
        </p:nvSpPr>
        <p:spPr>
          <a:xfrm>
            <a:off x="5181600" y="6007100"/>
            <a:ext cx="984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prompt that sends students back to the evidence or science idea, then name the visible action: revise, annotate, add, explain, compare, or correct.</a:t>
            </a:r>
            <a:endParaRPr lang="en-US" sz="2100" dirty="0"/>
          </a:p>
        </p:txBody>
      </p:sp>
      <p:sp>
        <p:nvSpPr>
          <p:cNvPr id="19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worktime-shape-19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355600" cy="9144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3" name="close-kicker"/>
          <p:cNvSpPr/>
          <p:nvPr/>
        </p:nvSpPr>
        <p:spPr>
          <a:xfrm>
            <a:off x="889000" y="1168400"/>
            <a:ext cx="1041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7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CARRY FORWARD  •  36:00–41:00  •  5 MIN</a:t>
            </a:r>
            <a:endParaRPr lang="en-US" sz="1700" dirty="0"/>
          </a:p>
        </p:txBody>
      </p:sp>
      <p:sp>
        <p:nvSpPr>
          <p:cNvPr id="4" name="close-title"/>
          <p:cNvSpPr/>
          <p:nvPr/>
        </p:nvSpPr>
        <p:spPr>
          <a:xfrm>
            <a:off x="889000" y="1917700"/>
            <a:ext cx="13208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same task at the center of the week.</a:t>
            </a:r>
            <a:endParaRPr lang="en-US" sz="4400" dirty="0"/>
          </a:p>
        </p:txBody>
      </p:sp>
      <p:sp>
        <p:nvSpPr>
          <p:cNvPr id="5" name="close-shape-4"/>
          <p:cNvSpPr/>
          <p:nvPr/>
        </p:nvSpPr>
        <p:spPr>
          <a:xfrm>
            <a:off x="889000" y="3263900"/>
            <a:ext cx="13716000" cy="3733800"/>
          </a:xfrm>
          <a:prstGeom prst="rect">
            <a:avLst/>
          </a:prstGeom>
          <a:solidFill>
            <a:srgbClr val="2D2E31"/>
          </a:solidFill>
          <a:ln w="12700">
            <a:solidFill>
              <a:srgbClr val="72777D"/>
            </a:solidFill>
            <a:prstDash val="solid"/>
          </a:ln>
        </p:spPr>
      </p:sp>
      <p:sp>
        <p:nvSpPr>
          <p:cNvPr id="6" name="close-list"/>
          <p:cNvSpPr/>
          <p:nvPr/>
        </p:nvSpPr>
        <p:spPr>
          <a:xfrm>
            <a:off x="1422400" y="3708400"/>
            <a:ext cx="12522200" cy="271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75"/>
              </a:lnSpc>
              <a:buNone/>
            </a:pPr>
            <a:r>
              <a:rPr lang="en-US" altLang="en-US" sz="23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forward to Tuesday and Wednesday: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upcoming writing benchmark/task and source or evidence;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priority criterion and an anticipated partial response;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feedback prompt and the student action it should produce; and</a:t>
            </a:r>
            <a:endParaRPr lang="en-US" sz="2300" dirty="0"/>
          </a:p>
          <a:p>
            <a:pPr algn="l" marL="365125" indent="-365125">
              <a:lnSpc>
                <a:spcPts val="2875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small anonymized sample, exemplar, or calibration question.</a:t>
            </a:r>
            <a:endParaRPr lang="en-US" sz="2300" dirty="0"/>
          </a:p>
        </p:txBody>
      </p:sp>
      <p:sp>
        <p:nvSpPr>
          <p:cNvPr id="7" name="close-footer"/>
          <p:cNvSpPr/>
          <p:nvPr/>
        </p:nvSpPr>
        <p:spPr>
          <a:xfrm>
            <a:off x="889000" y="7442200"/>
            <a:ext cx="1231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only if it helps: note the related unit-test standard/question evidence. The benchmark task remains the priority.</a:t>
            </a:r>
            <a:endParaRPr lang="en-US" sz="2300" dirty="0"/>
          </a:p>
        </p:txBody>
      </p:sp>
      <p:sp>
        <p:nvSpPr>
          <p:cNvPr id="8" name="page"/>
          <p:cNvSpPr/>
          <p:nvPr/>
        </p:nvSpPr>
        <p:spPr>
          <a:xfrm>
            <a:off x="14478000" y="840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9" name="close-shape-8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Monday, October 26 PLC — Writing Benchmark to Student Action</dc:title>
  <dc:subject>Monday, October 26 PLC — Writing Benchmark to Student Action</dc:subject>
  <dc:creator>Manus</dc:creator>
  <cp:lastModifiedBy>Manus</cp:lastModifiedBy>
  <cp:revision>1</cp:revision>
  <dcterms:created xsi:type="dcterms:W3CDTF">2026-10-23T16:06:08Z</dcterms:created>
  <dcterms:modified xsi:type="dcterms:W3CDTF">2026-10-23T16:06:08Z</dcterms:modified>
</cp:coreProperties>
</file>
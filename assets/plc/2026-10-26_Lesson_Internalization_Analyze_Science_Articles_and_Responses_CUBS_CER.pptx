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6256000" cy="9144000"/>
  <p:notesSz cx="9144000" cy="16256000"/>
  <p:embeddedFontLst>
    <p:embeddedFont>
      <p:font typeface="Inter" charset="-122" pitchFamily="34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355600" cy="9144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889000" y="1168400"/>
            <a:ext cx="1905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cover-kicker"/>
          <p:cNvSpPr/>
          <p:nvPr/>
        </p:nvSpPr>
        <p:spPr>
          <a:xfrm>
            <a:off x="889000" y="1600200"/>
            <a:ext cx="12065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SCIENCE DEPARTMENT PLC  •  MONDAY, OCTOBER 26, 2026  •  41 MINUTES</a:t>
            </a:r>
            <a:endParaRPr lang="en-US" sz="1700" dirty="0"/>
          </a:p>
        </p:txBody>
      </p:sp>
      <p:sp>
        <p:nvSpPr>
          <p:cNvPr id="5" name="cover-title"/>
          <p:cNvSpPr/>
          <p:nvPr/>
        </p:nvSpPr>
        <p:spPr>
          <a:xfrm>
            <a:off x="889000" y="2387600"/>
            <a:ext cx="13335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60"/>
              </a:lnSpc>
              <a:buNone/>
            </a:pPr>
            <a:r>
              <a:rPr lang="en-US" altLang="en-US" sz="4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Benchmark → Anticipated Student Thinking</a:t>
            </a:r>
            <a:endParaRPr lang="en-US" sz="4500" dirty="0"/>
          </a:p>
          <a:p>
            <a:pPr algn="l" indent="0" marL="0">
              <a:lnSpc>
                <a:spcPts val="4860"/>
              </a:lnSpc>
              <a:buNone/>
            </a:pPr>
            <a:r>
              <a:rPr lang="en-US" altLang="en-US" sz="4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Feedback + Student Action</a:t>
            </a:r>
            <a:endParaRPr lang="en-US" sz="4500" dirty="0"/>
          </a:p>
        </p:txBody>
      </p:sp>
      <p:sp>
        <p:nvSpPr>
          <p:cNvPr id="6" name="cover-shape-5"/>
          <p:cNvSpPr/>
          <p:nvPr/>
        </p:nvSpPr>
        <p:spPr>
          <a:xfrm>
            <a:off x="889000" y="4597400"/>
            <a:ext cx="12954000" cy="9144"/>
          </a:xfrm>
          <a:prstGeom prst="line">
            <a:avLst/>
          </a:prstGeom>
          <a:ln w="12700">
            <a:solidFill>
              <a:srgbClr val="72777D"/>
            </a:solidFill>
            <a:prstDash val="solid"/>
          </a:ln>
        </p:spPr>
      </p:sp>
      <p:sp>
        <p:nvSpPr>
          <p:cNvPr id="7" name="cover-subtitle"/>
          <p:cNvSpPr/>
          <p:nvPr/>
        </p:nvSpPr>
        <p:spPr>
          <a:xfrm>
            <a:off x="889000" y="5016500"/>
            <a:ext cx="10668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50"/>
              </a:lnSpc>
              <a:buNone/>
            </a:pPr>
            <a:r>
              <a:rPr lang="en-US" altLang="en-US" sz="25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one upcoming standards-aligned science writing task to anticipate responses and plan feedback that helps students revise or act.</a:t>
            </a:r>
            <a:endParaRPr lang="en-US" sz="2500" dirty="0"/>
          </a:p>
        </p:txBody>
      </p:sp>
      <p:sp>
        <p:nvSpPr>
          <p:cNvPr id="8" name="cover-shape-7"/>
          <p:cNvSpPr/>
          <p:nvPr/>
        </p:nvSpPr>
        <p:spPr>
          <a:xfrm>
            <a:off x="11912600" y="5308600"/>
            <a:ext cx="3098800" cy="17272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9" name="cover-outcome-label"/>
          <p:cNvSpPr/>
          <p:nvPr/>
        </p:nvSpPr>
        <p:spPr>
          <a:xfrm>
            <a:off x="12166600" y="5588000"/>
            <a:ext cx="2590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OUTCOME</a:t>
            </a:r>
            <a:endParaRPr lang="en-US" sz="1300" dirty="0"/>
          </a:p>
        </p:txBody>
      </p:sp>
      <p:sp>
        <p:nvSpPr>
          <p:cNvPr id="10" name="cover-outcome"/>
          <p:cNvSpPr/>
          <p:nvPr/>
        </p:nvSpPr>
        <p:spPr>
          <a:xfrm>
            <a:off x="12141200" y="5969000"/>
            <a:ext cx="264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72"/>
              </a:lnSpc>
              <a:buNone/>
            </a:pPr>
            <a:r>
              <a:rPr lang="en-US" alt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task, one anticipated need, one feedback prompt, and one student action.</a:t>
            </a:r>
            <a:endParaRPr lang="en-US" sz="1700" dirty="0"/>
          </a:p>
        </p:txBody>
      </p:sp>
      <p:sp>
        <p:nvSpPr>
          <p:cNvPr id="11" name="cover-footer"/>
          <p:cNvSpPr/>
          <p:nvPr/>
        </p:nvSpPr>
        <p:spPr>
          <a:xfrm>
            <a:off x="889000" y="7493000"/>
            <a:ext cx="11684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6"/>
              </a:lnSpc>
              <a:buNone/>
            </a:pPr>
            <a:r>
              <a:rPr lang="en-US" altLang="en-US" sz="22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2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4; Team Deep Dive Steps 2–4.</a:t>
            </a:r>
            <a:endParaRPr lang="en-US" sz="2200" dirty="0"/>
          </a:p>
        </p:txBody>
      </p:sp>
      <p:sp>
        <p:nvSpPr>
          <p:cNvPr id="12" name="page"/>
          <p:cNvSpPr/>
          <p:nvPr/>
        </p:nvSpPr>
        <p:spPr>
          <a:xfrm>
            <a:off x="14478000" y="840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cover-shape-12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Coherent Science Literacy Evidence Cycle</a:t>
            </a:r>
            <a:endParaRPr lang="en-US" sz="3000" dirty="0"/>
          </a:p>
        </p:txBody>
      </p:sp>
      <p:sp>
        <p:nvSpPr>
          <p:cNvPr id="4" name="header-time"/>
          <p:cNvSpPr/>
          <p:nvPr/>
        </p:nvSpPr>
        <p:spPr>
          <a:xfrm>
            <a:off x="13208000" y="3556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0:00–4:00  •  4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71600"/>
            <a:ext cx="14859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week stays with the same standards-aligned writing task from planning through evidence review. CUBS and CER make student thinking visible; they do not become a separate initiative.</a:t>
            </a:r>
            <a:endParaRPr lang="en-US" sz="23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768600"/>
            <a:ext cx="2286000" cy="31115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7" name="step1"/>
          <p:cNvSpPr/>
          <p:nvPr/>
        </p:nvSpPr>
        <p:spPr>
          <a:xfrm>
            <a:off x="7366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benchmark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Task, source, criteria, and anticipated responses.</a:t>
            </a:r>
            <a:endParaRPr lang="en-US" sz="1800" dirty="0"/>
          </a:p>
        </p:txBody>
      </p:sp>
      <p:sp>
        <p:nvSpPr>
          <p:cNvPr id="8" name="arrow1"/>
          <p:cNvSpPr/>
          <p:nvPr/>
        </p:nvSpPr>
        <p:spPr>
          <a:xfrm>
            <a:off x="28702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9" name="cycle-shape-8"/>
          <p:cNvSpPr/>
          <p:nvPr/>
        </p:nvSpPr>
        <p:spPr>
          <a:xfrm>
            <a:off x="3403600" y="2768600"/>
            <a:ext cx="2286000" cy="31115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tep2"/>
          <p:cNvSpPr/>
          <p:nvPr/>
        </p:nvSpPr>
        <p:spPr>
          <a:xfrm>
            <a:off x="36322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+ action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criterion, prompt, student move, and evidence look-for.</a:t>
            </a:r>
            <a:endParaRPr lang="en-US" sz="1800" dirty="0"/>
          </a:p>
        </p:txBody>
      </p:sp>
      <p:sp>
        <p:nvSpPr>
          <p:cNvPr id="11" name="arrow2"/>
          <p:cNvSpPr/>
          <p:nvPr/>
        </p:nvSpPr>
        <p:spPr>
          <a:xfrm>
            <a:off x="57658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2" name="cycle-shape-11"/>
          <p:cNvSpPr/>
          <p:nvPr/>
        </p:nvSpPr>
        <p:spPr>
          <a:xfrm>
            <a:off x="6299200" y="2768600"/>
            <a:ext cx="2286000" cy="31115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step3"/>
          <p:cNvSpPr/>
          <p:nvPr/>
        </p:nvSpPr>
        <p:spPr>
          <a:xfrm>
            <a:off x="65278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WED. PD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the bar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 task, criteria, samples, feedback, and revision.</a:t>
            </a:r>
            <a:endParaRPr lang="en-US" sz="1800" dirty="0"/>
          </a:p>
        </p:txBody>
      </p:sp>
      <p:sp>
        <p:nvSpPr>
          <p:cNvPr id="14" name="arrow3"/>
          <p:cNvSpPr/>
          <p:nvPr/>
        </p:nvSpPr>
        <p:spPr>
          <a:xfrm>
            <a:off x="86614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5" name="cycle-shape-14"/>
          <p:cNvSpPr/>
          <p:nvPr/>
        </p:nvSpPr>
        <p:spPr>
          <a:xfrm>
            <a:off x="9194800" y="2768600"/>
            <a:ext cx="2286000" cy="31115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step4"/>
          <p:cNvSpPr/>
          <p:nvPr/>
        </p:nvSpPr>
        <p:spPr>
          <a:xfrm>
            <a:off x="94234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review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samples + unit-test evidence where available.</a:t>
            </a:r>
            <a:endParaRPr lang="en-US" sz="1800" dirty="0"/>
          </a:p>
        </p:txBody>
      </p:sp>
      <p:sp>
        <p:nvSpPr>
          <p:cNvPr id="17" name="arrow4"/>
          <p:cNvSpPr/>
          <p:nvPr/>
        </p:nvSpPr>
        <p:spPr>
          <a:xfrm>
            <a:off x="115570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8" name="cycle-shape-17"/>
          <p:cNvSpPr/>
          <p:nvPr/>
        </p:nvSpPr>
        <p:spPr>
          <a:xfrm>
            <a:off x="12090400" y="2768600"/>
            <a:ext cx="3657600" cy="31115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9" name="step5"/>
          <p:cNvSpPr/>
          <p:nvPr/>
        </p:nvSpPr>
        <p:spPr>
          <a:xfrm>
            <a:off x="12420600" y="3098800"/>
            <a:ext cx="29972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LEARNING EXPERIENCE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 to a supported learning pattern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next student action and a brief evidence check.</a:t>
            </a:r>
            <a:endParaRPr lang="en-US" sz="1800" dirty="0"/>
          </a:p>
        </p:txBody>
      </p:sp>
      <p:sp>
        <p:nvSpPr>
          <p:cNvPr id="20" name="cycle-shape-19"/>
          <p:cNvSpPr/>
          <p:nvPr/>
        </p:nvSpPr>
        <p:spPr>
          <a:xfrm>
            <a:off x="508000" y="6731000"/>
            <a:ext cx="15240000" cy="11684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21" name="cycle-icon-2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00" y="7048500"/>
            <a:ext cx="482600" cy="482600"/>
          </a:xfrm>
          <a:prstGeom prst="rect">
            <a:avLst/>
          </a:prstGeom>
        </p:spPr>
      </p:pic>
      <p:sp>
        <p:nvSpPr>
          <p:cNvPr id="22" name="anchor"/>
          <p:cNvSpPr/>
          <p:nvPr/>
        </p:nvSpPr>
        <p:spPr>
          <a:xfrm>
            <a:off x="1574800" y="6959600"/>
            <a:ext cx="13398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6"/>
              </a:lnSpc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Non-evaluative evidence story:</a:t>
            </a: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work from the task and evidence, not from teacher, student, or course comparisons. Avoid broad reteach plans.</a:t>
            </a:r>
            <a:endParaRPr lang="en-US" sz="2200" dirty="0"/>
          </a:p>
        </p:txBody>
      </p:sp>
      <p:sp>
        <p:nvSpPr>
          <p:cNvPr id="23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24" name="cycle-shape-2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bs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Student-Facing CUBS: Read and Annotate Before CER</a:t>
            </a:r>
            <a:endParaRPr lang="en-US" sz="3000" dirty="0"/>
          </a:p>
        </p:txBody>
      </p:sp>
      <p:sp>
        <p:nvSpPr>
          <p:cNvPr id="4" name="header-time"/>
          <p:cNvSpPr/>
          <p:nvPr/>
        </p:nvSpPr>
        <p:spPr>
          <a:xfrm>
            <a:off x="13208000" y="3556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4:00–10:00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this student-facing example with the actual article, data display, model, investigation result, or prompt that supplies evidence for the writing benchmark.</a:t>
            </a:r>
            <a:endParaRPr lang="en-US" sz="2300" dirty="0"/>
          </a:p>
        </p:txBody>
      </p:sp>
      <p:sp>
        <p:nvSpPr>
          <p:cNvPr id="6" name="cubs-shape-5"/>
          <p:cNvSpPr/>
          <p:nvPr/>
        </p:nvSpPr>
        <p:spPr>
          <a:xfrm>
            <a:off x="508000" y="2387600"/>
            <a:ext cx="7112000" cy="42799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7" name="cubs-example" descr="preencoded.png">    </p:cNvPr>
          <p:cNvPicPr>
            <a:picLocks noChangeAspect="1"/>
          </p:cNvPicPr>
          <p:nvPr/>
        </p:nvPicPr>
        <p:blipFill>
          <a:blip r:embed="rId1"/>
          <a:srcRect l="0" r="0" t="-409" b="-409"/>
          <a:stretch/>
        </p:blipFill>
        <p:spPr>
          <a:xfrm>
            <a:off x="685800" y="2565400"/>
            <a:ext cx="6756400" cy="3924300"/>
          </a:xfrm>
          <a:prstGeom prst="rect">
            <a:avLst/>
          </a:prstGeom>
        </p:spPr>
      </p:pic>
      <p:sp>
        <p:nvSpPr>
          <p:cNvPr id="8" name="cubs-shape-7"/>
          <p:cNvSpPr/>
          <p:nvPr/>
        </p:nvSpPr>
        <p:spPr>
          <a:xfrm>
            <a:off x="8001000" y="2387600"/>
            <a:ext cx="7747000" cy="42799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cubs-title"/>
          <p:cNvSpPr/>
          <p:nvPr/>
        </p:nvSpPr>
        <p:spPr>
          <a:xfrm>
            <a:off x="8382000" y="2730500"/>
            <a:ext cx="673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ROUTINE: USE THE SOURCE TO BUILD A RESPONSE</a:t>
            </a:r>
            <a:endParaRPr lang="en-US" sz="2400" dirty="0"/>
          </a:p>
        </p:txBody>
      </p:sp>
      <p:sp>
        <p:nvSpPr>
          <p:cNvPr id="10" name="cubs-steps"/>
          <p:cNvSpPr/>
          <p:nvPr/>
        </p:nvSpPr>
        <p:spPr>
          <a:xfrm>
            <a:off x="8382000" y="3390900"/>
            <a:ext cx="6731000" cy="264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 — Circle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main idea or scientific claim.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 — Underline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supporting data, observations, or details.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 — Box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unfamiliar or important vocabulary.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— Summarize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science idea or question the source helps answer.</a:t>
            </a:r>
            <a:endParaRPr lang="en-US" sz="2100" dirty="0"/>
          </a:p>
        </p:txBody>
      </p:sp>
      <p:sp>
        <p:nvSpPr>
          <p:cNvPr id="11" name="cubs-shape-10"/>
          <p:cNvSpPr/>
          <p:nvPr/>
        </p:nvSpPr>
        <p:spPr>
          <a:xfrm>
            <a:off x="508000" y="7035800"/>
            <a:ext cx="15240000" cy="889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2" name="cubs-bottom"/>
          <p:cNvSpPr/>
          <p:nvPr/>
        </p:nvSpPr>
        <p:spPr>
          <a:xfrm>
            <a:off x="838200" y="7239000"/>
            <a:ext cx="14528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6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Expected student product: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 annotated source that helps students identify and complete a claim, evidence, and reasoning response—not a separate activity or grading category.</a:t>
            </a:r>
            <a:endParaRPr lang="en-US" sz="2100" dirty="0"/>
          </a:p>
        </p:txBody>
      </p:sp>
      <p:sp>
        <p:nvSpPr>
          <p:cNvPr id="13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cubs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er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Anticipate and Judge the Student CER Response</a:t>
            </a:r>
            <a:endParaRPr lang="en-US" sz="3000" dirty="0"/>
          </a:p>
        </p:txBody>
      </p:sp>
      <p:sp>
        <p:nvSpPr>
          <p:cNvPr id="4" name="header-time"/>
          <p:cNvSpPr/>
          <p:nvPr/>
        </p:nvSpPr>
        <p:spPr>
          <a:xfrm>
            <a:off x="13208000" y="3556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10:00–17:00  •  7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478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an exemplar or anticipated response to define what meeting the standard looks like, what a partial CER shows, and where students need a prompt—not an answer.</a:t>
            </a:r>
            <a:endParaRPr lang="en-US" sz="2300" dirty="0"/>
          </a:p>
        </p:txBody>
      </p:sp>
      <p:sp>
        <p:nvSpPr>
          <p:cNvPr id="6" name="cer-shape-5"/>
          <p:cNvSpPr/>
          <p:nvPr/>
        </p:nvSpPr>
        <p:spPr>
          <a:xfrm>
            <a:off x="508000" y="2463800"/>
            <a:ext cx="3530600" cy="34290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7" name="claim-label"/>
          <p:cNvSpPr/>
          <p:nvPr/>
        </p:nvSpPr>
        <p:spPr>
          <a:xfrm>
            <a:off x="812800" y="2819400"/>
            <a:ext cx="29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</a:t>
            </a:r>
            <a:endParaRPr lang="en-US" sz="2400" dirty="0"/>
          </a:p>
        </p:txBody>
      </p:sp>
      <p:sp>
        <p:nvSpPr>
          <p:cNvPr id="8" name="claim-body"/>
          <p:cNvSpPr/>
          <p:nvPr/>
        </p:nvSpPr>
        <p:spPr>
          <a:xfrm>
            <a:off x="812800" y="3556000"/>
            <a:ext cx="2921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the student identify and clearly state a conclusion, explanation, or position?</a:t>
            </a:r>
            <a:endParaRPr lang="en-US" sz="2000" dirty="0"/>
          </a:p>
        </p:txBody>
      </p:sp>
      <p:sp>
        <p:nvSpPr>
          <p:cNvPr id="9" name="cer-shape-8"/>
          <p:cNvSpPr/>
          <p:nvPr/>
        </p:nvSpPr>
        <p:spPr>
          <a:xfrm>
            <a:off x="4292600" y="2463800"/>
            <a:ext cx="3530600" cy="3429000"/>
          </a:xfrm>
          <a:prstGeom prst="rect">
            <a:avLst/>
          </a:prstGeom>
          <a:solidFill>
            <a:srgbClr val="EAF2FC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10" name="evidence-label"/>
          <p:cNvSpPr/>
          <p:nvPr/>
        </p:nvSpPr>
        <p:spPr>
          <a:xfrm>
            <a:off x="4597400" y="2819400"/>
            <a:ext cx="29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</a:t>
            </a:r>
            <a:endParaRPr lang="en-US" sz="2400" dirty="0"/>
          </a:p>
        </p:txBody>
      </p:sp>
      <p:sp>
        <p:nvSpPr>
          <p:cNvPr id="11" name="evidence-body"/>
          <p:cNvSpPr/>
          <p:nvPr/>
        </p:nvSpPr>
        <p:spPr>
          <a:xfrm>
            <a:off x="4597400" y="3556000"/>
            <a:ext cx="2921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the student select and use accurate, relevant data, observations, or source details?</a:t>
            </a:r>
            <a:endParaRPr lang="en-US" sz="2000" dirty="0"/>
          </a:p>
        </p:txBody>
      </p:sp>
      <p:sp>
        <p:nvSpPr>
          <p:cNvPr id="12" name="cer-shape-11"/>
          <p:cNvSpPr/>
          <p:nvPr/>
        </p:nvSpPr>
        <p:spPr>
          <a:xfrm>
            <a:off x="8077200" y="2463800"/>
            <a:ext cx="3530600" cy="3429000"/>
          </a:xfrm>
          <a:prstGeom prst="rect">
            <a:avLst/>
          </a:prstGeom>
          <a:solidFill>
            <a:srgbClr val="FFF1E7"/>
          </a:solidFill>
          <a:ln w="25400">
            <a:solidFill>
              <a:srgbClr val="C56B00"/>
            </a:solidFill>
            <a:prstDash val="solid"/>
          </a:ln>
        </p:spPr>
      </p:sp>
      <p:sp>
        <p:nvSpPr>
          <p:cNvPr id="13" name="reasoning-label"/>
          <p:cNvSpPr/>
          <p:nvPr/>
        </p:nvSpPr>
        <p:spPr>
          <a:xfrm>
            <a:off x="8382000" y="2819400"/>
            <a:ext cx="29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REASONING</a:t>
            </a:r>
            <a:endParaRPr lang="en-US" sz="2400" dirty="0"/>
          </a:p>
        </p:txBody>
      </p:sp>
      <p:sp>
        <p:nvSpPr>
          <p:cNvPr id="14" name="reasoning-body"/>
          <p:cNvSpPr/>
          <p:nvPr/>
        </p:nvSpPr>
        <p:spPr>
          <a:xfrm>
            <a:off x="8382000" y="3556000"/>
            <a:ext cx="2921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the student explain why the evidence supports the claim using the science idea?</a:t>
            </a:r>
            <a:endParaRPr lang="en-US" sz="2000" dirty="0"/>
          </a:p>
        </p:txBody>
      </p:sp>
      <p:sp>
        <p:nvSpPr>
          <p:cNvPr id="15" name="cer-shape-14"/>
          <p:cNvSpPr/>
          <p:nvPr/>
        </p:nvSpPr>
        <p:spPr>
          <a:xfrm>
            <a:off x="11861800" y="2463800"/>
            <a:ext cx="3886200" cy="3429000"/>
          </a:xfrm>
          <a:prstGeom prst="rect">
            <a:avLst/>
          </a:prstGeom>
          <a:solidFill>
            <a:srgbClr val="F3ECFB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6" name="language-label"/>
          <p:cNvSpPr/>
          <p:nvPr/>
        </p:nvSpPr>
        <p:spPr>
          <a:xfrm>
            <a:off x="12166600" y="2819400"/>
            <a:ext cx="3276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LANGUAGE + LINKS</a:t>
            </a:r>
            <a:endParaRPr lang="en-US" sz="2400" dirty="0"/>
          </a:p>
        </p:txBody>
      </p:sp>
      <p:sp>
        <p:nvSpPr>
          <p:cNvPr id="17" name="language-body"/>
          <p:cNvSpPr/>
          <p:nvPr/>
        </p:nvSpPr>
        <p:spPr>
          <a:xfrm>
            <a:off x="12166600" y="3556000"/>
            <a:ext cx="32766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language or representation makes the student’s completed thinking clear to a reader?</a:t>
            </a:r>
            <a:endParaRPr lang="en-US" sz="2000" dirty="0"/>
          </a:p>
        </p:txBody>
      </p:sp>
      <p:sp>
        <p:nvSpPr>
          <p:cNvPr id="18" name="cer-shape-17"/>
          <p:cNvSpPr/>
          <p:nvPr/>
        </p:nvSpPr>
        <p:spPr>
          <a:xfrm>
            <a:off x="508000" y="6477000"/>
            <a:ext cx="15240000" cy="1371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19" name="cer-icon-1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00" y="6870700"/>
            <a:ext cx="482600" cy="482600"/>
          </a:xfrm>
          <a:prstGeom prst="rect">
            <a:avLst/>
          </a:prstGeom>
        </p:spPr>
      </p:pic>
      <p:sp>
        <p:nvSpPr>
          <p:cNvPr id="20" name="talk-move"/>
          <p:cNvSpPr/>
          <p:nvPr/>
        </p:nvSpPr>
        <p:spPr>
          <a:xfrm>
            <a:off x="1600200" y="6680200"/>
            <a:ext cx="13335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Judge the bar:</a:t>
            </a: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“What would a complete CER show? What would a partial response show? Which criterion would move students forward most?”</a:t>
            </a:r>
            <a:endParaRPr lang="en-US" sz="2200" dirty="0"/>
          </a:p>
        </p:txBody>
      </p:sp>
      <p:sp>
        <p:nvSpPr>
          <p:cNvPr id="21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cer-shape-21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alysis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684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Anticipate the Response + Judge the Bar for Mastery</a:t>
            </a:r>
            <a:endParaRPr lang="en-US" sz="3000" dirty="0"/>
          </a:p>
        </p:txBody>
      </p:sp>
      <p:sp>
        <p:nvSpPr>
          <p:cNvPr id="4" name="header-time"/>
          <p:cNvSpPr/>
          <p:nvPr/>
        </p:nvSpPr>
        <p:spPr>
          <a:xfrm>
            <a:off x="13081000" y="355600"/>
            <a:ext cx="2667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17:00–25:00  •  8 MIN</a:t>
            </a:r>
            <a:endParaRPr lang="en-US" sz="1600" dirty="0"/>
          </a:p>
        </p:txBody>
      </p:sp>
      <p:sp>
        <p:nvSpPr>
          <p:cNvPr id="5" name="analysis-shape-4"/>
          <p:cNvSpPr/>
          <p:nvPr/>
        </p:nvSpPr>
        <p:spPr>
          <a:xfrm>
            <a:off x="508000" y="1422400"/>
            <a:ext cx="2692400" cy="1143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timer-label"/>
          <p:cNvSpPr/>
          <p:nvPr/>
        </p:nvSpPr>
        <p:spPr>
          <a:xfrm>
            <a:off x="698500" y="1651000"/>
            <a:ext cx="2311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COURSE-ALIKE WORK</a:t>
            </a:r>
            <a:endParaRPr lang="en-US" sz="1400" dirty="0"/>
          </a:p>
        </p:txBody>
      </p:sp>
      <p:sp>
        <p:nvSpPr>
          <p:cNvPr id="7" name="timer"/>
          <p:cNvSpPr/>
          <p:nvPr/>
        </p:nvSpPr>
        <p:spPr>
          <a:xfrm>
            <a:off x="698500" y="1930400"/>
            <a:ext cx="23114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min</a:t>
            </a:r>
            <a:endParaRPr lang="en-US" sz="3400" dirty="0"/>
          </a:p>
        </p:txBody>
      </p:sp>
      <p:sp>
        <p:nvSpPr>
          <p:cNvPr id="8" name="instruction"/>
          <p:cNvSpPr/>
          <p:nvPr/>
        </p:nvSpPr>
        <p:spPr>
          <a:xfrm>
            <a:off x="3594100" y="1625600"/>
            <a:ext cx="11176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actual task rather than a generic example. Start alone, then compare a few high-leverage decisions with course-alike colleagues.</a:t>
            </a:r>
            <a:endParaRPr lang="en-US" sz="2300" dirty="0"/>
          </a:p>
        </p:txBody>
      </p:sp>
      <p:sp>
        <p:nvSpPr>
          <p:cNvPr id="9" name="analysis-shape-8"/>
          <p:cNvSpPr/>
          <p:nvPr/>
        </p:nvSpPr>
        <p:spPr>
          <a:xfrm>
            <a:off x="508000" y="3098800"/>
            <a:ext cx="7023100" cy="444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left-title"/>
          <p:cNvSpPr/>
          <p:nvPr/>
        </p:nvSpPr>
        <p:spPr>
          <a:xfrm>
            <a:off x="838200" y="3454400"/>
            <a:ext cx="5969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Place the task on the learning arc</a:t>
            </a:r>
            <a:endParaRPr lang="en-US" sz="2600" dirty="0"/>
          </a:p>
        </p:txBody>
      </p:sp>
      <p:sp>
        <p:nvSpPr>
          <p:cNvPr id="11" name="left-body"/>
          <p:cNvSpPr/>
          <p:nvPr/>
        </p:nvSpPr>
        <p:spPr>
          <a:xfrm>
            <a:off x="838200" y="4191000"/>
            <a:ext cx="6096000" cy="256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standard and science skill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prompt and student product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Source, data, model, or investigation evidence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Success criteria: what must be visible?</a:t>
            </a:r>
            <a:endParaRPr lang="en-US" sz="2100" dirty="0"/>
          </a:p>
        </p:txBody>
      </p:sp>
      <p:sp>
        <p:nvSpPr>
          <p:cNvPr id="12" name="analysis-shape-11"/>
          <p:cNvSpPr/>
          <p:nvPr/>
        </p:nvSpPr>
        <p:spPr>
          <a:xfrm>
            <a:off x="8039100" y="3098800"/>
            <a:ext cx="7708900" cy="4445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right-title"/>
          <p:cNvSpPr/>
          <p:nvPr/>
        </p:nvSpPr>
        <p:spPr>
          <a:xfrm>
            <a:off x="8369300" y="3454400"/>
            <a:ext cx="6604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Anticipate + judge the CER response</a:t>
            </a:r>
            <a:endParaRPr lang="en-US" sz="2600" dirty="0"/>
          </a:p>
        </p:txBody>
      </p:sp>
      <p:sp>
        <p:nvSpPr>
          <p:cNvPr id="14" name="right-body"/>
          <p:cNvSpPr/>
          <p:nvPr/>
        </p:nvSpPr>
        <p:spPr>
          <a:xfrm>
            <a:off x="8369300" y="4191000"/>
            <a:ext cx="6731000" cy="256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claim, evidence, and reasoning would meet the standard?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partial response is likely?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may students confuse evidence and reasoning?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feedback prompt could lead students to complete or revise CER?</a:t>
            </a:r>
            <a:endParaRPr lang="en-US" sz="2100" dirty="0"/>
          </a:p>
        </p:txBody>
      </p:sp>
      <p:sp>
        <p:nvSpPr>
          <p:cNvPr id="15" name="bottom"/>
          <p:cNvSpPr/>
          <p:nvPr/>
        </p:nvSpPr>
        <p:spPr>
          <a:xfrm>
            <a:off x="508000" y="8001000"/>
            <a:ext cx="1384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LIT connection:</a:t>
            </a: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4; Team Deep Dive Steps 2–4. Keep the same task at the center.</a:t>
            </a:r>
            <a:endParaRPr lang="en-US" sz="19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analysis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ti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684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Course-Alike Planning Time</a:t>
            </a:r>
            <a:endParaRPr lang="en-US" sz="3000" dirty="0"/>
          </a:p>
        </p:txBody>
      </p:sp>
      <p:sp>
        <p:nvSpPr>
          <p:cNvPr id="4" name="header-time"/>
          <p:cNvSpPr/>
          <p:nvPr/>
        </p:nvSpPr>
        <p:spPr>
          <a:xfrm>
            <a:off x="13208000" y="3556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25:00–36:00  •  11 MIN</a:t>
            </a:r>
            <a:endParaRPr lang="en-US" sz="1600" dirty="0"/>
          </a:p>
        </p:txBody>
      </p:sp>
      <p:sp>
        <p:nvSpPr>
          <p:cNvPr id="5" name="worktime-shape-4"/>
          <p:cNvSpPr/>
          <p:nvPr/>
        </p:nvSpPr>
        <p:spPr>
          <a:xfrm>
            <a:off x="508000" y="1574800"/>
            <a:ext cx="3810000" cy="56134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work-label"/>
          <p:cNvSpPr/>
          <p:nvPr/>
        </p:nvSpPr>
        <p:spPr>
          <a:xfrm>
            <a:off x="863600" y="2247900"/>
            <a:ext cx="3098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INDIVIDUAL-FIRST WORK</a:t>
            </a:r>
            <a:endParaRPr lang="en-US" sz="1800" dirty="0"/>
          </a:p>
        </p:txBody>
      </p:sp>
      <p:sp>
        <p:nvSpPr>
          <p:cNvPr id="7" name="work-timer"/>
          <p:cNvSpPr/>
          <p:nvPr/>
        </p:nvSpPr>
        <p:spPr>
          <a:xfrm>
            <a:off x="889000" y="2921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min</a:t>
            </a:r>
            <a:endParaRPr lang="en-US" sz="7400" dirty="0"/>
          </a:p>
        </p:txBody>
      </p:sp>
      <p:sp>
        <p:nvSpPr>
          <p:cNvPr id="8" name="worktime-shape-7"/>
          <p:cNvSpPr/>
          <p:nvPr/>
        </p:nvSpPr>
        <p:spPr>
          <a:xfrm>
            <a:off x="1041400" y="4978400"/>
            <a:ext cx="2743200" cy="9144"/>
          </a:xfrm>
          <a:prstGeom prst="line">
            <a:avLst/>
          </a:prstGeom>
          <a:ln w="25400">
            <a:solidFill>
              <a:srgbClr val="F6B4BA"/>
            </a:solidFill>
            <a:prstDash val="solid"/>
          </a:ln>
        </p:spPr>
      </p:sp>
      <p:sp>
        <p:nvSpPr>
          <p:cNvPr id="9" name="work-support"/>
          <p:cNvSpPr/>
          <p:nvPr/>
        </p:nvSpPr>
        <p:spPr>
          <a:xfrm>
            <a:off x="901700" y="5384800"/>
            <a:ext cx="30226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independently first. Then use your course-alike to sharpen one decision about student thinking.</a:t>
            </a:r>
            <a:endParaRPr lang="en-US" sz="2000" dirty="0"/>
          </a:p>
        </p:txBody>
      </p:sp>
      <p:sp>
        <p:nvSpPr>
          <p:cNvPr id="10" name="worktime-shape-9"/>
          <p:cNvSpPr/>
          <p:nvPr/>
        </p:nvSpPr>
        <p:spPr>
          <a:xfrm>
            <a:off x="4826000" y="15748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one-title"/>
          <p:cNvSpPr/>
          <p:nvPr/>
        </p:nvSpPr>
        <p:spPr>
          <a:xfrm>
            <a:off x="5181600" y="1854200"/>
            <a:ext cx="4953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NAME THE TASK + BAR FOR MASTERY</a:t>
            </a:r>
            <a:endParaRPr lang="en-US" sz="2400" dirty="0"/>
          </a:p>
        </p:txBody>
      </p:sp>
      <p:sp>
        <p:nvSpPr>
          <p:cNvPr id="12" name="one-body"/>
          <p:cNvSpPr/>
          <p:nvPr/>
        </p:nvSpPr>
        <p:spPr>
          <a:xfrm>
            <a:off x="5181600" y="2336800"/>
            <a:ext cx="9842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the writing task, source/evidence, priority criterion, and what a successful response must make visible.</a:t>
            </a:r>
            <a:endParaRPr lang="en-US" sz="2100" dirty="0"/>
          </a:p>
        </p:txBody>
      </p:sp>
      <p:sp>
        <p:nvSpPr>
          <p:cNvPr id="13" name="worktime-shape-12"/>
          <p:cNvSpPr/>
          <p:nvPr/>
        </p:nvSpPr>
        <p:spPr>
          <a:xfrm>
            <a:off x="4826000" y="34036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wo-title"/>
          <p:cNvSpPr/>
          <p:nvPr/>
        </p:nvSpPr>
        <p:spPr>
          <a:xfrm>
            <a:off x="5181600" y="36830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ANTICIPATE + JUDGE A CER RESPONSE</a:t>
            </a:r>
            <a:endParaRPr lang="en-US" sz="2400" dirty="0"/>
          </a:p>
        </p:txBody>
      </p:sp>
      <p:sp>
        <p:nvSpPr>
          <p:cNvPr id="15" name="two-body"/>
          <p:cNvSpPr/>
          <p:nvPr/>
        </p:nvSpPr>
        <p:spPr>
          <a:xfrm>
            <a:off x="5181600" y="4165600"/>
            <a:ext cx="9842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what a complete response meeting the standard shows and what may be partial, missing, or confused.</a:t>
            </a:r>
            <a:endParaRPr lang="en-US" sz="2100" dirty="0"/>
          </a:p>
        </p:txBody>
      </p:sp>
      <p:sp>
        <p:nvSpPr>
          <p:cNvPr id="16" name="worktime-shape-15"/>
          <p:cNvSpPr/>
          <p:nvPr/>
        </p:nvSpPr>
        <p:spPr>
          <a:xfrm>
            <a:off x="4826000" y="5232400"/>
            <a:ext cx="10922000" cy="19558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7" name="three-title"/>
          <p:cNvSpPr/>
          <p:nvPr/>
        </p:nvSpPr>
        <p:spPr>
          <a:xfrm>
            <a:off x="5181600" y="5524500"/>
            <a:ext cx="787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PLAN FEEDBACK → COMPLETE OR REVISE CER</a:t>
            </a:r>
            <a:endParaRPr lang="en-US" sz="2400" dirty="0"/>
          </a:p>
        </p:txBody>
      </p:sp>
      <p:sp>
        <p:nvSpPr>
          <p:cNvPr id="18" name="three-body"/>
          <p:cNvSpPr/>
          <p:nvPr/>
        </p:nvSpPr>
        <p:spPr>
          <a:xfrm>
            <a:off x="5181600" y="6007100"/>
            <a:ext cx="9842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one prompt that sends students back to the evidence or science idea, then name the visible action: identify, complete, revise, add, explain, compare, or correct.</a:t>
            </a:r>
            <a:endParaRPr lang="en-US" sz="2100" dirty="0"/>
          </a:p>
        </p:txBody>
      </p:sp>
      <p:sp>
        <p:nvSpPr>
          <p:cNvPr id="19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20" name="worktime-shape-19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355600" cy="9144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3" name="close-kicker"/>
          <p:cNvSpPr/>
          <p:nvPr/>
        </p:nvSpPr>
        <p:spPr>
          <a:xfrm>
            <a:off x="889000" y="1168400"/>
            <a:ext cx="10414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+ CARRY FORWARD  •  36:00–41:00  •  5 MIN</a:t>
            </a:r>
            <a:endParaRPr lang="en-US" sz="1700" dirty="0"/>
          </a:p>
        </p:txBody>
      </p:sp>
      <p:sp>
        <p:nvSpPr>
          <p:cNvPr id="4" name="close-title"/>
          <p:cNvSpPr/>
          <p:nvPr/>
        </p:nvSpPr>
        <p:spPr>
          <a:xfrm>
            <a:off x="889000" y="1917700"/>
            <a:ext cx="13208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same task at the center of the week.</a:t>
            </a:r>
            <a:endParaRPr lang="en-US" sz="4400" dirty="0"/>
          </a:p>
        </p:txBody>
      </p:sp>
      <p:sp>
        <p:nvSpPr>
          <p:cNvPr id="5" name="close-shape-4"/>
          <p:cNvSpPr/>
          <p:nvPr/>
        </p:nvSpPr>
        <p:spPr>
          <a:xfrm>
            <a:off x="889000" y="3263900"/>
            <a:ext cx="13716000" cy="3733800"/>
          </a:xfrm>
          <a:prstGeom prst="rect">
            <a:avLst/>
          </a:prstGeom>
          <a:solidFill>
            <a:srgbClr val="2D2E31"/>
          </a:solidFill>
          <a:ln w="12700">
            <a:solidFill>
              <a:srgbClr val="72777D"/>
            </a:solidFill>
            <a:prstDash val="solid"/>
          </a:ln>
        </p:spPr>
      </p:sp>
      <p:sp>
        <p:nvSpPr>
          <p:cNvPr id="6" name="close-list"/>
          <p:cNvSpPr/>
          <p:nvPr/>
        </p:nvSpPr>
        <p:spPr>
          <a:xfrm>
            <a:off x="1422400" y="3708400"/>
            <a:ext cx="12522200" cy="271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buNone/>
            </a:pPr>
            <a:r>
              <a:rPr lang="en-US" altLang="en-US" sz="23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forward to Tuesday and Wednesday:</a:t>
            </a:r>
            <a:endParaRPr lang="en-US" sz="2300" dirty="0"/>
          </a:p>
          <a:p>
            <a:pPr algn="l" marL="365125" indent="-365125">
              <a:lnSpc>
                <a:spcPts val="287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upcoming writing benchmark/task and annotated source or evidence;</a:t>
            </a:r>
            <a:endParaRPr lang="en-US" sz="2300" dirty="0"/>
          </a:p>
          <a:p>
            <a:pPr algn="l" marL="365125" indent="-365125">
              <a:lnSpc>
                <a:spcPts val="287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complete CER response that meets the bar and one anticipated partial response;</a:t>
            </a:r>
            <a:endParaRPr lang="en-US" sz="2300" dirty="0"/>
          </a:p>
          <a:p>
            <a:pPr algn="l" marL="365125" indent="-365125">
              <a:lnSpc>
                <a:spcPts val="287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feedback prompt and the student action it should produce; and</a:t>
            </a:r>
            <a:endParaRPr lang="en-US" sz="2300" dirty="0"/>
          </a:p>
          <a:p>
            <a:pPr algn="l" marL="365125" indent="-365125">
              <a:lnSpc>
                <a:spcPts val="287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small anonymized sample, exemplar, or calibration question.</a:t>
            </a:r>
            <a:endParaRPr lang="en-US" sz="2300" dirty="0"/>
          </a:p>
        </p:txBody>
      </p:sp>
      <p:sp>
        <p:nvSpPr>
          <p:cNvPr id="7" name="close-footer"/>
          <p:cNvSpPr/>
          <p:nvPr/>
        </p:nvSpPr>
        <p:spPr>
          <a:xfrm>
            <a:off x="889000" y="7442200"/>
            <a:ext cx="1231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only if it helps: note the related unit-test standard/question evidence. The benchmark task remains the priority.</a:t>
            </a:r>
            <a:endParaRPr lang="en-US" sz="2300" dirty="0"/>
          </a:p>
        </p:txBody>
      </p:sp>
      <p:sp>
        <p:nvSpPr>
          <p:cNvPr id="8" name="page"/>
          <p:cNvSpPr/>
          <p:nvPr/>
        </p:nvSpPr>
        <p:spPr>
          <a:xfrm>
            <a:off x="14478000" y="840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9" name="close-shape-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Monday, October 26 PLC — Writing Benchmark to Student Action</dc:title>
  <dc:subject>Monday, October 26 PLC — Writing Benchmark to Student Action</dc:subject>
  <dc:creator>Manus</dc:creator>
  <cp:lastModifiedBy>Manus</cp:lastModifiedBy>
  <cp:revision>1</cp:revision>
  <dcterms:created xsi:type="dcterms:W3CDTF">2026-10-23T16:34:40Z</dcterms:created>
  <dcterms:modified xsi:type="dcterms:W3CDTF">2026-10-23T16:34:40Z</dcterms:modified>
</cp:coreProperties>
</file>
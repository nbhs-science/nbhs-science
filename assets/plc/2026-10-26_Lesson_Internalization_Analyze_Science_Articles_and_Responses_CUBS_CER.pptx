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6256000" cy="9144000"/>
  <p:notesSz cx="9144000" cy="16256000"/>
  <p:embeddedFontLst>
    <p:embeddedFont>
      <p:font typeface="Inter" charset="-122" pitchFamily="34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shape-1"/>
          <p:cNvSpPr/>
          <p:nvPr/>
        </p:nvSpPr>
        <p:spPr>
          <a:xfrm>
            <a:off x="0" y="0"/>
            <a:ext cx="16256000" cy="11684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cover-shape-2"/>
          <p:cNvSpPr/>
          <p:nvPr/>
        </p:nvSpPr>
        <p:spPr>
          <a:xfrm>
            <a:off x="0" y="1168400"/>
            <a:ext cx="16256000" cy="101600"/>
          </a:xfrm>
          <a:prstGeom prst="rect">
            <a:avLst/>
          </a:prstGeom>
          <a:solidFill>
            <a:srgbClr val="C41220"/>
          </a:solidFill>
          <a:ln/>
        </p:spPr>
      </p:sp>
      <p:sp>
        <p:nvSpPr>
          <p:cNvPr id="4" name="kicker"/>
          <p:cNvSpPr/>
          <p:nvPr/>
        </p:nvSpPr>
        <p:spPr>
          <a:xfrm>
            <a:off x="736600" y="381000"/>
            <a:ext cx="1143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  •  MONDAY, OCTOBER 26, 2026  •  41 MINUTES</a:t>
            </a:r>
            <a:endParaRPr lang="en-US" sz="1600" dirty="0"/>
          </a:p>
        </p:txBody>
      </p:sp>
      <p:sp>
        <p:nvSpPr>
          <p:cNvPr id="5" name="title"/>
          <p:cNvSpPr/>
          <p:nvPr/>
        </p:nvSpPr>
        <p:spPr>
          <a:xfrm>
            <a:off x="736600" y="1917700"/>
            <a:ext cx="12319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60"/>
              </a:lnSpc>
              <a:buNone/>
            </a:pPr>
            <a:r>
              <a:rPr lang="en-US" altLang="en-US" sz="45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the Writing Benchmark</a:t>
            </a:r>
            <a:endParaRPr lang="en-US" sz="4500" dirty="0"/>
          </a:p>
          <a:p>
            <a:pPr algn="l" indent="0" marL="0">
              <a:lnSpc>
                <a:spcPts val="4860"/>
              </a:lnSpc>
              <a:buNone/>
            </a:pPr>
            <a:r>
              <a:rPr lang="en-US" altLang="en-US" sz="45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 Student</a:t>
            </a:r>
            <a:endParaRPr lang="en-US" sz="4500" dirty="0"/>
          </a:p>
        </p:txBody>
      </p:sp>
      <p:sp>
        <p:nvSpPr>
          <p:cNvPr id="6" name="subtitle"/>
          <p:cNvSpPr/>
          <p:nvPr/>
        </p:nvSpPr>
        <p:spPr>
          <a:xfrm>
            <a:off x="736600" y="3797300"/>
            <a:ext cx="10820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altLang="en-US" sz="25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attached Biology HS-LS2-1 benchmark as a shared model: complete it, analyze the texts and visuals, color-code the CER, and anticipate how students may respond.</a:t>
            </a:r>
            <a:endParaRPr lang="en-US" sz="2500" dirty="0"/>
          </a:p>
        </p:txBody>
      </p:sp>
      <p:sp>
        <p:nvSpPr>
          <p:cNvPr id="7" name="cover-shape-6"/>
          <p:cNvSpPr/>
          <p:nvPr/>
        </p:nvSpPr>
        <p:spPr>
          <a:xfrm>
            <a:off x="12242800" y="2057400"/>
            <a:ext cx="3200400" cy="29845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8" name="outcome-label"/>
          <p:cNvSpPr/>
          <p:nvPr/>
        </p:nvSpPr>
        <p:spPr>
          <a:xfrm>
            <a:off x="12573000" y="24384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OUTCOME</a:t>
            </a:r>
            <a:endParaRPr lang="en-US" sz="1400" dirty="0"/>
          </a:p>
        </p:txBody>
      </p:sp>
      <p:sp>
        <p:nvSpPr>
          <p:cNvPr id="9" name="outcome"/>
          <p:cNvSpPr/>
          <p:nvPr/>
        </p:nvSpPr>
        <p:spPr>
          <a:xfrm>
            <a:off x="12547600" y="3035300"/>
            <a:ext cx="2590800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completed benchmark, task analysis, color-coded CER, and anticipated student responses.</a:t>
            </a:r>
            <a:endParaRPr lang="en-US" sz="2000" dirty="0"/>
          </a:p>
        </p:txBody>
      </p:sp>
      <p:sp>
        <p:nvSpPr>
          <p:cNvPr id="10" name="cover-shape-9"/>
          <p:cNvSpPr/>
          <p:nvPr/>
        </p:nvSpPr>
        <p:spPr>
          <a:xfrm>
            <a:off x="736600" y="5842000"/>
            <a:ext cx="14706600" cy="1422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benchmark-anchor"/>
          <p:cNvSpPr/>
          <p:nvPr/>
        </p:nvSpPr>
        <p:spPr>
          <a:xfrm>
            <a:off x="1117600" y="6172200"/>
            <a:ext cx="13919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4"/>
              </a:lnSpc>
              <a:buNone/>
            </a:pPr>
            <a:r>
              <a:rPr lang="en-US" altLang="en-US" sz="22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model:</a:t>
            </a:r>
            <a:r>
              <a:rPr lang="en-US" altLang="en-US" sz="22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Biology Benchmark #1 asks students to use a fruit-fly population graph and food web to explain carrying capacity and write a Claim–Evidence–Reasoning response.</a:t>
            </a:r>
            <a:endParaRPr lang="en-US" sz="2200" dirty="0"/>
          </a:p>
        </p:txBody>
      </p:sp>
      <p:sp>
        <p:nvSpPr>
          <p:cNvPr id="12" name="footer"/>
          <p:cNvSpPr/>
          <p:nvPr/>
        </p:nvSpPr>
        <p:spPr>
          <a:xfrm>
            <a:off x="736600" y="7975600"/>
            <a:ext cx="12827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Internalization Tool:</a:t>
            </a:r>
            <a:r>
              <a:rPr lang="en-US" altLang="en-US" sz="21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 Day Questions 1, 3, and 4; Team Deep Dive Steps 2–4.</a:t>
            </a:r>
            <a:endParaRPr lang="en-US" sz="2100" dirty="0"/>
          </a:p>
        </p:txBody>
      </p:sp>
      <p:sp>
        <p:nvSpPr>
          <p:cNvPr id="13" name="page"/>
          <p:cNvSpPr/>
          <p:nvPr/>
        </p:nvSpPr>
        <p:spPr>
          <a:xfrm>
            <a:off x="14732000" y="843280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cover-shape-13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cle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Benchmark, One Coherent Learning Cycle</a:t>
            </a:r>
            <a:endParaRPr lang="en-US" sz="3000" dirty="0"/>
          </a:p>
        </p:txBody>
      </p:sp>
      <p:sp>
        <p:nvSpPr>
          <p:cNvPr id="4" name="header-time"/>
          <p:cNvSpPr/>
          <p:nvPr/>
        </p:nvSpPr>
        <p:spPr>
          <a:xfrm>
            <a:off x="13208000" y="355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0:00–3:00  •  3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371600"/>
            <a:ext cx="1485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Biology benchmark is a shared model. Every course team applies the same instructional moves to an appropriate standard, article, data display, investigation, or constructed-response task.</a:t>
            </a:r>
            <a:endParaRPr lang="en-US" sz="2300" dirty="0"/>
          </a:p>
        </p:txBody>
      </p:sp>
      <p:sp>
        <p:nvSpPr>
          <p:cNvPr id="6" name="cycle-shape-5"/>
          <p:cNvSpPr/>
          <p:nvPr/>
        </p:nvSpPr>
        <p:spPr>
          <a:xfrm>
            <a:off x="508000" y="2717800"/>
            <a:ext cx="2667000" cy="32385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7" name="step1"/>
          <p:cNvSpPr/>
          <p:nvPr/>
        </p:nvSpPr>
        <p:spPr>
          <a:xfrm>
            <a:off x="762000" y="3048000"/>
            <a:ext cx="2159000" cy="237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2"/>
              </a:lnSpc>
              <a:buNone/>
            </a:pPr>
            <a:r>
              <a:rPr lang="en-US" altLang="en-US" sz="14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</a:t>
            </a:r>
            <a:endParaRPr lang="en-US" sz="1900" dirty="0"/>
          </a:p>
          <a:p>
            <a:pPr algn="l" indent="0" marL="0">
              <a:lnSpc>
                <a:spcPts val="2714"/>
              </a:lnSpc>
              <a:spcBef>
                <a:spcPts val="1000"/>
              </a:spcBef>
              <a:buNone/>
            </a:pPr>
            <a:r>
              <a:rPr lang="en-US" altLang="en-US" sz="23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+ analyze</a:t>
            </a:r>
            <a:endParaRPr lang="en-US" sz="1900" dirty="0"/>
          </a:p>
          <a:p>
            <a:pPr algn="l" indent="0" marL="0">
              <a:lnSpc>
                <a:spcPts val="2242"/>
              </a:lnSpc>
              <a:spcBef>
                <a:spcPts val="1000"/>
              </a:spcBef>
              <a:buNone/>
            </a:pPr>
            <a:r>
              <a:rPr lang="en-US" altLang="en-US" sz="19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the benchmark, annotate sources, color-code CER, and anticipate responses.</a:t>
            </a:r>
            <a:endParaRPr lang="en-US" sz="1900" dirty="0"/>
          </a:p>
        </p:txBody>
      </p:sp>
      <p:sp>
        <p:nvSpPr>
          <p:cNvPr id="8" name="arrow1"/>
          <p:cNvSpPr/>
          <p:nvPr/>
        </p:nvSpPr>
        <p:spPr>
          <a:xfrm>
            <a:off x="3225800" y="4127500"/>
            <a:ext cx="431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31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100" dirty="0"/>
          </a:p>
        </p:txBody>
      </p:sp>
      <p:sp>
        <p:nvSpPr>
          <p:cNvPr id="9" name="cycle-shape-8"/>
          <p:cNvSpPr/>
          <p:nvPr/>
        </p:nvSpPr>
        <p:spPr>
          <a:xfrm>
            <a:off x="3708400" y="2717800"/>
            <a:ext cx="2667000" cy="32385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tep2"/>
          <p:cNvSpPr/>
          <p:nvPr/>
        </p:nvSpPr>
        <p:spPr>
          <a:xfrm>
            <a:off x="3962400" y="3048000"/>
            <a:ext cx="2159000" cy="237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2"/>
              </a:lnSpc>
              <a:buNone/>
            </a:pPr>
            <a:r>
              <a:rPr lang="en-US" altLang="en-US" sz="14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</a:t>
            </a:r>
            <a:endParaRPr lang="en-US" sz="1900" dirty="0"/>
          </a:p>
          <a:p>
            <a:pPr algn="l" indent="0" marL="0">
              <a:lnSpc>
                <a:spcPts val="2714"/>
              </a:lnSpc>
              <a:spcBef>
                <a:spcPts val="1000"/>
              </a:spcBef>
              <a:buNone/>
            </a:pPr>
            <a:r>
              <a:rPr lang="en-US" altLang="en-US" sz="23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for learning</a:t>
            </a:r>
            <a:endParaRPr lang="en-US" sz="1900" dirty="0"/>
          </a:p>
          <a:p>
            <a:pPr algn="l" indent="0" marL="0">
              <a:lnSpc>
                <a:spcPts val="2242"/>
              </a:lnSpc>
              <a:spcBef>
                <a:spcPts val="1000"/>
              </a:spcBef>
              <a:buNone/>
            </a:pPr>
            <a:r>
              <a:rPr lang="en-US" altLang="en-US" sz="19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lesson arc, access, facilitation, and feedback from Monday’s evidence.</a:t>
            </a:r>
            <a:endParaRPr lang="en-US" sz="1900" dirty="0"/>
          </a:p>
        </p:txBody>
      </p:sp>
      <p:sp>
        <p:nvSpPr>
          <p:cNvPr id="11" name="arrow2"/>
          <p:cNvSpPr/>
          <p:nvPr/>
        </p:nvSpPr>
        <p:spPr>
          <a:xfrm>
            <a:off x="6426200" y="4127500"/>
            <a:ext cx="431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31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100" dirty="0"/>
          </a:p>
        </p:txBody>
      </p:sp>
      <p:sp>
        <p:nvSpPr>
          <p:cNvPr id="12" name="cycle-shape-11"/>
          <p:cNvSpPr/>
          <p:nvPr/>
        </p:nvSpPr>
        <p:spPr>
          <a:xfrm>
            <a:off x="6908800" y="2717800"/>
            <a:ext cx="2667000" cy="32385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tep3"/>
          <p:cNvSpPr/>
          <p:nvPr/>
        </p:nvSpPr>
        <p:spPr>
          <a:xfrm>
            <a:off x="7162800" y="3048000"/>
            <a:ext cx="2159000" cy="237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2"/>
              </a:lnSpc>
              <a:buNone/>
            </a:pPr>
            <a:r>
              <a:rPr lang="en-US" altLang="en-US" sz="14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WED. PD</a:t>
            </a:r>
            <a:endParaRPr lang="en-US" sz="1900" dirty="0"/>
          </a:p>
          <a:p>
            <a:pPr algn="l" indent="0" marL="0">
              <a:lnSpc>
                <a:spcPts val="2714"/>
              </a:lnSpc>
              <a:spcBef>
                <a:spcPts val="1000"/>
              </a:spcBef>
              <a:buNone/>
            </a:pPr>
            <a:r>
              <a:rPr lang="en-US" altLang="en-US" sz="23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 the routine</a:t>
            </a:r>
            <a:endParaRPr lang="en-US" sz="1900" dirty="0"/>
          </a:p>
          <a:p>
            <a:pPr algn="l" indent="0" marL="0">
              <a:lnSpc>
                <a:spcPts val="2242"/>
              </a:lnSpc>
              <a:spcBef>
                <a:spcPts val="1000"/>
              </a:spcBef>
              <a:buNone/>
            </a:pPr>
            <a:r>
              <a:rPr lang="en-US" altLang="en-US" sz="19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CUBS and color-coded CER as student-facing science literacy supports.</a:t>
            </a:r>
            <a:endParaRPr lang="en-US" sz="1900" dirty="0"/>
          </a:p>
        </p:txBody>
      </p:sp>
      <p:sp>
        <p:nvSpPr>
          <p:cNvPr id="14" name="arrow3"/>
          <p:cNvSpPr/>
          <p:nvPr/>
        </p:nvSpPr>
        <p:spPr>
          <a:xfrm>
            <a:off x="9626600" y="4127500"/>
            <a:ext cx="431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31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100" dirty="0"/>
          </a:p>
        </p:txBody>
      </p:sp>
      <p:sp>
        <p:nvSpPr>
          <p:cNvPr id="15" name="cycle-shape-14"/>
          <p:cNvSpPr/>
          <p:nvPr/>
        </p:nvSpPr>
        <p:spPr>
          <a:xfrm>
            <a:off x="10109200" y="2717800"/>
            <a:ext cx="2667000" cy="32385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tep4"/>
          <p:cNvSpPr/>
          <p:nvPr/>
        </p:nvSpPr>
        <p:spPr>
          <a:xfrm>
            <a:off x="10363200" y="3048000"/>
            <a:ext cx="2159000" cy="237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2"/>
              </a:lnSpc>
              <a:buNone/>
            </a:pPr>
            <a:r>
              <a:rPr lang="en-US" altLang="en-US" sz="14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</a:t>
            </a:r>
            <a:endParaRPr lang="en-US" sz="1900" dirty="0"/>
          </a:p>
          <a:p>
            <a:pPr algn="l" indent="0" marL="0">
              <a:lnSpc>
                <a:spcPts val="2714"/>
              </a:lnSpc>
              <a:spcBef>
                <a:spcPts val="1000"/>
              </a:spcBef>
              <a:buNone/>
            </a:pPr>
            <a:r>
              <a:rPr lang="en-US" altLang="en-US" sz="23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student work</a:t>
            </a:r>
            <a:endParaRPr lang="en-US" sz="1900" dirty="0"/>
          </a:p>
          <a:p>
            <a:pPr algn="l" indent="0" marL="0">
              <a:lnSpc>
                <a:spcPts val="2242"/>
              </a:lnSpc>
              <a:spcBef>
                <a:spcPts val="1000"/>
              </a:spcBef>
              <a:buNone/>
            </a:pPr>
            <a:r>
              <a:rPr lang="en-US" altLang="en-US" sz="19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completed writing, give written feedback, and identify the next step.</a:t>
            </a:r>
            <a:endParaRPr lang="en-US" sz="1900" dirty="0"/>
          </a:p>
        </p:txBody>
      </p:sp>
      <p:sp>
        <p:nvSpPr>
          <p:cNvPr id="17" name="arrow4"/>
          <p:cNvSpPr/>
          <p:nvPr/>
        </p:nvSpPr>
        <p:spPr>
          <a:xfrm>
            <a:off x="12827000" y="4127500"/>
            <a:ext cx="431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31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100" dirty="0"/>
          </a:p>
        </p:txBody>
      </p:sp>
      <p:sp>
        <p:nvSpPr>
          <p:cNvPr id="18" name="cycle-shape-17"/>
          <p:cNvSpPr/>
          <p:nvPr/>
        </p:nvSpPr>
        <p:spPr>
          <a:xfrm>
            <a:off x="13309600" y="2717800"/>
            <a:ext cx="2438400" cy="32385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9" name="step5"/>
          <p:cNvSpPr/>
          <p:nvPr/>
        </p:nvSpPr>
        <p:spPr>
          <a:xfrm>
            <a:off x="13538200" y="3048000"/>
            <a:ext cx="1981200" cy="237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2"/>
              </a:lnSpc>
              <a:buNone/>
            </a:pPr>
            <a:r>
              <a:rPr lang="en-US" altLang="en-US" sz="1400" b="1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MASTERY</a:t>
            </a:r>
            <a:endParaRPr lang="en-US" sz="1900" dirty="0"/>
          </a:p>
          <a:p>
            <a:pPr algn="l" indent="0" marL="0">
              <a:lnSpc>
                <a:spcPts val="2714"/>
              </a:lnSpc>
              <a:spcBef>
                <a:spcPts val="1000"/>
              </a:spcBef>
              <a:buNone/>
            </a:pPr>
            <a:r>
              <a:rPr lang="en-US" alt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 precisely</a:t>
            </a:r>
            <a:endParaRPr lang="en-US" sz="1900" dirty="0"/>
          </a:p>
          <a:p>
            <a:pPr algn="l" indent="0" marL="0">
              <a:lnSpc>
                <a:spcPts val="2242"/>
              </a:lnSpc>
              <a:spcBef>
                <a:spcPts val="1000"/>
              </a:spcBef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 targeted next learning experience and evidence check.</a:t>
            </a:r>
            <a:endParaRPr lang="en-US" sz="1900" dirty="0"/>
          </a:p>
        </p:txBody>
      </p:sp>
      <p:sp>
        <p:nvSpPr>
          <p:cNvPr id="20" name="cycle-shape-19"/>
          <p:cNvSpPr/>
          <p:nvPr/>
        </p:nvSpPr>
        <p:spPr>
          <a:xfrm>
            <a:off x="508000" y="6731000"/>
            <a:ext cx="15240000" cy="1168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21" name="cycle-icon-2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0" y="7048500"/>
            <a:ext cx="482600" cy="482600"/>
          </a:xfrm>
          <a:prstGeom prst="rect">
            <a:avLst/>
          </a:prstGeom>
        </p:spPr>
      </p:pic>
      <p:sp>
        <p:nvSpPr>
          <p:cNvPr id="22" name="anchor"/>
          <p:cNvSpPr/>
          <p:nvPr/>
        </p:nvSpPr>
        <p:spPr>
          <a:xfrm>
            <a:off x="1574800" y="6959600"/>
            <a:ext cx="1346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Instructional focus:</a:t>
            </a:r>
            <a:r>
              <a:rPr lang="en-US" altLang="en-US" sz="22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task and evidence guide the conversation. Do not rank students, teachers, courses, or sections; avoid broad reteach plans.</a:t>
            </a:r>
            <a:endParaRPr lang="en-US" sz="2200" dirty="0"/>
          </a:p>
        </p:txBody>
      </p:sp>
      <p:sp>
        <p:nvSpPr>
          <p:cNvPr id="23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24" name="cycle-shape-23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bs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the Benchmark as a Student</a:t>
            </a:r>
            <a:endParaRPr lang="en-US" sz="3000" dirty="0"/>
          </a:p>
        </p:txBody>
      </p:sp>
      <p:sp>
        <p:nvSpPr>
          <p:cNvPr id="4" name="header-time"/>
          <p:cNvSpPr/>
          <p:nvPr/>
        </p:nvSpPr>
        <p:spPr>
          <a:xfrm>
            <a:off x="13208000" y="355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3:00–17:00  •  14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371600"/>
            <a:ext cx="1485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silently and independently first. Respond to the attached Biology Benchmark #1 exactly as a student would; other course teams notice the transferable task demands they will apply to their own task.</a:t>
            </a:r>
            <a:endParaRPr lang="en-US" sz="2300" dirty="0"/>
          </a:p>
        </p:txBody>
      </p:sp>
      <p:sp>
        <p:nvSpPr>
          <p:cNvPr id="6" name="cubs-shape-5"/>
          <p:cNvSpPr/>
          <p:nvPr/>
        </p:nvSpPr>
        <p:spPr>
          <a:xfrm>
            <a:off x="508000" y="2476500"/>
            <a:ext cx="6350000" cy="48768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7" name="benchmark-page-1" descr="preencoded.png">    </p:cNvPr>
          <p:cNvPicPr>
            <a:picLocks noChangeAspect="1"/>
          </p:cNvPicPr>
          <p:nvPr/>
        </p:nvPicPr>
        <p:blipFill>
          <a:blip r:embed="rId1"/>
          <a:srcRect l="-35909" r="-35909" t="0" b="0"/>
          <a:stretch/>
        </p:blipFill>
        <p:spPr>
          <a:xfrm>
            <a:off x="698500" y="2667000"/>
            <a:ext cx="5969000" cy="4495800"/>
          </a:xfrm>
          <a:prstGeom prst="rect">
            <a:avLst/>
          </a:prstGeom>
        </p:spPr>
      </p:pic>
      <p:sp>
        <p:nvSpPr>
          <p:cNvPr id="8" name="cubs-shape-7"/>
          <p:cNvSpPr/>
          <p:nvPr/>
        </p:nvSpPr>
        <p:spPr>
          <a:xfrm>
            <a:off x="7239000" y="2476500"/>
            <a:ext cx="6350000" cy="48768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benchmark-page-2" descr="preencoded.png">    </p:cNvPr>
          <p:cNvPicPr>
            <a:picLocks noChangeAspect="1"/>
          </p:cNvPicPr>
          <p:nvPr/>
        </p:nvPicPr>
        <p:blipFill>
          <a:blip r:embed="rId2"/>
          <a:srcRect l="-35909" r="-35909" t="0" b="0"/>
          <a:stretch/>
        </p:blipFill>
        <p:spPr>
          <a:xfrm>
            <a:off x="7429500" y="2667000"/>
            <a:ext cx="5969000" cy="4495800"/>
          </a:xfrm>
          <a:prstGeom prst="rect">
            <a:avLst/>
          </a:prstGeom>
        </p:spPr>
      </p:pic>
      <p:sp>
        <p:nvSpPr>
          <p:cNvPr id="10" name="cubs-shape-9"/>
          <p:cNvSpPr/>
          <p:nvPr/>
        </p:nvSpPr>
        <p:spPr>
          <a:xfrm>
            <a:off x="13970000" y="2476500"/>
            <a:ext cx="1778000" cy="48768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11" name="student-task"/>
          <p:cNvSpPr/>
          <p:nvPr/>
        </p:nvSpPr>
        <p:spPr>
          <a:xfrm>
            <a:off x="14160500" y="2819400"/>
            <a:ext cx="1397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2"/>
              </a:lnSpc>
              <a:buNone/>
            </a:pPr>
            <a:r>
              <a:rPr lang="en-US" altLang="en-US" sz="14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AS A STUDENT</a:t>
            </a:r>
            <a:endParaRPr lang="en-US" sz="1800" dirty="0"/>
          </a:p>
          <a:p>
            <a:pPr algn="ctr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altLang="en-US" sz="18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graph and food web.</a:t>
            </a:r>
            <a:endParaRPr lang="en-US" sz="1800" dirty="0"/>
          </a:p>
          <a:p>
            <a:pPr algn="ctr" indent="0" marL="0">
              <a:lnSpc>
                <a:spcPts val="2124"/>
              </a:lnSpc>
              <a:spcBef>
                <a:spcPts val="1200"/>
              </a:spcBef>
              <a:buNone/>
            </a:pPr>
            <a:r>
              <a:rPr lang="en-US" altLang="en-US" sz="18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all five questions.</a:t>
            </a:r>
            <a:endParaRPr lang="en-US" sz="1800" dirty="0"/>
          </a:p>
          <a:p>
            <a:pPr algn="ctr" indent="0" marL="0">
              <a:lnSpc>
                <a:spcPts val="2124"/>
              </a:lnSpc>
              <a:spcBef>
                <a:spcPts val="1200"/>
              </a:spcBef>
              <a:buNone/>
            </a:pPr>
            <a:r>
              <a:rPr lang="en-US" altLang="en-US" sz="18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the CER for Question 5.</a:t>
            </a:r>
            <a:endParaRPr lang="en-US" sz="1800" dirty="0"/>
          </a:p>
        </p:txBody>
      </p:sp>
      <p:sp>
        <p:nvSpPr>
          <p:cNvPr id="12" name="cubs-shape-11"/>
          <p:cNvSpPr/>
          <p:nvPr/>
        </p:nvSpPr>
        <p:spPr>
          <a:xfrm>
            <a:off x="508000" y="7747000"/>
            <a:ext cx="15240000" cy="5461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3" name="transfer"/>
          <p:cNvSpPr/>
          <p:nvPr/>
        </p:nvSpPr>
        <p:spPr>
          <a:xfrm>
            <a:off x="825500" y="7874000"/>
            <a:ext cx="1435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shared model is Biology; each science team will apply this same experience-and-analyze move to its own standards-aligned task.</a:t>
            </a:r>
            <a:endParaRPr lang="en-US" sz="1800" dirty="0"/>
          </a:p>
        </p:txBody>
      </p:sp>
      <p:sp>
        <p:nvSpPr>
          <p:cNvPr id="14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cubs-shape-14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68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the Task, Texts, and Visuals With CUBS</a:t>
            </a:r>
            <a:endParaRPr lang="en-US" sz="3000" dirty="0"/>
          </a:p>
        </p:txBody>
      </p:sp>
      <p:sp>
        <p:nvSpPr>
          <p:cNvPr id="4" name="header-time"/>
          <p:cNvSpPr/>
          <p:nvPr/>
        </p:nvSpPr>
        <p:spPr>
          <a:xfrm>
            <a:off x="13081000" y="355600"/>
            <a:ext cx="266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17:00–24:00  •  7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371600"/>
            <a:ext cx="1460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CUBS is a brief student-facing way to slow down the source analysis before writing. Use the graph, food web, and Question 5 prompt to notice what the response must draw on.</a:t>
            </a:r>
            <a:endParaRPr lang="en-US" sz="2300" dirty="0"/>
          </a:p>
        </p:txBody>
      </p:sp>
      <p:sp>
        <p:nvSpPr>
          <p:cNvPr id="6" name="cer-shape-5"/>
          <p:cNvSpPr/>
          <p:nvPr/>
        </p:nvSpPr>
        <p:spPr>
          <a:xfrm>
            <a:off x="508000" y="2565400"/>
            <a:ext cx="3492500" cy="3708400"/>
          </a:xfrm>
          <a:prstGeom prst="rect">
            <a:avLst/>
          </a:prstGeom>
          <a:solidFill>
            <a:srgbClr val="EAF5EC"/>
          </a:solidFill>
          <a:ln w="25400">
            <a:solidFill>
              <a:srgbClr val="238636"/>
            </a:solidFill>
            <a:prstDash val="solid"/>
          </a:ln>
        </p:spPr>
      </p:sp>
      <p:sp>
        <p:nvSpPr>
          <p:cNvPr id="7" name="c-card"/>
          <p:cNvSpPr/>
          <p:nvPr/>
        </p:nvSpPr>
        <p:spPr>
          <a:xfrm>
            <a:off x="812800" y="2921000"/>
            <a:ext cx="28829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altLang="en-US" sz="2400" b="1" dirty="0">
                <a:solidFill>
                  <a:srgbClr val="2386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— CIRCLE</a:t>
            </a:r>
            <a:endParaRPr lang="en-US" sz="2000" dirty="0"/>
          </a:p>
          <a:p>
            <a:pPr algn="l" indent="0" marL="0">
              <a:lnSpc>
                <a:spcPts val="2440"/>
              </a:lnSpc>
              <a:spcBef>
                <a:spcPts val="1200"/>
              </a:spcBef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Circle the main question or central science idea.</a:t>
            </a:r>
            <a:endParaRPr lang="en-US" sz="2000" dirty="0"/>
          </a:p>
          <a:p>
            <a:pPr algn="l" indent="0" marL="0">
              <a:lnSpc>
                <a:spcPts val="2440"/>
              </a:lnSpc>
              <a:spcBef>
                <a:spcPts val="1000"/>
              </a:spcBef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task asking students to predict or explain?</a:t>
            </a:r>
            <a:endParaRPr lang="en-US" sz="2000" dirty="0"/>
          </a:p>
        </p:txBody>
      </p:sp>
      <p:sp>
        <p:nvSpPr>
          <p:cNvPr id="8" name="cer-shape-7"/>
          <p:cNvSpPr/>
          <p:nvPr/>
        </p:nvSpPr>
        <p:spPr>
          <a:xfrm>
            <a:off x="4292600" y="2565400"/>
            <a:ext cx="3492500" cy="3708400"/>
          </a:xfrm>
          <a:prstGeom prst="rect">
            <a:avLst/>
          </a:prstGeom>
          <a:solidFill>
            <a:srgbClr val="EAF2FC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9" name="u-card"/>
          <p:cNvSpPr/>
          <p:nvPr/>
        </p:nvSpPr>
        <p:spPr>
          <a:xfrm>
            <a:off x="4597400" y="2921000"/>
            <a:ext cx="28829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altLang="en-US" sz="24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 — UNDERLINE</a:t>
            </a:r>
            <a:endParaRPr lang="en-US" sz="2000" dirty="0"/>
          </a:p>
          <a:p>
            <a:pPr algn="l" indent="0" marL="0">
              <a:lnSpc>
                <a:spcPts val="2440"/>
              </a:lnSpc>
              <a:spcBef>
                <a:spcPts val="1200"/>
              </a:spcBef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Underline supporting data and relationships.</a:t>
            </a:r>
            <a:endParaRPr lang="en-US" sz="2000" dirty="0"/>
          </a:p>
          <a:p>
            <a:pPr algn="l" indent="0" marL="0">
              <a:lnSpc>
                <a:spcPts val="2440"/>
              </a:lnSpc>
              <a:spcBef>
                <a:spcPts val="1000"/>
              </a:spcBef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graph trend and food-web evidence could a student use?</a:t>
            </a:r>
            <a:endParaRPr lang="en-US" sz="2000" dirty="0"/>
          </a:p>
        </p:txBody>
      </p:sp>
      <p:sp>
        <p:nvSpPr>
          <p:cNvPr id="10" name="cer-shape-9"/>
          <p:cNvSpPr/>
          <p:nvPr/>
        </p:nvSpPr>
        <p:spPr>
          <a:xfrm>
            <a:off x="8077200" y="2565400"/>
            <a:ext cx="3492500" cy="3708400"/>
          </a:xfrm>
          <a:prstGeom prst="rect">
            <a:avLst/>
          </a:prstGeom>
          <a:solidFill>
            <a:srgbClr val="FFF1E7"/>
          </a:solidFill>
          <a:ln w="25400">
            <a:solidFill>
              <a:srgbClr val="C56B00"/>
            </a:solidFill>
            <a:prstDash val="solid"/>
          </a:ln>
        </p:spPr>
      </p:sp>
      <p:sp>
        <p:nvSpPr>
          <p:cNvPr id="11" name="b-card"/>
          <p:cNvSpPr/>
          <p:nvPr/>
        </p:nvSpPr>
        <p:spPr>
          <a:xfrm>
            <a:off x="8382000" y="2921000"/>
            <a:ext cx="28829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altLang="en-US" sz="2400" b="1" dirty="0">
                <a:solidFill>
                  <a:srgbClr val="C5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— BOX</a:t>
            </a:r>
            <a:endParaRPr lang="en-US" sz="2000" dirty="0"/>
          </a:p>
          <a:p>
            <a:pPr algn="l" indent="0" marL="0">
              <a:lnSpc>
                <a:spcPts val="2440"/>
              </a:lnSpc>
              <a:spcBef>
                <a:spcPts val="1200"/>
              </a:spcBef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 unfamiliar or high-leverage vocabulary.</a:t>
            </a:r>
            <a:endParaRPr lang="en-US" sz="2000" dirty="0"/>
          </a:p>
          <a:p>
            <a:pPr algn="l" indent="0" marL="0">
              <a:lnSpc>
                <a:spcPts val="2440"/>
              </a:lnSpc>
              <a:spcBef>
                <a:spcPts val="1000"/>
              </a:spcBef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example: carrying capacity, predator, consumer, population.</a:t>
            </a:r>
            <a:endParaRPr lang="en-US" sz="2000" dirty="0"/>
          </a:p>
        </p:txBody>
      </p:sp>
      <p:sp>
        <p:nvSpPr>
          <p:cNvPr id="12" name="cer-shape-11"/>
          <p:cNvSpPr/>
          <p:nvPr/>
        </p:nvSpPr>
        <p:spPr>
          <a:xfrm>
            <a:off x="11861800" y="2565400"/>
            <a:ext cx="3886200" cy="3708400"/>
          </a:xfrm>
          <a:prstGeom prst="rect">
            <a:avLst/>
          </a:prstGeom>
          <a:solidFill>
            <a:srgbClr val="F3ECFB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3" name="s-card"/>
          <p:cNvSpPr/>
          <p:nvPr/>
        </p:nvSpPr>
        <p:spPr>
          <a:xfrm>
            <a:off x="12166600" y="2921000"/>
            <a:ext cx="32766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altLang="en-US" sz="24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— SUMMARIZE</a:t>
            </a:r>
            <a:endParaRPr lang="en-US" sz="2000" dirty="0"/>
          </a:p>
          <a:p>
            <a:pPr algn="l" indent="0" marL="0">
              <a:lnSpc>
                <a:spcPts val="2440"/>
              </a:lnSpc>
              <a:spcBef>
                <a:spcPts val="1200"/>
              </a:spcBef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the science idea the visuals help answer.</a:t>
            </a:r>
            <a:endParaRPr lang="en-US" sz="2000" dirty="0"/>
          </a:p>
          <a:p>
            <a:pPr algn="l" indent="0" marL="0">
              <a:lnSpc>
                <a:spcPts val="2440"/>
              </a:lnSpc>
              <a:spcBef>
                <a:spcPts val="1000"/>
              </a:spcBef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a question students may still need to resolve.</a:t>
            </a:r>
            <a:endParaRPr lang="en-US" sz="2000" dirty="0"/>
          </a:p>
        </p:txBody>
      </p:sp>
      <p:sp>
        <p:nvSpPr>
          <p:cNvPr id="14" name="cer-shape-13"/>
          <p:cNvSpPr/>
          <p:nvPr/>
        </p:nvSpPr>
        <p:spPr>
          <a:xfrm>
            <a:off x="508000" y="6908800"/>
            <a:ext cx="15240000" cy="9906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5" name="talk-move"/>
          <p:cNvSpPr/>
          <p:nvPr/>
        </p:nvSpPr>
        <p:spPr>
          <a:xfrm>
            <a:off x="838200" y="7124700"/>
            <a:ext cx="14478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78"/>
              </a:lnSpc>
              <a:buNone/>
            </a:pPr>
            <a:r>
              <a:rPr lang="en-US" altLang="en-US" sz="2100" b="1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prompt:</a:t>
            </a: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does this strategy reveal about the reading, visual-analysis, vocabulary, and evidence-selection work students must do before they can write?</a:t>
            </a:r>
            <a:endParaRPr lang="en-US" sz="2100" dirty="0"/>
          </a:p>
        </p:txBody>
      </p:sp>
      <p:sp>
        <p:nvSpPr>
          <p:cNvPr id="16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cer-shape-16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alysis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2192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Color-Code the CER and Anticipate Student Responses</a:t>
            </a:r>
            <a:endParaRPr lang="en-US" sz="3000" dirty="0"/>
          </a:p>
        </p:txBody>
      </p:sp>
      <p:sp>
        <p:nvSpPr>
          <p:cNvPr id="4" name="header-time"/>
          <p:cNvSpPr/>
          <p:nvPr/>
        </p:nvSpPr>
        <p:spPr>
          <a:xfrm>
            <a:off x="12954000" y="3556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24:00–31:00  •  7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371600"/>
            <a:ext cx="147320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your own Question 5 response or an anticipated response. Color-code the thinking to see what meeting the standard requires and what may be missing or confused for students.</a:t>
            </a:r>
            <a:endParaRPr lang="en-US" sz="2300" dirty="0"/>
          </a:p>
        </p:txBody>
      </p:sp>
      <p:sp>
        <p:nvSpPr>
          <p:cNvPr id="6" name="analysis-shape-5"/>
          <p:cNvSpPr/>
          <p:nvPr/>
        </p:nvSpPr>
        <p:spPr>
          <a:xfrm>
            <a:off x="508000" y="2616200"/>
            <a:ext cx="4508500" cy="3632200"/>
          </a:xfrm>
          <a:prstGeom prst="rect">
            <a:avLst/>
          </a:prstGeom>
          <a:solidFill>
            <a:srgbClr val="EAF5EC"/>
          </a:solidFill>
          <a:ln w="25400">
            <a:solidFill>
              <a:srgbClr val="238636"/>
            </a:solidFill>
            <a:prstDash val="solid"/>
          </a:ln>
        </p:spPr>
      </p:sp>
      <p:sp>
        <p:nvSpPr>
          <p:cNvPr id="7" name="claim-title"/>
          <p:cNvSpPr/>
          <p:nvPr/>
        </p:nvSpPr>
        <p:spPr>
          <a:xfrm>
            <a:off x="838200" y="29591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2386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</a:t>
            </a:r>
            <a:endParaRPr lang="en-US" sz="2500" dirty="0"/>
          </a:p>
        </p:txBody>
      </p:sp>
      <p:sp>
        <p:nvSpPr>
          <p:cNvPr id="8" name="claim-copy"/>
          <p:cNvSpPr/>
          <p:nvPr/>
        </p:nvSpPr>
        <p:spPr>
          <a:xfrm>
            <a:off x="838200" y="3695700"/>
            <a:ext cx="381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altLang="en-US" sz="20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Complete:</a:t>
            </a: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answers the prediction with an accurate conclusion.</a:t>
            </a:r>
            <a:endParaRPr lang="en-US" sz="2000" dirty="0"/>
          </a:p>
          <a:p>
            <a:pPr algn="l" indent="0" marL="0">
              <a:lnSpc>
                <a:spcPts val="2480"/>
              </a:lnSpc>
              <a:spcBef>
                <a:spcPts val="1000"/>
              </a:spcBef>
              <a:buNone/>
            </a:pPr>
            <a:r>
              <a:rPr lang="en-US" altLang="en-US" sz="20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Anticipate:</a:t>
            </a: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vague prediction, an unsupported answer, or a claim that ignores the food-web relationship.</a:t>
            </a:r>
            <a:endParaRPr lang="en-US" sz="2000" dirty="0"/>
          </a:p>
        </p:txBody>
      </p:sp>
      <p:sp>
        <p:nvSpPr>
          <p:cNvPr id="9" name="analysis-shape-8"/>
          <p:cNvSpPr/>
          <p:nvPr/>
        </p:nvSpPr>
        <p:spPr>
          <a:xfrm>
            <a:off x="5880100" y="2616200"/>
            <a:ext cx="4508500" cy="3632200"/>
          </a:xfrm>
          <a:prstGeom prst="rect">
            <a:avLst/>
          </a:prstGeom>
          <a:solidFill>
            <a:srgbClr val="EAF2FC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0" name="evidence-title"/>
          <p:cNvSpPr/>
          <p:nvPr/>
        </p:nvSpPr>
        <p:spPr>
          <a:xfrm>
            <a:off x="6210300" y="29591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2500" dirty="0"/>
          </a:p>
        </p:txBody>
      </p:sp>
      <p:sp>
        <p:nvSpPr>
          <p:cNvPr id="11" name="evidence-copy"/>
          <p:cNvSpPr/>
          <p:nvPr/>
        </p:nvSpPr>
        <p:spPr>
          <a:xfrm>
            <a:off x="6210300" y="3695700"/>
            <a:ext cx="381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altLang="en-US" sz="20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Complete:</a:t>
            </a: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selects accurate details from the graph and food web.</a:t>
            </a:r>
            <a:endParaRPr lang="en-US" sz="2000" dirty="0"/>
          </a:p>
          <a:p>
            <a:pPr algn="l" indent="0" marL="0">
              <a:lnSpc>
                <a:spcPts val="2480"/>
              </a:lnSpc>
              <a:spcBef>
                <a:spcPts val="1000"/>
              </a:spcBef>
              <a:buNone/>
            </a:pPr>
            <a:r>
              <a:rPr lang="en-US" altLang="en-US" sz="20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Anticipate:</a:t>
            </a: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detail is copied without relevance, inaccurate, or drawn from only one visual.</a:t>
            </a:r>
            <a:endParaRPr lang="en-US" sz="2000" dirty="0"/>
          </a:p>
        </p:txBody>
      </p:sp>
      <p:sp>
        <p:nvSpPr>
          <p:cNvPr id="12" name="analysis-shape-11"/>
          <p:cNvSpPr/>
          <p:nvPr/>
        </p:nvSpPr>
        <p:spPr>
          <a:xfrm>
            <a:off x="11252200" y="2616200"/>
            <a:ext cx="4495800" cy="3632200"/>
          </a:xfrm>
          <a:prstGeom prst="rect">
            <a:avLst/>
          </a:prstGeom>
          <a:solidFill>
            <a:srgbClr val="FFF1E7"/>
          </a:solidFill>
          <a:ln w="25400">
            <a:solidFill>
              <a:srgbClr val="C56B00"/>
            </a:solidFill>
            <a:prstDash val="solid"/>
          </a:ln>
        </p:spPr>
      </p:sp>
      <p:sp>
        <p:nvSpPr>
          <p:cNvPr id="13" name="reasoning-title"/>
          <p:cNvSpPr/>
          <p:nvPr/>
        </p:nvSpPr>
        <p:spPr>
          <a:xfrm>
            <a:off x="11582400" y="29591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C5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</a:t>
            </a:r>
            <a:endParaRPr lang="en-US" sz="2500" dirty="0"/>
          </a:p>
        </p:txBody>
      </p:sp>
      <p:sp>
        <p:nvSpPr>
          <p:cNvPr id="14" name="reasoning-copy"/>
          <p:cNvSpPr/>
          <p:nvPr/>
        </p:nvSpPr>
        <p:spPr>
          <a:xfrm>
            <a:off x="11582400" y="3695700"/>
            <a:ext cx="381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altLang="en-US" sz="20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Complete:</a:t>
            </a: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explains why the selected evidence supports the scientific prediction.</a:t>
            </a:r>
            <a:endParaRPr lang="en-US" sz="2000" dirty="0"/>
          </a:p>
          <a:p>
            <a:pPr algn="l" indent="0" marL="0">
              <a:lnSpc>
                <a:spcPts val="2480"/>
              </a:lnSpc>
              <a:spcBef>
                <a:spcPts val="1000"/>
              </a:spcBef>
              <a:buNone/>
            </a:pPr>
            <a:r>
              <a:rPr lang="en-US" altLang="en-US" sz="20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Anticipate:</a:t>
            </a: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evidence is listed but not connected to population relationships or carrying capacity.</a:t>
            </a:r>
            <a:endParaRPr lang="en-US" sz="2000" dirty="0"/>
          </a:p>
        </p:txBody>
      </p:sp>
      <p:sp>
        <p:nvSpPr>
          <p:cNvPr id="15" name="analysis-shape-14"/>
          <p:cNvSpPr/>
          <p:nvPr/>
        </p:nvSpPr>
        <p:spPr>
          <a:xfrm>
            <a:off x="508000" y="6908800"/>
            <a:ext cx="15240000" cy="990600"/>
          </a:xfrm>
          <a:prstGeom prst="rect">
            <a:avLst/>
          </a:prstGeom>
          <a:solidFill>
            <a:srgbClr val="FCE8EA"/>
          </a:solidFill>
          <a:ln w="12700">
            <a:solidFill>
              <a:srgbClr val="C41220"/>
            </a:solidFill>
            <a:prstDash val="solid"/>
          </a:ln>
        </p:spPr>
      </p:sp>
      <p:sp>
        <p:nvSpPr>
          <p:cNvPr id="16" name="reflection"/>
          <p:cNvSpPr/>
          <p:nvPr/>
        </p:nvSpPr>
        <p:spPr>
          <a:xfrm>
            <a:off x="838200" y="7124700"/>
            <a:ext cx="14478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78"/>
              </a:lnSpc>
              <a:buNone/>
            </a:pPr>
            <a:r>
              <a:rPr lang="en-US" altLang="en-US" sz="21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the reflection:</a:t>
            </a:r>
            <a:r>
              <a:rPr lang="en-US" altLang="en-US" sz="21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Which mistake reflects a science misconception, a source-analysis need, or a writing/reasoning barrier? What would students need to do next?</a:t>
            </a:r>
            <a:endParaRPr lang="en-US" sz="2100" dirty="0"/>
          </a:p>
        </p:txBody>
      </p:sp>
      <p:sp>
        <p:nvSpPr>
          <p:cNvPr id="17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analysis-shape-17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ktime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68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 With the Lesson Internalization Tool</a:t>
            </a:r>
            <a:endParaRPr lang="en-US" sz="3000" dirty="0"/>
          </a:p>
        </p:txBody>
      </p:sp>
      <p:sp>
        <p:nvSpPr>
          <p:cNvPr id="4" name="header-time"/>
          <p:cNvSpPr/>
          <p:nvPr/>
        </p:nvSpPr>
        <p:spPr>
          <a:xfrm>
            <a:off x="13208000" y="355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31:00–39:00  •  8 MIN</a:t>
            </a:r>
            <a:endParaRPr lang="en-US" sz="1600" dirty="0"/>
          </a:p>
        </p:txBody>
      </p:sp>
      <p:sp>
        <p:nvSpPr>
          <p:cNvPr id="5" name="worktime-shape-4"/>
          <p:cNvSpPr/>
          <p:nvPr/>
        </p:nvSpPr>
        <p:spPr>
          <a:xfrm>
            <a:off x="508000" y="1574800"/>
            <a:ext cx="3810000" cy="5613400"/>
          </a:xfrm>
          <a:prstGeom prst="rect">
            <a:avLst/>
          </a:prstGeom>
          <a:solidFill>
            <a:srgbClr val="C41220"/>
          </a:solidFill>
          <a:ln/>
        </p:spPr>
      </p:sp>
      <p:sp>
        <p:nvSpPr>
          <p:cNvPr id="6" name="work-label"/>
          <p:cNvSpPr/>
          <p:nvPr/>
        </p:nvSpPr>
        <p:spPr>
          <a:xfrm>
            <a:off x="863600" y="2197100"/>
            <a:ext cx="309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DEC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INDIVIDUAL-FIRST REFLECTION</a:t>
            </a:r>
            <a:endParaRPr lang="en-US" sz="1800" dirty="0"/>
          </a:p>
        </p:txBody>
      </p:sp>
      <p:sp>
        <p:nvSpPr>
          <p:cNvPr id="7" name="work-timer"/>
          <p:cNvSpPr/>
          <p:nvPr/>
        </p:nvSpPr>
        <p:spPr>
          <a:xfrm>
            <a:off x="889000" y="29210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min</a:t>
            </a:r>
            <a:endParaRPr lang="en-US" sz="7400" dirty="0"/>
          </a:p>
        </p:txBody>
      </p:sp>
      <p:sp>
        <p:nvSpPr>
          <p:cNvPr id="8" name="worktime-shape-7"/>
          <p:cNvSpPr/>
          <p:nvPr/>
        </p:nvSpPr>
        <p:spPr>
          <a:xfrm>
            <a:off x="1041400" y="4978400"/>
            <a:ext cx="2743200" cy="9144"/>
          </a:xfrm>
          <a:prstGeom prst="line">
            <a:avLst/>
          </a:prstGeom>
          <a:ln w="25400">
            <a:solidFill>
              <a:srgbClr val="F6B4BA"/>
            </a:solidFill>
            <a:prstDash val="solid"/>
          </a:ln>
        </p:spPr>
      </p:sp>
      <p:sp>
        <p:nvSpPr>
          <p:cNvPr id="9" name="work-support"/>
          <p:cNvSpPr/>
          <p:nvPr/>
        </p:nvSpPr>
        <p:spPr>
          <a:xfrm>
            <a:off x="901700" y="5372100"/>
            <a:ext cx="30226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your own analysis first. Then share one high-leverage implication with colleagues.</a:t>
            </a:r>
            <a:endParaRPr lang="en-US" sz="2000" dirty="0"/>
          </a:p>
        </p:txBody>
      </p:sp>
      <p:sp>
        <p:nvSpPr>
          <p:cNvPr id="10" name="worktime-shape-9"/>
          <p:cNvSpPr/>
          <p:nvPr/>
        </p:nvSpPr>
        <p:spPr>
          <a:xfrm>
            <a:off x="4826000" y="1574800"/>
            <a:ext cx="10922000" cy="149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one"/>
          <p:cNvSpPr/>
          <p:nvPr/>
        </p:nvSpPr>
        <p:spPr>
          <a:xfrm>
            <a:off x="5181600" y="1854200"/>
            <a:ext cx="9842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altLang="en-US" sz="20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Every Day Question 1 — What are students learning and how will they show it?</a:t>
            </a: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Name the standard, prompt, texts/visuals, student product, and clear bar for mastery.</a:t>
            </a:r>
            <a:endParaRPr lang="en-US" sz="2000" dirty="0"/>
          </a:p>
        </p:txBody>
      </p:sp>
      <p:sp>
        <p:nvSpPr>
          <p:cNvPr id="12" name="worktime-shape-11"/>
          <p:cNvSpPr/>
          <p:nvPr/>
        </p:nvSpPr>
        <p:spPr>
          <a:xfrm>
            <a:off x="4826000" y="3403600"/>
            <a:ext cx="10922000" cy="149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wo"/>
          <p:cNvSpPr/>
          <p:nvPr/>
        </p:nvSpPr>
        <p:spPr>
          <a:xfrm>
            <a:off x="5181600" y="3683000"/>
            <a:ext cx="9842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altLang="en-US" sz="20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Every Day Question 3 / Deep Dive Steps 2–4 — What might students do?</a:t>
            </a: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 one likely complete response, partial response, question, or mistake and why it may occur.</a:t>
            </a:r>
            <a:endParaRPr lang="en-US" sz="2000" dirty="0"/>
          </a:p>
        </p:txBody>
      </p:sp>
      <p:sp>
        <p:nvSpPr>
          <p:cNvPr id="14" name="worktime-shape-13"/>
          <p:cNvSpPr/>
          <p:nvPr/>
        </p:nvSpPr>
        <p:spPr>
          <a:xfrm>
            <a:off x="4826000" y="5232400"/>
            <a:ext cx="10922000" cy="19558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15" name="three"/>
          <p:cNvSpPr/>
          <p:nvPr/>
        </p:nvSpPr>
        <p:spPr>
          <a:xfrm>
            <a:off x="5181600" y="5537200"/>
            <a:ext cx="98425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altLang="en-US" sz="20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Every Day Question 4 — How will students experience the lesson?</a:t>
            </a: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Identify the access support, facilitation move, and feedback/revision opportunity students need while remaining responsible for the science thinking.</a:t>
            </a:r>
            <a:endParaRPr lang="en-US" sz="2000" dirty="0"/>
          </a:p>
        </p:txBody>
      </p:sp>
      <p:sp>
        <p:nvSpPr>
          <p:cNvPr id="16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300" dirty="0"/>
          </a:p>
        </p:txBody>
      </p:sp>
      <p:sp>
        <p:nvSpPr>
          <p:cNvPr id="17" name="worktime-shape-16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e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kicker"/>
          <p:cNvSpPr/>
          <p:nvPr/>
        </p:nvSpPr>
        <p:spPr>
          <a:xfrm>
            <a:off x="736600" y="342900"/>
            <a:ext cx="1143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+ CARRY FORWARD  •  39:00–41:00  •  2 MIN</a:t>
            </a:r>
            <a:endParaRPr lang="en-US" sz="1600" dirty="0"/>
          </a:p>
        </p:txBody>
      </p:sp>
      <p:sp>
        <p:nvSpPr>
          <p:cNvPr id="4" name="title"/>
          <p:cNvSpPr/>
          <p:nvPr/>
        </p:nvSpPr>
        <p:spPr>
          <a:xfrm>
            <a:off x="736600" y="1689100"/>
            <a:ext cx="13208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3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the analysis forward. Tuesday turns it into instruction.</a:t>
            </a:r>
            <a:endParaRPr lang="en-US" sz="4300" dirty="0"/>
          </a:p>
        </p:txBody>
      </p:sp>
      <p:sp>
        <p:nvSpPr>
          <p:cNvPr id="5" name="close-shape-4"/>
          <p:cNvSpPr/>
          <p:nvPr/>
        </p:nvSpPr>
        <p:spPr>
          <a:xfrm>
            <a:off x="736600" y="3136900"/>
            <a:ext cx="14706600" cy="3505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close-shape-5"/>
          <p:cNvSpPr/>
          <p:nvPr/>
        </p:nvSpPr>
        <p:spPr>
          <a:xfrm>
            <a:off x="1092200" y="3543300"/>
            <a:ext cx="3200400" cy="2324100"/>
          </a:xfrm>
          <a:prstGeom prst="rect">
            <a:avLst/>
          </a:prstGeom>
          <a:solidFill>
            <a:srgbClr val="FCE8EA"/>
          </a:solidFill>
          <a:ln w="12700">
            <a:solidFill>
              <a:srgbClr val="C41220"/>
            </a:solidFill>
            <a:prstDash val="solid"/>
          </a:ln>
        </p:spPr>
      </p:sp>
      <p:sp>
        <p:nvSpPr>
          <p:cNvPr id="7" name="close-shape-6"/>
          <p:cNvSpPr/>
          <p:nvPr/>
        </p:nvSpPr>
        <p:spPr>
          <a:xfrm>
            <a:off x="4724400" y="3543300"/>
            <a:ext cx="3200400" cy="23241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close-shape-7"/>
          <p:cNvSpPr/>
          <p:nvPr/>
        </p:nvSpPr>
        <p:spPr>
          <a:xfrm>
            <a:off x="8356600" y="3543300"/>
            <a:ext cx="3200400" cy="23241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close-shape-8"/>
          <p:cNvSpPr/>
          <p:nvPr/>
        </p:nvSpPr>
        <p:spPr>
          <a:xfrm>
            <a:off x="11988800" y="3543300"/>
            <a:ext cx="3098800" cy="23241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item1"/>
          <p:cNvSpPr/>
          <p:nvPr/>
        </p:nvSpPr>
        <p:spPr>
          <a:xfrm>
            <a:off x="1346200" y="3835400"/>
            <a:ext cx="2692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</a:t>
            </a:r>
            <a:endParaRPr lang="en-US" sz="1900" dirty="0"/>
          </a:p>
          <a:p>
            <a:pPr algn="l" indent="0" marL="0">
              <a:lnSpc>
                <a:spcPts val="2280"/>
              </a:lnSpc>
              <a:spcBef>
                <a:spcPts val="900"/>
              </a:spcBef>
              <a:buNone/>
            </a:pPr>
            <a:r>
              <a:rPr lang="en-US" altLang="en-US" sz="19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completed benchmark or course-equivalent task analysis.</a:t>
            </a:r>
            <a:endParaRPr lang="en-US" sz="1900" dirty="0"/>
          </a:p>
        </p:txBody>
      </p:sp>
      <p:sp>
        <p:nvSpPr>
          <p:cNvPr id="11" name="item2"/>
          <p:cNvSpPr/>
          <p:nvPr/>
        </p:nvSpPr>
        <p:spPr>
          <a:xfrm>
            <a:off x="4978400" y="3835400"/>
            <a:ext cx="2692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</a:t>
            </a:r>
            <a:endParaRPr lang="en-US" sz="1900" dirty="0"/>
          </a:p>
          <a:p>
            <a:pPr algn="l" indent="0" marL="0">
              <a:lnSpc>
                <a:spcPts val="2280"/>
              </a:lnSpc>
              <a:spcBef>
                <a:spcPts val="900"/>
              </a:spcBef>
              <a:buNone/>
            </a:pPr>
            <a:r>
              <a:rPr lang="en-US" altLang="en-US" sz="19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anticipated student response, question, or mistake.</a:t>
            </a:r>
            <a:endParaRPr lang="en-US" sz="1900" dirty="0"/>
          </a:p>
        </p:txBody>
      </p:sp>
      <p:sp>
        <p:nvSpPr>
          <p:cNvPr id="12" name="item3"/>
          <p:cNvSpPr/>
          <p:nvPr/>
        </p:nvSpPr>
        <p:spPr>
          <a:xfrm>
            <a:off x="8610600" y="3835400"/>
            <a:ext cx="2692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</a:t>
            </a:r>
            <a:endParaRPr lang="en-US" sz="1900" dirty="0"/>
          </a:p>
          <a:p>
            <a:pPr algn="l" indent="0" marL="0">
              <a:lnSpc>
                <a:spcPts val="2280"/>
              </a:lnSpc>
              <a:spcBef>
                <a:spcPts val="900"/>
              </a:spcBef>
              <a:buNone/>
            </a:pPr>
            <a:r>
              <a:rPr lang="en-US" altLang="en-US" sz="19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standard, mastery bar, and task demand visible.</a:t>
            </a:r>
            <a:endParaRPr lang="en-US" sz="1900" dirty="0"/>
          </a:p>
        </p:txBody>
      </p:sp>
      <p:sp>
        <p:nvSpPr>
          <p:cNvPr id="13" name="item4"/>
          <p:cNvSpPr/>
          <p:nvPr/>
        </p:nvSpPr>
        <p:spPr>
          <a:xfrm>
            <a:off x="12242800" y="3835400"/>
            <a:ext cx="25908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900" dirty="0"/>
          </a:p>
          <a:p>
            <a:pPr algn="l" indent="0" marL="0">
              <a:lnSpc>
                <a:spcPts val="2280"/>
              </a:lnSpc>
              <a:spcBef>
                <a:spcPts val="900"/>
              </a:spcBef>
              <a:buNone/>
            </a:pPr>
            <a:r>
              <a:rPr lang="en-US" altLang="en-US" sz="19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lesson, access, and feedback decision.</a:t>
            </a:r>
            <a:endParaRPr lang="en-US" sz="1900" dirty="0"/>
          </a:p>
        </p:txBody>
      </p:sp>
      <p:sp>
        <p:nvSpPr>
          <p:cNvPr id="14" name="footer"/>
          <p:cNvSpPr/>
          <p:nvPr/>
        </p:nvSpPr>
        <p:spPr>
          <a:xfrm>
            <a:off x="736600" y="7289800"/>
            <a:ext cx="1419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Tuesday:</a:t>
            </a:r>
            <a:r>
              <a:rPr lang="en-US" altLang="en-US" sz="22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Monday’s evidence to plan how students will learn, receive feedback, revise, and move toward standard mastery.</a:t>
            </a:r>
            <a:endParaRPr lang="en-US" sz="2200" dirty="0"/>
          </a:p>
        </p:txBody>
      </p:sp>
      <p:sp>
        <p:nvSpPr>
          <p:cNvPr id="15" name="page"/>
          <p:cNvSpPr/>
          <p:nvPr/>
        </p:nvSpPr>
        <p:spPr>
          <a:xfrm>
            <a:off x="14732000" y="843280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300" dirty="0"/>
          </a:p>
        </p:txBody>
      </p:sp>
      <p:sp>
        <p:nvSpPr>
          <p:cNvPr id="16" name="close-shape-1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Monday, October 26 PLC — Writing Benchmark to Student Action</dc:title>
  <dc:subject>Monday, October 26 PLC — Writing Benchmark to Student Action</dc:subject>
  <dc:creator>Manus</dc:creator>
  <cp:lastModifiedBy>Manus</cp:lastModifiedBy>
  <cp:revision>1</cp:revision>
  <dcterms:created xsi:type="dcterms:W3CDTF">2026-10-23T18:09:19Z</dcterms:created>
  <dcterms:modified xsi:type="dcterms:W3CDTF">2026-10-23T18:09:19Z</dcterms:modified>
</cp:coreProperties>
</file>
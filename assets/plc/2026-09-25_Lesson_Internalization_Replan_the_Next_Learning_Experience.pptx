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6256000" cy="9144000"/>
  <p:notesSz cx="9144000" cy="16256000"/>
  <p:embeddedFontLst>
    <p:embeddedFont>
      <p:font typeface="Inter" charset="-122" pitchFamily="34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date-chip"/>
          <p:cNvSpPr/>
          <p:nvPr/>
        </p:nvSpPr>
        <p:spPr>
          <a:xfrm>
            <a:off x="508000" y="889000"/>
            <a:ext cx="2844800" cy="381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4" name="date-chip-text"/>
          <p:cNvSpPr/>
          <p:nvPr/>
        </p:nvSpPr>
        <p:spPr>
          <a:xfrm>
            <a:off x="635000" y="977900"/>
            <a:ext cx="25908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FRIDAY, SEPTEMBER 25, 2026</a:t>
            </a:r>
            <a:endParaRPr lang="en-US" sz="1200" dirty="0"/>
          </a:p>
        </p:txBody>
      </p:sp>
      <p:sp>
        <p:nvSpPr>
          <p:cNvPr id="5" name="cover-title"/>
          <p:cNvSpPr/>
          <p:nvPr/>
        </p:nvSpPr>
        <p:spPr>
          <a:xfrm>
            <a:off x="508000" y="1549400"/>
            <a:ext cx="8382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altLang="en-US" sz="4400" dirty="0">
                <a:solidFill>
                  <a:srgbClr val="C4123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Lesson Internalization:</a:t>
            </a:r>
            <a:endParaRPr lang="en-US" sz="4400" dirty="0"/>
          </a:p>
          <a:p>
            <a:pPr algn="l" indent="0" marL="0">
              <a:lnSpc>
                <a:spcPts val="4180"/>
              </a:lnSpc>
              <a:buNone/>
            </a:pPr>
            <a:r>
              <a:rPr lang="en-US" altLang="en-US" sz="4400" dirty="0">
                <a:solidFill>
                  <a:srgbClr val="C4123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Replan the Next Learning Experience</a:t>
            </a:r>
            <a:endParaRPr lang="en-US" sz="4400" dirty="0"/>
          </a:p>
        </p:txBody>
      </p:sp>
      <p:sp>
        <p:nvSpPr>
          <p:cNvPr id="6" name="cover-subtitle"/>
          <p:cNvSpPr/>
          <p:nvPr/>
        </p:nvSpPr>
        <p:spPr>
          <a:xfrm>
            <a:off x="508000" y="3175000"/>
            <a:ext cx="825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altLang="en-US" sz="2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student evidence and feedback planning to strengthen a later lesson in the sequence.</a:t>
            </a:r>
            <a:endParaRPr lang="en-US" sz="2100" dirty="0"/>
          </a:p>
        </p:txBody>
      </p:sp>
      <p:sp>
        <p:nvSpPr>
          <p:cNvPr id="7" name="cover-divider"/>
          <p:cNvSpPr/>
          <p:nvPr/>
        </p:nvSpPr>
        <p:spPr>
          <a:xfrm>
            <a:off x="508000" y="4114800"/>
            <a:ext cx="8255000" cy="9144"/>
          </a:xfrm>
          <a:prstGeom prst="line">
            <a:avLst/>
          </a:prstGeom>
          <a:ln w="25400">
            <a:solidFill>
              <a:srgbClr val="2C2F33"/>
            </a:solidFill>
            <a:prstDash val="solid"/>
          </a:ln>
        </p:spPr>
      </p:sp>
      <p:sp>
        <p:nvSpPr>
          <p:cNvPr id="8" name="type-card"/>
          <p:cNvSpPr/>
          <p:nvPr/>
        </p:nvSpPr>
        <p:spPr>
          <a:xfrm>
            <a:off x="508000" y="4470400"/>
            <a:ext cx="2387600" cy="11684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ype-label"/>
          <p:cNvSpPr/>
          <p:nvPr/>
        </p:nvSpPr>
        <p:spPr>
          <a:xfrm>
            <a:off x="7112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TYPE</a:t>
            </a:r>
            <a:endParaRPr lang="en-US" sz="1200" dirty="0"/>
          </a:p>
        </p:txBody>
      </p:sp>
      <p:sp>
        <p:nvSpPr>
          <p:cNvPr id="10" name="type-value"/>
          <p:cNvSpPr/>
          <p:nvPr/>
        </p:nvSpPr>
        <p:spPr>
          <a:xfrm>
            <a:off x="711200" y="4978400"/>
            <a:ext cx="1981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altLang="en-US" sz="1900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Dept.</a:t>
            </a:r>
            <a:endParaRPr lang="en-US" sz="19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altLang="en-US" sz="1900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</a:t>
            </a:r>
            <a:endParaRPr lang="en-US" sz="1900" dirty="0"/>
          </a:p>
        </p:txBody>
      </p:sp>
      <p:sp>
        <p:nvSpPr>
          <p:cNvPr id="11" name="time-card"/>
          <p:cNvSpPr/>
          <p:nvPr/>
        </p:nvSpPr>
        <p:spPr>
          <a:xfrm>
            <a:off x="3073400" y="4470400"/>
            <a:ext cx="2387600" cy="11684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ime-label"/>
          <p:cNvSpPr/>
          <p:nvPr/>
        </p:nvSpPr>
        <p:spPr>
          <a:xfrm>
            <a:off x="32766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200" dirty="0"/>
          </a:p>
        </p:txBody>
      </p:sp>
      <p:sp>
        <p:nvSpPr>
          <p:cNvPr id="13" name="time-value"/>
          <p:cNvSpPr/>
          <p:nvPr/>
        </p:nvSpPr>
        <p:spPr>
          <a:xfrm>
            <a:off x="3276600" y="5029200"/>
            <a:ext cx="1981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Minutes</a:t>
            </a:r>
            <a:endParaRPr lang="en-US" sz="2000" dirty="0"/>
          </a:p>
        </p:txBody>
      </p:sp>
      <p:sp>
        <p:nvSpPr>
          <p:cNvPr id="14" name="audience-card"/>
          <p:cNvSpPr/>
          <p:nvPr/>
        </p:nvSpPr>
        <p:spPr>
          <a:xfrm>
            <a:off x="5638800" y="4470400"/>
            <a:ext cx="3124200" cy="11684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audience-label"/>
          <p:cNvSpPr/>
          <p:nvPr/>
        </p:nvSpPr>
        <p:spPr>
          <a:xfrm>
            <a:off x="5842000" y="4673600"/>
            <a:ext cx="2717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6" name="audience-value"/>
          <p:cNvSpPr/>
          <p:nvPr/>
        </p:nvSpPr>
        <p:spPr>
          <a:xfrm>
            <a:off x="5842000" y="5029200"/>
            <a:ext cx="2717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Grades 9–12 Science</a:t>
            </a:r>
            <a:endParaRPr lang="en-US" sz="2000" dirty="0"/>
          </a:p>
        </p:txBody>
      </p:sp>
      <p:sp>
        <p:nvSpPr>
          <p:cNvPr id="17" name="materials-title"/>
          <p:cNvSpPr/>
          <p:nvPr/>
        </p:nvSpPr>
        <p:spPr>
          <a:xfrm>
            <a:off x="508000" y="6146800"/>
            <a:ext cx="787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BRING</a:t>
            </a:r>
            <a:endParaRPr lang="en-US" sz="1300" dirty="0"/>
          </a:p>
        </p:txBody>
      </p:sp>
      <p:sp>
        <p:nvSpPr>
          <p:cNvPr id="18" name="materials-copy"/>
          <p:cNvSpPr/>
          <p:nvPr/>
        </p:nvSpPr>
        <p:spPr>
          <a:xfrm>
            <a:off x="508000" y="6527800"/>
            <a:ext cx="806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later lesson · evidence pattern · feedback plan · anticipated student response · Lesson Internalization Tool</a:t>
            </a:r>
            <a:endParaRPr lang="en-US" sz="1800" dirty="0"/>
          </a:p>
        </p:txBody>
      </p:sp>
      <p:sp>
        <p:nvSpPr>
          <p:cNvPr id="19" name="arc-panel"/>
          <p:cNvSpPr/>
          <p:nvPr/>
        </p:nvSpPr>
        <p:spPr>
          <a:xfrm>
            <a:off x="9779000" y="1422400"/>
            <a:ext cx="5969000" cy="61214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arc-kicker"/>
          <p:cNvSpPr/>
          <p:nvPr/>
        </p:nvSpPr>
        <p:spPr>
          <a:xfrm>
            <a:off x="10134600" y="1803400"/>
            <a:ext cx="520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EXTENDED PLC SEQUENCE</a:t>
            </a:r>
            <a:endParaRPr lang="en-US" sz="1300" dirty="0"/>
          </a:p>
        </p:txBody>
      </p:sp>
      <p:sp>
        <p:nvSpPr>
          <p:cNvPr id="21" name="arc-title"/>
          <p:cNvSpPr/>
          <p:nvPr/>
        </p:nvSpPr>
        <p:spPr>
          <a:xfrm>
            <a:off x="10134600" y="2235200"/>
            <a:ext cx="5207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altLang="en-US" sz="2700" dirty="0">
                <a:solidFill>
                  <a:srgbClr val="2C2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Evidence, Feedback &amp; Forward Planning</a:t>
            </a:r>
            <a:endParaRPr lang="en-US" sz="2700" dirty="0"/>
          </a:p>
        </p:txBody>
      </p:sp>
      <p:sp>
        <p:nvSpPr>
          <p:cNvPr id="22" name="arc-line"/>
          <p:cNvSpPr/>
          <p:nvPr/>
        </p:nvSpPr>
        <p:spPr>
          <a:xfrm>
            <a:off x="10210800" y="3479800"/>
            <a:ext cx="5080000" cy="9144"/>
          </a:xfrm>
          <a:prstGeom prst="line">
            <a:avLst/>
          </a:prstGeom>
          <a:ln w="50800">
            <a:solidFill>
              <a:srgbClr val="D1D5DB"/>
            </a:solidFill>
            <a:prstDash val="solid"/>
          </a:ln>
        </p:spPr>
      </p:sp>
      <p:sp>
        <p:nvSpPr>
          <p:cNvPr id="23" name="arc1"/>
          <p:cNvSpPr/>
          <p:nvPr/>
        </p:nvSpPr>
        <p:spPr>
          <a:xfrm>
            <a:off x="10033000" y="3124200"/>
            <a:ext cx="812800" cy="736600"/>
          </a:xfrm>
          <a:prstGeom prst="rect">
            <a:avLst/>
          </a:prstGeom>
          <a:solidFill>
            <a:srgbClr val="2C2F33"/>
          </a:solidFill>
          <a:ln/>
        </p:spPr>
      </p:sp>
      <p:sp>
        <p:nvSpPr>
          <p:cNvPr id="24" name="arc1-text"/>
          <p:cNvSpPr/>
          <p:nvPr/>
        </p:nvSpPr>
        <p:spPr>
          <a:xfrm>
            <a:off x="10083800" y="32258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9/15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000" dirty="0"/>
          </a:p>
        </p:txBody>
      </p:sp>
      <p:sp>
        <p:nvSpPr>
          <p:cNvPr id="25" name="arc2"/>
          <p:cNvSpPr/>
          <p:nvPr/>
        </p:nvSpPr>
        <p:spPr>
          <a:xfrm>
            <a:off x="10922000" y="3124200"/>
            <a:ext cx="812800" cy="736600"/>
          </a:xfrm>
          <a:prstGeom prst="rect">
            <a:avLst/>
          </a:prstGeom>
          <a:solidFill>
            <a:srgbClr val="2C2F33"/>
          </a:solidFill>
          <a:ln/>
        </p:spPr>
      </p:sp>
      <p:sp>
        <p:nvSpPr>
          <p:cNvPr id="26" name="arc2-text"/>
          <p:cNvSpPr/>
          <p:nvPr/>
        </p:nvSpPr>
        <p:spPr>
          <a:xfrm>
            <a:off x="10972800" y="32258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9/18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</a:t>
            </a:r>
            <a:endParaRPr lang="en-US" sz="1000" dirty="0"/>
          </a:p>
        </p:txBody>
      </p:sp>
      <p:sp>
        <p:nvSpPr>
          <p:cNvPr id="27" name="arc3"/>
          <p:cNvSpPr/>
          <p:nvPr/>
        </p:nvSpPr>
        <p:spPr>
          <a:xfrm>
            <a:off x="11811000" y="3124200"/>
            <a:ext cx="812800" cy="736600"/>
          </a:xfrm>
          <a:prstGeom prst="rect">
            <a:avLst/>
          </a:prstGeom>
          <a:solidFill>
            <a:srgbClr val="2C2F33"/>
          </a:solidFill>
          <a:ln/>
        </p:spPr>
      </p:sp>
      <p:sp>
        <p:nvSpPr>
          <p:cNvPr id="28" name="arc3-text"/>
          <p:cNvSpPr/>
          <p:nvPr/>
        </p:nvSpPr>
        <p:spPr>
          <a:xfrm>
            <a:off x="11861800" y="32258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9/21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</a:t>
            </a:r>
            <a:endParaRPr lang="en-US" sz="1000" dirty="0"/>
          </a:p>
        </p:txBody>
      </p:sp>
      <p:sp>
        <p:nvSpPr>
          <p:cNvPr id="29" name="arc4"/>
          <p:cNvSpPr/>
          <p:nvPr/>
        </p:nvSpPr>
        <p:spPr>
          <a:xfrm>
            <a:off x="12700000" y="3124200"/>
            <a:ext cx="812800" cy="736600"/>
          </a:xfrm>
          <a:prstGeom prst="rect">
            <a:avLst/>
          </a:prstGeom>
          <a:solidFill>
            <a:srgbClr val="2C2F33"/>
          </a:solidFill>
          <a:ln/>
        </p:spPr>
      </p:sp>
      <p:sp>
        <p:nvSpPr>
          <p:cNvPr id="30" name="arc4-text"/>
          <p:cNvSpPr/>
          <p:nvPr/>
        </p:nvSpPr>
        <p:spPr>
          <a:xfrm>
            <a:off x="12750800" y="32258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9/22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</a:t>
            </a:r>
            <a:endParaRPr lang="en-US" sz="1000" dirty="0"/>
          </a:p>
        </p:txBody>
      </p:sp>
      <p:sp>
        <p:nvSpPr>
          <p:cNvPr id="31" name="arc5"/>
          <p:cNvSpPr/>
          <p:nvPr/>
        </p:nvSpPr>
        <p:spPr>
          <a:xfrm>
            <a:off x="13589000" y="3124200"/>
            <a:ext cx="812800" cy="736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2" name="arc5-text"/>
          <p:cNvSpPr/>
          <p:nvPr/>
        </p:nvSpPr>
        <p:spPr>
          <a:xfrm>
            <a:off x="13639800" y="32258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9/25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</a:t>
            </a:r>
            <a:endParaRPr lang="en-US" sz="1000" dirty="0"/>
          </a:p>
        </p:txBody>
      </p:sp>
      <p:sp>
        <p:nvSpPr>
          <p:cNvPr id="33" name="arc6"/>
          <p:cNvSpPr/>
          <p:nvPr/>
        </p:nvSpPr>
        <p:spPr>
          <a:xfrm>
            <a:off x="14478000" y="3124200"/>
            <a:ext cx="812800" cy="736600"/>
          </a:xfrm>
          <a:prstGeom prst="rect">
            <a:avLst/>
          </a:prstGeom>
          <a:solidFill>
            <a:srgbClr val="2C2F33"/>
          </a:solidFill>
          <a:ln/>
        </p:spPr>
      </p:sp>
      <p:sp>
        <p:nvSpPr>
          <p:cNvPr id="34" name="arc6-text"/>
          <p:cNvSpPr/>
          <p:nvPr/>
        </p:nvSpPr>
        <p:spPr>
          <a:xfrm>
            <a:off x="14528800" y="32258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9/28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</a:t>
            </a:r>
            <a:endParaRPr lang="en-US" sz="1000" dirty="0"/>
          </a:p>
        </p:txBody>
      </p:sp>
      <p:sp>
        <p:nvSpPr>
          <p:cNvPr id="35" name="arc-detail"/>
          <p:cNvSpPr/>
          <p:nvPr/>
        </p:nvSpPr>
        <p:spPr>
          <a:xfrm>
            <a:off x="10236200" y="4445000"/>
            <a:ext cx="5054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altLang="en-US" sz="1800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teams use a learning pattern, feedback plan, and anticipated student response to revise a later lesson.</a:t>
            </a:r>
            <a:endParaRPr lang="en-US" sz="1800" dirty="0"/>
          </a:p>
        </p:txBody>
      </p:sp>
      <p:sp>
        <p:nvSpPr>
          <p:cNvPr id="36" name="protocol-strip"/>
          <p:cNvSpPr/>
          <p:nvPr/>
        </p:nvSpPr>
        <p:spPr>
          <a:xfrm>
            <a:off x="10134600" y="5842000"/>
            <a:ext cx="5257800" cy="1117600"/>
          </a:xfrm>
          <a:prstGeom prst="rect">
            <a:avLst/>
          </a:prstGeom>
          <a:solidFill>
            <a:srgbClr val="2C2F33"/>
          </a:solidFill>
          <a:ln/>
        </p:spPr>
      </p:sp>
      <p:sp>
        <p:nvSpPr>
          <p:cNvPr id="37" name="protocol-strip-label"/>
          <p:cNvSpPr/>
          <p:nvPr/>
        </p:nvSpPr>
        <p:spPr>
          <a:xfrm>
            <a:off x="10414000" y="6045200"/>
            <a:ext cx="469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FOCUS</a:t>
            </a:r>
            <a:endParaRPr lang="en-US" sz="1200" dirty="0"/>
          </a:p>
        </p:txBody>
      </p:sp>
      <p:sp>
        <p:nvSpPr>
          <p:cNvPr id="38" name="protocol-strip-copy"/>
          <p:cNvSpPr/>
          <p:nvPr/>
        </p:nvSpPr>
        <p:spPr>
          <a:xfrm>
            <a:off x="10414000" y="63881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Day Questions 1, 3 &amp; 4</a:t>
            </a:r>
            <a:endParaRPr lang="en-US" sz="1600" dirty="0"/>
          </a:p>
        </p:txBody>
      </p:sp>
      <p:sp>
        <p:nvSpPr>
          <p:cNvPr id="39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40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 THE NEXT LEARNING EXPERIENCE · 9/25</a:t>
            </a:r>
            <a:endParaRPr lang="en-US" sz="1200" dirty="0"/>
          </a:p>
        </p:txBody>
      </p:sp>
      <p:sp>
        <p:nvSpPr>
          <p:cNvPr id="41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agenda-label"/>
          <p:cNvSpPr/>
          <p:nvPr/>
        </p:nvSpPr>
        <p:spPr>
          <a:xfrm>
            <a:off x="711200" y="736600"/>
            <a:ext cx="558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AGENDA · 46 MINUTES</a:t>
            </a:r>
            <a:endParaRPr lang="en-US" sz="1300" dirty="0"/>
          </a:p>
        </p:txBody>
      </p:sp>
      <p:sp>
        <p:nvSpPr>
          <p:cNvPr id="4" name="agenda-title"/>
          <p:cNvSpPr/>
          <p:nvPr/>
        </p:nvSpPr>
        <p:spPr>
          <a:xfrm>
            <a:off x="711200" y="1041400"/>
            <a:ext cx="1041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Replan the Next Learning Experience</a:t>
            </a:r>
            <a:endParaRPr lang="en-US" sz="3400" dirty="0"/>
          </a:p>
        </p:txBody>
      </p:sp>
      <p:sp>
        <p:nvSpPr>
          <p:cNvPr id="5" name="agenda-divider"/>
          <p:cNvSpPr/>
          <p:nvPr/>
        </p:nvSpPr>
        <p:spPr>
          <a:xfrm>
            <a:off x="711200" y="1803400"/>
            <a:ext cx="14833600" cy="9144"/>
          </a:xfrm>
          <a:prstGeom prst="line">
            <a:avLst/>
          </a:prstGeom>
          <a:ln w="25400">
            <a:solidFill>
              <a:srgbClr val="C41230"/>
            </a:solidFill>
            <a:prstDash val="solid"/>
          </a:ln>
        </p:spPr>
      </p:sp>
      <p:sp>
        <p:nvSpPr>
          <p:cNvPr id="6" name="t1"/>
          <p:cNvSpPr/>
          <p:nvPr/>
        </p:nvSpPr>
        <p:spPr>
          <a:xfrm>
            <a:off x="762000" y="2235200"/>
            <a:ext cx="1371600" cy="482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1-text"/>
          <p:cNvSpPr/>
          <p:nvPr/>
        </p:nvSpPr>
        <p:spPr>
          <a:xfrm>
            <a:off x="7620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0:00–4:00</a:t>
            </a:r>
            <a:endParaRPr lang="en-US" sz="1200" dirty="0"/>
          </a:p>
        </p:txBody>
      </p:sp>
      <p:sp>
        <p:nvSpPr>
          <p:cNvPr id="8" name="a1"/>
          <p:cNvSpPr/>
          <p:nvPr/>
        </p:nvSpPr>
        <p:spPr>
          <a:xfrm>
            <a:off x="2387600" y="22352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Reconnect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Bring forward a later lesson, evidence pattern, feedback plan, and anticipated response.</a:t>
            </a:r>
            <a:endParaRPr lang="en-US" sz="2000" dirty="0"/>
          </a:p>
        </p:txBody>
      </p:sp>
      <p:sp>
        <p:nvSpPr>
          <p:cNvPr id="9" name="t2"/>
          <p:cNvSpPr/>
          <p:nvPr/>
        </p:nvSpPr>
        <p:spPr>
          <a:xfrm>
            <a:off x="762000" y="3352800"/>
            <a:ext cx="1371600" cy="482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0" name="t2-text"/>
          <p:cNvSpPr/>
          <p:nvPr/>
        </p:nvSpPr>
        <p:spPr>
          <a:xfrm>
            <a:off x="762000" y="34925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4:00–10:00</a:t>
            </a:r>
            <a:endParaRPr lang="en-US" sz="1200" dirty="0"/>
          </a:p>
        </p:txBody>
      </p:sp>
      <p:sp>
        <p:nvSpPr>
          <p:cNvPr id="11" name="a2"/>
          <p:cNvSpPr/>
          <p:nvPr/>
        </p:nvSpPr>
        <p:spPr>
          <a:xfrm>
            <a:off x="2387600" y="33528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Revision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Decide what should change because of the evidence and planned feedback.</a:t>
            </a:r>
            <a:endParaRPr lang="en-US" sz="2000" dirty="0"/>
          </a:p>
        </p:txBody>
      </p:sp>
      <p:sp>
        <p:nvSpPr>
          <p:cNvPr id="12" name="t3"/>
          <p:cNvSpPr/>
          <p:nvPr/>
        </p:nvSpPr>
        <p:spPr>
          <a:xfrm>
            <a:off x="762000" y="4521200"/>
            <a:ext cx="1371600" cy="482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3" name="t3-text"/>
          <p:cNvSpPr/>
          <p:nvPr/>
        </p:nvSpPr>
        <p:spPr>
          <a:xfrm>
            <a:off x="762000" y="4660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10:00–33:00</a:t>
            </a:r>
            <a:endParaRPr lang="en-US" sz="1200" dirty="0"/>
          </a:p>
        </p:txBody>
      </p:sp>
      <p:sp>
        <p:nvSpPr>
          <p:cNvPr id="14" name="a3"/>
          <p:cNvSpPr/>
          <p:nvPr/>
        </p:nvSpPr>
        <p:spPr>
          <a:xfrm>
            <a:off x="2387600" y="4521200"/>
            <a:ext cx="495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Team Work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Revise a later lesson while keeping purpose, mastery, thinking, feedback, and student experience coherent.</a:t>
            </a:r>
            <a:endParaRPr lang="en-US" sz="2000" dirty="0"/>
          </a:p>
        </p:txBody>
      </p:sp>
      <p:sp>
        <p:nvSpPr>
          <p:cNvPr id="15" name="t4"/>
          <p:cNvSpPr/>
          <p:nvPr/>
        </p:nvSpPr>
        <p:spPr>
          <a:xfrm>
            <a:off x="8458200" y="2235200"/>
            <a:ext cx="1371600" cy="482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6" name="t4-text"/>
          <p:cNvSpPr/>
          <p:nvPr/>
        </p:nvSpPr>
        <p:spPr>
          <a:xfrm>
            <a:off x="84582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33:00–40:00</a:t>
            </a:r>
            <a:endParaRPr lang="en-US" sz="1200" dirty="0"/>
          </a:p>
        </p:txBody>
      </p:sp>
      <p:sp>
        <p:nvSpPr>
          <p:cNvPr id="17" name="a4"/>
          <p:cNvSpPr/>
          <p:nvPr/>
        </p:nvSpPr>
        <p:spPr>
          <a:xfrm>
            <a:off x="10083800" y="2235200"/>
            <a:ext cx="495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Check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Check that the revision responds to evidence, gives students a next action, and maintains cognitive demand.</a:t>
            </a:r>
            <a:endParaRPr lang="en-US" sz="2000" dirty="0"/>
          </a:p>
        </p:txBody>
      </p:sp>
      <p:sp>
        <p:nvSpPr>
          <p:cNvPr id="18" name="t5"/>
          <p:cNvSpPr/>
          <p:nvPr/>
        </p:nvSpPr>
        <p:spPr>
          <a:xfrm>
            <a:off x="8458200" y="3556000"/>
            <a:ext cx="1371600" cy="482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9" name="t5-text"/>
          <p:cNvSpPr/>
          <p:nvPr/>
        </p:nvSpPr>
        <p:spPr>
          <a:xfrm>
            <a:off x="8458200" y="36957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40:00–46:00</a:t>
            </a:r>
            <a:endParaRPr lang="en-US" sz="1200" dirty="0"/>
          </a:p>
        </p:txBody>
      </p:sp>
      <p:sp>
        <p:nvSpPr>
          <p:cNvPr id="20" name="a5"/>
          <p:cNvSpPr/>
          <p:nvPr/>
        </p:nvSpPr>
        <p:spPr>
          <a:xfrm>
            <a:off x="10083800" y="3556000"/>
            <a:ext cx="495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Close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What will students experience differently because of this revision?</a:t>
            </a:r>
            <a:endParaRPr lang="en-US" sz="2000" dirty="0"/>
          </a:p>
        </p:txBody>
      </p:sp>
      <p:sp>
        <p:nvSpPr>
          <p:cNvPr id="21" name="outcome-card"/>
          <p:cNvSpPr/>
          <p:nvPr/>
        </p:nvSpPr>
        <p:spPr>
          <a:xfrm>
            <a:off x="8458200" y="4851400"/>
            <a:ext cx="6578600" cy="11938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22" name="outcome-label"/>
          <p:cNvSpPr/>
          <p:nvPr/>
        </p:nvSpPr>
        <p:spPr>
          <a:xfrm>
            <a:off x="8788400" y="5105400"/>
            <a:ext cx="590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OUTCOME</a:t>
            </a:r>
            <a:endParaRPr lang="en-US" sz="1200" dirty="0"/>
          </a:p>
        </p:txBody>
      </p:sp>
      <p:sp>
        <p:nvSpPr>
          <p:cNvPr id="23" name="outcome-copy"/>
          <p:cNvSpPr/>
          <p:nvPr/>
        </p:nvSpPr>
        <p:spPr>
          <a:xfrm>
            <a:off x="8788400" y="5473700"/>
            <a:ext cx="5905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visible later-lesson revision that responds to student evidence and planned feedback.</a:t>
            </a:r>
            <a:endParaRPr lang="en-US" sz="1800" dirty="0"/>
          </a:p>
        </p:txBody>
      </p:sp>
      <p:sp>
        <p:nvSpPr>
          <p:cNvPr id="2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5" name="footer-left"/>
          <p:cNvSpPr/>
          <p:nvPr/>
        </p:nvSpPr>
        <p:spPr>
          <a:xfrm>
            <a:off x="508000" y="8712200"/>
            <a:ext cx="660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FRIDAY, SEPTEMBER 25, 2026 · REPLAN THE NEXT LESSON</a:t>
            </a:r>
            <a:endParaRPr lang="en-US" sz="1200" dirty="0"/>
          </a:p>
        </p:txBody>
      </p:sp>
      <p:sp>
        <p:nvSpPr>
          <p:cNvPr id="26" name="footer-right"/>
          <p:cNvSpPr/>
          <p:nvPr/>
        </p:nvSpPr>
        <p:spPr>
          <a:xfrm>
            <a:off x="11430000" y="8712200"/>
            <a:ext cx="431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C2F33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609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REPLANNING · 23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1016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Replan the Next Learning Experience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10:00–33:00</a:t>
            </a:r>
            <a:endParaRPr lang="en-US" sz="1200" dirty="0"/>
          </a:p>
        </p:txBody>
      </p:sp>
      <p:sp>
        <p:nvSpPr>
          <p:cNvPr id="8" name="work-marker"/>
          <p:cNvSpPr/>
          <p:nvPr/>
        </p:nvSpPr>
        <p:spPr>
          <a:xfrm>
            <a:off x="762000" y="2082800"/>
            <a:ext cx="2032000" cy="685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9" name="work-marker-text"/>
          <p:cNvSpPr/>
          <p:nvPr/>
        </p:nvSpPr>
        <p:spPr>
          <a:xfrm>
            <a:off x="762000" y="21971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WITH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COLLEAGUES</a:t>
            </a:r>
            <a:endParaRPr lang="en-US" sz="2000" dirty="0"/>
          </a:p>
        </p:txBody>
      </p:sp>
      <p:sp>
        <p:nvSpPr>
          <p:cNvPr id="10" name="work-prompt"/>
          <p:cNvSpPr/>
          <p:nvPr/>
        </p:nvSpPr>
        <p:spPr>
          <a:xfrm>
            <a:off x="3149600" y="2171700"/>
            <a:ext cx="1168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student-learning pattern, feedback plan, and anticipated response to make one purposeful change to a later lesson.</a:t>
            </a:r>
            <a:endParaRPr lang="en-US" sz="2000" dirty="0"/>
          </a:p>
        </p:txBody>
      </p:sp>
      <p:sp>
        <p:nvSpPr>
          <p:cNvPr id="11" name="card1"/>
          <p:cNvSpPr/>
          <p:nvPr/>
        </p:nvSpPr>
        <p:spPr>
          <a:xfrm>
            <a:off x="762000" y="3276600"/>
            <a:ext cx="6858000" cy="127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ile1"/>
          <p:cNvSpPr/>
          <p:nvPr/>
        </p:nvSpPr>
        <p:spPr>
          <a:xfrm>
            <a:off x="1016000" y="3556000"/>
            <a:ext cx="457200" cy="457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3" name="tile1-text"/>
          <p:cNvSpPr/>
          <p:nvPr/>
        </p:nvSpPr>
        <p:spPr>
          <a:xfrm>
            <a:off x="1016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card1-title"/>
          <p:cNvSpPr/>
          <p:nvPr/>
        </p:nvSpPr>
        <p:spPr>
          <a:xfrm>
            <a:off x="1752600" y="3467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evidence and feedback forward.</a:t>
            </a:r>
            <a:endParaRPr lang="en-US" sz="2000" dirty="0"/>
          </a:p>
        </p:txBody>
      </p:sp>
      <p:sp>
        <p:nvSpPr>
          <p:cNvPr id="15" name="card1-copy"/>
          <p:cNvSpPr/>
          <p:nvPr/>
        </p:nvSpPr>
        <p:spPr>
          <a:xfrm>
            <a:off x="1752600" y="3898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the shared pattern, feedback plan, and the response students may need.</a:t>
            </a:r>
            <a:endParaRPr lang="en-US" sz="1500" dirty="0"/>
          </a:p>
        </p:txBody>
      </p:sp>
      <p:sp>
        <p:nvSpPr>
          <p:cNvPr id="16" name="card2"/>
          <p:cNvSpPr/>
          <p:nvPr/>
        </p:nvSpPr>
        <p:spPr>
          <a:xfrm>
            <a:off x="7874000" y="3276600"/>
            <a:ext cx="7620000" cy="127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ile2"/>
          <p:cNvSpPr/>
          <p:nvPr/>
        </p:nvSpPr>
        <p:spPr>
          <a:xfrm>
            <a:off x="8128000" y="3556000"/>
            <a:ext cx="457200" cy="457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8" name="tile2-text"/>
          <p:cNvSpPr/>
          <p:nvPr/>
        </p:nvSpPr>
        <p:spPr>
          <a:xfrm>
            <a:off x="8128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card2-title"/>
          <p:cNvSpPr/>
          <p:nvPr/>
        </p:nvSpPr>
        <p:spPr>
          <a:xfrm>
            <a:off x="8864600" y="3467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element to revise.</a:t>
            </a:r>
            <a:endParaRPr lang="en-US" sz="2000" dirty="0"/>
          </a:p>
        </p:txBody>
      </p:sp>
      <p:sp>
        <p:nvSpPr>
          <p:cNvPr id="20" name="card2-copy"/>
          <p:cNvSpPr/>
          <p:nvPr/>
        </p:nvSpPr>
        <p:spPr>
          <a:xfrm>
            <a:off x="8864600" y="3898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 purpose, task, question, representation, grouping, pacing, support, feedback, or evidence plan.</a:t>
            </a:r>
            <a:endParaRPr lang="en-US" sz="1500" dirty="0"/>
          </a:p>
        </p:txBody>
      </p:sp>
      <p:sp>
        <p:nvSpPr>
          <p:cNvPr id="21" name="card3"/>
          <p:cNvSpPr/>
          <p:nvPr/>
        </p:nvSpPr>
        <p:spPr>
          <a:xfrm>
            <a:off x="762000" y="4927600"/>
            <a:ext cx="6858000" cy="127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ile3"/>
          <p:cNvSpPr/>
          <p:nvPr/>
        </p:nvSpPr>
        <p:spPr>
          <a:xfrm>
            <a:off x="1016000" y="5207000"/>
            <a:ext cx="457200" cy="457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3" name="tile3-text"/>
          <p:cNvSpPr/>
          <p:nvPr/>
        </p:nvSpPr>
        <p:spPr>
          <a:xfrm>
            <a:off x="1016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card3-title"/>
          <p:cNvSpPr/>
          <p:nvPr/>
        </p:nvSpPr>
        <p:spPr>
          <a:xfrm>
            <a:off x="1752600" y="5118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coherence.</a:t>
            </a:r>
            <a:endParaRPr lang="en-US" sz="2000" dirty="0"/>
          </a:p>
        </p:txBody>
      </p:sp>
      <p:sp>
        <p:nvSpPr>
          <p:cNvPr id="25" name="card3-copy"/>
          <p:cNvSpPr/>
          <p:nvPr/>
        </p:nvSpPr>
        <p:spPr>
          <a:xfrm>
            <a:off x="1752600" y="5549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sure purpose, mastery, key thinking, supports, materials, timing, feedback, and evidence work together.</a:t>
            </a:r>
            <a:endParaRPr lang="en-US" sz="1500" dirty="0"/>
          </a:p>
        </p:txBody>
      </p:sp>
      <p:sp>
        <p:nvSpPr>
          <p:cNvPr id="26" name="card4"/>
          <p:cNvSpPr/>
          <p:nvPr/>
        </p:nvSpPr>
        <p:spPr>
          <a:xfrm>
            <a:off x="7874000" y="4927600"/>
            <a:ext cx="7620000" cy="127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ile4"/>
          <p:cNvSpPr/>
          <p:nvPr/>
        </p:nvSpPr>
        <p:spPr>
          <a:xfrm>
            <a:off x="8128000" y="5207000"/>
            <a:ext cx="457200" cy="457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8" name="tile4-text"/>
          <p:cNvSpPr/>
          <p:nvPr/>
        </p:nvSpPr>
        <p:spPr>
          <a:xfrm>
            <a:off x="8128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card4-title"/>
          <p:cNvSpPr/>
          <p:nvPr/>
        </p:nvSpPr>
        <p:spPr>
          <a:xfrm>
            <a:off x="8864600" y="5118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change visible.</a:t>
            </a:r>
            <a:endParaRPr lang="en-US" sz="2000" dirty="0"/>
          </a:p>
        </p:txBody>
      </p:sp>
      <p:sp>
        <p:nvSpPr>
          <p:cNvPr id="30" name="card4-copy"/>
          <p:cNvSpPr/>
          <p:nvPr/>
        </p:nvSpPr>
        <p:spPr>
          <a:xfrm>
            <a:off x="8864600" y="5549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the revision in lesson materials, questions, facilitation notes, or the feedback routine.</a:t>
            </a:r>
            <a:endParaRPr lang="en-US" sz="1500" dirty="0"/>
          </a:p>
        </p:txBody>
      </p:sp>
      <p:sp>
        <p:nvSpPr>
          <p:cNvPr id="31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2" name="takeaway-label"/>
          <p:cNvSpPr/>
          <p:nvPr/>
        </p:nvSpPr>
        <p:spPr>
          <a:xfrm>
            <a:off x="1092200" y="7175500"/>
            <a:ext cx="266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WITH</a:t>
            </a:r>
            <a:endParaRPr lang="en-US" sz="1200" dirty="0"/>
          </a:p>
        </p:txBody>
      </p:sp>
      <p:sp>
        <p:nvSpPr>
          <p:cNvPr id="33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revised next lesson and one visible adjustment that responds to evidence and gives students a purposeful next step.</a:t>
            </a:r>
            <a:endParaRPr lang="en-US" sz="1800" dirty="0"/>
          </a:p>
        </p:txBody>
      </p:sp>
      <p:sp>
        <p:nvSpPr>
          <p:cNvPr id="3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5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 THE NEXT LEARNING EXPERIENCE · 9/25</a:t>
            </a:r>
            <a:endParaRPr lang="en-US" sz="1200" dirty="0"/>
          </a:p>
        </p:txBody>
      </p:sp>
      <p:sp>
        <p:nvSpPr>
          <p:cNvPr id="36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WORK TIME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C2F33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PREVIEW · 6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14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Reflect and Carry It Forward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40:00–46:00</a:t>
            </a:r>
            <a:endParaRPr lang="en-US" sz="1200" dirty="0"/>
          </a:p>
        </p:txBody>
      </p:sp>
      <p:sp>
        <p:nvSpPr>
          <p:cNvPr id="8" name="reflection-label"/>
          <p:cNvSpPr/>
          <p:nvPr/>
        </p:nvSpPr>
        <p:spPr>
          <a:xfrm>
            <a:off x="914400" y="2413000"/>
            <a:ext cx="266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REFLECTION</a:t>
            </a:r>
            <a:endParaRPr lang="en-US" sz="1300" dirty="0"/>
          </a:p>
        </p:txBody>
      </p:sp>
      <p:sp>
        <p:nvSpPr>
          <p:cNvPr id="9" name="reflection-question"/>
          <p:cNvSpPr/>
          <p:nvPr/>
        </p:nvSpPr>
        <p:spPr>
          <a:xfrm>
            <a:off x="914400" y="2895600"/>
            <a:ext cx="6858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altLang="en-US" sz="3500" dirty="0">
                <a:solidFill>
                  <a:srgbClr val="2C2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will students experience differently because of this revision?</a:t>
            </a:r>
            <a:endParaRPr lang="en-US" sz="3500" dirty="0"/>
          </a:p>
        </p:txBody>
      </p:sp>
      <p:sp>
        <p:nvSpPr>
          <p:cNvPr id="10" name="reflection-direction"/>
          <p:cNvSpPr/>
          <p:nvPr/>
        </p:nvSpPr>
        <p:spPr>
          <a:xfrm>
            <a:off x="914400" y="4775200"/>
            <a:ext cx="635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one or two sentences. Name the revision and the student experience it is intended to strengthen.</a:t>
            </a:r>
            <a:endParaRPr lang="en-US" sz="1900" dirty="0"/>
          </a:p>
        </p:txBody>
      </p:sp>
      <p:sp>
        <p:nvSpPr>
          <p:cNvPr id="11" name="preview-card"/>
          <p:cNvSpPr/>
          <p:nvPr/>
        </p:nvSpPr>
        <p:spPr>
          <a:xfrm>
            <a:off x="9271000" y="2463800"/>
            <a:ext cx="5588000" cy="35052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preview-date"/>
          <p:cNvSpPr/>
          <p:nvPr/>
        </p:nvSpPr>
        <p:spPr>
          <a:xfrm>
            <a:off x="9677400" y="2819400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 · SEPTEMBER 28 · 41 MINUTES</a:t>
            </a:r>
            <a:endParaRPr lang="en-US" sz="1300" dirty="0"/>
          </a:p>
        </p:txBody>
      </p:sp>
      <p:sp>
        <p:nvSpPr>
          <p:cNvPr id="13" name="preview-title"/>
          <p:cNvSpPr/>
          <p:nvPr/>
        </p:nvSpPr>
        <p:spPr>
          <a:xfrm>
            <a:off x="9677400" y="3302000"/>
            <a:ext cx="4775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3000" dirty="0">
                <a:solidFill>
                  <a:srgbClr val="2C2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Share, Calibrate &amp; Set the Next Cycle</a:t>
            </a:r>
            <a:endParaRPr lang="en-US" sz="3000" dirty="0"/>
          </a:p>
        </p:txBody>
      </p:sp>
      <p:sp>
        <p:nvSpPr>
          <p:cNvPr id="14" name="preview-copy"/>
          <p:cNvSpPr/>
          <p:nvPr/>
        </p:nvSpPr>
        <p:spPr>
          <a:xfrm>
            <a:off x="9677400" y="4368800"/>
            <a:ext cx="4775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en-US" altLang="en-US" sz="1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the evidence plan, feedback plan, anticipated student response, and revised lesson. You will set one focused priority for the next cycle.</a:t>
            </a:r>
            <a:endParaRPr lang="en-US" sz="1900" dirty="0"/>
          </a:p>
        </p:txBody>
      </p:sp>
      <p:sp>
        <p:nvSpPr>
          <p:cNvPr id="15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6" name="takeaway-label"/>
          <p:cNvSpPr/>
          <p:nvPr/>
        </p:nvSpPr>
        <p:spPr>
          <a:xfrm>
            <a:off x="1092200" y="7175500"/>
            <a:ext cx="317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TAKEAWAY</a:t>
            </a:r>
            <a:endParaRPr lang="en-US" sz="1200" dirty="0"/>
          </a:p>
        </p:txBody>
      </p:sp>
      <p:sp>
        <p:nvSpPr>
          <p:cNvPr id="17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evidence matters most when it changes what students experience next in a coherent, ready-to-teach lesson.</a:t>
            </a:r>
            <a:endParaRPr lang="en-US" sz="1800" dirty="0"/>
          </a:p>
        </p:txBody>
      </p:sp>
      <p:sp>
        <p:nvSpPr>
          <p:cNvPr id="18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9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 THE NEXT LEARNING EXPERIENCE · 9/25</a:t>
            </a:r>
            <a:endParaRPr lang="en-US" sz="1200" dirty="0"/>
          </a:p>
        </p:txBody>
      </p:sp>
      <p:sp>
        <p:nvSpPr>
          <p:cNvPr id="20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Internalization: Replan the Next Learning Experience</dc:title>
  <dc:subject>Lesson Internalization: Replan the Next Learning Experience</dc:subject>
  <dc:creator>Manus</dc:creator>
  <cp:lastModifiedBy>Manus</cp:lastModifiedBy>
  <cp:revision>1</cp:revision>
  <dcterms:created xsi:type="dcterms:W3CDTF">2026-09-21T19:52:10Z</dcterms:created>
  <dcterms:modified xsi:type="dcterms:W3CDTF">2026-09-21T19:52:10Z</dcterms:modified>
</cp:coreProperties>
</file>
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eft"/>
          <p:cNvSpPr/>
          <p:nvPr/>
        </p:nvSpPr>
        <p:spPr>
          <a:xfrm>
            <a:off x="0" y="0"/>
            <a:ext cx="9906000" cy="9144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3" name="cover-accent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cover-rule"/>
          <p:cNvSpPr/>
          <p:nvPr/>
        </p:nvSpPr>
        <p:spPr>
          <a:xfrm>
            <a:off x="762000" y="1600200"/>
            <a:ext cx="12700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cover-session"/>
          <p:cNvSpPr/>
          <p:nvPr/>
        </p:nvSpPr>
        <p:spPr>
          <a:xfrm>
            <a:off x="762000" y="939800"/>
            <a:ext cx="774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SUPPLEMENTAL DEPARTMENT WORK SESSION · MONDAY, OCTOBER 19, 2026</a:t>
            </a:r>
            <a:endParaRPr lang="en-US" sz="1600" dirty="0"/>
          </a:p>
        </p:txBody>
      </p:sp>
      <p:sp>
        <p:nvSpPr>
          <p:cNvPr id="6" name="cover-title"/>
          <p:cNvSpPr/>
          <p:nvPr/>
        </p:nvSpPr>
        <p:spPr>
          <a:xfrm>
            <a:off x="762000" y="2006600"/>
            <a:ext cx="81280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Benchmark Evidence to a Stronger Goal</a:t>
            </a:r>
            <a:endParaRPr lang="en-US" sz="5400" dirty="0"/>
          </a:p>
        </p:txBody>
      </p:sp>
      <p:sp>
        <p:nvSpPr>
          <p:cNvPr id="7" name="cover-subtitle"/>
          <p:cNvSpPr/>
          <p:nvPr/>
        </p:nvSpPr>
        <p:spPr>
          <a:xfrm>
            <a:off x="762000" y="4648200"/>
            <a:ext cx="7683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6"/>
              </a:lnSpc>
              <a:buNone/>
            </a:pPr>
            <a:r>
              <a:rPr lang="en-US" altLang="en-US" sz="23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the October 13–16 benchmark-data and lesson-internalization work into the Goal Setting Form and Self-Assessment Part 1.</a:t>
            </a:r>
            <a:endParaRPr lang="en-US" sz="2300" dirty="0"/>
          </a:p>
        </p:txBody>
      </p:sp>
      <p:sp>
        <p:nvSpPr>
          <p:cNvPr id="8" name="cover-footer"/>
          <p:cNvSpPr/>
          <p:nvPr/>
        </p:nvSpPr>
        <p:spPr>
          <a:xfrm>
            <a:off x="762000" y="7975600"/>
            <a:ext cx="812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41-MINUTE WORK SESSION</a:t>
            </a:r>
            <a:endParaRPr lang="en-US" sz="1500" dirty="0"/>
          </a:p>
        </p:txBody>
      </p:sp>
      <p:sp>
        <p:nvSpPr>
          <p:cNvPr id="9" name="info-panel"/>
          <p:cNvSpPr/>
          <p:nvPr/>
        </p:nvSpPr>
        <p:spPr>
          <a:xfrm>
            <a:off x="9906000" y="0"/>
            <a:ext cx="6350000" cy="9144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info-label"/>
          <p:cNvSpPr/>
          <p:nvPr/>
        </p:nvSpPr>
        <p:spPr>
          <a:xfrm>
            <a:off x="10693400" y="14224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WORK PRODUCTS</a:t>
            </a:r>
            <a:endParaRPr lang="en-US" sz="1600" dirty="0"/>
          </a:p>
        </p:txBody>
      </p:sp>
      <p:sp>
        <p:nvSpPr>
          <p:cNvPr id="11" name="product-one-line"/>
          <p:cNvSpPr/>
          <p:nvPr/>
        </p:nvSpPr>
        <p:spPr>
          <a:xfrm>
            <a:off x="10693400" y="2095500"/>
            <a:ext cx="4191000" cy="254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2" name="goal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400" y="2514600"/>
            <a:ext cx="482600" cy="482600"/>
          </a:xfrm>
          <a:prstGeom prst="rect">
            <a:avLst/>
          </a:prstGeom>
        </p:spPr>
      </p:pic>
      <p:sp>
        <p:nvSpPr>
          <p:cNvPr id="13" name="product-one"/>
          <p:cNvSpPr/>
          <p:nvPr/>
        </p:nvSpPr>
        <p:spPr>
          <a:xfrm>
            <a:off x="11480800" y="2400300"/>
            <a:ext cx="330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Learning SMART Goal</a:t>
            </a:r>
            <a:endParaRPr lang="en-US" sz="2300" dirty="0"/>
          </a:p>
        </p:txBody>
      </p:sp>
      <p:pic>
        <p:nvPicPr>
          <p:cNvPr id="14" name="form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400" y="3708400"/>
            <a:ext cx="482600" cy="482600"/>
          </a:xfrm>
          <a:prstGeom prst="rect">
            <a:avLst/>
          </a:prstGeom>
        </p:spPr>
      </p:pic>
      <p:sp>
        <p:nvSpPr>
          <p:cNvPr id="15" name="product-two"/>
          <p:cNvSpPr/>
          <p:nvPr/>
        </p:nvSpPr>
        <p:spPr>
          <a:xfrm>
            <a:off x="11480800" y="3594100"/>
            <a:ext cx="3365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Self-Assessment Part 1</a:t>
            </a:r>
            <a:endParaRPr lang="en-US" sz="2300" dirty="0"/>
          </a:p>
        </p:txBody>
      </p:sp>
      <p:pic>
        <p:nvPicPr>
          <p:cNvPr id="16" name="evidenc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400" y="4953000"/>
            <a:ext cx="482600" cy="482600"/>
          </a:xfrm>
          <a:prstGeom prst="rect">
            <a:avLst/>
          </a:prstGeom>
        </p:spPr>
      </p:pic>
      <p:sp>
        <p:nvSpPr>
          <p:cNvPr id="17" name="product-three"/>
          <p:cNvSpPr/>
          <p:nvPr/>
        </p:nvSpPr>
        <p:spPr>
          <a:xfrm>
            <a:off x="11480800" y="4838700"/>
            <a:ext cx="323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+ review point</a:t>
            </a:r>
            <a:endParaRPr lang="en-US" sz="2300" dirty="0"/>
          </a:p>
        </p:txBody>
      </p:sp>
      <p:sp>
        <p:nvSpPr>
          <p:cNvPr id="18" name="info-bottom"/>
          <p:cNvSpPr/>
          <p:nvPr/>
        </p:nvSpPr>
        <p:spPr>
          <a:xfrm>
            <a:off x="10693400" y="6680200"/>
            <a:ext cx="4191000" cy="114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info-bottom-text"/>
          <p:cNvSpPr/>
          <p:nvPr/>
        </p:nvSpPr>
        <p:spPr>
          <a:xfrm>
            <a:off x="10972800" y="6921500"/>
            <a:ext cx="3581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priority. One evidence story. One stronger goal.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ed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33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Forward the Work Already Done</a:t>
            </a:r>
            <a:endParaRPr lang="en-US" sz="3200" dirty="0"/>
          </a:p>
        </p:txBody>
      </p:sp>
      <p:sp>
        <p:nvSpPr>
          <p:cNvPr id="5" name="eyebrow"/>
          <p:cNvSpPr/>
          <p:nvPr/>
        </p:nvSpPr>
        <p:spPr>
          <a:xfrm>
            <a:off x="762000" y="1473200"/>
            <a:ext cx="1193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NEXT STEP IN ONE COHERENT DEPARTMENT CYCLE</a:t>
            </a:r>
            <a:endParaRPr lang="en-US" sz="1600" dirty="0"/>
          </a:p>
        </p:txBody>
      </p:sp>
      <p:sp>
        <p:nvSpPr>
          <p:cNvPr id="6" name="intro"/>
          <p:cNvSpPr/>
          <p:nvPr/>
        </p:nvSpPr>
        <p:spPr>
          <a:xfrm>
            <a:off x="762000" y="2006600"/>
            <a:ext cx="1320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altLang="en-US" sz="2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restart the data analysis. Use the priority selected October 13 and the lesson internally prepared October 16.</a:t>
            </a:r>
            <a:endParaRPr lang="en-US" sz="2500" dirty="0"/>
          </a:p>
        </p:txBody>
      </p:sp>
      <p:sp>
        <p:nvSpPr>
          <p:cNvPr id="7" name="step1"/>
          <p:cNvSpPr/>
          <p:nvPr/>
        </p:nvSpPr>
        <p:spPr>
          <a:xfrm>
            <a:off x="762000" y="3403600"/>
            <a:ext cx="2565400" cy="20955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tep1-text"/>
          <p:cNvSpPr/>
          <p:nvPr/>
        </p:nvSpPr>
        <p:spPr>
          <a:xfrm>
            <a:off x="1041400" y="3708400"/>
            <a:ext cx="2006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 evidence</a:t>
            </a:r>
            <a:endParaRPr lang="en-US" sz="2100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+ skill</a:t>
            </a:r>
            <a:endParaRPr lang="en-US" sz="2100" dirty="0"/>
          </a:p>
        </p:txBody>
      </p:sp>
      <p:sp>
        <p:nvSpPr>
          <p:cNvPr id="9" name="arrow1"/>
          <p:cNvSpPr/>
          <p:nvPr/>
        </p:nvSpPr>
        <p:spPr>
          <a:xfrm>
            <a:off x="3327400" y="4445000"/>
            <a:ext cx="5842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0" name="step2"/>
          <p:cNvSpPr/>
          <p:nvPr/>
        </p:nvSpPr>
        <p:spPr>
          <a:xfrm>
            <a:off x="3911600" y="3403600"/>
            <a:ext cx="2565400" cy="20955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tep2-text"/>
          <p:cNvSpPr/>
          <p:nvPr/>
        </p:nvSpPr>
        <p:spPr>
          <a:xfrm>
            <a:off x="4191000" y="3708400"/>
            <a:ext cx="2006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pattern</a:t>
            </a:r>
            <a:endParaRPr lang="en-US" sz="2100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need next</a:t>
            </a:r>
            <a:endParaRPr lang="en-US" sz="2100" dirty="0"/>
          </a:p>
        </p:txBody>
      </p:sp>
      <p:sp>
        <p:nvSpPr>
          <p:cNvPr id="12" name="arrow2"/>
          <p:cNvSpPr/>
          <p:nvPr/>
        </p:nvSpPr>
        <p:spPr>
          <a:xfrm>
            <a:off x="6477000" y="4445000"/>
            <a:ext cx="5842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3" name="step3"/>
          <p:cNvSpPr/>
          <p:nvPr/>
        </p:nvSpPr>
        <p:spPr>
          <a:xfrm>
            <a:off x="7061200" y="3403600"/>
            <a:ext cx="2565400" cy="20955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tep3-text"/>
          <p:cNvSpPr/>
          <p:nvPr/>
        </p:nvSpPr>
        <p:spPr>
          <a:xfrm>
            <a:off x="7340600" y="3708400"/>
            <a:ext cx="2006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Next learning experience</a:t>
            </a:r>
            <a:endParaRPr lang="en-US" sz="2100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Grade-level response</a:t>
            </a:r>
            <a:endParaRPr lang="en-US" sz="2100" dirty="0"/>
          </a:p>
        </p:txBody>
      </p:sp>
      <p:sp>
        <p:nvSpPr>
          <p:cNvPr id="15" name="arrow3"/>
          <p:cNvSpPr/>
          <p:nvPr/>
        </p:nvSpPr>
        <p:spPr>
          <a:xfrm>
            <a:off x="9626600" y="4445000"/>
            <a:ext cx="5842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6" name="step4"/>
          <p:cNvSpPr/>
          <p:nvPr/>
        </p:nvSpPr>
        <p:spPr>
          <a:xfrm>
            <a:off x="10210800" y="3403600"/>
            <a:ext cx="2565400" cy="2095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step4-text"/>
          <p:cNvSpPr/>
          <p:nvPr/>
        </p:nvSpPr>
        <p:spPr>
          <a:xfrm>
            <a:off x="10490200" y="3708400"/>
            <a:ext cx="2006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 Learning Goal</a:t>
            </a:r>
            <a:endParaRPr lang="en-US" sz="2100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baseline + measure</a:t>
            </a:r>
            <a:endParaRPr lang="en-US" sz="2100" dirty="0"/>
          </a:p>
        </p:txBody>
      </p:sp>
      <p:sp>
        <p:nvSpPr>
          <p:cNvPr id="18" name="arrow4"/>
          <p:cNvSpPr/>
          <p:nvPr/>
        </p:nvSpPr>
        <p:spPr>
          <a:xfrm>
            <a:off x="12776200" y="4445000"/>
            <a:ext cx="5842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9" name="step5"/>
          <p:cNvSpPr/>
          <p:nvPr/>
        </p:nvSpPr>
        <p:spPr>
          <a:xfrm>
            <a:off x="13360400" y="3403600"/>
            <a:ext cx="2133600" cy="20955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20" name="step5-text"/>
          <p:cNvSpPr/>
          <p:nvPr/>
        </p:nvSpPr>
        <p:spPr>
          <a:xfrm>
            <a:off x="13614400" y="3708400"/>
            <a:ext cx="1625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evidence</a:t>
            </a:r>
            <a:endParaRPr lang="en-US" sz="20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altLang="en-US" sz="2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+ adjust</a:t>
            </a:r>
            <a:endParaRPr lang="en-US" sz="2000" dirty="0"/>
          </a:p>
        </p:txBody>
      </p:sp>
      <p:sp>
        <p:nvSpPr>
          <p:cNvPr id="21" name="bottom-note"/>
          <p:cNvSpPr/>
          <p:nvPr/>
        </p:nvSpPr>
        <p:spPr>
          <a:xfrm>
            <a:off x="762000" y="6223000"/>
            <a:ext cx="14732000" cy="1143000"/>
          </a:xfrm>
          <a:prstGeom prst="rect">
            <a:avLst/>
          </a:prstGeom>
          <a:solidFill>
            <a:srgbClr val="FDECEC"/>
          </a:solidFill>
          <a:ln/>
        </p:spPr>
      </p:sp>
      <p:pic>
        <p:nvPicPr>
          <p:cNvPr id="22" name="no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6553200"/>
            <a:ext cx="406400" cy="406400"/>
          </a:xfrm>
          <a:prstGeom prst="rect">
            <a:avLst/>
          </a:prstGeom>
        </p:spPr>
      </p:pic>
      <p:sp>
        <p:nvSpPr>
          <p:cNvPr id="23" name="bottom-text"/>
          <p:cNvSpPr/>
          <p:nvPr/>
        </p:nvSpPr>
        <p:spPr>
          <a:xfrm>
            <a:off x="1752600" y="6464300"/>
            <a:ext cx="12954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Today:</a:t>
            </a:r>
            <a:r>
              <a:rPr lang="en-US" altLang="en-US" sz="2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 the evidence story in a measurable Student Learning Goal and Self-Assessment Part 1.</a:t>
            </a:r>
            <a:endParaRPr lang="en-US" sz="2200" dirty="0"/>
          </a:p>
        </p:txBody>
      </p:sp>
      <p:sp>
        <p:nvSpPr>
          <p:cNvPr id="24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19, 2026 · LESSON INTERNALIZATION &amp; GOAL SETTING</a:t>
            </a:r>
            <a:endParaRPr lang="en-US" sz="1400" dirty="0"/>
          </a:p>
        </p:txBody>
      </p:sp>
      <p:sp>
        <p:nvSpPr>
          <p:cNvPr id="25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ed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Student Learning Goal from Evidence</a:t>
            </a:r>
            <a:endParaRPr lang="en-US" sz="3200" dirty="0"/>
          </a:p>
        </p:txBody>
      </p:sp>
      <p:sp>
        <p:nvSpPr>
          <p:cNvPr id="5" name="sub"/>
          <p:cNvSpPr/>
          <p:nvPr/>
        </p:nvSpPr>
        <p:spPr>
          <a:xfrm>
            <a:off x="762000" y="1473200"/>
            <a:ext cx="1358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strong goal uses one evidence story — not a generic activity or a list of every priority.</a:t>
            </a:r>
            <a:endParaRPr lang="en-US" sz="2100" dirty="0"/>
          </a:p>
        </p:txBody>
      </p:sp>
      <p:sp>
        <p:nvSpPr>
          <p:cNvPr id="6" name="card1"/>
          <p:cNvSpPr/>
          <p:nvPr/>
        </p:nvSpPr>
        <p:spPr>
          <a:xfrm>
            <a:off x="762000" y="2476500"/>
            <a:ext cx="3327400" cy="3581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card1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2832100"/>
            <a:ext cx="457200" cy="457200"/>
          </a:xfrm>
          <a:prstGeom prst="rect">
            <a:avLst/>
          </a:prstGeom>
        </p:spPr>
      </p:pic>
      <p:sp>
        <p:nvSpPr>
          <p:cNvPr id="8" name="card1text"/>
          <p:cNvSpPr/>
          <p:nvPr/>
        </p:nvSpPr>
        <p:spPr>
          <a:xfrm>
            <a:off x="1092200" y="3505200"/>
            <a:ext cx="260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Priority standard + skill</a:t>
            </a:r>
            <a:endParaRPr lang="en-US" sz="2100" dirty="0"/>
          </a:p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will explain, model, analyze, apply, or argue from evidence.</a:t>
            </a:r>
            <a:endParaRPr lang="en-US" sz="2100" dirty="0"/>
          </a:p>
        </p:txBody>
      </p:sp>
      <p:sp>
        <p:nvSpPr>
          <p:cNvPr id="9" name="card2"/>
          <p:cNvSpPr/>
          <p:nvPr/>
        </p:nvSpPr>
        <p:spPr>
          <a:xfrm>
            <a:off x="4343400" y="2476500"/>
            <a:ext cx="3327400" cy="3581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card2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2832100"/>
            <a:ext cx="457200" cy="457200"/>
          </a:xfrm>
          <a:prstGeom prst="rect">
            <a:avLst/>
          </a:prstGeom>
        </p:spPr>
      </p:pic>
      <p:sp>
        <p:nvSpPr>
          <p:cNvPr id="11" name="card2text"/>
          <p:cNvSpPr/>
          <p:nvPr/>
        </p:nvSpPr>
        <p:spPr>
          <a:xfrm>
            <a:off x="4673600" y="3505200"/>
            <a:ext cx="260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Individual baseline</a:t>
            </a:r>
            <a:endParaRPr lang="en-US" sz="2100" dirty="0"/>
          </a:p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current evidence for the students you teach.</a:t>
            </a:r>
            <a:endParaRPr lang="en-US" sz="2100" dirty="0"/>
          </a:p>
        </p:txBody>
      </p:sp>
      <p:sp>
        <p:nvSpPr>
          <p:cNvPr id="12" name="card3"/>
          <p:cNvSpPr/>
          <p:nvPr/>
        </p:nvSpPr>
        <p:spPr>
          <a:xfrm>
            <a:off x="7924800" y="2476500"/>
            <a:ext cx="3327400" cy="3581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card3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2832100"/>
            <a:ext cx="457200" cy="457200"/>
          </a:xfrm>
          <a:prstGeom prst="rect">
            <a:avLst/>
          </a:prstGeom>
        </p:spPr>
      </p:pic>
      <p:sp>
        <p:nvSpPr>
          <p:cNvPr id="14" name="card3text"/>
          <p:cNvSpPr/>
          <p:nvPr/>
        </p:nvSpPr>
        <p:spPr>
          <a:xfrm>
            <a:off x="8255000" y="3505200"/>
            <a:ext cx="2603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Common evidence source</a:t>
            </a:r>
            <a:endParaRPr lang="en-US" sz="2100" dirty="0"/>
          </a:p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Benchmark, writing task, student work, or equivalent course evidence.</a:t>
            </a:r>
            <a:endParaRPr lang="en-US" sz="2100" dirty="0"/>
          </a:p>
        </p:txBody>
      </p:sp>
      <p:sp>
        <p:nvSpPr>
          <p:cNvPr id="15" name="card4"/>
          <p:cNvSpPr/>
          <p:nvPr/>
        </p:nvSpPr>
        <p:spPr>
          <a:xfrm>
            <a:off x="11506200" y="2476500"/>
            <a:ext cx="3987800" cy="358140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16" name="card4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6400" y="2832100"/>
            <a:ext cx="457200" cy="457200"/>
          </a:xfrm>
          <a:prstGeom prst="rect">
            <a:avLst/>
          </a:prstGeom>
        </p:spPr>
      </p:pic>
      <p:sp>
        <p:nvSpPr>
          <p:cNvPr id="17" name="card4text"/>
          <p:cNvSpPr/>
          <p:nvPr/>
        </p:nvSpPr>
        <p:spPr>
          <a:xfrm>
            <a:off x="11836400" y="3505200"/>
            <a:ext cx="3238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Growth target + review point</a:t>
            </a:r>
            <a:endParaRPr lang="en-US" sz="2100" dirty="0"/>
          </a:p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progress? When will you return to the evidence?</a:t>
            </a:r>
            <a:endParaRPr lang="en-US" sz="2100" dirty="0"/>
          </a:p>
        </p:txBody>
      </p:sp>
      <p:sp>
        <p:nvSpPr>
          <p:cNvPr id="18" name="stem-panel"/>
          <p:cNvSpPr/>
          <p:nvPr/>
        </p:nvSpPr>
        <p:spPr>
          <a:xfrm>
            <a:off x="762000" y="6731000"/>
            <a:ext cx="14732000" cy="11938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19" name="stem-label"/>
          <p:cNvSpPr/>
          <p:nvPr/>
        </p:nvSpPr>
        <p:spPr>
          <a:xfrm>
            <a:off x="1092200" y="69850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STEM</a:t>
            </a:r>
            <a:endParaRPr lang="en-US" sz="1500" dirty="0"/>
          </a:p>
        </p:txBody>
      </p:sp>
      <p:sp>
        <p:nvSpPr>
          <p:cNvPr id="20" name="stem-text"/>
          <p:cNvSpPr/>
          <p:nvPr/>
        </p:nvSpPr>
        <p:spPr>
          <a:xfrm>
            <a:off x="1092200" y="7239000"/>
            <a:ext cx="1384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will improve their ability to [priority skill] aligned to [standard], as measured by [evidence],</a:t>
            </a:r>
            <a:endParaRPr lang="en-US" sz="180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[baseline] to [target] by [review date].</a:t>
            </a:r>
            <a:endParaRPr lang="en-US" sz="1800" dirty="0"/>
          </a:p>
        </p:txBody>
      </p:sp>
      <p:sp>
        <p:nvSpPr>
          <p:cNvPr id="21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19, 2026 · LESSON INTERNALIZATION &amp; GOAL SETTING</a:t>
            </a:r>
            <a:endParaRPr lang="en-US" sz="1400" dirty="0"/>
          </a:p>
        </p:txBody>
      </p:sp>
      <p:sp>
        <p:nvSpPr>
          <p:cNvPr id="22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ed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Self-Assessment Part 1</a:t>
            </a:r>
            <a:endParaRPr lang="en-US" sz="3200" dirty="0"/>
          </a:p>
        </p:txBody>
      </p:sp>
      <p:sp>
        <p:nvSpPr>
          <p:cNvPr id="5" name="question"/>
          <p:cNvSpPr/>
          <p:nvPr/>
        </p:nvSpPr>
        <p:spPr>
          <a:xfrm>
            <a:off x="762000" y="1473200"/>
            <a:ext cx="135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Briefly summarize one student-learning strength and one high-priority concern using available assessment evidence.</a:t>
            </a:r>
            <a:endParaRPr lang="en-US" sz="2400" dirty="0"/>
          </a:p>
        </p:txBody>
      </p:sp>
      <p:sp>
        <p:nvSpPr>
          <p:cNvPr id="6" name="strength-card"/>
          <p:cNvSpPr/>
          <p:nvPr/>
        </p:nvSpPr>
        <p:spPr>
          <a:xfrm>
            <a:off x="762000" y="2667000"/>
            <a:ext cx="6858000" cy="381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strength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48000"/>
            <a:ext cx="482600" cy="482600"/>
          </a:xfrm>
          <a:prstGeom prst="rect">
            <a:avLst/>
          </a:prstGeom>
        </p:spPr>
      </p:pic>
      <p:sp>
        <p:nvSpPr>
          <p:cNvPr id="8" name="strength-title"/>
          <p:cNvSpPr/>
          <p:nvPr/>
        </p:nvSpPr>
        <p:spPr>
          <a:xfrm>
            <a:off x="1905000" y="3022600"/>
            <a:ext cx="469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student strength</a:t>
            </a:r>
            <a:endParaRPr lang="en-US" sz="2400" dirty="0"/>
          </a:p>
        </p:txBody>
      </p:sp>
      <p:sp>
        <p:nvSpPr>
          <p:cNvPr id="9" name="strength-body"/>
          <p:cNvSpPr/>
          <p:nvPr/>
        </p:nvSpPr>
        <p:spPr>
          <a:xfrm>
            <a:off x="1143000" y="3886200"/>
            <a:ext cx="5715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benchmark or student work to name what students can already do relative to the course standard or skill.</a:t>
            </a:r>
            <a:endParaRPr lang="en-US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evidence, not a general impression.</a:t>
            </a:r>
            <a:endParaRPr lang="en-US" sz="2100" dirty="0"/>
          </a:p>
        </p:txBody>
      </p:sp>
      <p:sp>
        <p:nvSpPr>
          <p:cNvPr id="10" name="concern-card"/>
          <p:cNvSpPr/>
          <p:nvPr/>
        </p:nvSpPr>
        <p:spPr>
          <a:xfrm>
            <a:off x="8255000" y="2667000"/>
            <a:ext cx="7239000" cy="3810000"/>
          </a:xfrm>
          <a:prstGeom prst="rect">
            <a:avLst/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</p:spPr>
      </p:sp>
      <p:pic>
        <p:nvPicPr>
          <p:cNvPr id="11" name="concern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3048000"/>
            <a:ext cx="482600" cy="482600"/>
          </a:xfrm>
          <a:prstGeom prst="rect">
            <a:avLst/>
          </a:prstGeom>
        </p:spPr>
      </p:pic>
      <p:sp>
        <p:nvSpPr>
          <p:cNvPr id="12" name="concern-title"/>
          <p:cNvSpPr/>
          <p:nvPr/>
        </p:nvSpPr>
        <p:spPr>
          <a:xfrm>
            <a:off x="9398000" y="3022600"/>
            <a:ext cx="5016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High-priority learning concern</a:t>
            </a:r>
            <a:endParaRPr lang="en-US" sz="2400" dirty="0"/>
          </a:p>
        </p:txBody>
      </p:sp>
      <p:sp>
        <p:nvSpPr>
          <p:cNvPr id="13" name="concern-body"/>
          <p:cNvSpPr/>
          <p:nvPr/>
        </p:nvSpPr>
        <p:spPr>
          <a:xfrm>
            <a:off x="8636000" y="3886200"/>
            <a:ext cx="60325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one standards-based need: a misunderstanding, reasoning move, language demand, or skill students need to demonstrate next.</a:t>
            </a:r>
            <a:endParaRPr lang="en-US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“students are low.” Be precise.</a:t>
            </a:r>
            <a:endParaRPr lang="en-US" sz="2100" dirty="0"/>
          </a:p>
        </p:txBody>
      </p:sp>
      <p:sp>
        <p:nvSpPr>
          <p:cNvPr id="14" name="bridge"/>
          <p:cNvSpPr/>
          <p:nvPr/>
        </p:nvSpPr>
        <p:spPr>
          <a:xfrm>
            <a:off x="762000" y="7061200"/>
            <a:ext cx="147320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bridge-text"/>
          <p:cNvSpPr/>
          <p:nvPr/>
        </p:nvSpPr>
        <p:spPr>
          <a:xfrm>
            <a:off x="1066800" y="7239000"/>
            <a:ext cx="1384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should create the same story as the Student Learning Goal: evidence → priority skill → measurable growth.</a:t>
            </a:r>
            <a:endParaRPr lang="en-US" sz="2100" dirty="0"/>
          </a:p>
        </p:txBody>
      </p:sp>
      <p:sp>
        <p:nvSpPr>
          <p:cNvPr id="16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19, 2026 · LESSON INTERNALIZATION &amp; GOAL SETTING</a:t>
            </a:r>
            <a:endParaRPr lang="en-US" sz="1400" dirty="0"/>
          </a:p>
        </p:txBody>
      </p:sp>
      <p:sp>
        <p:nvSpPr>
          <p:cNvPr id="17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ed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46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Time: Draft, Check, Refine</a:t>
            </a:r>
            <a:endParaRPr lang="en-US" sz="3200" dirty="0"/>
          </a:p>
        </p:txBody>
      </p:sp>
      <p:sp>
        <p:nvSpPr>
          <p:cNvPr id="5" name="time-block"/>
          <p:cNvSpPr/>
          <p:nvPr/>
        </p:nvSpPr>
        <p:spPr>
          <a:xfrm>
            <a:off x="762000" y="1524000"/>
            <a:ext cx="2921000" cy="596900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6" name="clock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1993900"/>
            <a:ext cx="584200" cy="584200"/>
          </a:xfrm>
          <a:prstGeom prst="rect">
            <a:avLst/>
          </a:prstGeom>
        </p:spPr>
      </p:pic>
      <p:sp>
        <p:nvSpPr>
          <p:cNvPr id="7" name="time-number"/>
          <p:cNvSpPr/>
          <p:nvPr/>
        </p:nvSpPr>
        <p:spPr>
          <a:xfrm>
            <a:off x="1117600" y="2997200"/>
            <a:ext cx="165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6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6800" dirty="0"/>
          </a:p>
        </p:txBody>
      </p:sp>
      <p:sp>
        <p:nvSpPr>
          <p:cNvPr id="8" name="time-label"/>
          <p:cNvSpPr/>
          <p:nvPr/>
        </p:nvSpPr>
        <p:spPr>
          <a:xfrm>
            <a:off x="1143000" y="4089400"/>
            <a:ext cx="1498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altLang="en-US" sz="2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 of protected form work</a:t>
            </a:r>
            <a:endParaRPr lang="en-US" sz="2500" dirty="0"/>
          </a:p>
        </p:txBody>
      </p:sp>
      <p:sp>
        <p:nvSpPr>
          <p:cNvPr id="9" name="time-note"/>
          <p:cNvSpPr/>
          <p:nvPr/>
        </p:nvSpPr>
        <p:spPr>
          <a:xfrm>
            <a:off x="1143000" y="5816600"/>
            <a:ext cx="1651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8"/>
              </a:lnSpc>
              <a:buNone/>
            </a:pPr>
            <a:r>
              <a:rPr lang="en-US" altLang="en-US" sz="16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individually first. Ask colleagues for clarification and calibration.</a:t>
            </a:r>
            <a:endParaRPr lang="en-US" sz="1600" dirty="0"/>
          </a:p>
        </p:txBody>
      </p:sp>
      <p:sp>
        <p:nvSpPr>
          <p:cNvPr id="10" name="zone1"/>
          <p:cNvSpPr/>
          <p:nvPr/>
        </p:nvSpPr>
        <p:spPr>
          <a:xfrm>
            <a:off x="4241800" y="1524000"/>
            <a:ext cx="5334000" cy="260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zone1title"/>
          <p:cNvSpPr/>
          <p:nvPr/>
        </p:nvSpPr>
        <p:spPr>
          <a:xfrm>
            <a:off x="4572000" y="18796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Draft individually</a:t>
            </a:r>
            <a:endParaRPr lang="en-US" sz="2400" dirty="0"/>
          </a:p>
        </p:txBody>
      </p:sp>
      <p:sp>
        <p:nvSpPr>
          <p:cNvPr id="12" name="zone1text"/>
          <p:cNvSpPr/>
          <p:nvPr/>
        </p:nvSpPr>
        <p:spPr>
          <a:xfrm>
            <a:off x="4572000" y="2590800"/>
            <a:ext cx="4318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Student Learning SMART Goal and Part 1 evidence statement using your own class baseline.</a:t>
            </a:r>
            <a:endParaRPr lang="en-US" sz="2100" dirty="0"/>
          </a:p>
        </p:txBody>
      </p:sp>
      <p:sp>
        <p:nvSpPr>
          <p:cNvPr id="13" name="zone2"/>
          <p:cNvSpPr/>
          <p:nvPr/>
        </p:nvSpPr>
        <p:spPr>
          <a:xfrm>
            <a:off x="9956800" y="1524000"/>
            <a:ext cx="5537200" cy="260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zone2title"/>
          <p:cNvSpPr/>
          <p:nvPr/>
        </p:nvSpPr>
        <p:spPr>
          <a:xfrm>
            <a:off x="10287000" y="18796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Check with a colleague</a:t>
            </a:r>
            <a:endParaRPr lang="en-US" sz="2400" dirty="0"/>
          </a:p>
        </p:txBody>
      </p:sp>
      <p:sp>
        <p:nvSpPr>
          <p:cNvPr id="15" name="zone2text"/>
          <p:cNvSpPr/>
          <p:nvPr/>
        </p:nvSpPr>
        <p:spPr>
          <a:xfrm>
            <a:off x="10287000" y="2590800"/>
            <a:ext cx="444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standard, priority skill, evidence source, measure, and review point.</a:t>
            </a:r>
            <a:endParaRPr lang="en-US" sz="2100" dirty="0"/>
          </a:p>
        </p:txBody>
      </p:sp>
      <p:sp>
        <p:nvSpPr>
          <p:cNvPr id="16" name="check-panel"/>
          <p:cNvSpPr/>
          <p:nvPr/>
        </p:nvSpPr>
        <p:spPr>
          <a:xfrm>
            <a:off x="4241800" y="4508500"/>
            <a:ext cx="11252200" cy="29845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17" name="check-label"/>
          <p:cNvSpPr/>
          <p:nvPr/>
        </p:nvSpPr>
        <p:spPr>
          <a:xfrm>
            <a:off x="4597400" y="4864100"/>
            <a:ext cx="558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ALIGNMENT CHECK</a:t>
            </a:r>
            <a:endParaRPr lang="en-US" sz="1600" dirty="0"/>
          </a:p>
        </p:txBody>
      </p:sp>
      <p:sp>
        <p:nvSpPr>
          <p:cNvPr id="18" name="check-text"/>
          <p:cNvSpPr/>
          <p:nvPr/>
        </p:nvSpPr>
        <p:spPr>
          <a:xfrm>
            <a:off x="4597400" y="5422900"/>
            <a:ext cx="10033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8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course standard and priority skill.</a:t>
            </a:r>
            <a:endParaRPr lang="en-US" sz="2200" dirty="0"/>
          </a:p>
          <a:p>
            <a:pPr algn="l" indent="0" marL="0">
              <a:lnSpc>
                <a:spcPts val="2728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baseline and goal language individual when classes differ.</a:t>
            </a:r>
            <a:endParaRPr lang="en-US" sz="2200" dirty="0"/>
          </a:p>
          <a:p>
            <a:pPr algn="l" indent="0" marL="0">
              <a:lnSpc>
                <a:spcPts val="2728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on the evidence source and the date to return to student learning.</a:t>
            </a:r>
            <a:endParaRPr lang="en-US" sz="2200" dirty="0"/>
          </a:p>
        </p:txBody>
      </p:sp>
      <p:sp>
        <p:nvSpPr>
          <p:cNvPr id="19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19, 2026 · LESSON INTERNALIZATION &amp; GOAL SETTING</a:t>
            </a:r>
            <a:endParaRPr lang="en-US" sz="1400" dirty="0"/>
          </a:p>
        </p:txBody>
      </p:sp>
      <p:sp>
        <p:nvSpPr>
          <p:cNvPr id="20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ed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33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Goal-Setting Form Quality Check</a:t>
            </a:r>
            <a:endParaRPr lang="en-US" sz="3200" dirty="0"/>
          </a:p>
        </p:txBody>
      </p:sp>
      <p:sp>
        <p:nvSpPr>
          <p:cNvPr id="5" name="sub"/>
          <p:cNvSpPr/>
          <p:nvPr/>
        </p:nvSpPr>
        <p:spPr>
          <a:xfrm>
            <a:off x="762000" y="1473200"/>
            <a:ext cx="1270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last few minutes to strengthen the goal before saving it.</a:t>
            </a:r>
            <a:endParaRPr lang="en-US" sz="2100" dirty="0"/>
          </a:p>
        </p:txBody>
      </p:sp>
      <p:sp>
        <p:nvSpPr>
          <p:cNvPr id="6" name="panel"/>
          <p:cNvSpPr/>
          <p:nvPr/>
        </p:nvSpPr>
        <p:spPr>
          <a:xfrm>
            <a:off x="762000" y="2387600"/>
            <a:ext cx="14732000" cy="4622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con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2819400"/>
            <a:ext cx="431800" cy="431800"/>
          </a:xfrm>
          <a:prstGeom prst="rect">
            <a:avLst/>
          </a:prstGeom>
        </p:spPr>
      </p:pic>
      <p:sp>
        <p:nvSpPr>
          <p:cNvPr id="8" name="item1"/>
          <p:cNvSpPr/>
          <p:nvPr/>
        </p:nvSpPr>
        <p:spPr>
          <a:xfrm>
            <a:off x="1905000" y="2743200"/>
            <a:ext cx="1270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Specific:</a:t>
            </a: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goal names the priority standard and the student skill.</a:t>
            </a:r>
            <a:endParaRPr lang="en-US" sz="2300" dirty="0"/>
          </a:p>
        </p:txBody>
      </p:sp>
      <p:sp>
        <p:nvSpPr>
          <p:cNvPr id="9" name="line1"/>
          <p:cNvSpPr/>
          <p:nvPr/>
        </p:nvSpPr>
        <p:spPr>
          <a:xfrm>
            <a:off x="1168400" y="3530600"/>
            <a:ext cx="13462000" cy="127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0" name="icon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3848100"/>
            <a:ext cx="431800" cy="431800"/>
          </a:xfrm>
          <a:prstGeom prst="rect">
            <a:avLst/>
          </a:prstGeom>
        </p:spPr>
      </p:pic>
      <p:sp>
        <p:nvSpPr>
          <p:cNvPr id="11" name="item2"/>
          <p:cNvSpPr/>
          <p:nvPr/>
        </p:nvSpPr>
        <p:spPr>
          <a:xfrm>
            <a:off x="1905000" y="3771900"/>
            <a:ext cx="1270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Measurable:</a:t>
            </a: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uses an individual baseline and a clear evidence source.</a:t>
            </a:r>
            <a:endParaRPr lang="en-US" sz="2300" dirty="0"/>
          </a:p>
        </p:txBody>
      </p:sp>
      <p:sp>
        <p:nvSpPr>
          <p:cNvPr id="12" name="line2"/>
          <p:cNvSpPr/>
          <p:nvPr/>
        </p:nvSpPr>
        <p:spPr>
          <a:xfrm>
            <a:off x="1168400" y="4559300"/>
            <a:ext cx="13462000" cy="127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3" name="icon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4876800"/>
            <a:ext cx="431800" cy="431800"/>
          </a:xfrm>
          <a:prstGeom prst="rect">
            <a:avLst/>
          </a:prstGeom>
        </p:spPr>
      </p:pic>
      <p:sp>
        <p:nvSpPr>
          <p:cNvPr id="14" name="item3"/>
          <p:cNvSpPr/>
          <p:nvPr/>
        </p:nvSpPr>
        <p:spPr>
          <a:xfrm>
            <a:off x="1905000" y="4800600"/>
            <a:ext cx="1270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Action-oriented:</a:t>
            </a: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identifies what students will improve, not only what teachers will do.</a:t>
            </a:r>
            <a:endParaRPr lang="en-US" sz="2300" dirty="0"/>
          </a:p>
        </p:txBody>
      </p:sp>
      <p:sp>
        <p:nvSpPr>
          <p:cNvPr id="15" name="line3"/>
          <p:cNvSpPr/>
          <p:nvPr/>
        </p:nvSpPr>
        <p:spPr>
          <a:xfrm>
            <a:off x="1168400" y="5588000"/>
            <a:ext cx="13462000" cy="1270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6" name="icon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5905500"/>
            <a:ext cx="431800" cy="431800"/>
          </a:xfrm>
          <a:prstGeom prst="rect">
            <a:avLst/>
          </a:prstGeom>
        </p:spPr>
      </p:pic>
      <p:sp>
        <p:nvSpPr>
          <p:cNvPr id="17" name="item4"/>
          <p:cNvSpPr/>
          <p:nvPr/>
        </p:nvSpPr>
        <p:spPr>
          <a:xfrm>
            <a:off x="1905000" y="5829300"/>
            <a:ext cx="1270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Timed and tracked:</a:t>
            </a:r>
            <a:r>
              <a:rPr lang="en-US" altLang="en-US" sz="23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names when new evidence will be reviewed.</a:t>
            </a:r>
            <a:endParaRPr lang="en-US" sz="2300" dirty="0"/>
          </a:p>
        </p:txBody>
      </p:sp>
      <p:sp>
        <p:nvSpPr>
          <p:cNvPr id="18" name="note"/>
          <p:cNvSpPr/>
          <p:nvPr/>
        </p:nvSpPr>
        <p:spPr>
          <a:xfrm>
            <a:off x="762000" y="7518400"/>
            <a:ext cx="14732000" cy="609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note-text"/>
          <p:cNvSpPr/>
          <p:nvPr/>
        </p:nvSpPr>
        <p:spPr>
          <a:xfrm>
            <a:off x="1066800" y="7683500"/>
            <a:ext cx="13589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draft. Bring the Goal Setting Form, Self-Assessment Form, and internally prepared lesson Tuesday.</a:t>
            </a:r>
            <a:endParaRPr lang="en-US" sz="1900" dirty="0"/>
          </a:p>
        </p:txBody>
      </p:sp>
      <p:sp>
        <p:nvSpPr>
          <p:cNvPr id="20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19, 2026 · LESSON INTERNALIZATION &amp; GOAL SETTING</a:t>
            </a:r>
            <a:endParaRPr lang="en-US" sz="1400" dirty="0"/>
          </a:p>
        </p:txBody>
      </p:sp>
      <p:sp>
        <p:nvSpPr>
          <p:cNvPr id="21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"/>
          <p:cNvSpPr/>
          <p:nvPr/>
        </p:nvSpPr>
        <p:spPr>
          <a:xfrm>
            <a:off x="0" y="0"/>
            <a:ext cx="6350000" cy="9144000"/>
          </a:xfrm>
          <a:prstGeom prst="rect">
            <a:avLst/>
          </a:prstGeom>
          <a:solidFill>
            <a:srgbClr val="2D3134"/>
          </a:solidFill>
          <a:ln/>
        </p:spPr>
      </p:sp>
      <p:sp>
        <p:nvSpPr>
          <p:cNvPr id="3" name="top-red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close-title"/>
          <p:cNvSpPr/>
          <p:nvPr/>
        </p:nvSpPr>
        <p:spPr>
          <a:xfrm>
            <a:off x="762000" y="1905000"/>
            <a:ext cx="4572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 the next planning set.</a:t>
            </a:r>
            <a:endParaRPr lang="en-US" sz="5400" dirty="0"/>
          </a:p>
        </p:txBody>
      </p:sp>
      <p:sp>
        <p:nvSpPr>
          <p:cNvPr id="5" name="close-date"/>
          <p:cNvSpPr/>
          <p:nvPr/>
        </p:nvSpPr>
        <p:spPr>
          <a:xfrm>
            <a:off x="762000" y="70358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PLC · TUESDAY, OCTOBER 20</a:t>
            </a:r>
            <a:endParaRPr lang="en-US" sz="1600" dirty="0"/>
          </a:p>
        </p:txBody>
      </p:sp>
      <p:sp>
        <p:nvSpPr>
          <p:cNvPr id="6" name="close-sub"/>
          <p:cNvSpPr/>
          <p:nvPr/>
        </p:nvSpPr>
        <p:spPr>
          <a:xfrm>
            <a:off x="762000" y="7518400"/>
            <a:ext cx="444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upcoming lesson into a focused Professional Practice Goal.</a:t>
            </a:r>
            <a:endParaRPr lang="en-US" sz="2000" dirty="0"/>
          </a:p>
        </p:txBody>
      </p:sp>
      <p:sp>
        <p:nvSpPr>
          <p:cNvPr id="7" name="right-label"/>
          <p:cNvSpPr/>
          <p:nvPr/>
        </p:nvSpPr>
        <p:spPr>
          <a:xfrm>
            <a:off x="7188200" y="1346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LEAVE, CHECK FOR THESE FOUR ITEMS</a:t>
            </a:r>
            <a:endParaRPr lang="en-US" sz="1600" dirty="0"/>
          </a:p>
        </p:txBody>
      </p:sp>
      <p:sp>
        <p:nvSpPr>
          <p:cNvPr id="8" name="item1box"/>
          <p:cNvSpPr/>
          <p:nvPr/>
        </p:nvSpPr>
        <p:spPr>
          <a:xfrm>
            <a:off x="7188200" y="2057400"/>
            <a:ext cx="7696200" cy="106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item1"/>
          <p:cNvSpPr/>
          <p:nvPr/>
        </p:nvSpPr>
        <p:spPr>
          <a:xfrm>
            <a:off x="7556500" y="23749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Draft Student Learning SMART Goal</a:t>
            </a:r>
            <a:endParaRPr lang="en-US" sz="2400" dirty="0"/>
          </a:p>
        </p:txBody>
      </p:sp>
      <p:sp>
        <p:nvSpPr>
          <p:cNvPr id="10" name="item2box"/>
          <p:cNvSpPr/>
          <p:nvPr/>
        </p:nvSpPr>
        <p:spPr>
          <a:xfrm>
            <a:off x="7188200" y="3429000"/>
            <a:ext cx="7696200" cy="106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item2"/>
          <p:cNvSpPr/>
          <p:nvPr/>
        </p:nvSpPr>
        <p:spPr>
          <a:xfrm>
            <a:off x="7556500" y="37465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Self-Assessment Part 1 evidence statement</a:t>
            </a:r>
            <a:endParaRPr lang="en-US" sz="2400" dirty="0"/>
          </a:p>
        </p:txBody>
      </p:sp>
      <p:sp>
        <p:nvSpPr>
          <p:cNvPr id="12" name="item3box"/>
          <p:cNvSpPr/>
          <p:nvPr/>
        </p:nvSpPr>
        <p:spPr>
          <a:xfrm>
            <a:off x="7188200" y="4800600"/>
            <a:ext cx="7696200" cy="1066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item3"/>
          <p:cNvSpPr/>
          <p:nvPr/>
        </p:nvSpPr>
        <p:spPr>
          <a:xfrm>
            <a:off x="7556500" y="51181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One question or revision to resolve</a:t>
            </a:r>
            <a:endParaRPr lang="en-US" sz="2400" dirty="0"/>
          </a:p>
        </p:txBody>
      </p:sp>
      <p:sp>
        <p:nvSpPr>
          <p:cNvPr id="14" name="item4box"/>
          <p:cNvSpPr/>
          <p:nvPr/>
        </p:nvSpPr>
        <p:spPr>
          <a:xfrm>
            <a:off x="7188200" y="6172200"/>
            <a:ext cx="7696200" cy="1066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item4"/>
          <p:cNvSpPr/>
          <p:nvPr/>
        </p:nvSpPr>
        <p:spPr>
          <a:xfrm>
            <a:off x="7556500" y="64897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Upcoming lesson ready for Tuesday</a:t>
            </a:r>
            <a:endParaRPr lang="en-US" sz="2400" dirty="0"/>
          </a:p>
        </p:txBody>
      </p:sp>
      <p:sp>
        <p:nvSpPr>
          <p:cNvPr id="16" name="footer"/>
          <p:cNvSpPr/>
          <p:nvPr/>
        </p:nvSpPr>
        <p:spPr>
          <a:xfrm>
            <a:off x="7188200" y="8255000"/>
            <a:ext cx="723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19,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October 19, 2026 — From Benchmark Evidence to a Stronger Goal</dc:title>
  <dc:subject>October 19, 2026 — From Benchmark Evidence to a Stronger Goal</dc:subject>
  <dc:creator>Manus</dc:creator>
  <cp:lastModifiedBy>Manus</cp:lastModifiedBy>
  <cp:revision>1</cp:revision>
  <dcterms:created xsi:type="dcterms:W3CDTF">2026-10-17T23:30:15Z</dcterms:created>
  <dcterms:modified xsi:type="dcterms:W3CDTF">2026-10-17T23:30:15Z</dcterms:modified>
</cp:coreProperties>
</file>